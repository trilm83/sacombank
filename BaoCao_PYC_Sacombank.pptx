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Chào thầy và các bạn. Nhóm em xin trình bày đồ án môn Hệ thống Quản trị Quy trình Nghiệp vụ với đề tài: Phân tích và tái thiết kế quy trình tiếp nhận &amp; xử lý Phiếu yêu cầu (PYC) CNTT tại Sacombank.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trình bày đi theo đúng kết cấu báo cáo: từ bối cảnh, kiến trúc quy trình, phương pháp, mô hình hiện trạng AS-IS, phân tích lãng phí, đến giải pháp TO-BE và kết luận.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3 con số pain-point từ khảo sát: chờ duyệt trên 8 giờ (T24 cả tuần), 5–10% phiếu trễ SLA, 20–50% phiếu bị trả về bổ sung thông tin. Đây là lý do nhóm chọn PYC làm trọng tâm.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mục tiêu bám sát 4 chương chính của báo cáo. Phạm vi giới hạn trong nội bộ Khối CNTT, từ lúc tạo phiếu đến khi đóng phiếu, với 4 bên liên quan tương ứng 4 làn BPMN.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thiệu kiến trúc 3 tầng: Quản lý giám sát KPI, Cốt lõi là nhà máy tạo giá trị (trong đó PYC là trọng tâm), Hỗ trợ cung cấp nguồn lực. Nhấn mạnh tính tương hỗ giữa ba tầng.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nguồn dữ liệu bổ trợ nhau: bằng chứng tài liệu giúp dựng khung quy trình, phỏng vấn 4 vai trò tương ứng 4 làn giúp thu số liệu và góc nhìn đa chiều. Bộ 20 câu hỏi chia đều định tính/định lượng.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Sơ đồ AS-IS gồm 4 làn: Người dùng, Quản lý, Hệ thống ITSM và Service Desk L1. Chỉ vào các điểm chính: cổng "Cần duyệt?", vòng lặp "Bổ sung thông tin", cổng AND song song cấu hình cấp quyền và ghi log bảo mật.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3.1: PYC là quy trình duy nhất được mô hình hóa đầy đủ với 4 lane, 8 gateway (6 XOR, 1 cặp AND) và khoảng 10 task cùng 1 Boundary Timer — mức độ phức tạp cao do nhiều nhánh rẽ điều kiện và xử lý song song.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4.1: trong 7 tác vụ chỉ có 2 tác vụ VA thực sự tạo giá trị; 1 tác vụ NVA thuần lãng phí là vòng lặp bổ sung thông tin; 4 tác vụ VBA cần thiết cho kiểm soát nhưng chiếm tỷ trọng lớn và cần tối ưu.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lãng phí theo Lean trên luồng AS-IS: Move là chuyển giao/ping-pong giữa các làn; Hold là chờ đợi — phổ biến và nghiêm trọng nhất ở quy trình có phê duyệt; Overdo là duyệt thủ công cả những quyền rủi ro thấp.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4.2 phân loại nguyên nhân theo 4M của sơ đồ Xương cá. Theo Pareto, hai nhóm Method (duyệt đồng loạt) và Machine (biểu mẫu free-text) có tần suất cao nhất — chỉ cần xử lý hai nhóm này đã giải quyết phần lớn lãng phí.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Áp dụng công thức tính thời gian qua các gateway: khối phê duyệt có vòng lặp rework 20% nên T1 = 2,5/0,8 = 3,125 giờ — nặng nhất; tổng kỳ vọng 5,775 giờ. Bên phải là 3 chỉ số chất lượng: chờ duyệt chiếm ~40% Lead Time, 5–10% trễ SLA, 20–50% bị trả về.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giải pháp nhắm thẳng vào một loại lãng phí đã nhận diện: Smart-Form diệt vòng lặp bổ sung thông tin (Move/NVA); Auto-Approval bỏ chờ duyệt cho quyền rủi ro thấp (Hold/Overdo); API ghi log xóa điểm chờ tại cổng gom luồng (Hold).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với AS-IS: cổng phân loại rủi ro được đưa lên đầu luồng để bypass duyệt cho quyền cơ bản; chỉ quyền rủi ro cao qua làn Quản lý; ghi log bảo mật thành Service Task tự động qua API nên không còn điểm chờ thủ công.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5.1 đối chiếu 5 tiêu chí vận hành. Điểm mấu chốt: chuyển từ duyệt 100% sang duyệt theo rủi ro, chặn rework từ đầu vào và tự động hóa ghi log. Con số cải thiện cụ thể cần pilot để kiểm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Tổng kết ba kết quả chính bám theo mục tiêu ban đầu, và bốn giá trị thực tiễn nếu triển khai: giảm Lead Time, tối ưu VBA của quản lý, tăng CSAT và đóng góp vào chiến lược chuyển đổi số.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Nhìn nhận thẳng thắn 3 hạn chế và đề xuất 3 hướng phát triển tương ứng: mở rộng mô hình hóa, pilot kiểm chứng giải pháp, và dashboard giám sát thời gian thực.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Cảm ơn và mời hội đồng đặt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2.png"/><Relationship Id="rId5" Type="http://schemas.openxmlformats.org/officeDocument/2006/relationships/image" Target="../media/image-13-5.png"/><Relationship Id="rId6" Type="http://schemas.openxmlformats.org/officeDocument/2006/relationships/image" Target="../media/image-13-2.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1.png"/><Relationship Id="rId3" Type="http://schemas.openxmlformats.org/officeDocument/2006/relationships/image" Target="../media/image-16-1.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2E5C"/>
        </a:solidFill>
      </p:bgPr>
    </p:bg>
    <p:spTree>
      <p:nvGrpSpPr>
        <p:cNvPr id="1" name=""/>
        <p:cNvGrpSpPr/>
        <p:nvPr/>
      </p:nvGrpSpPr>
      <p:grpSpPr>
        <a:xfrm>
          <a:off x="0" y="0"/>
          <a:ext cx="0" cy="0"/>
          <a:chOff x="0" y="0"/>
          <a:chExt cx="0" cy="0"/>
        </a:xfrm>
      </p:grpSpPr>
      <p:sp>
        <p:nvSpPr>
          <p:cNvPr id="2" name="Shape 0"/>
          <p:cNvSpPr/>
          <p:nvPr/>
        </p:nvSpPr>
        <p:spPr>
          <a:xfrm>
            <a:off x="9509760" y="-1920240"/>
            <a:ext cx="4937760" cy="4937760"/>
          </a:xfrm>
          <a:prstGeom prst="ellipse">
            <a:avLst/>
          </a:prstGeom>
          <a:solidFill>
            <a:srgbClr val="2160A6">
              <a:alpha val="22000"/>
            </a:srgbClr>
          </a:solidFill>
          <a:ln/>
        </p:spPr>
      </p:sp>
      <p:sp>
        <p:nvSpPr>
          <p:cNvPr id="3" name="Shape 1"/>
          <p:cNvSpPr/>
          <p:nvPr/>
        </p:nvSpPr>
        <p:spPr>
          <a:xfrm>
            <a:off x="-1737360" y="4572000"/>
            <a:ext cx="4206240" cy="4206240"/>
          </a:xfrm>
          <a:prstGeom prst="ellipse">
            <a:avLst/>
          </a:prstGeom>
          <a:solidFill>
            <a:srgbClr val="F2A900">
              <a:alpha val="16000"/>
            </a:srgbClr>
          </a:solidFill>
          <a:ln/>
        </p:spPr>
      </p:sp>
      <p:sp>
        <p:nvSpPr>
          <p:cNvPr id="4" name="Shape 2"/>
          <p:cNvSpPr/>
          <p:nvPr/>
        </p:nvSpPr>
        <p:spPr>
          <a:xfrm>
            <a:off x="10881360" y="5120640"/>
            <a:ext cx="2194560" cy="2194560"/>
          </a:xfrm>
          <a:prstGeom prst="ellipse">
            <a:avLst/>
          </a:prstGeom>
          <a:ln w="19050">
            <a:solidFill>
              <a:srgbClr val="F2A900">
                <a:alpha val="55000"/>
              </a:srgbClr>
            </a:solidFill>
            <a:prstDash val="solid"/>
          </a:ln>
        </p:spPr>
      </p:sp>
      <p:sp>
        <p:nvSpPr>
          <p:cNvPr id="5" name="Text 3"/>
          <p:cNvSpPr/>
          <p:nvPr/>
        </p:nvSpPr>
        <p:spPr>
          <a:xfrm>
            <a:off x="822960" y="457200"/>
            <a:ext cx="10543032" cy="274320"/>
          </a:xfrm>
          <a:prstGeom prst="rect">
            <a:avLst/>
          </a:prstGeom>
          <a:noFill/>
          <a:ln/>
        </p:spPr>
        <p:txBody>
          <a:bodyPr wrap="square" rtlCol="0" anchor="ctr"/>
          <a:lstStyle/>
          <a:p>
            <a:pPr algn="ctr" indent="0" marL="0">
              <a:buNone/>
            </a:pPr>
            <a:r>
              <a:rPr lang="en-US" sz="1200" b="1" dirty="0">
                <a:solidFill>
                  <a:srgbClr val="C9DAF2"/>
                </a:solidFill>
                <a:latin typeface="Calibri" pitchFamily="34" charset="0"/>
                <a:ea typeface="Calibri" pitchFamily="34" charset="-122"/>
                <a:cs typeface="Calibri" pitchFamily="34" charset="-120"/>
              </a:rPr>
              <a:t>ĐẠI HỌC QUỐC GIA TP. HỒ CHÍ MINH — TRƯỜNG ĐẠI HỌC CÔNG NGHỆ THÔNG TIN</a:t>
            </a:r>
            <a:endParaRPr lang="en-US" sz="1200" dirty="0"/>
          </a:p>
        </p:txBody>
      </p:sp>
      <p:sp>
        <p:nvSpPr>
          <p:cNvPr id="6" name="Text 4"/>
          <p:cNvSpPr/>
          <p:nvPr/>
        </p:nvSpPr>
        <p:spPr>
          <a:xfrm>
            <a:off x="822960" y="749808"/>
            <a:ext cx="10543032" cy="256032"/>
          </a:xfrm>
          <a:prstGeom prst="rect">
            <a:avLst/>
          </a:prstGeom>
          <a:noFill/>
          <a:ln/>
        </p:spPr>
        <p:txBody>
          <a:bodyPr wrap="square" rtlCol="0" anchor="ctr"/>
          <a:lstStyle/>
          <a:p>
            <a:pPr algn="ctr" indent="0" marL="0">
              <a:buNone/>
            </a:pPr>
            <a:r>
              <a:rPr lang="en-US" sz="1100" dirty="0">
                <a:solidFill>
                  <a:srgbClr val="9FB8DB"/>
                </a:solidFill>
                <a:latin typeface="Calibri" pitchFamily="34" charset="0"/>
                <a:ea typeface="Calibri" pitchFamily="34" charset="-122"/>
                <a:cs typeface="Calibri" pitchFamily="34" charset="-120"/>
              </a:rPr>
              <a:t>KHOA KHOA HỌC VÀ KĨ THUẬT THÔNG TIN</a:t>
            </a:r>
            <a:endParaRPr lang="en-US" sz="1100" dirty="0"/>
          </a:p>
        </p:txBody>
      </p:sp>
      <p:sp>
        <p:nvSpPr>
          <p:cNvPr id="7" name="Text 5"/>
          <p:cNvSpPr/>
          <p:nvPr/>
        </p:nvSpPr>
        <p:spPr>
          <a:xfrm>
            <a:off x="822960" y="1572768"/>
            <a:ext cx="10543032" cy="292608"/>
          </a:xfrm>
          <a:prstGeom prst="rect">
            <a:avLst/>
          </a:prstGeom>
          <a:noFill/>
          <a:ln/>
        </p:spPr>
        <p:txBody>
          <a:bodyPr wrap="square" rtlCol="0" anchor="ctr"/>
          <a:lstStyle/>
          <a:p>
            <a:pPr algn="ctr" indent="0" marL="0">
              <a:buNone/>
            </a:pPr>
            <a:r>
              <a:rPr lang="en-US" sz="1300" b="1" spc="200" kern="0" dirty="0">
                <a:solidFill>
                  <a:srgbClr val="F2A900"/>
                </a:solidFill>
                <a:latin typeface="Calibri" pitchFamily="34" charset="0"/>
                <a:ea typeface="Calibri" pitchFamily="34" charset="-122"/>
                <a:cs typeface="Calibri" pitchFamily="34" charset="-120"/>
              </a:rPr>
              <a:t>BÁO CÁO ĐỒ ÁN  ·  HỆ THỐNG QUẢN TRỊ QUY TRÌNH NGHIỆP VỤ</a:t>
            </a:r>
            <a:endParaRPr lang="en-US" sz="1300" dirty="0"/>
          </a:p>
        </p:txBody>
      </p:sp>
      <p:sp>
        <p:nvSpPr>
          <p:cNvPr id="8" name="Text 6"/>
          <p:cNvSpPr/>
          <p:nvPr/>
        </p:nvSpPr>
        <p:spPr>
          <a:xfrm>
            <a:off x="640080" y="1965960"/>
            <a:ext cx="10908792" cy="1783080"/>
          </a:xfrm>
          <a:prstGeom prst="rect">
            <a:avLst/>
          </a:prstGeom>
          <a:noFill/>
          <a:ln/>
        </p:spPr>
        <p:txBody>
          <a:bodyPr wrap="square" rtlCol="0" anchor="ctr"/>
          <a:lstStyle/>
          <a:p>
            <a:pPr algn="ctr" indent="0" marL="0">
              <a:lnSpc>
                <a:spcPct val="112000"/>
              </a:lnSpc>
              <a:buNone/>
            </a:pPr>
            <a:r>
              <a:rPr lang="en-US" sz="3100" b="1" dirty="0">
                <a:solidFill>
                  <a:srgbClr val="FFFFFF"/>
                </a:solidFill>
                <a:latin typeface="Cambria" pitchFamily="34" charset="0"/>
                <a:ea typeface="Cambria" pitchFamily="34" charset="-122"/>
                <a:cs typeface="Cambria" pitchFamily="34" charset="-120"/>
              </a:rPr>
              <a:t>PHÂN TÍCH VÀ TÁI THIẾT KẾ</a:t>
            </a:r>
            <a:endParaRPr lang="en-US" sz="3100" dirty="0"/>
          </a:p>
          <a:p>
            <a:pPr algn="ctr" indent="0" marL="0">
              <a:lnSpc>
                <a:spcPct val="112000"/>
              </a:lnSpc>
              <a:buNone/>
            </a:pPr>
            <a:r>
              <a:rPr lang="en-US" sz="3100" b="1" dirty="0">
                <a:solidFill>
                  <a:srgbClr val="FFFFFF"/>
                </a:solidFill>
                <a:latin typeface="Cambria" pitchFamily="34" charset="0"/>
                <a:ea typeface="Cambria" pitchFamily="34" charset="-122"/>
                <a:cs typeface="Cambria" pitchFamily="34" charset="-120"/>
              </a:rPr>
              <a:t>QUY TRÌNH TIẾP NHẬN &amp; XỬ LÝ PHIẾU YÊU CẦU (PYC)</a:t>
            </a:r>
            <a:endParaRPr lang="en-US" sz="3100" dirty="0"/>
          </a:p>
          <a:p>
            <a:pPr algn="ctr" indent="0" marL="0">
              <a:lnSpc>
                <a:spcPct val="112000"/>
              </a:lnSpc>
              <a:buNone/>
            </a:pPr>
            <a:r>
              <a:rPr lang="en-US" sz="3100" b="1" dirty="0">
                <a:solidFill>
                  <a:srgbClr val="FFFFFF"/>
                </a:solidFill>
                <a:latin typeface="Cambria" pitchFamily="34" charset="0"/>
                <a:ea typeface="Cambria" pitchFamily="34" charset="-122"/>
                <a:cs typeface="Cambria" pitchFamily="34" charset="-120"/>
              </a:rPr>
              <a:t>CNTT TẠI SACOMBANK</a:t>
            </a:r>
            <a:endParaRPr lang="en-US" sz="3100" dirty="0"/>
          </a:p>
        </p:txBody>
      </p:sp>
      <p:sp>
        <p:nvSpPr>
          <p:cNvPr id="9" name="Shape 7"/>
          <p:cNvSpPr/>
          <p:nvPr/>
        </p:nvSpPr>
        <p:spPr>
          <a:xfrm>
            <a:off x="1325880" y="4160520"/>
            <a:ext cx="4297680" cy="1691640"/>
          </a:xfrm>
          <a:prstGeom prst="roundRect">
            <a:avLst>
              <a:gd name="adj" fmla="val 4865"/>
            </a:avLst>
          </a:prstGeom>
          <a:solidFill>
            <a:srgbClr val="113C74"/>
          </a:solidFill>
          <a:ln w="12700">
            <a:solidFill>
              <a:srgbClr val="2A5391"/>
            </a:solidFill>
            <a:prstDash val="solid"/>
          </a:ln>
        </p:spPr>
      </p:sp>
      <p:sp>
        <p:nvSpPr>
          <p:cNvPr id="10" name="Text 8"/>
          <p:cNvSpPr/>
          <p:nvPr/>
        </p:nvSpPr>
        <p:spPr>
          <a:xfrm>
            <a:off x="1645920" y="4407408"/>
            <a:ext cx="3657600" cy="256032"/>
          </a:xfrm>
          <a:prstGeom prst="rect">
            <a:avLst/>
          </a:prstGeom>
          <a:noFill/>
          <a:ln/>
        </p:spPr>
        <p:txBody>
          <a:bodyPr wrap="square" lIns="0" tIns="0" rIns="0" bIns="0" rtlCol="0" anchor="ctr"/>
          <a:lstStyle/>
          <a:p>
            <a:pPr indent="0" marL="0">
              <a:buNone/>
            </a:pPr>
            <a:r>
              <a:rPr lang="en-US" sz="1050" b="1" spc="200" kern="0" dirty="0">
                <a:solidFill>
                  <a:srgbClr val="F2A900"/>
                </a:solidFill>
                <a:latin typeface="Calibri" pitchFamily="34" charset="0"/>
                <a:ea typeface="Calibri" pitchFamily="34" charset="-122"/>
                <a:cs typeface="Calibri" pitchFamily="34" charset="-120"/>
              </a:rPr>
              <a:t>GIẢNG VIÊN HƯỚNG DẪN</a:t>
            </a:r>
            <a:endParaRPr lang="en-US" sz="1050" dirty="0"/>
          </a:p>
        </p:txBody>
      </p:sp>
      <p:sp>
        <p:nvSpPr>
          <p:cNvPr id="11" name="Text 9"/>
          <p:cNvSpPr/>
          <p:nvPr/>
        </p:nvSpPr>
        <p:spPr>
          <a:xfrm>
            <a:off x="1645920" y="4700016"/>
            <a:ext cx="3657600" cy="41148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Hà Lê Hoài Trung</a:t>
            </a:r>
            <a:endParaRPr lang="en-US" sz="2000" dirty="0"/>
          </a:p>
        </p:txBody>
      </p:sp>
      <p:sp>
        <p:nvSpPr>
          <p:cNvPr id="12" name="Text 10"/>
          <p:cNvSpPr/>
          <p:nvPr/>
        </p:nvSpPr>
        <p:spPr>
          <a:xfrm>
            <a:off x="1645920" y="5230368"/>
            <a:ext cx="3657600" cy="274320"/>
          </a:xfrm>
          <a:prstGeom prst="rect">
            <a:avLst/>
          </a:prstGeom>
          <a:noFill/>
          <a:ln/>
        </p:spPr>
        <p:txBody>
          <a:bodyPr wrap="square" lIns="0" tIns="0" rIns="0" bIns="0" rtlCol="0" anchor="ctr"/>
          <a:lstStyle/>
          <a:p>
            <a:pPr indent="0" marL="0">
              <a:buNone/>
            </a:pPr>
            <a:r>
              <a:rPr lang="en-US" sz="1100" dirty="0">
                <a:solidFill>
                  <a:srgbClr val="C9DAF2"/>
                </a:solidFill>
                <a:latin typeface="Calibri" pitchFamily="34" charset="0"/>
                <a:ea typeface="Calibri" pitchFamily="34" charset="-122"/>
                <a:cs typeface="Calibri" pitchFamily="34" charset="-120"/>
              </a:rPr>
              <a:t>TP. Hồ Chí Minh · Tháng 08/2026</a:t>
            </a:r>
            <a:endParaRPr lang="en-US" sz="1100" dirty="0"/>
          </a:p>
        </p:txBody>
      </p:sp>
      <p:sp>
        <p:nvSpPr>
          <p:cNvPr id="13" name="Shape 11"/>
          <p:cNvSpPr/>
          <p:nvPr/>
        </p:nvSpPr>
        <p:spPr>
          <a:xfrm>
            <a:off x="5989320" y="4160520"/>
            <a:ext cx="4892040" cy="1691640"/>
          </a:xfrm>
          <a:prstGeom prst="roundRect">
            <a:avLst>
              <a:gd name="adj" fmla="val 4865"/>
            </a:avLst>
          </a:prstGeom>
          <a:solidFill>
            <a:srgbClr val="113C74"/>
          </a:solidFill>
          <a:ln w="12700">
            <a:solidFill>
              <a:srgbClr val="2A5391"/>
            </a:solidFill>
            <a:prstDash val="solid"/>
          </a:ln>
        </p:spPr>
      </p:sp>
      <p:sp>
        <p:nvSpPr>
          <p:cNvPr id="14" name="Text 12"/>
          <p:cNvSpPr/>
          <p:nvPr/>
        </p:nvSpPr>
        <p:spPr>
          <a:xfrm>
            <a:off x="6309360" y="4315968"/>
            <a:ext cx="4206240" cy="256032"/>
          </a:xfrm>
          <a:prstGeom prst="rect">
            <a:avLst/>
          </a:prstGeom>
          <a:noFill/>
          <a:ln/>
        </p:spPr>
        <p:txBody>
          <a:bodyPr wrap="square" lIns="0" tIns="0" rIns="0" bIns="0" rtlCol="0" anchor="ctr"/>
          <a:lstStyle/>
          <a:p>
            <a:pPr indent="0" marL="0">
              <a:buNone/>
            </a:pPr>
            <a:r>
              <a:rPr lang="en-US" sz="1050" b="1" spc="200" kern="0" dirty="0">
                <a:solidFill>
                  <a:srgbClr val="F2A900"/>
                </a:solidFill>
                <a:latin typeface="Calibri" pitchFamily="34" charset="0"/>
                <a:ea typeface="Calibri" pitchFamily="34" charset="-122"/>
                <a:cs typeface="Calibri" pitchFamily="34" charset="-120"/>
              </a:rPr>
              <a:t>NHÓM SINH VIÊN THỰC HIỆN</a:t>
            </a:r>
            <a:endParaRPr lang="en-US" sz="1050" dirty="0"/>
          </a:p>
        </p:txBody>
      </p:sp>
      <p:sp>
        <p:nvSpPr>
          <p:cNvPr id="15" name="Text 13"/>
          <p:cNvSpPr/>
          <p:nvPr/>
        </p:nvSpPr>
        <p:spPr>
          <a:xfrm>
            <a:off x="6309360" y="4590288"/>
            <a:ext cx="4343400" cy="1170432"/>
          </a:xfrm>
          <a:prstGeom prst="rect">
            <a:avLst/>
          </a:prstGeom>
          <a:noFill/>
          <a:ln/>
        </p:spPr>
        <p:txBody>
          <a:bodyPr wrap="square" lIns="0" tIns="0" rIns="0" bIns="0" rtlCol="0" anchor="ctr"/>
          <a:lstStyle/>
          <a:p>
            <a:pPr indent="0" marL="0">
              <a:lnSpc>
                <a:spcPct val="128000"/>
              </a:lnSpc>
              <a:buNone/>
            </a:pPr>
            <a:r>
              <a:rPr lang="en-US" sz="1200" dirty="0">
                <a:solidFill>
                  <a:srgbClr val="FFFFFF"/>
                </a:solidFill>
                <a:latin typeface="Calibri" pitchFamily="34" charset="0"/>
                <a:ea typeface="Calibri" pitchFamily="34" charset="-122"/>
                <a:cs typeface="Calibri" pitchFamily="34" charset="-120"/>
              </a:rPr>
              <a:t>Lê Minh Trí (Nhóm trưởng) — 25210225</a:t>
            </a:r>
            <a:endParaRPr lang="en-US" sz="1200" dirty="0"/>
          </a:p>
          <a:p>
            <a:pPr indent="0" marL="0">
              <a:lnSpc>
                <a:spcPct val="128000"/>
              </a:lnSpc>
              <a:buNone/>
            </a:pPr>
            <a:r>
              <a:rPr lang="en-US" sz="1200" dirty="0">
                <a:solidFill>
                  <a:srgbClr val="FFFFFF"/>
                </a:solidFill>
                <a:latin typeface="Calibri" pitchFamily="34" charset="0"/>
                <a:ea typeface="Calibri" pitchFamily="34" charset="-122"/>
                <a:cs typeface="Calibri" pitchFamily="34" charset="-120"/>
              </a:rPr>
              <a:t>Mai Thị Anh Đào — 25210078</a:t>
            </a:r>
            <a:endParaRPr lang="en-US" sz="1200" dirty="0"/>
          </a:p>
          <a:p>
            <a:pPr indent="0" marL="0">
              <a:lnSpc>
                <a:spcPct val="128000"/>
              </a:lnSpc>
              <a:buNone/>
            </a:pPr>
            <a:r>
              <a:rPr lang="en-US" sz="1200" dirty="0">
                <a:solidFill>
                  <a:srgbClr val="FFFFFF"/>
                </a:solidFill>
                <a:latin typeface="Calibri" pitchFamily="34" charset="0"/>
                <a:ea typeface="Calibri" pitchFamily="34" charset="-122"/>
                <a:cs typeface="Calibri" pitchFamily="34" charset="-120"/>
              </a:rPr>
              <a:t>Tăng Vĩ Thái — 25210191</a:t>
            </a:r>
            <a:endParaRPr lang="en-US" sz="1200" dirty="0"/>
          </a:p>
          <a:p>
            <a:pPr indent="0" marL="0">
              <a:lnSpc>
                <a:spcPct val="128000"/>
              </a:lnSpc>
              <a:buNone/>
            </a:pPr>
            <a:r>
              <a:rPr lang="en-US" sz="1200" dirty="0">
                <a:solidFill>
                  <a:srgbClr val="FFFFFF"/>
                </a:solidFill>
                <a:latin typeface="Calibri" pitchFamily="34" charset="0"/>
                <a:ea typeface="Calibri" pitchFamily="34" charset="-122"/>
                <a:cs typeface="Calibri" pitchFamily="34" charset="-120"/>
              </a:rPr>
              <a:t>Nguyễn Đăng Huy — 25210111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lIns="0" tIns="0" rIns="0" bIns="0" rtlCol="0" anchor="ctr"/>
          <a:lstStyle/>
          <a:p>
            <a:pPr indent="0" marL="0">
              <a:buNone/>
            </a:pPr>
            <a:r>
              <a:rPr lang="en-US" sz="1050" b="1" spc="240" kern="0" dirty="0">
                <a:solidFill>
                  <a:srgbClr val="2160A6"/>
                </a:solidFill>
                <a:latin typeface="Calibri" pitchFamily="34" charset="0"/>
                <a:ea typeface="Calibri" pitchFamily="34" charset="-122"/>
                <a:cs typeface="Calibri" pitchFamily="34" charset="-120"/>
              </a:rPr>
              <a:t>NỘI DUNG TRÌNH BÀY</a:t>
            </a:r>
            <a:endParaRPr lang="en-US" sz="1050" dirty="0"/>
          </a:p>
        </p:txBody>
      </p:sp>
      <p:sp>
        <p:nvSpPr>
          <p:cNvPr id="3" name="Text 1"/>
          <p:cNvSpPr/>
          <p:nvPr/>
        </p:nvSpPr>
        <p:spPr>
          <a:xfrm>
            <a:off x="548640" y="566928"/>
            <a:ext cx="11064240" cy="566928"/>
          </a:xfrm>
          <a:prstGeom prst="rect">
            <a:avLst/>
          </a:prstGeom>
          <a:noFill/>
          <a:ln/>
        </p:spPr>
        <p:txBody>
          <a:bodyPr wrap="square" lIns="0" tIns="0" rIns="0" bIns="0" rtlCol="0" anchor="ctr"/>
          <a:lstStyle/>
          <a:p>
            <a:pPr indent="0" marL="0">
              <a:buNone/>
            </a:pPr>
            <a:r>
              <a:rPr lang="en-US" sz="2900" b="1" dirty="0">
                <a:solidFill>
                  <a:srgbClr val="0A2E5C"/>
                </a:solidFill>
                <a:latin typeface="Cambria" pitchFamily="34" charset="0"/>
                <a:ea typeface="Cambria" pitchFamily="34" charset="-122"/>
                <a:cs typeface="Cambria" pitchFamily="34" charset="-120"/>
              </a:rPr>
              <a:t>Hành trình từ AS-IS đến TO-BE</a:t>
            </a:r>
            <a:endParaRPr lang="en-US" sz="2900" dirty="0"/>
          </a:p>
        </p:txBody>
      </p:sp>
      <p:sp>
        <p:nvSpPr>
          <p:cNvPr id="4" name="Shape 2"/>
          <p:cNvSpPr/>
          <p:nvPr/>
        </p:nvSpPr>
        <p:spPr>
          <a:xfrm>
            <a:off x="566928" y="1591056"/>
            <a:ext cx="566928" cy="566928"/>
          </a:xfrm>
          <a:prstGeom prst="ellipse">
            <a:avLst/>
          </a:prstGeom>
          <a:solidFill>
            <a:srgbClr val="0A2E5C"/>
          </a:solidFill>
          <a:ln/>
        </p:spPr>
      </p:sp>
      <p:sp>
        <p:nvSpPr>
          <p:cNvPr id="5" name="Text 3"/>
          <p:cNvSpPr/>
          <p:nvPr/>
        </p:nvSpPr>
        <p:spPr>
          <a:xfrm>
            <a:off x="566928" y="1591056"/>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01</a:t>
            </a:r>
            <a:endParaRPr lang="en-US" sz="1600" dirty="0"/>
          </a:p>
        </p:txBody>
      </p:sp>
      <p:sp>
        <p:nvSpPr>
          <p:cNvPr id="6" name="Text 4"/>
          <p:cNvSpPr/>
          <p:nvPr/>
        </p:nvSpPr>
        <p:spPr>
          <a:xfrm>
            <a:off x="1344168" y="1527048"/>
            <a:ext cx="4526280" cy="329184"/>
          </a:xfrm>
          <a:prstGeom prst="rect">
            <a:avLst/>
          </a:prstGeom>
          <a:noFill/>
          <a:ln/>
        </p:spPr>
        <p:txBody>
          <a:bodyPr wrap="square" lIns="0" tIns="0" rIns="0" bIns="0" rtlCol="0" anchor="ctr"/>
          <a:lstStyle/>
          <a:p>
            <a:pPr indent="0" marL="0">
              <a:buNone/>
            </a:pPr>
            <a:r>
              <a:rPr lang="en-US" sz="1500" b="1" dirty="0">
                <a:solidFill>
                  <a:srgbClr val="16283E"/>
                </a:solidFill>
                <a:latin typeface="Calibri" pitchFamily="34" charset="0"/>
                <a:ea typeface="Calibri" pitchFamily="34" charset="-122"/>
                <a:cs typeface="Calibri" pitchFamily="34" charset="-120"/>
              </a:rPr>
              <a:t>Mở đầu</a:t>
            </a:r>
            <a:endParaRPr lang="en-US" sz="1500" dirty="0"/>
          </a:p>
        </p:txBody>
      </p:sp>
      <p:sp>
        <p:nvSpPr>
          <p:cNvPr id="7" name="Text 5"/>
          <p:cNvSpPr/>
          <p:nvPr/>
        </p:nvSpPr>
        <p:spPr>
          <a:xfrm>
            <a:off x="1344168" y="1865376"/>
            <a:ext cx="4526280" cy="310896"/>
          </a:xfrm>
          <a:prstGeom prst="rect">
            <a:avLst/>
          </a:prstGeom>
          <a:noFill/>
          <a:ln/>
        </p:spPr>
        <p:txBody>
          <a:bodyPr wrap="square" lIns="0" tIns="0" rIns="0" bIns="0" rtlCol="0" anchor="ctr"/>
          <a:lstStyle/>
          <a:p>
            <a:pPr indent="0" marL="0">
              <a:buNone/>
            </a:pPr>
            <a:r>
              <a:rPr lang="en-US" sz="1100" dirty="0">
                <a:solidFill>
                  <a:srgbClr val="5A6B80"/>
                </a:solidFill>
                <a:latin typeface="Calibri" pitchFamily="34" charset="0"/>
                <a:ea typeface="Calibri" pitchFamily="34" charset="-122"/>
                <a:cs typeface="Calibri" pitchFamily="34" charset="-120"/>
              </a:rPr>
              <a:t>Lý do chọn đề tài · Mục tiêu · Phạm vi nghiên cứu</a:t>
            </a:r>
            <a:endParaRPr lang="en-US" sz="1100" dirty="0"/>
          </a:p>
        </p:txBody>
      </p:sp>
      <p:sp>
        <p:nvSpPr>
          <p:cNvPr id="8" name="Shape 6"/>
          <p:cNvSpPr/>
          <p:nvPr/>
        </p:nvSpPr>
        <p:spPr>
          <a:xfrm>
            <a:off x="566928" y="2798064"/>
            <a:ext cx="566928" cy="566928"/>
          </a:xfrm>
          <a:prstGeom prst="ellipse">
            <a:avLst/>
          </a:prstGeom>
          <a:solidFill>
            <a:srgbClr val="0A2E5C"/>
          </a:solidFill>
          <a:ln/>
        </p:spPr>
      </p:sp>
      <p:sp>
        <p:nvSpPr>
          <p:cNvPr id="9" name="Text 7"/>
          <p:cNvSpPr/>
          <p:nvPr/>
        </p:nvSpPr>
        <p:spPr>
          <a:xfrm>
            <a:off x="566928" y="2798064"/>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02</a:t>
            </a:r>
            <a:endParaRPr lang="en-US" sz="1600" dirty="0"/>
          </a:p>
        </p:txBody>
      </p:sp>
      <p:sp>
        <p:nvSpPr>
          <p:cNvPr id="10" name="Text 8"/>
          <p:cNvSpPr/>
          <p:nvPr/>
        </p:nvSpPr>
        <p:spPr>
          <a:xfrm>
            <a:off x="1344168" y="2734056"/>
            <a:ext cx="4526280" cy="329184"/>
          </a:xfrm>
          <a:prstGeom prst="rect">
            <a:avLst/>
          </a:prstGeom>
          <a:noFill/>
          <a:ln/>
        </p:spPr>
        <p:txBody>
          <a:bodyPr wrap="square" lIns="0" tIns="0" rIns="0" bIns="0" rtlCol="0" anchor="ctr"/>
          <a:lstStyle/>
          <a:p>
            <a:pPr indent="0" marL="0">
              <a:buNone/>
            </a:pPr>
            <a:r>
              <a:rPr lang="en-US" sz="1500" b="1" dirty="0">
                <a:solidFill>
                  <a:srgbClr val="16283E"/>
                </a:solidFill>
                <a:latin typeface="Calibri" pitchFamily="34" charset="0"/>
                <a:ea typeface="Calibri" pitchFamily="34" charset="-122"/>
                <a:cs typeface="Calibri" pitchFamily="34" charset="-120"/>
              </a:rPr>
              <a:t>Chương 1 — Tổng quan doanh nghiệp</a:t>
            </a:r>
            <a:endParaRPr lang="en-US" sz="1500" dirty="0"/>
          </a:p>
        </p:txBody>
      </p:sp>
      <p:sp>
        <p:nvSpPr>
          <p:cNvPr id="11" name="Text 9"/>
          <p:cNvSpPr/>
          <p:nvPr/>
        </p:nvSpPr>
        <p:spPr>
          <a:xfrm>
            <a:off x="1344168" y="3072384"/>
            <a:ext cx="4526280" cy="310896"/>
          </a:xfrm>
          <a:prstGeom prst="rect">
            <a:avLst/>
          </a:prstGeom>
          <a:noFill/>
          <a:ln/>
        </p:spPr>
        <p:txBody>
          <a:bodyPr wrap="square" lIns="0" tIns="0" rIns="0" bIns="0" rtlCol="0" anchor="ctr"/>
          <a:lstStyle/>
          <a:p>
            <a:pPr indent="0" marL="0">
              <a:buNone/>
            </a:pPr>
            <a:r>
              <a:rPr lang="en-US" sz="1100" dirty="0">
                <a:solidFill>
                  <a:srgbClr val="5A6B80"/>
                </a:solidFill>
                <a:latin typeface="Calibri" pitchFamily="34" charset="0"/>
                <a:ea typeface="Calibri" pitchFamily="34" charset="-122"/>
                <a:cs typeface="Calibri" pitchFamily="34" charset="-120"/>
              </a:rPr>
              <a:t>Khối CNTT Sacombank &amp; kiến trúc 10 quy trình</a:t>
            </a:r>
            <a:endParaRPr lang="en-US" sz="1100" dirty="0"/>
          </a:p>
        </p:txBody>
      </p:sp>
      <p:sp>
        <p:nvSpPr>
          <p:cNvPr id="12" name="Shape 10"/>
          <p:cNvSpPr/>
          <p:nvPr/>
        </p:nvSpPr>
        <p:spPr>
          <a:xfrm>
            <a:off x="566928" y="4005072"/>
            <a:ext cx="566928" cy="566928"/>
          </a:xfrm>
          <a:prstGeom prst="ellipse">
            <a:avLst/>
          </a:prstGeom>
          <a:solidFill>
            <a:srgbClr val="0A2E5C"/>
          </a:solidFill>
          <a:ln/>
        </p:spPr>
      </p:sp>
      <p:sp>
        <p:nvSpPr>
          <p:cNvPr id="13" name="Text 11"/>
          <p:cNvSpPr/>
          <p:nvPr/>
        </p:nvSpPr>
        <p:spPr>
          <a:xfrm>
            <a:off x="566928" y="4005072"/>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03</a:t>
            </a:r>
            <a:endParaRPr lang="en-US" sz="1600" dirty="0"/>
          </a:p>
        </p:txBody>
      </p:sp>
      <p:sp>
        <p:nvSpPr>
          <p:cNvPr id="14" name="Text 12"/>
          <p:cNvSpPr/>
          <p:nvPr/>
        </p:nvSpPr>
        <p:spPr>
          <a:xfrm>
            <a:off x="1344168" y="3941064"/>
            <a:ext cx="4526280" cy="329184"/>
          </a:xfrm>
          <a:prstGeom prst="rect">
            <a:avLst/>
          </a:prstGeom>
          <a:noFill/>
          <a:ln/>
        </p:spPr>
        <p:txBody>
          <a:bodyPr wrap="square" lIns="0" tIns="0" rIns="0" bIns="0" rtlCol="0" anchor="ctr"/>
          <a:lstStyle/>
          <a:p>
            <a:pPr indent="0" marL="0">
              <a:buNone/>
            </a:pPr>
            <a:r>
              <a:rPr lang="en-US" sz="1500" b="1" dirty="0">
                <a:solidFill>
                  <a:srgbClr val="16283E"/>
                </a:solidFill>
                <a:latin typeface="Calibri" pitchFamily="34" charset="0"/>
                <a:ea typeface="Calibri" pitchFamily="34" charset="-122"/>
                <a:cs typeface="Calibri" pitchFamily="34" charset="-120"/>
              </a:rPr>
              <a:t>Chương 2 — Phương pháp thực hiện</a:t>
            </a:r>
            <a:endParaRPr lang="en-US" sz="1500" dirty="0"/>
          </a:p>
        </p:txBody>
      </p:sp>
      <p:sp>
        <p:nvSpPr>
          <p:cNvPr id="15" name="Text 13"/>
          <p:cNvSpPr/>
          <p:nvPr/>
        </p:nvSpPr>
        <p:spPr>
          <a:xfrm>
            <a:off x="1344168" y="4279392"/>
            <a:ext cx="4526280" cy="310896"/>
          </a:xfrm>
          <a:prstGeom prst="rect">
            <a:avLst/>
          </a:prstGeom>
          <a:noFill/>
          <a:ln/>
        </p:spPr>
        <p:txBody>
          <a:bodyPr wrap="square" lIns="0" tIns="0" rIns="0" bIns="0" rtlCol="0" anchor="ctr"/>
          <a:lstStyle/>
          <a:p>
            <a:pPr indent="0" marL="0">
              <a:buNone/>
            </a:pPr>
            <a:r>
              <a:rPr lang="en-US" sz="1100" dirty="0">
                <a:solidFill>
                  <a:srgbClr val="5A6B80"/>
                </a:solidFill>
                <a:latin typeface="Calibri" pitchFamily="34" charset="0"/>
                <a:ea typeface="Calibri" pitchFamily="34" charset="-122"/>
                <a:cs typeface="Calibri" pitchFamily="34" charset="-120"/>
              </a:rPr>
              <a:t>Thu thập bằng chứng &amp; phỏng vấn 4 vai trò</a:t>
            </a:r>
            <a:endParaRPr lang="en-US" sz="1100" dirty="0"/>
          </a:p>
        </p:txBody>
      </p:sp>
      <p:sp>
        <p:nvSpPr>
          <p:cNvPr id="16" name="Shape 14"/>
          <p:cNvSpPr/>
          <p:nvPr/>
        </p:nvSpPr>
        <p:spPr>
          <a:xfrm>
            <a:off x="566928" y="5212080"/>
            <a:ext cx="566928" cy="566928"/>
          </a:xfrm>
          <a:prstGeom prst="ellipse">
            <a:avLst/>
          </a:prstGeom>
          <a:solidFill>
            <a:srgbClr val="0A2E5C"/>
          </a:solidFill>
          <a:ln/>
        </p:spPr>
      </p:sp>
      <p:sp>
        <p:nvSpPr>
          <p:cNvPr id="17" name="Text 15"/>
          <p:cNvSpPr/>
          <p:nvPr/>
        </p:nvSpPr>
        <p:spPr>
          <a:xfrm>
            <a:off x="566928" y="521208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04</a:t>
            </a:r>
            <a:endParaRPr lang="en-US" sz="1600" dirty="0"/>
          </a:p>
        </p:txBody>
      </p:sp>
      <p:sp>
        <p:nvSpPr>
          <p:cNvPr id="18" name="Text 16"/>
          <p:cNvSpPr/>
          <p:nvPr/>
        </p:nvSpPr>
        <p:spPr>
          <a:xfrm>
            <a:off x="1344168" y="5148072"/>
            <a:ext cx="4526280" cy="329184"/>
          </a:xfrm>
          <a:prstGeom prst="rect">
            <a:avLst/>
          </a:prstGeom>
          <a:noFill/>
          <a:ln/>
        </p:spPr>
        <p:txBody>
          <a:bodyPr wrap="square" lIns="0" tIns="0" rIns="0" bIns="0" rtlCol="0" anchor="ctr"/>
          <a:lstStyle/>
          <a:p>
            <a:pPr indent="0" marL="0">
              <a:buNone/>
            </a:pPr>
            <a:r>
              <a:rPr lang="en-US" sz="1500" b="1" dirty="0">
                <a:solidFill>
                  <a:srgbClr val="16283E"/>
                </a:solidFill>
                <a:latin typeface="Calibri" pitchFamily="34" charset="0"/>
                <a:ea typeface="Calibri" pitchFamily="34" charset="-122"/>
                <a:cs typeface="Calibri" pitchFamily="34" charset="-120"/>
              </a:rPr>
              <a:t>Chương 3 — Mô hình hóa AS-IS</a:t>
            </a:r>
            <a:endParaRPr lang="en-US" sz="1500" dirty="0"/>
          </a:p>
        </p:txBody>
      </p:sp>
      <p:sp>
        <p:nvSpPr>
          <p:cNvPr id="19" name="Text 17"/>
          <p:cNvSpPr/>
          <p:nvPr/>
        </p:nvSpPr>
        <p:spPr>
          <a:xfrm>
            <a:off x="1344168" y="5486400"/>
            <a:ext cx="4526280" cy="310896"/>
          </a:xfrm>
          <a:prstGeom prst="rect">
            <a:avLst/>
          </a:prstGeom>
          <a:noFill/>
          <a:ln/>
        </p:spPr>
        <p:txBody>
          <a:bodyPr wrap="square" lIns="0" tIns="0" rIns="0" bIns="0" rtlCol="0" anchor="ctr"/>
          <a:lstStyle/>
          <a:p>
            <a:pPr indent="0" marL="0">
              <a:buNone/>
            </a:pPr>
            <a:r>
              <a:rPr lang="en-US" sz="1100" dirty="0">
                <a:solidFill>
                  <a:srgbClr val="5A6B80"/>
                </a:solidFill>
                <a:latin typeface="Calibri" pitchFamily="34" charset="0"/>
                <a:ea typeface="Calibri" pitchFamily="34" charset="-122"/>
                <a:cs typeface="Calibri" pitchFamily="34" charset="-120"/>
              </a:rPr>
              <a:t>Chuẩn BPMN 2.0 · 4 làn trách nhiệm</a:t>
            </a:r>
            <a:endParaRPr lang="en-US" sz="1100" dirty="0"/>
          </a:p>
        </p:txBody>
      </p:sp>
      <p:sp>
        <p:nvSpPr>
          <p:cNvPr id="20" name="Shape 18"/>
          <p:cNvSpPr/>
          <p:nvPr/>
        </p:nvSpPr>
        <p:spPr>
          <a:xfrm>
            <a:off x="6382512" y="1591056"/>
            <a:ext cx="566928" cy="566928"/>
          </a:xfrm>
          <a:prstGeom prst="ellipse">
            <a:avLst/>
          </a:prstGeom>
          <a:solidFill>
            <a:srgbClr val="0A2E5C"/>
          </a:solidFill>
          <a:ln/>
        </p:spPr>
      </p:sp>
      <p:sp>
        <p:nvSpPr>
          <p:cNvPr id="21" name="Text 19"/>
          <p:cNvSpPr/>
          <p:nvPr/>
        </p:nvSpPr>
        <p:spPr>
          <a:xfrm>
            <a:off x="6382512" y="1591056"/>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05</a:t>
            </a:r>
            <a:endParaRPr lang="en-US" sz="1600" dirty="0"/>
          </a:p>
        </p:txBody>
      </p:sp>
      <p:sp>
        <p:nvSpPr>
          <p:cNvPr id="22" name="Text 20"/>
          <p:cNvSpPr/>
          <p:nvPr/>
        </p:nvSpPr>
        <p:spPr>
          <a:xfrm>
            <a:off x="7159752" y="1527048"/>
            <a:ext cx="4526280" cy="329184"/>
          </a:xfrm>
          <a:prstGeom prst="rect">
            <a:avLst/>
          </a:prstGeom>
          <a:noFill/>
          <a:ln/>
        </p:spPr>
        <p:txBody>
          <a:bodyPr wrap="square" lIns="0" tIns="0" rIns="0" bIns="0" rtlCol="0" anchor="ctr"/>
          <a:lstStyle/>
          <a:p>
            <a:pPr indent="0" marL="0">
              <a:buNone/>
            </a:pPr>
            <a:r>
              <a:rPr lang="en-US" sz="1500" b="1" dirty="0">
                <a:solidFill>
                  <a:srgbClr val="16283E"/>
                </a:solidFill>
                <a:latin typeface="Calibri" pitchFamily="34" charset="0"/>
                <a:ea typeface="Calibri" pitchFamily="34" charset="-122"/>
                <a:cs typeface="Calibri" pitchFamily="34" charset="-120"/>
              </a:rPr>
              <a:t>Chương 4 — Phân tích hiệu suất</a:t>
            </a:r>
            <a:endParaRPr lang="en-US" sz="1500" dirty="0"/>
          </a:p>
        </p:txBody>
      </p:sp>
      <p:sp>
        <p:nvSpPr>
          <p:cNvPr id="23" name="Text 21"/>
          <p:cNvSpPr/>
          <p:nvPr/>
        </p:nvSpPr>
        <p:spPr>
          <a:xfrm>
            <a:off x="7159752" y="1865376"/>
            <a:ext cx="4526280" cy="310896"/>
          </a:xfrm>
          <a:prstGeom prst="rect">
            <a:avLst/>
          </a:prstGeom>
          <a:noFill/>
          <a:ln/>
        </p:spPr>
        <p:txBody>
          <a:bodyPr wrap="square" lIns="0" tIns="0" rIns="0" bIns="0" rtlCol="0" anchor="ctr"/>
          <a:lstStyle/>
          <a:p>
            <a:pPr indent="0" marL="0">
              <a:buNone/>
            </a:pPr>
            <a:r>
              <a:rPr lang="en-US" sz="1100" dirty="0">
                <a:solidFill>
                  <a:srgbClr val="5A6B80"/>
                </a:solidFill>
                <a:latin typeface="Calibri" pitchFamily="34" charset="0"/>
                <a:ea typeface="Calibri" pitchFamily="34" charset="-122"/>
                <a:cs typeface="Calibri" pitchFamily="34" charset="-120"/>
              </a:rPr>
              <a:t>VA/NVA/VBA · 3 lãng phí · định lượng thời gian</a:t>
            </a:r>
            <a:endParaRPr lang="en-US" sz="1100" dirty="0"/>
          </a:p>
        </p:txBody>
      </p:sp>
      <p:sp>
        <p:nvSpPr>
          <p:cNvPr id="24" name="Shape 22"/>
          <p:cNvSpPr/>
          <p:nvPr/>
        </p:nvSpPr>
        <p:spPr>
          <a:xfrm>
            <a:off x="6382512" y="2798064"/>
            <a:ext cx="566928" cy="566928"/>
          </a:xfrm>
          <a:prstGeom prst="ellipse">
            <a:avLst/>
          </a:prstGeom>
          <a:solidFill>
            <a:srgbClr val="F2A900"/>
          </a:solidFill>
          <a:ln/>
        </p:spPr>
      </p:sp>
      <p:sp>
        <p:nvSpPr>
          <p:cNvPr id="25" name="Text 23"/>
          <p:cNvSpPr/>
          <p:nvPr/>
        </p:nvSpPr>
        <p:spPr>
          <a:xfrm>
            <a:off x="6382512" y="2798064"/>
            <a:ext cx="566928" cy="566928"/>
          </a:xfrm>
          <a:prstGeom prst="rect">
            <a:avLst/>
          </a:prstGeom>
          <a:noFill/>
          <a:ln/>
        </p:spPr>
        <p:txBody>
          <a:bodyPr wrap="square" lIns="0" tIns="0" rIns="0" bIns="0" rtlCol="0" anchor="ctr"/>
          <a:lstStyle/>
          <a:p>
            <a:pPr algn="ctr" indent="0" marL="0">
              <a:buNone/>
            </a:pPr>
            <a:r>
              <a:rPr lang="en-US" sz="1600" b="1" dirty="0">
                <a:solidFill>
                  <a:srgbClr val="0A2E5C"/>
                </a:solidFill>
                <a:latin typeface="Cambria" pitchFamily="34" charset="0"/>
                <a:ea typeface="Cambria" pitchFamily="34" charset="-122"/>
                <a:cs typeface="Cambria" pitchFamily="34" charset="-120"/>
              </a:rPr>
              <a:t>06</a:t>
            </a:r>
            <a:endParaRPr lang="en-US" sz="1600" dirty="0"/>
          </a:p>
        </p:txBody>
      </p:sp>
      <p:sp>
        <p:nvSpPr>
          <p:cNvPr id="26" name="Text 24"/>
          <p:cNvSpPr/>
          <p:nvPr/>
        </p:nvSpPr>
        <p:spPr>
          <a:xfrm>
            <a:off x="7159752" y="2734056"/>
            <a:ext cx="4526280" cy="329184"/>
          </a:xfrm>
          <a:prstGeom prst="rect">
            <a:avLst/>
          </a:prstGeom>
          <a:noFill/>
          <a:ln/>
        </p:spPr>
        <p:txBody>
          <a:bodyPr wrap="square" lIns="0" tIns="0" rIns="0" bIns="0" rtlCol="0" anchor="ctr"/>
          <a:lstStyle/>
          <a:p>
            <a:pPr indent="0" marL="0">
              <a:buNone/>
            </a:pPr>
            <a:r>
              <a:rPr lang="en-US" sz="1500" b="1" dirty="0">
                <a:solidFill>
                  <a:srgbClr val="16283E"/>
                </a:solidFill>
                <a:latin typeface="Calibri" pitchFamily="34" charset="0"/>
                <a:ea typeface="Calibri" pitchFamily="34" charset="-122"/>
                <a:cs typeface="Calibri" pitchFamily="34" charset="-120"/>
              </a:rPr>
              <a:t>Chương 5 — Giải pháp &amp; mô hình TO-BE</a:t>
            </a:r>
            <a:endParaRPr lang="en-US" sz="1500" dirty="0"/>
          </a:p>
        </p:txBody>
      </p:sp>
      <p:sp>
        <p:nvSpPr>
          <p:cNvPr id="27" name="Text 25"/>
          <p:cNvSpPr/>
          <p:nvPr/>
        </p:nvSpPr>
        <p:spPr>
          <a:xfrm>
            <a:off x="7159752" y="3072384"/>
            <a:ext cx="4526280" cy="310896"/>
          </a:xfrm>
          <a:prstGeom prst="rect">
            <a:avLst/>
          </a:prstGeom>
          <a:noFill/>
          <a:ln/>
        </p:spPr>
        <p:txBody>
          <a:bodyPr wrap="square" lIns="0" tIns="0" rIns="0" bIns="0" rtlCol="0" anchor="ctr"/>
          <a:lstStyle/>
          <a:p>
            <a:pPr indent="0" marL="0">
              <a:buNone/>
            </a:pPr>
            <a:r>
              <a:rPr lang="en-US" sz="1100" dirty="0">
                <a:solidFill>
                  <a:srgbClr val="5A6B80"/>
                </a:solidFill>
                <a:latin typeface="Calibri" pitchFamily="34" charset="0"/>
                <a:ea typeface="Calibri" pitchFamily="34" charset="-122"/>
                <a:cs typeface="Calibri" pitchFamily="34" charset="-120"/>
              </a:rPr>
              <a:t>Smart-Form · Auto-Approval · API ghi log</a:t>
            </a:r>
            <a:endParaRPr lang="en-US" sz="1100" dirty="0"/>
          </a:p>
        </p:txBody>
      </p:sp>
      <p:sp>
        <p:nvSpPr>
          <p:cNvPr id="28" name="Shape 26"/>
          <p:cNvSpPr/>
          <p:nvPr/>
        </p:nvSpPr>
        <p:spPr>
          <a:xfrm>
            <a:off x="6382512" y="4005072"/>
            <a:ext cx="566928" cy="566928"/>
          </a:xfrm>
          <a:prstGeom prst="ellipse">
            <a:avLst/>
          </a:prstGeom>
          <a:solidFill>
            <a:srgbClr val="0A2E5C"/>
          </a:solidFill>
          <a:ln/>
        </p:spPr>
      </p:sp>
      <p:sp>
        <p:nvSpPr>
          <p:cNvPr id="29" name="Text 27"/>
          <p:cNvSpPr/>
          <p:nvPr/>
        </p:nvSpPr>
        <p:spPr>
          <a:xfrm>
            <a:off x="6382512" y="4005072"/>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07</a:t>
            </a:r>
            <a:endParaRPr lang="en-US" sz="1600" dirty="0"/>
          </a:p>
        </p:txBody>
      </p:sp>
      <p:sp>
        <p:nvSpPr>
          <p:cNvPr id="30" name="Text 28"/>
          <p:cNvSpPr/>
          <p:nvPr/>
        </p:nvSpPr>
        <p:spPr>
          <a:xfrm>
            <a:off x="7159752" y="3941064"/>
            <a:ext cx="4526280" cy="329184"/>
          </a:xfrm>
          <a:prstGeom prst="rect">
            <a:avLst/>
          </a:prstGeom>
          <a:noFill/>
          <a:ln/>
        </p:spPr>
        <p:txBody>
          <a:bodyPr wrap="square" lIns="0" tIns="0" rIns="0" bIns="0" rtlCol="0" anchor="ctr"/>
          <a:lstStyle/>
          <a:p>
            <a:pPr indent="0" marL="0">
              <a:buNone/>
            </a:pPr>
            <a:r>
              <a:rPr lang="en-US" sz="1500" b="1" dirty="0">
                <a:solidFill>
                  <a:srgbClr val="16283E"/>
                </a:solidFill>
                <a:latin typeface="Calibri" pitchFamily="34" charset="0"/>
                <a:ea typeface="Calibri" pitchFamily="34" charset="-122"/>
                <a:cs typeface="Calibri" pitchFamily="34" charset="-120"/>
              </a:rPr>
              <a:t>Chương 6 — Kết luận</a:t>
            </a:r>
            <a:endParaRPr lang="en-US" sz="1500" dirty="0"/>
          </a:p>
        </p:txBody>
      </p:sp>
      <p:sp>
        <p:nvSpPr>
          <p:cNvPr id="31" name="Text 29"/>
          <p:cNvSpPr/>
          <p:nvPr/>
        </p:nvSpPr>
        <p:spPr>
          <a:xfrm>
            <a:off x="7159752" y="4279392"/>
            <a:ext cx="4526280" cy="310896"/>
          </a:xfrm>
          <a:prstGeom prst="rect">
            <a:avLst/>
          </a:prstGeom>
          <a:noFill/>
          <a:ln/>
        </p:spPr>
        <p:txBody>
          <a:bodyPr wrap="square" lIns="0" tIns="0" rIns="0" bIns="0" rtlCol="0" anchor="ctr"/>
          <a:lstStyle/>
          <a:p>
            <a:pPr indent="0" marL="0">
              <a:buNone/>
            </a:pPr>
            <a:r>
              <a:rPr lang="en-US" sz="1100" dirty="0">
                <a:solidFill>
                  <a:srgbClr val="5A6B80"/>
                </a:solidFill>
                <a:latin typeface="Calibri" pitchFamily="34" charset="0"/>
                <a:ea typeface="Calibri" pitchFamily="34" charset="-122"/>
                <a:cs typeface="Calibri" pitchFamily="34" charset="-120"/>
              </a:rPr>
              <a:t>Giá trị thực tiễn · hạn chế · hướng phát triển</a:t>
            </a:r>
            <a:endParaRPr lang="en-US" sz="1100" dirty="0"/>
          </a:p>
        </p:txBody>
      </p:sp>
      <p:sp>
        <p:nvSpPr>
          <p:cNvPr id="32" name="Text 30"/>
          <p:cNvSpPr/>
          <p:nvPr/>
        </p:nvSpPr>
        <p:spPr>
          <a:xfrm>
            <a:off x="11411712" y="6473952"/>
            <a:ext cx="457200" cy="274320"/>
          </a:xfrm>
          <a:prstGeom prst="rect">
            <a:avLst/>
          </a:prstGeom>
          <a:noFill/>
          <a:ln/>
        </p:spPr>
        <p:txBody>
          <a:bodyPr wrap="square" rtlCol="0" anchor="ctr"/>
          <a:lstStyle/>
          <a:p>
            <a:pPr algn="r" indent="0" marL="0">
              <a:buNone/>
            </a:pPr>
            <a:r>
              <a:rPr lang="en-US" sz="900" dirty="0">
                <a:solidFill>
                  <a:srgbClr val="5A6B80"/>
                </a:solidFill>
                <a:latin typeface="Calibri" pitchFamily="34" charset="0"/>
                <a:ea typeface="Calibri" pitchFamily="34" charset="-122"/>
                <a:cs typeface="Calibri" pitchFamily="34" charset="-120"/>
              </a:rPr>
              <a:t>02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lIns="0" tIns="0" rIns="0" bIns="0" rtlCol="0" anchor="ctr"/>
          <a:lstStyle/>
          <a:p>
            <a:pPr indent="0" marL="0">
              <a:buNone/>
            </a:pPr>
            <a:r>
              <a:rPr lang="en-US" sz="1050" b="1" spc="240" kern="0" dirty="0">
                <a:solidFill>
                  <a:srgbClr val="2160A6"/>
                </a:solidFill>
                <a:latin typeface="Calibri" pitchFamily="34" charset="0"/>
                <a:ea typeface="Calibri" pitchFamily="34" charset="-122"/>
                <a:cs typeface="Calibri" pitchFamily="34" charset="-120"/>
              </a:rPr>
              <a:t>MỞ ĐẦU</a:t>
            </a:r>
            <a:endParaRPr lang="en-US" sz="1050" dirty="0"/>
          </a:p>
        </p:txBody>
      </p:sp>
      <p:sp>
        <p:nvSpPr>
          <p:cNvPr id="3" name="Text 1"/>
          <p:cNvSpPr/>
          <p:nvPr/>
        </p:nvSpPr>
        <p:spPr>
          <a:xfrm>
            <a:off x="548640" y="566928"/>
            <a:ext cx="11064240" cy="566928"/>
          </a:xfrm>
          <a:prstGeom prst="rect">
            <a:avLst/>
          </a:prstGeom>
          <a:noFill/>
          <a:ln/>
        </p:spPr>
        <p:txBody>
          <a:bodyPr wrap="square" lIns="0" tIns="0" rIns="0" bIns="0" rtlCol="0" anchor="ctr"/>
          <a:lstStyle/>
          <a:p>
            <a:pPr indent="0" marL="0">
              <a:buNone/>
            </a:pPr>
            <a:r>
              <a:rPr lang="en-US" sz="2900" b="1" dirty="0">
                <a:solidFill>
                  <a:srgbClr val="0A2E5C"/>
                </a:solidFill>
                <a:latin typeface="Cambria" pitchFamily="34" charset="0"/>
                <a:ea typeface="Cambria" pitchFamily="34" charset="-122"/>
                <a:cs typeface="Cambria" pitchFamily="34" charset="-120"/>
              </a:rPr>
              <a:t>Vì sao chọn quy trình PYC tại Sacombank?</a:t>
            </a:r>
            <a:endParaRPr lang="en-US" sz="2900" dirty="0"/>
          </a:p>
        </p:txBody>
      </p:sp>
      <p:sp>
        <p:nvSpPr>
          <p:cNvPr id="4" name="Text 2"/>
          <p:cNvSpPr/>
          <p:nvPr/>
        </p:nvSpPr>
        <p:spPr>
          <a:xfrm>
            <a:off x="566928" y="1371600"/>
            <a:ext cx="5806440" cy="1143000"/>
          </a:xfrm>
          <a:prstGeom prst="rect">
            <a:avLst/>
          </a:prstGeom>
          <a:noFill/>
          <a:ln/>
        </p:spPr>
        <p:txBody>
          <a:bodyPr wrap="square" lIns="0" tIns="0" rIns="0" bIns="0" rtlCol="0" anchor="ctr"/>
          <a:lstStyle/>
          <a:p>
            <a:pPr indent="0" marL="0">
              <a:lnSpc>
                <a:spcPct val="118000"/>
              </a:lnSpc>
              <a:buNone/>
            </a:pPr>
            <a:r>
              <a:rPr lang="en-US" sz="1250" dirty="0">
                <a:solidFill>
                  <a:srgbClr val="16283E"/>
                </a:solidFill>
                <a:latin typeface="Calibri" pitchFamily="34" charset="0"/>
                <a:ea typeface="Calibri" pitchFamily="34" charset="-122"/>
                <a:cs typeface="Calibri" pitchFamily="34" charset="-120"/>
              </a:rPr>
              <a:t>Trong làn sóng chuyển đổi số ngành ngân hàng, Khối CNTT Sacombank không còn là bộ phận kỹ thuật thuần túy mà vận hành như một </a:t>
            </a:r>
            <a:pPr indent="0" marL="0">
              <a:lnSpc>
                <a:spcPct val="118000"/>
              </a:lnSpc>
              <a:buNone/>
            </a:pPr>
            <a:r>
              <a:rPr lang="en-US" sz="1250" b="1" dirty="0">
                <a:solidFill>
                  <a:srgbClr val="0A2E5C"/>
                </a:solidFill>
                <a:latin typeface="Calibri" pitchFamily="34" charset="0"/>
                <a:ea typeface="Calibri" pitchFamily="34" charset="-122"/>
                <a:cs typeface="Calibri" pitchFamily="34" charset="-120"/>
              </a:rPr>
              <a:t>đơn vị cung cấp dịch vụ nội bộ</a:t>
            </a:r>
            <a:pPr indent="0" marL="0">
              <a:lnSpc>
                <a:spcPct val="118000"/>
              </a:lnSpc>
              <a:buNone/>
            </a:pPr>
            <a:r>
              <a:rPr lang="en-US" sz="1250" dirty="0">
                <a:solidFill>
                  <a:srgbClr val="16283E"/>
                </a:solidFill>
                <a:latin typeface="Calibri" pitchFamily="34" charset="0"/>
                <a:ea typeface="Calibri" pitchFamily="34" charset="-122"/>
                <a:cs typeface="Calibri" pitchFamily="34" charset="-120"/>
              </a:rPr>
              <a:t> (internal service provider), ảnh hưởng trực tiếp đến hiệu suất toàn ngân hàng.</a:t>
            </a:r>
            <a:endParaRPr lang="en-US" sz="1250" dirty="0"/>
          </a:p>
        </p:txBody>
      </p:sp>
      <p:sp>
        <p:nvSpPr>
          <p:cNvPr id="5" name="Text 3"/>
          <p:cNvSpPr/>
          <p:nvPr/>
        </p:nvSpPr>
        <p:spPr>
          <a:xfrm>
            <a:off x="566928" y="2606040"/>
            <a:ext cx="5806440" cy="1234440"/>
          </a:xfrm>
          <a:prstGeom prst="rect">
            <a:avLst/>
          </a:prstGeom>
          <a:noFill/>
          <a:ln/>
        </p:spPr>
        <p:txBody>
          <a:bodyPr wrap="square" lIns="0" tIns="0" rIns="0" bIns="0" rtlCol="0" anchor="ctr"/>
          <a:lstStyle/>
          <a:p>
            <a:pPr indent="0" marL="0">
              <a:lnSpc>
                <a:spcPct val="118000"/>
              </a:lnSpc>
              <a:buNone/>
            </a:pPr>
            <a:r>
              <a:rPr lang="en-US" sz="1250" b="1" dirty="0">
                <a:solidFill>
                  <a:srgbClr val="0A2E5C"/>
                </a:solidFill>
                <a:latin typeface="Calibri" pitchFamily="34" charset="0"/>
                <a:ea typeface="Calibri" pitchFamily="34" charset="-122"/>
                <a:cs typeface="Calibri" pitchFamily="34" charset="-120"/>
              </a:rPr>
              <a:t>Quy trình Quản lý Yêu cầu Dịch vụ (PYC)</a:t>
            </a:r>
            <a:pPr indent="0" marL="0">
              <a:lnSpc>
                <a:spcPct val="118000"/>
              </a:lnSpc>
              <a:buNone/>
            </a:pPr>
            <a:r>
              <a:rPr lang="en-US" sz="1250" dirty="0">
                <a:solidFill>
                  <a:srgbClr val="16283E"/>
                </a:solidFill>
                <a:latin typeface="Calibri" pitchFamily="34" charset="0"/>
                <a:ea typeface="Calibri" pitchFamily="34" charset="-122"/>
                <a:cs typeface="Calibri" pitchFamily="34" charset="-120"/>
              </a:rPr>
              <a:t> là điểm chạm thường xuyên nhất giữa Khối IT và hàng nghìn cán bộ nhân viên: cấp quyền truy cập hệ thống, cấp phát thiết bị, hỗ trợ kỹ thuật hằng ngày — nhưng vẫn nặng tính thủ công, thiếu chuẩn hóa.</a:t>
            </a:r>
            <a:endParaRPr lang="en-US" sz="1250" dirty="0"/>
          </a:p>
        </p:txBody>
      </p:sp>
      <p:sp>
        <p:nvSpPr>
          <p:cNvPr id="6" name="Shape 4"/>
          <p:cNvSpPr/>
          <p:nvPr/>
        </p:nvSpPr>
        <p:spPr>
          <a:xfrm>
            <a:off x="566928" y="4160520"/>
            <a:ext cx="5806440" cy="1965960"/>
          </a:xfrm>
          <a:prstGeom prst="roundRect">
            <a:avLst>
              <a:gd name="adj" fmla="val 4186"/>
            </a:avLst>
          </a:prstGeom>
          <a:solidFill>
            <a:srgbClr val="E8F0FA"/>
          </a:solidFill>
          <a:ln/>
          <a:effectLst>
            <a:outerShdw sx="100000" sy="100000" kx="0" ky="0" algn="bl" rotWithShape="0" blurRad="88900" dist="25400" dir="5400000">
              <a:srgbClr val="0A2E5C">
                <a:alpha val="14000"/>
              </a:srgbClr>
            </a:outerShdw>
          </a:effectLst>
        </p:spPr>
      </p:sp>
      <p:sp>
        <p:nvSpPr>
          <p:cNvPr id="7" name="Shape 5"/>
          <p:cNvSpPr/>
          <p:nvPr/>
        </p:nvSpPr>
        <p:spPr>
          <a:xfrm>
            <a:off x="896112" y="4526280"/>
            <a:ext cx="658368" cy="658368"/>
          </a:xfrm>
          <a:prstGeom prst="ellipse">
            <a:avLst/>
          </a:prstGeom>
          <a:solidFill>
            <a:srgbClr val="0A2E5C"/>
          </a:solidFill>
          <a:ln/>
        </p:spPr>
      </p:sp>
      <p:pic>
        <p:nvPicPr>
          <p:cNvPr id="8" name="Image 0" descr="icons/diagram_white.png">    </p:cNvPr>
          <p:cNvPicPr>
            <a:picLocks noChangeAspect="1"/>
          </p:cNvPicPr>
          <p:nvPr/>
        </p:nvPicPr>
        <p:blipFill>
          <a:blip r:embed="rId1"/>
          <a:stretch>
            <a:fillRect/>
          </a:stretch>
        </p:blipFill>
        <p:spPr>
          <a:xfrm>
            <a:off x="1073871" y="4704039"/>
            <a:ext cx="302849" cy="302849"/>
          </a:xfrm>
          <a:prstGeom prst="rect">
            <a:avLst/>
          </a:prstGeom>
        </p:spPr>
      </p:pic>
      <p:sp>
        <p:nvSpPr>
          <p:cNvPr id="9" name="Text 6"/>
          <p:cNvSpPr/>
          <p:nvPr/>
        </p:nvSpPr>
        <p:spPr>
          <a:xfrm>
            <a:off x="1755648" y="4434840"/>
            <a:ext cx="4480560" cy="274320"/>
          </a:xfrm>
          <a:prstGeom prst="rect">
            <a:avLst/>
          </a:prstGeom>
          <a:noFill/>
          <a:ln/>
        </p:spPr>
        <p:txBody>
          <a:bodyPr wrap="square" lIns="0" tIns="0" rIns="0" bIns="0" rtlCol="0" anchor="ctr"/>
          <a:lstStyle/>
          <a:p>
            <a:pPr indent="0" marL="0">
              <a:buNone/>
            </a:pPr>
            <a:r>
              <a:rPr lang="en-US" sz="1050" b="1" spc="180" kern="0" dirty="0">
                <a:solidFill>
                  <a:srgbClr val="2160A6"/>
                </a:solidFill>
                <a:latin typeface="Calibri" pitchFamily="34" charset="0"/>
                <a:ea typeface="Calibri" pitchFamily="34" charset="-122"/>
                <a:cs typeface="Calibri" pitchFamily="34" charset="-120"/>
              </a:rPr>
              <a:t>HƯỚNG TIẾP CẬN CỦA ĐỀ TÀI</a:t>
            </a:r>
            <a:endParaRPr lang="en-US" sz="1050" dirty="0"/>
          </a:p>
        </p:txBody>
      </p:sp>
      <p:sp>
        <p:nvSpPr>
          <p:cNvPr id="10" name="Text 7"/>
          <p:cNvSpPr/>
          <p:nvPr/>
        </p:nvSpPr>
        <p:spPr>
          <a:xfrm>
            <a:off x="1755648" y="4736592"/>
            <a:ext cx="4434840" cy="1234440"/>
          </a:xfrm>
          <a:prstGeom prst="rect">
            <a:avLst/>
          </a:prstGeom>
          <a:noFill/>
          <a:ln/>
        </p:spPr>
        <p:txBody>
          <a:bodyPr wrap="square" lIns="0" tIns="0" rIns="0" bIns="0" rtlCol="0" anchor="ctr"/>
          <a:lstStyle/>
          <a:p>
            <a:pPr indent="0" marL="0">
              <a:lnSpc>
                <a:spcPct val="115000"/>
              </a:lnSpc>
              <a:buNone/>
            </a:pPr>
            <a:r>
              <a:rPr lang="en-US" sz="1200" dirty="0">
                <a:solidFill>
                  <a:srgbClr val="16283E"/>
                </a:solidFill>
                <a:latin typeface="Calibri" pitchFamily="34" charset="0"/>
                <a:ea typeface="Calibri" pitchFamily="34" charset="-122"/>
                <a:cs typeface="Calibri" pitchFamily="34" charset="-120"/>
              </a:rPr>
              <a:t>Vận dụng chuẩn mô hình hóa BPMN 2.0 kết hợp tư duy quản lý tinh gọn (Lean) để phân tích căn nguyên các lãng phí và đề xuất mô hình quy trình cải tiến TO-BE khả thi.</a:t>
            </a:r>
            <a:endParaRPr lang="en-US" sz="1200" dirty="0"/>
          </a:p>
        </p:txBody>
      </p:sp>
      <p:sp>
        <p:nvSpPr>
          <p:cNvPr id="11" name="Text 8"/>
          <p:cNvSpPr/>
          <p:nvPr/>
        </p:nvSpPr>
        <p:spPr>
          <a:xfrm>
            <a:off x="6720840" y="1298448"/>
            <a:ext cx="4846320" cy="274320"/>
          </a:xfrm>
          <a:prstGeom prst="rect">
            <a:avLst/>
          </a:prstGeom>
          <a:noFill/>
          <a:ln/>
        </p:spPr>
        <p:txBody>
          <a:bodyPr wrap="square" lIns="0" tIns="0" rIns="0" bIns="0" rtlCol="0" anchor="ctr"/>
          <a:lstStyle/>
          <a:p>
            <a:pPr indent="0" marL="0">
              <a:buNone/>
            </a:pPr>
            <a:r>
              <a:rPr lang="en-US" sz="1050" b="1" spc="180" kern="0" dirty="0">
                <a:solidFill>
                  <a:srgbClr val="B3402A"/>
                </a:solidFill>
                <a:latin typeface="Calibri" pitchFamily="34" charset="0"/>
                <a:ea typeface="Calibri" pitchFamily="34" charset="-122"/>
                <a:cs typeface="Calibri" pitchFamily="34" charset="-120"/>
              </a:rPr>
              <a:t>BA "NỖI ĐAU" TỪ KHẢO SÁT THỰC TẾ</a:t>
            </a:r>
            <a:endParaRPr lang="en-US" sz="1050" dirty="0"/>
          </a:p>
        </p:txBody>
      </p:sp>
      <p:sp>
        <p:nvSpPr>
          <p:cNvPr id="12" name="Shape 9"/>
          <p:cNvSpPr/>
          <p:nvPr/>
        </p:nvSpPr>
        <p:spPr>
          <a:xfrm>
            <a:off x="6720840" y="1664208"/>
            <a:ext cx="4892040" cy="1371600"/>
          </a:xfrm>
          <a:prstGeom prst="roundRect">
            <a:avLst>
              <a:gd name="adj" fmla="val 6000"/>
            </a:avLst>
          </a:prstGeom>
          <a:solidFill>
            <a:srgbClr val="FFFFFF"/>
          </a:solidFill>
          <a:ln w="12700">
            <a:solidFill>
              <a:srgbClr val="D3DFEE"/>
            </a:solidFill>
            <a:prstDash val="solid"/>
          </a:ln>
          <a:effectLst>
            <a:outerShdw sx="100000" sy="100000" kx="0" ky="0" algn="bl" rotWithShape="0" blurRad="88900" dist="25400" dir="5400000">
              <a:srgbClr val="0A2E5C">
                <a:alpha val="14000"/>
              </a:srgbClr>
            </a:outerShdw>
          </a:effectLst>
        </p:spPr>
      </p:sp>
      <p:sp>
        <p:nvSpPr>
          <p:cNvPr id="13" name="Text 10"/>
          <p:cNvSpPr/>
          <p:nvPr/>
        </p:nvSpPr>
        <p:spPr>
          <a:xfrm>
            <a:off x="6949440" y="1664208"/>
            <a:ext cx="1783080" cy="1371600"/>
          </a:xfrm>
          <a:prstGeom prst="rect">
            <a:avLst/>
          </a:prstGeom>
          <a:noFill/>
          <a:ln/>
        </p:spPr>
        <p:txBody>
          <a:bodyPr wrap="square" lIns="0" tIns="0" rIns="0" bIns="0" rtlCol="0" anchor="ctr"/>
          <a:lstStyle/>
          <a:p>
            <a:pPr indent="0" marL="0">
              <a:buNone/>
            </a:pPr>
            <a:r>
              <a:rPr lang="en-US" sz="3000" b="1" dirty="0">
                <a:solidFill>
                  <a:srgbClr val="B3402A"/>
                </a:solidFill>
                <a:latin typeface="Cambria" pitchFamily="34" charset="0"/>
                <a:ea typeface="Cambria" pitchFamily="34" charset="-122"/>
                <a:cs typeface="Cambria" pitchFamily="34" charset="-120"/>
              </a:rPr>
              <a:t>&gt;8 giờ</a:t>
            </a:r>
            <a:endParaRPr lang="en-US" sz="3000" dirty="0"/>
          </a:p>
        </p:txBody>
      </p:sp>
      <p:sp>
        <p:nvSpPr>
          <p:cNvPr id="14" name="Text 11"/>
          <p:cNvSpPr/>
          <p:nvPr/>
        </p:nvSpPr>
        <p:spPr>
          <a:xfrm>
            <a:off x="8823960" y="1792224"/>
            <a:ext cx="2651760" cy="1115568"/>
          </a:xfrm>
          <a:prstGeom prst="rect">
            <a:avLst/>
          </a:prstGeom>
          <a:noFill/>
          <a:ln/>
        </p:spPr>
        <p:txBody>
          <a:bodyPr wrap="square" lIns="0" tIns="0" rIns="0" bIns="0" rtlCol="0" anchor="ctr"/>
          <a:lstStyle/>
          <a:p>
            <a:pPr indent="0" marL="0">
              <a:lnSpc>
                <a:spcPct val="110000"/>
              </a:lnSpc>
              <a:buNone/>
            </a:pPr>
            <a:r>
              <a:rPr lang="en-US" sz="1150" dirty="0">
                <a:solidFill>
                  <a:srgbClr val="16283E"/>
                </a:solidFill>
                <a:latin typeface="Calibri" pitchFamily="34" charset="0"/>
                <a:ea typeface="Calibri" pitchFamily="34" charset="-122"/>
                <a:cs typeface="Calibri" pitchFamily="34" charset="-120"/>
              </a:rPr>
              <a:t>chờ phê duyệt một PYC thông thường — yêu cầu liên quan hệ thống lõi T24 có thể kéo dài cả tuần</a:t>
            </a:r>
            <a:endParaRPr lang="en-US" sz="1150" dirty="0"/>
          </a:p>
        </p:txBody>
      </p:sp>
      <p:sp>
        <p:nvSpPr>
          <p:cNvPr id="15" name="Shape 12"/>
          <p:cNvSpPr/>
          <p:nvPr/>
        </p:nvSpPr>
        <p:spPr>
          <a:xfrm>
            <a:off x="6720840" y="3200400"/>
            <a:ext cx="4892040" cy="1371600"/>
          </a:xfrm>
          <a:prstGeom prst="roundRect">
            <a:avLst>
              <a:gd name="adj" fmla="val 6000"/>
            </a:avLst>
          </a:prstGeom>
          <a:solidFill>
            <a:srgbClr val="FFFFFF"/>
          </a:solidFill>
          <a:ln w="12700">
            <a:solidFill>
              <a:srgbClr val="D3DFEE"/>
            </a:solidFill>
            <a:prstDash val="solid"/>
          </a:ln>
          <a:effectLst>
            <a:outerShdw sx="100000" sy="100000" kx="0" ky="0" algn="bl" rotWithShape="0" blurRad="88900" dist="25400" dir="5400000">
              <a:srgbClr val="0A2E5C">
                <a:alpha val="14000"/>
              </a:srgbClr>
            </a:outerShdw>
          </a:effectLst>
        </p:spPr>
      </p:sp>
      <p:sp>
        <p:nvSpPr>
          <p:cNvPr id="16" name="Text 13"/>
          <p:cNvSpPr/>
          <p:nvPr/>
        </p:nvSpPr>
        <p:spPr>
          <a:xfrm>
            <a:off x="6949440" y="3200400"/>
            <a:ext cx="1783080" cy="1371600"/>
          </a:xfrm>
          <a:prstGeom prst="rect">
            <a:avLst/>
          </a:prstGeom>
          <a:noFill/>
          <a:ln/>
        </p:spPr>
        <p:txBody>
          <a:bodyPr wrap="square" lIns="0" tIns="0" rIns="0" bIns="0" rtlCol="0" anchor="ctr"/>
          <a:lstStyle/>
          <a:p>
            <a:pPr indent="0" marL="0">
              <a:buNone/>
            </a:pPr>
            <a:r>
              <a:rPr lang="en-US" sz="3000" b="1" dirty="0">
                <a:solidFill>
                  <a:srgbClr val="B3402A"/>
                </a:solidFill>
                <a:latin typeface="Cambria" pitchFamily="34" charset="0"/>
                <a:ea typeface="Cambria" pitchFamily="34" charset="-122"/>
                <a:cs typeface="Cambria" pitchFamily="34" charset="-120"/>
              </a:rPr>
              <a:t>5–10%</a:t>
            </a:r>
            <a:endParaRPr lang="en-US" sz="3000" dirty="0"/>
          </a:p>
        </p:txBody>
      </p:sp>
      <p:sp>
        <p:nvSpPr>
          <p:cNvPr id="17" name="Text 14"/>
          <p:cNvSpPr/>
          <p:nvPr/>
        </p:nvSpPr>
        <p:spPr>
          <a:xfrm>
            <a:off x="8823960" y="3328416"/>
            <a:ext cx="2651760" cy="1115568"/>
          </a:xfrm>
          <a:prstGeom prst="rect">
            <a:avLst/>
          </a:prstGeom>
          <a:noFill/>
          <a:ln/>
        </p:spPr>
        <p:txBody>
          <a:bodyPr wrap="square" lIns="0" tIns="0" rIns="0" bIns="0" rtlCol="0" anchor="ctr"/>
          <a:lstStyle/>
          <a:p>
            <a:pPr indent="0" marL="0">
              <a:lnSpc>
                <a:spcPct val="110000"/>
              </a:lnSpc>
              <a:buNone/>
            </a:pPr>
            <a:r>
              <a:rPr lang="en-US" sz="1150" dirty="0">
                <a:solidFill>
                  <a:srgbClr val="16283E"/>
                </a:solidFill>
                <a:latin typeface="Calibri" pitchFamily="34" charset="0"/>
                <a:ea typeface="Calibri" pitchFamily="34" charset="-122"/>
                <a:cs typeface="Calibri" pitchFamily="34" charset="-120"/>
              </a:rPr>
              <a:t>tỷ lệ PYC vi phạm cam kết SLA</a:t>
            </a:r>
            <a:endParaRPr lang="en-US" sz="1150" dirty="0"/>
          </a:p>
        </p:txBody>
      </p:sp>
      <p:sp>
        <p:nvSpPr>
          <p:cNvPr id="18" name="Shape 15"/>
          <p:cNvSpPr/>
          <p:nvPr/>
        </p:nvSpPr>
        <p:spPr>
          <a:xfrm>
            <a:off x="6720840" y="4736592"/>
            <a:ext cx="4892040" cy="1371600"/>
          </a:xfrm>
          <a:prstGeom prst="roundRect">
            <a:avLst>
              <a:gd name="adj" fmla="val 6000"/>
            </a:avLst>
          </a:prstGeom>
          <a:solidFill>
            <a:srgbClr val="FFFFFF"/>
          </a:solidFill>
          <a:ln w="12700">
            <a:solidFill>
              <a:srgbClr val="D3DFEE"/>
            </a:solidFill>
            <a:prstDash val="solid"/>
          </a:ln>
          <a:effectLst>
            <a:outerShdw sx="100000" sy="100000" kx="0" ky="0" algn="bl" rotWithShape="0" blurRad="88900" dist="25400" dir="5400000">
              <a:srgbClr val="0A2E5C">
                <a:alpha val="14000"/>
              </a:srgbClr>
            </a:outerShdw>
          </a:effectLst>
        </p:spPr>
      </p:sp>
      <p:sp>
        <p:nvSpPr>
          <p:cNvPr id="19" name="Text 16"/>
          <p:cNvSpPr/>
          <p:nvPr/>
        </p:nvSpPr>
        <p:spPr>
          <a:xfrm>
            <a:off x="6949440" y="4736592"/>
            <a:ext cx="1783080" cy="1371600"/>
          </a:xfrm>
          <a:prstGeom prst="rect">
            <a:avLst/>
          </a:prstGeom>
          <a:noFill/>
          <a:ln/>
        </p:spPr>
        <p:txBody>
          <a:bodyPr wrap="square" lIns="0" tIns="0" rIns="0" bIns="0" rtlCol="0" anchor="ctr"/>
          <a:lstStyle/>
          <a:p>
            <a:pPr indent="0" marL="0">
              <a:buNone/>
            </a:pPr>
            <a:r>
              <a:rPr lang="en-US" sz="3000" b="1" dirty="0">
                <a:solidFill>
                  <a:srgbClr val="B3402A"/>
                </a:solidFill>
                <a:latin typeface="Cambria" pitchFamily="34" charset="0"/>
                <a:ea typeface="Cambria" pitchFamily="34" charset="-122"/>
                <a:cs typeface="Cambria" pitchFamily="34" charset="-120"/>
              </a:rPr>
              <a:t>20–50%</a:t>
            </a:r>
            <a:endParaRPr lang="en-US" sz="3000" dirty="0"/>
          </a:p>
        </p:txBody>
      </p:sp>
      <p:sp>
        <p:nvSpPr>
          <p:cNvPr id="20" name="Text 17"/>
          <p:cNvSpPr/>
          <p:nvPr/>
        </p:nvSpPr>
        <p:spPr>
          <a:xfrm>
            <a:off x="8823960" y="4864608"/>
            <a:ext cx="2651760" cy="1115568"/>
          </a:xfrm>
          <a:prstGeom prst="rect">
            <a:avLst/>
          </a:prstGeom>
          <a:noFill/>
          <a:ln/>
        </p:spPr>
        <p:txBody>
          <a:bodyPr wrap="square" lIns="0" tIns="0" rIns="0" bIns="0" rtlCol="0" anchor="ctr"/>
          <a:lstStyle/>
          <a:p>
            <a:pPr indent="0" marL="0">
              <a:lnSpc>
                <a:spcPct val="110000"/>
              </a:lnSpc>
              <a:buNone/>
            </a:pPr>
            <a:r>
              <a:rPr lang="en-US" sz="1150" dirty="0">
                <a:solidFill>
                  <a:srgbClr val="16283E"/>
                </a:solidFill>
                <a:latin typeface="Calibri" pitchFamily="34" charset="0"/>
                <a:ea typeface="Calibri" pitchFamily="34" charset="-122"/>
                <a:cs typeface="Calibri" pitchFamily="34" charset="-120"/>
              </a:rPr>
              <a:t>hồ sơ bị trả về để bổ sung thông tin</a:t>
            </a:r>
            <a:endParaRPr lang="en-US" sz="1150" dirty="0"/>
          </a:p>
        </p:txBody>
      </p:sp>
      <p:sp>
        <p:nvSpPr>
          <p:cNvPr id="21" name="Text 18"/>
          <p:cNvSpPr/>
          <p:nvPr/>
        </p:nvSpPr>
        <p:spPr>
          <a:xfrm>
            <a:off x="11411712" y="6473952"/>
            <a:ext cx="457200" cy="274320"/>
          </a:xfrm>
          <a:prstGeom prst="rect">
            <a:avLst/>
          </a:prstGeom>
          <a:noFill/>
          <a:ln/>
        </p:spPr>
        <p:txBody>
          <a:bodyPr wrap="square" rtlCol="0" anchor="ctr"/>
          <a:lstStyle/>
          <a:p>
            <a:pPr algn="r" indent="0" marL="0">
              <a:buNone/>
            </a:pPr>
            <a:r>
              <a:rPr lang="en-US" sz="900" dirty="0">
                <a:solidFill>
                  <a:srgbClr val="5A6B80"/>
                </a:solidFill>
                <a:latin typeface="Calibri" pitchFamily="34" charset="0"/>
                <a:ea typeface="Calibri" pitchFamily="34" charset="-122"/>
                <a:cs typeface="Calibri" pitchFamily="34" charset="-120"/>
              </a:rPr>
              <a:t>03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lIns="0" tIns="0" rIns="0" bIns="0" rtlCol="0" anchor="ctr"/>
          <a:lstStyle/>
          <a:p>
            <a:pPr indent="0" marL="0">
              <a:buNone/>
            </a:pPr>
            <a:r>
              <a:rPr lang="en-US" sz="1050" b="1" spc="240" kern="0" dirty="0">
                <a:solidFill>
                  <a:srgbClr val="2160A6"/>
                </a:solidFill>
                <a:latin typeface="Calibri" pitchFamily="34" charset="0"/>
                <a:ea typeface="Calibri" pitchFamily="34" charset="-122"/>
                <a:cs typeface="Calibri" pitchFamily="34" charset="-120"/>
              </a:rPr>
              <a:t>MỞ ĐẦU</a:t>
            </a:r>
            <a:endParaRPr lang="en-US" sz="1050" dirty="0"/>
          </a:p>
        </p:txBody>
      </p:sp>
      <p:sp>
        <p:nvSpPr>
          <p:cNvPr id="3" name="Text 1"/>
          <p:cNvSpPr/>
          <p:nvPr/>
        </p:nvSpPr>
        <p:spPr>
          <a:xfrm>
            <a:off x="548640" y="566928"/>
            <a:ext cx="11064240" cy="566928"/>
          </a:xfrm>
          <a:prstGeom prst="rect">
            <a:avLst/>
          </a:prstGeom>
          <a:noFill/>
          <a:ln/>
        </p:spPr>
        <p:txBody>
          <a:bodyPr wrap="square" lIns="0" tIns="0" rIns="0" bIns="0" rtlCol="0" anchor="ctr"/>
          <a:lstStyle/>
          <a:p>
            <a:pPr indent="0" marL="0">
              <a:buNone/>
            </a:pPr>
            <a:r>
              <a:rPr lang="en-US" sz="2900" b="1" dirty="0">
                <a:solidFill>
                  <a:srgbClr val="0A2E5C"/>
                </a:solidFill>
                <a:latin typeface="Cambria" pitchFamily="34" charset="0"/>
                <a:ea typeface="Cambria" pitchFamily="34" charset="-122"/>
                <a:cs typeface="Cambria" pitchFamily="34" charset="-120"/>
              </a:rPr>
              <a:t>Mục tiêu, phạm vi &amp; phương pháp nghiên cứu</a:t>
            </a:r>
            <a:endParaRPr lang="en-US" sz="2900" dirty="0"/>
          </a:p>
        </p:txBody>
      </p:sp>
      <p:sp>
        <p:nvSpPr>
          <p:cNvPr id="4" name="Shape 2"/>
          <p:cNvSpPr/>
          <p:nvPr/>
        </p:nvSpPr>
        <p:spPr>
          <a:xfrm>
            <a:off x="566928" y="1444752"/>
            <a:ext cx="530352" cy="530352"/>
          </a:xfrm>
          <a:prstGeom prst="ellipse">
            <a:avLst/>
          </a:prstGeom>
          <a:solidFill>
            <a:srgbClr val="0A2E5C"/>
          </a:solidFill>
          <a:ln/>
        </p:spPr>
      </p:sp>
      <p:sp>
        <p:nvSpPr>
          <p:cNvPr id="5" name="Text 3"/>
          <p:cNvSpPr/>
          <p:nvPr/>
        </p:nvSpPr>
        <p:spPr>
          <a:xfrm>
            <a:off x="566928" y="1444752"/>
            <a:ext cx="530352" cy="530352"/>
          </a:xfrm>
          <a:prstGeom prst="rect">
            <a:avLst/>
          </a:prstGeom>
          <a:noFill/>
          <a:ln/>
        </p:spPr>
        <p:txBody>
          <a:bodyPr wrap="square" lIns="0" tIns="0" rIns="0" bIns="0" rtlCol="0" anchor="ctr"/>
          <a:lstStyle/>
          <a:p>
            <a:pPr algn="ctr" indent="0" marL="0">
              <a:buNone/>
            </a:pPr>
            <a:r>
              <a:rPr lang="en-US" sz="1600" b="1" dirty="0">
                <a:solidFill>
                  <a:srgbClr val="F2A900"/>
                </a:solidFill>
                <a:latin typeface="Cambria" pitchFamily="34" charset="0"/>
                <a:ea typeface="Cambria" pitchFamily="34" charset="-122"/>
                <a:cs typeface="Cambria" pitchFamily="34" charset="-120"/>
              </a:rPr>
              <a:t>1</a:t>
            </a:r>
            <a:endParaRPr lang="en-US" sz="1600" dirty="0"/>
          </a:p>
        </p:txBody>
      </p:sp>
      <p:sp>
        <p:nvSpPr>
          <p:cNvPr id="6" name="Text 4"/>
          <p:cNvSpPr/>
          <p:nvPr/>
        </p:nvSpPr>
        <p:spPr>
          <a:xfrm>
            <a:off x="1298448" y="1371600"/>
            <a:ext cx="5029200" cy="310896"/>
          </a:xfrm>
          <a:prstGeom prst="rect">
            <a:avLst/>
          </a:prstGeom>
          <a:noFill/>
          <a:ln/>
        </p:spPr>
        <p:txBody>
          <a:bodyPr wrap="square" lIns="0" tIns="0" rIns="0" bIns="0" rtlCol="0" anchor="ctr"/>
          <a:lstStyle/>
          <a:p>
            <a:pPr indent="0" marL="0">
              <a:buNone/>
            </a:pPr>
            <a:r>
              <a:rPr lang="en-US" sz="1450" b="1" dirty="0">
                <a:solidFill>
                  <a:srgbClr val="16283E"/>
                </a:solidFill>
                <a:latin typeface="Calibri" pitchFamily="34" charset="0"/>
                <a:ea typeface="Calibri" pitchFamily="34" charset="-122"/>
                <a:cs typeface="Calibri" pitchFamily="34" charset="-120"/>
              </a:rPr>
              <a:t>Hệ thống hóa kiến trúc quy trình</a:t>
            </a:r>
            <a:endParaRPr lang="en-US" sz="1450" dirty="0"/>
          </a:p>
        </p:txBody>
      </p:sp>
      <p:sp>
        <p:nvSpPr>
          <p:cNvPr id="7" name="Text 5"/>
          <p:cNvSpPr/>
          <p:nvPr/>
        </p:nvSpPr>
        <p:spPr>
          <a:xfrm>
            <a:off x="1298448" y="1700784"/>
            <a:ext cx="5074920" cy="685800"/>
          </a:xfrm>
          <a:prstGeom prst="rect">
            <a:avLst/>
          </a:prstGeom>
          <a:noFill/>
          <a:ln/>
        </p:spPr>
        <p:txBody>
          <a:bodyPr wrap="square" lIns="0" tIns="0" rIns="0" bIns="0" rtlCol="0" anchor="ctr"/>
          <a:lstStyle/>
          <a:p>
            <a:pPr indent="0" marL="0">
              <a:lnSpc>
                <a:spcPct val="108000"/>
              </a:lnSpc>
              <a:buNone/>
            </a:pPr>
            <a:r>
              <a:rPr lang="en-US" sz="1100" dirty="0">
                <a:solidFill>
                  <a:srgbClr val="5A6B80"/>
                </a:solidFill>
                <a:latin typeface="Calibri" pitchFamily="34" charset="0"/>
                <a:ea typeface="Calibri" pitchFamily="34" charset="-122"/>
                <a:cs typeface="Calibri" pitchFamily="34" charset="-120"/>
              </a:rPr>
              <a:t>Xác định vị trí của PYC trong 10 quy trình thuộc ba nhóm Quản lý · Cốt lõi · Hỗ trợ.</a:t>
            </a:r>
            <a:endParaRPr lang="en-US" sz="1100" dirty="0"/>
          </a:p>
        </p:txBody>
      </p:sp>
      <p:sp>
        <p:nvSpPr>
          <p:cNvPr id="8" name="Shape 6"/>
          <p:cNvSpPr/>
          <p:nvPr/>
        </p:nvSpPr>
        <p:spPr>
          <a:xfrm>
            <a:off x="566928" y="2651760"/>
            <a:ext cx="530352" cy="530352"/>
          </a:xfrm>
          <a:prstGeom prst="ellipse">
            <a:avLst/>
          </a:prstGeom>
          <a:solidFill>
            <a:srgbClr val="0A2E5C"/>
          </a:solidFill>
          <a:ln/>
        </p:spPr>
      </p:sp>
      <p:sp>
        <p:nvSpPr>
          <p:cNvPr id="9" name="Text 7"/>
          <p:cNvSpPr/>
          <p:nvPr/>
        </p:nvSpPr>
        <p:spPr>
          <a:xfrm>
            <a:off x="566928" y="2651760"/>
            <a:ext cx="530352" cy="530352"/>
          </a:xfrm>
          <a:prstGeom prst="rect">
            <a:avLst/>
          </a:prstGeom>
          <a:noFill/>
          <a:ln/>
        </p:spPr>
        <p:txBody>
          <a:bodyPr wrap="square" lIns="0" tIns="0" rIns="0" bIns="0" rtlCol="0" anchor="ctr"/>
          <a:lstStyle/>
          <a:p>
            <a:pPr algn="ctr" indent="0" marL="0">
              <a:buNone/>
            </a:pPr>
            <a:r>
              <a:rPr lang="en-US" sz="1600" b="1" dirty="0">
                <a:solidFill>
                  <a:srgbClr val="F2A900"/>
                </a:solidFill>
                <a:latin typeface="Cambria" pitchFamily="34" charset="0"/>
                <a:ea typeface="Cambria" pitchFamily="34" charset="-122"/>
                <a:cs typeface="Cambria" pitchFamily="34" charset="-120"/>
              </a:rPr>
              <a:t>2</a:t>
            </a:r>
            <a:endParaRPr lang="en-US" sz="1600" dirty="0"/>
          </a:p>
        </p:txBody>
      </p:sp>
      <p:sp>
        <p:nvSpPr>
          <p:cNvPr id="10" name="Text 8"/>
          <p:cNvSpPr/>
          <p:nvPr/>
        </p:nvSpPr>
        <p:spPr>
          <a:xfrm>
            <a:off x="1298448" y="2578608"/>
            <a:ext cx="5029200" cy="310896"/>
          </a:xfrm>
          <a:prstGeom prst="rect">
            <a:avLst/>
          </a:prstGeom>
          <a:noFill/>
          <a:ln/>
        </p:spPr>
        <p:txBody>
          <a:bodyPr wrap="square" lIns="0" tIns="0" rIns="0" bIns="0" rtlCol="0" anchor="ctr"/>
          <a:lstStyle/>
          <a:p>
            <a:pPr indent="0" marL="0">
              <a:buNone/>
            </a:pPr>
            <a:r>
              <a:rPr lang="en-US" sz="1450" b="1" dirty="0">
                <a:solidFill>
                  <a:srgbClr val="16283E"/>
                </a:solidFill>
                <a:latin typeface="Calibri" pitchFamily="34" charset="0"/>
                <a:ea typeface="Calibri" pitchFamily="34" charset="-122"/>
                <a:cs typeface="Calibri" pitchFamily="34" charset="-120"/>
              </a:rPr>
              <a:t>Mô hình hóa hiện trạng AS-IS</a:t>
            </a:r>
            <a:endParaRPr lang="en-US" sz="1450" dirty="0"/>
          </a:p>
        </p:txBody>
      </p:sp>
      <p:sp>
        <p:nvSpPr>
          <p:cNvPr id="11" name="Text 9"/>
          <p:cNvSpPr/>
          <p:nvPr/>
        </p:nvSpPr>
        <p:spPr>
          <a:xfrm>
            <a:off x="1298448" y="2907792"/>
            <a:ext cx="5074920" cy="685800"/>
          </a:xfrm>
          <a:prstGeom prst="rect">
            <a:avLst/>
          </a:prstGeom>
          <a:noFill/>
          <a:ln/>
        </p:spPr>
        <p:txBody>
          <a:bodyPr wrap="square" lIns="0" tIns="0" rIns="0" bIns="0" rtlCol="0" anchor="ctr"/>
          <a:lstStyle/>
          <a:p>
            <a:pPr indent="0" marL="0">
              <a:lnSpc>
                <a:spcPct val="108000"/>
              </a:lnSpc>
              <a:buNone/>
            </a:pPr>
            <a:r>
              <a:rPr lang="en-US" sz="1100" dirty="0">
                <a:solidFill>
                  <a:srgbClr val="5A6B80"/>
                </a:solidFill>
                <a:latin typeface="Calibri" pitchFamily="34" charset="0"/>
                <a:ea typeface="Calibri" pitchFamily="34" charset="-122"/>
                <a:cs typeface="Calibri" pitchFamily="34" charset="-120"/>
              </a:rPr>
              <a:t>Theo chuẩn BPMN 2.0, phản ánh trung thực luồng nghiệp vụ đang vận hành thực tế.</a:t>
            </a:r>
            <a:endParaRPr lang="en-US" sz="1100" dirty="0"/>
          </a:p>
        </p:txBody>
      </p:sp>
      <p:sp>
        <p:nvSpPr>
          <p:cNvPr id="12" name="Shape 10"/>
          <p:cNvSpPr/>
          <p:nvPr/>
        </p:nvSpPr>
        <p:spPr>
          <a:xfrm>
            <a:off x="566928" y="3858768"/>
            <a:ext cx="530352" cy="530352"/>
          </a:xfrm>
          <a:prstGeom prst="ellipse">
            <a:avLst/>
          </a:prstGeom>
          <a:solidFill>
            <a:srgbClr val="0A2E5C"/>
          </a:solidFill>
          <a:ln/>
        </p:spPr>
      </p:sp>
      <p:sp>
        <p:nvSpPr>
          <p:cNvPr id="13" name="Text 11"/>
          <p:cNvSpPr/>
          <p:nvPr/>
        </p:nvSpPr>
        <p:spPr>
          <a:xfrm>
            <a:off x="566928" y="3858768"/>
            <a:ext cx="530352" cy="530352"/>
          </a:xfrm>
          <a:prstGeom prst="rect">
            <a:avLst/>
          </a:prstGeom>
          <a:noFill/>
          <a:ln/>
        </p:spPr>
        <p:txBody>
          <a:bodyPr wrap="square" lIns="0" tIns="0" rIns="0" bIns="0" rtlCol="0" anchor="ctr"/>
          <a:lstStyle/>
          <a:p>
            <a:pPr algn="ctr" indent="0" marL="0">
              <a:buNone/>
            </a:pPr>
            <a:r>
              <a:rPr lang="en-US" sz="1600" b="1" dirty="0">
                <a:solidFill>
                  <a:srgbClr val="F2A900"/>
                </a:solidFill>
                <a:latin typeface="Cambria" pitchFamily="34" charset="0"/>
                <a:ea typeface="Cambria" pitchFamily="34" charset="-122"/>
                <a:cs typeface="Cambria" pitchFamily="34" charset="-120"/>
              </a:rPr>
              <a:t>3</a:t>
            </a:r>
            <a:endParaRPr lang="en-US" sz="1600" dirty="0"/>
          </a:p>
        </p:txBody>
      </p:sp>
      <p:sp>
        <p:nvSpPr>
          <p:cNvPr id="14" name="Text 12"/>
          <p:cNvSpPr/>
          <p:nvPr/>
        </p:nvSpPr>
        <p:spPr>
          <a:xfrm>
            <a:off x="1298448" y="3785616"/>
            <a:ext cx="5029200" cy="310896"/>
          </a:xfrm>
          <a:prstGeom prst="rect">
            <a:avLst/>
          </a:prstGeom>
          <a:noFill/>
          <a:ln/>
        </p:spPr>
        <p:txBody>
          <a:bodyPr wrap="square" lIns="0" tIns="0" rIns="0" bIns="0" rtlCol="0" anchor="ctr"/>
          <a:lstStyle/>
          <a:p>
            <a:pPr indent="0" marL="0">
              <a:buNone/>
            </a:pPr>
            <a:r>
              <a:rPr lang="en-US" sz="1450" b="1" dirty="0">
                <a:solidFill>
                  <a:srgbClr val="16283E"/>
                </a:solidFill>
                <a:latin typeface="Calibri" pitchFamily="34" charset="0"/>
                <a:ea typeface="Calibri" pitchFamily="34" charset="-122"/>
                <a:cs typeface="Calibri" pitchFamily="34" charset="-120"/>
              </a:rPr>
              <a:t>Phân tích &amp; định lượng hiệu suất</a:t>
            </a:r>
            <a:endParaRPr lang="en-US" sz="1450" dirty="0"/>
          </a:p>
        </p:txBody>
      </p:sp>
      <p:sp>
        <p:nvSpPr>
          <p:cNvPr id="15" name="Text 13"/>
          <p:cNvSpPr/>
          <p:nvPr/>
        </p:nvSpPr>
        <p:spPr>
          <a:xfrm>
            <a:off x="1298448" y="4114800"/>
            <a:ext cx="5074920" cy="685800"/>
          </a:xfrm>
          <a:prstGeom prst="rect">
            <a:avLst/>
          </a:prstGeom>
          <a:noFill/>
          <a:ln/>
        </p:spPr>
        <p:txBody>
          <a:bodyPr wrap="square" lIns="0" tIns="0" rIns="0" bIns="0" rtlCol="0" anchor="ctr"/>
          <a:lstStyle/>
          <a:p>
            <a:pPr indent="0" marL="0">
              <a:lnSpc>
                <a:spcPct val="108000"/>
              </a:lnSpc>
              <a:buNone/>
            </a:pPr>
            <a:r>
              <a:rPr lang="en-US" sz="1100" dirty="0">
                <a:solidFill>
                  <a:srgbClr val="5A6B80"/>
                </a:solidFill>
                <a:latin typeface="Calibri" pitchFamily="34" charset="0"/>
                <a:ea typeface="Calibri" pitchFamily="34" charset="-122"/>
                <a:cs typeface="Calibri" pitchFamily="34" charset="-120"/>
              </a:rPr>
              <a:t>Khung giá trị VA/NVA/VBA và nhận diện lãng phí Move · Hold · Overdo theo tư duy Lean.</a:t>
            </a:r>
            <a:endParaRPr lang="en-US" sz="1100" dirty="0"/>
          </a:p>
        </p:txBody>
      </p:sp>
      <p:sp>
        <p:nvSpPr>
          <p:cNvPr id="16" name="Shape 14"/>
          <p:cNvSpPr/>
          <p:nvPr/>
        </p:nvSpPr>
        <p:spPr>
          <a:xfrm>
            <a:off x="566928" y="5065776"/>
            <a:ext cx="530352" cy="530352"/>
          </a:xfrm>
          <a:prstGeom prst="ellipse">
            <a:avLst/>
          </a:prstGeom>
          <a:solidFill>
            <a:srgbClr val="0A2E5C"/>
          </a:solidFill>
          <a:ln/>
        </p:spPr>
      </p:sp>
      <p:sp>
        <p:nvSpPr>
          <p:cNvPr id="17" name="Text 15"/>
          <p:cNvSpPr/>
          <p:nvPr/>
        </p:nvSpPr>
        <p:spPr>
          <a:xfrm>
            <a:off x="566928" y="5065776"/>
            <a:ext cx="530352" cy="530352"/>
          </a:xfrm>
          <a:prstGeom prst="rect">
            <a:avLst/>
          </a:prstGeom>
          <a:noFill/>
          <a:ln/>
        </p:spPr>
        <p:txBody>
          <a:bodyPr wrap="square" lIns="0" tIns="0" rIns="0" bIns="0" rtlCol="0" anchor="ctr"/>
          <a:lstStyle/>
          <a:p>
            <a:pPr algn="ctr" indent="0" marL="0">
              <a:buNone/>
            </a:pPr>
            <a:r>
              <a:rPr lang="en-US" sz="1600" b="1" dirty="0">
                <a:solidFill>
                  <a:srgbClr val="F2A900"/>
                </a:solidFill>
                <a:latin typeface="Cambria" pitchFamily="34" charset="0"/>
                <a:ea typeface="Cambria" pitchFamily="34" charset="-122"/>
                <a:cs typeface="Cambria" pitchFamily="34" charset="-120"/>
              </a:rPr>
              <a:t>4</a:t>
            </a:r>
            <a:endParaRPr lang="en-US" sz="1600" dirty="0"/>
          </a:p>
        </p:txBody>
      </p:sp>
      <p:sp>
        <p:nvSpPr>
          <p:cNvPr id="18" name="Text 16"/>
          <p:cNvSpPr/>
          <p:nvPr/>
        </p:nvSpPr>
        <p:spPr>
          <a:xfrm>
            <a:off x="1298448" y="4992624"/>
            <a:ext cx="5029200" cy="310896"/>
          </a:xfrm>
          <a:prstGeom prst="rect">
            <a:avLst/>
          </a:prstGeom>
          <a:noFill/>
          <a:ln/>
        </p:spPr>
        <p:txBody>
          <a:bodyPr wrap="square" lIns="0" tIns="0" rIns="0" bIns="0" rtlCol="0" anchor="ctr"/>
          <a:lstStyle/>
          <a:p>
            <a:pPr indent="0" marL="0">
              <a:buNone/>
            </a:pPr>
            <a:r>
              <a:rPr lang="en-US" sz="1450" b="1" dirty="0">
                <a:solidFill>
                  <a:srgbClr val="16283E"/>
                </a:solidFill>
                <a:latin typeface="Calibri" pitchFamily="34" charset="0"/>
                <a:ea typeface="Calibri" pitchFamily="34" charset="-122"/>
                <a:cs typeface="Calibri" pitchFamily="34" charset="-120"/>
              </a:rPr>
              <a:t>Đề xuất mô hình TO-BE</a:t>
            </a:r>
            <a:endParaRPr lang="en-US" sz="1450" dirty="0"/>
          </a:p>
        </p:txBody>
      </p:sp>
      <p:sp>
        <p:nvSpPr>
          <p:cNvPr id="19" name="Text 17"/>
          <p:cNvSpPr/>
          <p:nvPr/>
        </p:nvSpPr>
        <p:spPr>
          <a:xfrm>
            <a:off x="1298448" y="5321808"/>
            <a:ext cx="5074920" cy="685800"/>
          </a:xfrm>
          <a:prstGeom prst="rect">
            <a:avLst/>
          </a:prstGeom>
          <a:noFill/>
          <a:ln/>
        </p:spPr>
        <p:txBody>
          <a:bodyPr wrap="square" lIns="0" tIns="0" rIns="0" bIns="0" rtlCol="0" anchor="ctr"/>
          <a:lstStyle/>
          <a:p>
            <a:pPr indent="0" marL="0">
              <a:lnSpc>
                <a:spcPct val="108000"/>
              </a:lnSpc>
              <a:buNone/>
            </a:pPr>
            <a:r>
              <a:rPr lang="en-US" sz="1100" dirty="0">
                <a:solidFill>
                  <a:srgbClr val="5A6B80"/>
                </a:solidFill>
                <a:latin typeface="Calibri" pitchFamily="34" charset="0"/>
                <a:ea typeface="Calibri" pitchFamily="34" charset="-122"/>
                <a:cs typeface="Calibri" pitchFamily="34" charset="-120"/>
              </a:rPr>
              <a:t>Chuẩn hóa biểu mẫu, tự động phê duyệt, API ghi log → rút ngắn Lead Time, tăng tuân thủ SLA.</a:t>
            </a:r>
            <a:endParaRPr lang="en-US" sz="1100" dirty="0"/>
          </a:p>
        </p:txBody>
      </p:sp>
      <p:sp>
        <p:nvSpPr>
          <p:cNvPr id="20" name="Shape 18"/>
          <p:cNvSpPr/>
          <p:nvPr/>
        </p:nvSpPr>
        <p:spPr>
          <a:xfrm>
            <a:off x="6766560" y="1371600"/>
            <a:ext cx="4846320" cy="2212848"/>
          </a:xfrm>
          <a:prstGeom prst="roundRect">
            <a:avLst>
              <a:gd name="adj" fmla="val 3719"/>
            </a:avLst>
          </a:prstGeom>
          <a:solidFill>
            <a:srgbClr val="0A2E5C"/>
          </a:solidFill>
          <a:ln/>
          <a:effectLst>
            <a:outerShdw sx="100000" sy="100000" kx="0" ky="0" algn="bl" rotWithShape="0" blurRad="88900" dist="25400" dir="5400000">
              <a:srgbClr val="0A2E5C">
                <a:alpha val="14000"/>
              </a:srgbClr>
            </a:outerShdw>
          </a:effectLst>
        </p:spPr>
      </p:sp>
      <p:sp>
        <p:nvSpPr>
          <p:cNvPr id="21" name="Text 19"/>
          <p:cNvSpPr/>
          <p:nvPr/>
        </p:nvSpPr>
        <p:spPr>
          <a:xfrm>
            <a:off x="7086600" y="1572768"/>
            <a:ext cx="4206240" cy="274320"/>
          </a:xfrm>
          <a:prstGeom prst="rect">
            <a:avLst/>
          </a:prstGeom>
          <a:noFill/>
          <a:ln/>
        </p:spPr>
        <p:txBody>
          <a:bodyPr wrap="square" lIns="0" tIns="0" rIns="0" bIns="0" rtlCol="0" anchor="ctr"/>
          <a:lstStyle/>
          <a:p>
            <a:pPr indent="0" marL="0">
              <a:buNone/>
            </a:pPr>
            <a:r>
              <a:rPr lang="en-US" sz="1050" b="1" spc="200" kern="0" dirty="0">
                <a:solidFill>
                  <a:srgbClr val="F2A900"/>
                </a:solidFill>
                <a:latin typeface="Calibri" pitchFamily="34" charset="0"/>
                <a:ea typeface="Calibri" pitchFamily="34" charset="-122"/>
                <a:cs typeface="Calibri" pitchFamily="34" charset="-120"/>
              </a:rPr>
              <a:t>ĐỐI TƯỢNG &amp; PHẠM VI</a:t>
            </a:r>
            <a:endParaRPr lang="en-US" sz="1050" dirty="0"/>
          </a:p>
        </p:txBody>
      </p:sp>
      <p:sp>
        <p:nvSpPr>
          <p:cNvPr id="22" name="Text 20"/>
          <p:cNvSpPr/>
          <p:nvPr/>
        </p:nvSpPr>
        <p:spPr>
          <a:xfrm>
            <a:off x="7086600" y="1874520"/>
            <a:ext cx="4251960" cy="1600200"/>
          </a:xfrm>
          <a:prstGeom prst="rect">
            <a:avLst/>
          </a:prstGeom>
          <a:noFill/>
          <a:ln/>
        </p:spPr>
        <p:txBody>
          <a:bodyPr wrap="square" lIns="0" tIns="0" rIns="0" bIns="0" rtlCol="0" anchor="ctr"/>
          <a:lstStyle/>
          <a:p>
            <a:pPr indent="0" marL="0">
              <a:lnSpc>
                <a:spcPct val="114000"/>
              </a:lnSpc>
              <a:spcAft>
                <a:spcPts val="600"/>
              </a:spcAft>
              <a:buNone/>
            </a:pPr>
            <a:r>
              <a:rPr lang="en-US" sz="1150" b="1" dirty="0">
                <a:solidFill>
                  <a:srgbClr val="F2A900"/>
                </a:solidFill>
                <a:latin typeface="Calibri" pitchFamily="34" charset="0"/>
                <a:ea typeface="Calibri" pitchFamily="34" charset="-122"/>
                <a:cs typeface="Calibri" pitchFamily="34" charset="-120"/>
              </a:rPr>
              <a:t>Đối tượng: </a:t>
            </a:r>
            <a:pPr indent="0" marL="0">
              <a:lnSpc>
                <a:spcPct val="114000"/>
              </a:lnSpc>
              <a:spcAft>
                <a:spcPts val="600"/>
              </a:spcAft>
              <a:buNone/>
            </a:pPr>
            <a:r>
              <a:rPr lang="en-US" sz="1150" dirty="0">
                <a:solidFill>
                  <a:srgbClr val="FFFFFF"/>
                </a:solidFill>
                <a:latin typeface="Calibri" pitchFamily="34" charset="0"/>
                <a:ea typeface="Calibri" pitchFamily="34" charset="-122"/>
                <a:cs typeface="Calibri" pitchFamily="34" charset="-120"/>
              </a:rPr>
              <a:t>Quy trình Quản lý Yêu cầu Dịch vụ (PYC) — quy trình cốt lõi của Khối CNTT.</a:t>
            </a:r>
            <a:endParaRPr lang="en-US" sz="1150" dirty="0"/>
          </a:p>
          <a:p>
            <a:pPr indent="0" marL="0">
              <a:lnSpc>
                <a:spcPct val="114000"/>
              </a:lnSpc>
              <a:spcAft>
                <a:spcPts val="600"/>
              </a:spcAft>
              <a:buNone/>
            </a:pPr>
            <a:r>
              <a:rPr lang="en-US" sz="1150" b="1" dirty="0">
                <a:solidFill>
                  <a:srgbClr val="F2A900"/>
                </a:solidFill>
                <a:latin typeface="Calibri" pitchFamily="34" charset="0"/>
                <a:ea typeface="Calibri" pitchFamily="34" charset="-122"/>
                <a:cs typeface="Calibri" pitchFamily="34" charset="-120"/>
              </a:rPr>
              <a:t>Phạm vi: </a:t>
            </a:r>
            <a:pPr indent="0" marL="0">
              <a:lnSpc>
                <a:spcPct val="114000"/>
              </a:lnSpc>
              <a:spcAft>
                <a:spcPts val="600"/>
              </a:spcAft>
              <a:buNone/>
            </a:pPr>
            <a:r>
              <a:rPr lang="en-US" sz="1150" dirty="0">
                <a:solidFill>
                  <a:srgbClr val="FFFFFF"/>
                </a:solidFill>
                <a:latin typeface="Calibri" pitchFamily="34" charset="0"/>
                <a:ea typeface="Calibri" pitchFamily="34" charset="-122"/>
                <a:cs typeface="Calibri" pitchFamily="34" charset="-120"/>
              </a:rPr>
              <a:t>Nội bộ Khối CNTT Sacombank, từ khi khởi tạo yêu cầu đến khi đóng phiếu; liên quan End-user, Quản lý trực tiếp, Service Desk L1 và IT L2.</a:t>
            </a:r>
            <a:endParaRPr lang="en-US" sz="1150" dirty="0"/>
          </a:p>
        </p:txBody>
      </p:sp>
      <p:sp>
        <p:nvSpPr>
          <p:cNvPr id="23" name="Shape 21"/>
          <p:cNvSpPr/>
          <p:nvPr/>
        </p:nvSpPr>
        <p:spPr>
          <a:xfrm>
            <a:off x="6766560" y="3785616"/>
            <a:ext cx="4846320" cy="2395728"/>
          </a:xfrm>
          <a:prstGeom prst="roundRect">
            <a:avLst>
              <a:gd name="adj" fmla="val 3435"/>
            </a:avLst>
          </a:prstGeom>
          <a:solidFill>
            <a:srgbClr val="F4F8FC"/>
          </a:solidFill>
          <a:ln w="12700">
            <a:solidFill>
              <a:srgbClr val="D3DFEE"/>
            </a:solidFill>
            <a:prstDash val="solid"/>
          </a:ln>
          <a:effectLst>
            <a:outerShdw sx="100000" sy="100000" kx="0" ky="0" algn="bl" rotWithShape="0" blurRad="88900" dist="25400" dir="5400000">
              <a:srgbClr val="0A2E5C">
                <a:alpha val="14000"/>
              </a:srgbClr>
            </a:outerShdw>
          </a:effectLst>
        </p:spPr>
      </p:sp>
      <p:sp>
        <p:nvSpPr>
          <p:cNvPr id="24" name="Text 22"/>
          <p:cNvSpPr/>
          <p:nvPr/>
        </p:nvSpPr>
        <p:spPr>
          <a:xfrm>
            <a:off x="7086600" y="3950208"/>
            <a:ext cx="4206240" cy="274320"/>
          </a:xfrm>
          <a:prstGeom prst="rect">
            <a:avLst/>
          </a:prstGeom>
          <a:noFill/>
          <a:ln/>
        </p:spPr>
        <p:txBody>
          <a:bodyPr wrap="square" lIns="0" tIns="0" rIns="0" bIns="0" rtlCol="0" anchor="ctr"/>
          <a:lstStyle/>
          <a:p>
            <a:pPr indent="0" marL="0">
              <a:buNone/>
            </a:pPr>
            <a:r>
              <a:rPr lang="en-US" sz="1050" b="1" spc="200" kern="0" dirty="0">
                <a:solidFill>
                  <a:srgbClr val="2160A6"/>
                </a:solidFill>
                <a:latin typeface="Calibri" pitchFamily="34" charset="0"/>
                <a:ea typeface="Calibri" pitchFamily="34" charset="-122"/>
                <a:cs typeface="Calibri" pitchFamily="34" charset="-120"/>
              </a:rPr>
              <a:t>BỐN PHƯƠNG PHÁP THỰC HIỆN</a:t>
            </a:r>
            <a:endParaRPr lang="en-US" sz="1050" dirty="0"/>
          </a:p>
        </p:txBody>
      </p:sp>
      <p:sp>
        <p:nvSpPr>
          <p:cNvPr id="25" name="Shape 23"/>
          <p:cNvSpPr/>
          <p:nvPr/>
        </p:nvSpPr>
        <p:spPr>
          <a:xfrm>
            <a:off x="7114032" y="4279392"/>
            <a:ext cx="329184" cy="329184"/>
          </a:xfrm>
          <a:prstGeom prst="ellipse">
            <a:avLst/>
          </a:prstGeom>
          <a:solidFill>
            <a:srgbClr val="0A2E5C"/>
          </a:solidFill>
          <a:ln/>
        </p:spPr>
      </p:sp>
      <p:pic>
        <p:nvPicPr>
          <p:cNvPr id="26" name="Image 0" descr="icons/file_white.png">    </p:cNvPr>
          <p:cNvPicPr>
            <a:picLocks noChangeAspect="1"/>
          </p:cNvPicPr>
          <p:nvPr/>
        </p:nvPicPr>
        <p:blipFill>
          <a:blip r:embed="rId1"/>
          <a:stretch>
            <a:fillRect/>
          </a:stretch>
        </p:blipFill>
        <p:spPr>
          <a:xfrm>
            <a:off x="7193036" y="4358396"/>
            <a:ext cx="171176" cy="171176"/>
          </a:xfrm>
          <a:prstGeom prst="rect">
            <a:avLst/>
          </a:prstGeom>
        </p:spPr>
      </p:pic>
      <p:sp>
        <p:nvSpPr>
          <p:cNvPr id="27" name="Text 24"/>
          <p:cNvSpPr/>
          <p:nvPr/>
        </p:nvSpPr>
        <p:spPr>
          <a:xfrm>
            <a:off x="7589520" y="4261104"/>
            <a:ext cx="3886200" cy="384048"/>
          </a:xfrm>
          <a:prstGeom prst="rect">
            <a:avLst/>
          </a:prstGeom>
          <a:noFill/>
          <a:ln/>
        </p:spPr>
        <p:txBody>
          <a:bodyPr wrap="square" lIns="0" tIns="0" rIns="0" bIns="0" rtlCol="0" anchor="ctr"/>
          <a:lstStyle/>
          <a:p>
            <a:pPr indent="0" marL="0">
              <a:buNone/>
            </a:pPr>
            <a:r>
              <a:rPr lang="en-US" sz="1150" dirty="0">
                <a:solidFill>
                  <a:srgbClr val="16283E"/>
                </a:solidFill>
                <a:latin typeface="Calibri" pitchFamily="34" charset="0"/>
                <a:ea typeface="Calibri" pitchFamily="34" charset="-122"/>
                <a:cs typeface="Calibri" pitchFamily="34" charset="-120"/>
              </a:rPr>
              <a:t>Thu thập bằng chứng: tài liệu, lưu đồ, biểu mẫu</a:t>
            </a:r>
            <a:endParaRPr lang="en-US" sz="1150" dirty="0"/>
          </a:p>
        </p:txBody>
      </p:sp>
      <p:sp>
        <p:nvSpPr>
          <p:cNvPr id="28" name="Shape 25"/>
          <p:cNvSpPr/>
          <p:nvPr/>
        </p:nvSpPr>
        <p:spPr>
          <a:xfrm>
            <a:off x="7114032" y="4736592"/>
            <a:ext cx="329184" cy="329184"/>
          </a:xfrm>
          <a:prstGeom prst="ellipse">
            <a:avLst/>
          </a:prstGeom>
          <a:solidFill>
            <a:srgbClr val="0A2E5C"/>
          </a:solidFill>
          <a:ln/>
        </p:spPr>
      </p:sp>
      <p:pic>
        <p:nvPicPr>
          <p:cNvPr id="29" name="Image 1" descr="icons/comments_white.png">    </p:cNvPr>
          <p:cNvPicPr>
            <a:picLocks noChangeAspect="1"/>
          </p:cNvPicPr>
          <p:nvPr/>
        </p:nvPicPr>
        <p:blipFill>
          <a:blip r:embed="rId2"/>
          <a:stretch>
            <a:fillRect/>
          </a:stretch>
        </p:blipFill>
        <p:spPr>
          <a:xfrm>
            <a:off x="7193036" y="4815596"/>
            <a:ext cx="171176" cy="171176"/>
          </a:xfrm>
          <a:prstGeom prst="rect">
            <a:avLst/>
          </a:prstGeom>
        </p:spPr>
      </p:pic>
      <p:sp>
        <p:nvSpPr>
          <p:cNvPr id="30" name="Text 26"/>
          <p:cNvSpPr/>
          <p:nvPr/>
        </p:nvSpPr>
        <p:spPr>
          <a:xfrm>
            <a:off x="7589520" y="4718304"/>
            <a:ext cx="3886200" cy="384048"/>
          </a:xfrm>
          <a:prstGeom prst="rect">
            <a:avLst/>
          </a:prstGeom>
          <a:noFill/>
          <a:ln/>
        </p:spPr>
        <p:txBody>
          <a:bodyPr wrap="square" lIns="0" tIns="0" rIns="0" bIns="0" rtlCol="0" anchor="ctr"/>
          <a:lstStyle/>
          <a:p>
            <a:pPr indent="0" marL="0">
              <a:buNone/>
            </a:pPr>
            <a:r>
              <a:rPr lang="en-US" sz="1150" dirty="0">
                <a:solidFill>
                  <a:srgbClr val="16283E"/>
                </a:solidFill>
                <a:latin typeface="Calibri" pitchFamily="34" charset="0"/>
                <a:ea typeface="Calibri" pitchFamily="34" charset="-122"/>
                <a:cs typeface="Calibri" pitchFamily="34" charset="-120"/>
              </a:rPr>
              <a:t>Phỏng vấn 4 vai trò × 20 câu hỏi</a:t>
            </a:r>
            <a:endParaRPr lang="en-US" sz="1150" dirty="0"/>
          </a:p>
        </p:txBody>
      </p:sp>
      <p:sp>
        <p:nvSpPr>
          <p:cNvPr id="31" name="Shape 27"/>
          <p:cNvSpPr/>
          <p:nvPr/>
        </p:nvSpPr>
        <p:spPr>
          <a:xfrm>
            <a:off x="7114032" y="5193792"/>
            <a:ext cx="329184" cy="329184"/>
          </a:xfrm>
          <a:prstGeom prst="ellipse">
            <a:avLst/>
          </a:prstGeom>
          <a:solidFill>
            <a:srgbClr val="0A2E5C"/>
          </a:solidFill>
          <a:ln/>
        </p:spPr>
      </p:sp>
      <p:pic>
        <p:nvPicPr>
          <p:cNvPr id="32" name="Image 2" descr="icons/diagram_white.png">    </p:cNvPr>
          <p:cNvPicPr>
            <a:picLocks noChangeAspect="1"/>
          </p:cNvPicPr>
          <p:nvPr/>
        </p:nvPicPr>
        <p:blipFill>
          <a:blip r:embed="rId3"/>
          <a:stretch>
            <a:fillRect/>
          </a:stretch>
        </p:blipFill>
        <p:spPr>
          <a:xfrm>
            <a:off x="7193036" y="5272796"/>
            <a:ext cx="171176" cy="171176"/>
          </a:xfrm>
          <a:prstGeom prst="rect">
            <a:avLst/>
          </a:prstGeom>
        </p:spPr>
      </p:pic>
      <p:sp>
        <p:nvSpPr>
          <p:cNvPr id="33" name="Text 28"/>
          <p:cNvSpPr/>
          <p:nvPr/>
        </p:nvSpPr>
        <p:spPr>
          <a:xfrm>
            <a:off x="7589520" y="5175504"/>
            <a:ext cx="3886200" cy="384048"/>
          </a:xfrm>
          <a:prstGeom prst="rect">
            <a:avLst/>
          </a:prstGeom>
          <a:noFill/>
          <a:ln/>
        </p:spPr>
        <p:txBody>
          <a:bodyPr wrap="square" lIns="0" tIns="0" rIns="0" bIns="0" rtlCol="0" anchor="ctr"/>
          <a:lstStyle/>
          <a:p>
            <a:pPr indent="0" marL="0">
              <a:buNone/>
            </a:pPr>
            <a:r>
              <a:rPr lang="en-US" sz="1150" dirty="0">
                <a:solidFill>
                  <a:srgbClr val="16283E"/>
                </a:solidFill>
                <a:latin typeface="Calibri" pitchFamily="34" charset="0"/>
                <a:ea typeface="Calibri" pitchFamily="34" charset="-122"/>
                <a:cs typeface="Calibri" pitchFamily="34" charset="-120"/>
              </a:rPr>
              <a:t>Mô hình hóa BPMN 2.0 bằng Camunda</a:t>
            </a:r>
            <a:endParaRPr lang="en-US" sz="1150" dirty="0"/>
          </a:p>
        </p:txBody>
      </p:sp>
      <p:sp>
        <p:nvSpPr>
          <p:cNvPr id="34" name="Shape 29"/>
          <p:cNvSpPr/>
          <p:nvPr/>
        </p:nvSpPr>
        <p:spPr>
          <a:xfrm>
            <a:off x="7114032" y="5650992"/>
            <a:ext cx="329184" cy="329184"/>
          </a:xfrm>
          <a:prstGeom prst="ellipse">
            <a:avLst/>
          </a:prstGeom>
          <a:solidFill>
            <a:srgbClr val="0A2E5C"/>
          </a:solidFill>
          <a:ln/>
        </p:spPr>
      </p:sp>
      <p:pic>
        <p:nvPicPr>
          <p:cNvPr id="35" name="Image 3" descr="icons/chart_white.png">    </p:cNvPr>
          <p:cNvPicPr>
            <a:picLocks noChangeAspect="1"/>
          </p:cNvPicPr>
          <p:nvPr/>
        </p:nvPicPr>
        <p:blipFill>
          <a:blip r:embed="rId4"/>
          <a:stretch>
            <a:fillRect/>
          </a:stretch>
        </p:blipFill>
        <p:spPr>
          <a:xfrm>
            <a:off x="7193036" y="5729996"/>
            <a:ext cx="171176" cy="171176"/>
          </a:xfrm>
          <a:prstGeom prst="rect">
            <a:avLst/>
          </a:prstGeom>
        </p:spPr>
      </p:pic>
      <p:sp>
        <p:nvSpPr>
          <p:cNvPr id="36" name="Text 30"/>
          <p:cNvSpPr/>
          <p:nvPr/>
        </p:nvSpPr>
        <p:spPr>
          <a:xfrm>
            <a:off x="7589520" y="5632704"/>
            <a:ext cx="3886200" cy="384048"/>
          </a:xfrm>
          <a:prstGeom prst="rect">
            <a:avLst/>
          </a:prstGeom>
          <a:noFill/>
          <a:ln/>
        </p:spPr>
        <p:txBody>
          <a:bodyPr wrap="square" lIns="0" tIns="0" rIns="0" bIns="0" rtlCol="0" anchor="ctr"/>
          <a:lstStyle/>
          <a:p>
            <a:pPr indent="0" marL="0">
              <a:buNone/>
            </a:pPr>
            <a:r>
              <a:rPr lang="en-US" sz="1150" dirty="0">
                <a:solidFill>
                  <a:srgbClr val="16283E"/>
                </a:solidFill>
                <a:latin typeface="Calibri" pitchFamily="34" charset="0"/>
                <a:ea typeface="Calibri" pitchFamily="34" charset="-122"/>
                <a:cs typeface="Calibri" pitchFamily="34" charset="-120"/>
              </a:rPr>
              <a:t>Phân tích định tính &amp; định lượng</a:t>
            </a:r>
            <a:endParaRPr lang="en-US" sz="1150" dirty="0"/>
          </a:p>
        </p:txBody>
      </p:sp>
      <p:sp>
        <p:nvSpPr>
          <p:cNvPr id="37" name="Text 31"/>
          <p:cNvSpPr/>
          <p:nvPr/>
        </p:nvSpPr>
        <p:spPr>
          <a:xfrm>
            <a:off x="11411712" y="6473952"/>
            <a:ext cx="457200" cy="274320"/>
          </a:xfrm>
          <a:prstGeom prst="rect">
            <a:avLst/>
          </a:prstGeom>
          <a:noFill/>
          <a:ln/>
        </p:spPr>
        <p:txBody>
          <a:bodyPr wrap="square" rtlCol="0" anchor="ctr"/>
          <a:lstStyle/>
          <a:p>
            <a:pPr algn="r" indent="0" marL="0">
              <a:buNone/>
            </a:pPr>
            <a:r>
              <a:rPr lang="en-US" sz="900" dirty="0">
                <a:solidFill>
                  <a:srgbClr val="5A6B80"/>
                </a:solidFill>
                <a:latin typeface="Calibri" pitchFamily="34" charset="0"/>
                <a:ea typeface="Calibri" pitchFamily="34" charset="-122"/>
                <a:cs typeface="Calibri" pitchFamily="34" charset="-120"/>
              </a:rPr>
              <a:t>04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lIns="0" tIns="0" rIns="0" bIns="0" rtlCol="0" anchor="ctr"/>
          <a:lstStyle/>
          <a:p>
            <a:pPr indent="0" marL="0">
              <a:buNone/>
            </a:pPr>
            <a:r>
              <a:rPr lang="en-US" sz="1050" b="1" spc="240" kern="0" dirty="0">
                <a:solidFill>
                  <a:srgbClr val="2160A6"/>
                </a:solidFill>
                <a:latin typeface="Calibri" pitchFamily="34" charset="0"/>
                <a:ea typeface="Calibri" pitchFamily="34" charset="-122"/>
                <a:cs typeface="Calibri" pitchFamily="34" charset="-120"/>
              </a:rPr>
              <a:t>CHƯƠNG 1 · TỔNG QUAN DOANH NGHIỆP</a:t>
            </a:r>
            <a:endParaRPr lang="en-US" sz="1050" dirty="0"/>
          </a:p>
        </p:txBody>
      </p:sp>
      <p:sp>
        <p:nvSpPr>
          <p:cNvPr id="3" name="Text 1"/>
          <p:cNvSpPr/>
          <p:nvPr/>
        </p:nvSpPr>
        <p:spPr>
          <a:xfrm>
            <a:off x="548640" y="566928"/>
            <a:ext cx="11064240" cy="566928"/>
          </a:xfrm>
          <a:prstGeom prst="rect">
            <a:avLst/>
          </a:prstGeom>
          <a:noFill/>
          <a:ln/>
        </p:spPr>
        <p:txBody>
          <a:bodyPr wrap="square" lIns="0" tIns="0" rIns="0" bIns="0" rtlCol="0" anchor="ctr"/>
          <a:lstStyle/>
          <a:p>
            <a:pPr indent="0" marL="0">
              <a:buNone/>
            </a:pPr>
            <a:r>
              <a:rPr lang="en-US" sz="2900" b="1" dirty="0">
                <a:solidFill>
                  <a:srgbClr val="0A2E5C"/>
                </a:solidFill>
                <a:latin typeface="Cambria" pitchFamily="34" charset="0"/>
                <a:ea typeface="Cambria" pitchFamily="34" charset="-122"/>
                <a:cs typeface="Cambria" pitchFamily="34" charset="-120"/>
              </a:rPr>
              <a:t>Kiến trúc 10 quy trình của Khối CNTT Sacombank</a:t>
            </a:r>
            <a:endParaRPr lang="en-US" sz="2900" dirty="0"/>
          </a:p>
        </p:txBody>
      </p:sp>
      <p:sp>
        <p:nvSpPr>
          <p:cNvPr id="4" name="Text 2"/>
          <p:cNvSpPr/>
          <p:nvPr/>
        </p:nvSpPr>
        <p:spPr>
          <a:xfrm>
            <a:off x="566928" y="1207008"/>
            <a:ext cx="11064240" cy="502920"/>
          </a:xfrm>
          <a:prstGeom prst="rect">
            <a:avLst/>
          </a:prstGeom>
          <a:noFill/>
          <a:ln/>
        </p:spPr>
        <p:txBody>
          <a:bodyPr wrap="square" lIns="0" tIns="0" rIns="0" bIns="0" rtlCol="0" anchor="ctr"/>
          <a:lstStyle/>
          <a:p>
            <a:pPr indent="0" marL="0">
              <a:lnSpc>
                <a:spcPct val="110000"/>
              </a:lnSpc>
              <a:buNone/>
            </a:pPr>
            <a:r>
              <a:rPr lang="en-US" sz="1200" dirty="0">
                <a:solidFill>
                  <a:srgbClr val="5A6B80"/>
                </a:solidFill>
                <a:latin typeface="Calibri" pitchFamily="34" charset="0"/>
                <a:ea typeface="Calibri" pitchFamily="34" charset="-122"/>
                <a:cs typeface="Calibri" pitchFamily="34" charset="-120"/>
              </a:rPr>
              <a:t>Khối IT vận hành như một đơn vị cung cấp dịch vụ nội bộ với cam kết SLA — khách hàng là toàn thể cán bộ nhân viên. 10 quy trình khảo sát được phân thành ba tầng tương hỗ:</a:t>
            </a:r>
            <a:endParaRPr lang="en-US" sz="1200" dirty="0"/>
          </a:p>
        </p:txBody>
      </p:sp>
      <p:sp>
        <p:nvSpPr>
          <p:cNvPr id="5" name="Shape 3"/>
          <p:cNvSpPr/>
          <p:nvPr/>
        </p:nvSpPr>
        <p:spPr>
          <a:xfrm>
            <a:off x="566928" y="1828800"/>
            <a:ext cx="3602736" cy="3566160"/>
          </a:xfrm>
          <a:prstGeom prst="roundRect">
            <a:avLst>
              <a:gd name="adj" fmla="val 2308"/>
            </a:avLst>
          </a:prstGeom>
          <a:solidFill>
            <a:srgbClr val="F4F8FC"/>
          </a:solidFill>
          <a:ln w="12700">
            <a:solidFill>
              <a:srgbClr val="D3DFEE"/>
            </a:solidFill>
            <a:prstDash val="solid"/>
          </a:ln>
          <a:effectLst>
            <a:outerShdw sx="100000" sy="100000" kx="0" ky="0" algn="bl" rotWithShape="0" blurRad="88900" dist="25400" dir="5400000">
              <a:srgbClr val="0A2E5C">
                <a:alpha val="14000"/>
              </a:srgbClr>
            </a:outerShdw>
          </a:effectLst>
        </p:spPr>
      </p:sp>
      <p:sp>
        <p:nvSpPr>
          <p:cNvPr id="6" name="Shape 4"/>
          <p:cNvSpPr/>
          <p:nvPr/>
        </p:nvSpPr>
        <p:spPr>
          <a:xfrm>
            <a:off x="822960" y="2066544"/>
            <a:ext cx="566928" cy="566928"/>
          </a:xfrm>
          <a:prstGeom prst="ellipse">
            <a:avLst/>
          </a:prstGeom>
          <a:solidFill>
            <a:srgbClr val="0A2E5C"/>
          </a:solidFill>
          <a:ln/>
        </p:spPr>
      </p:sp>
      <p:pic>
        <p:nvPicPr>
          <p:cNvPr id="7" name="Image 0" descr="icons/briefcase_white.png">    </p:cNvPr>
          <p:cNvPicPr>
            <a:picLocks noChangeAspect="1"/>
          </p:cNvPicPr>
          <p:nvPr/>
        </p:nvPicPr>
        <p:blipFill>
          <a:blip r:embed="rId1"/>
          <a:stretch>
            <a:fillRect/>
          </a:stretch>
        </p:blipFill>
        <p:spPr>
          <a:xfrm>
            <a:off x="976031" y="2219615"/>
            <a:ext cx="260787" cy="260787"/>
          </a:xfrm>
          <a:prstGeom prst="rect">
            <a:avLst/>
          </a:prstGeom>
        </p:spPr>
      </p:pic>
      <p:sp>
        <p:nvSpPr>
          <p:cNvPr id="8" name="Text 5"/>
          <p:cNvSpPr/>
          <p:nvPr/>
        </p:nvSpPr>
        <p:spPr>
          <a:xfrm>
            <a:off x="1527048" y="2066544"/>
            <a:ext cx="2468880" cy="310896"/>
          </a:xfrm>
          <a:prstGeom prst="rect">
            <a:avLst/>
          </a:prstGeom>
          <a:noFill/>
          <a:ln/>
        </p:spPr>
        <p:txBody>
          <a:bodyPr wrap="square" lIns="0" tIns="0" rIns="0" bIns="0" rtlCol="0" anchor="ctr"/>
          <a:lstStyle/>
          <a:p>
            <a:pPr indent="0" marL="0">
              <a:buNone/>
            </a:pPr>
            <a:r>
              <a:rPr lang="en-US" sz="1600" b="1" dirty="0">
                <a:solidFill>
                  <a:srgbClr val="0A2E5C"/>
                </a:solidFill>
                <a:latin typeface="Cambria" pitchFamily="34" charset="0"/>
                <a:ea typeface="Cambria" pitchFamily="34" charset="-122"/>
                <a:cs typeface="Cambria" pitchFamily="34" charset="-120"/>
              </a:rPr>
              <a:t>QUẢN LÝ</a:t>
            </a:r>
            <a:endParaRPr lang="en-US" sz="1600" dirty="0"/>
          </a:p>
        </p:txBody>
      </p:sp>
      <p:sp>
        <p:nvSpPr>
          <p:cNvPr id="9" name="Text 6"/>
          <p:cNvSpPr/>
          <p:nvPr/>
        </p:nvSpPr>
        <p:spPr>
          <a:xfrm>
            <a:off x="1527048" y="2377440"/>
            <a:ext cx="2468880" cy="256032"/>
          </a:xfrm>
          <a:prstGeom prst="rect">
            <a:avLst/>
          </a:prstGeom>
          <a:noFill/>
          <a:ln/>
        </p:spPr>
        <p:txBody>
          <a:bodyPr wrap="square" lIns="0" tIns="0" rIns="0" bIns="0" rtlCol="0" anchor="ctr"/>
          <a:lstStyle/>
          <a:p>
            <a:pPr indent="0" marL="0">
              <a:buNone/>
            </a:pPr>
            <a:r>
              <a:rPr lang="en-US" sz="1050" dirty="0">
                <a:solidFill>
                  <a:srgbClr val="5A6B80"/>
                </a:solidFill>
                <a:latin typeface="Calibri" pitchFamily="34" charset="0"/>
                <a:ea typeface="Calibri" pitchFamily="34" charset="-122"/>
                <a:cs typeface="Calibri" pitchFamily="34" charset="-120"/>
              </a:rPr>
              <a:t>Management · 3 quy trình</a:t>
            </a:r>
            <a:endParaRPr lang="en-US" sz="1050" dirty="0"/>
          </a:p>
        </p:txBody>
      </p:sp>
      <p:sp>
        <p:nvSpPr>
          <p:cNvPr id="10" name="Text 7"/>
          <p:cNvSpPr/>
          <p:nvPr/>
        </p:nvSpPr>
        <p:spPr>
          <a:xfrm>
            <a:off x="841248" y="2852928"/>
            <a:ext cx="3099816" cy="14630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16283E"/>
                </a:solidFill>
                <a:latin typeface="Calibri" pitchFamily="34" charset="0"/>
                <a:ea typeface="Calibri" pitchFamily="34" charset="-122"/>
                <a:cs typeface="Calibri" pitchFamily="34" charset="-120"/>
              </a:rPr>
              <a:t>Quản lý Mức Dịch vụ (SLA)</a:t>
            </a:r>
            <a:endParaRPr lang="en-US" sz="1200" dirty="0"/>
          </a:p>
          <a:p>
            <a:pPr marL="342900" indent="-342900">
              <a:spcAft>
                <a:spcPts val="800"/>
              </a:spcAft>
              <a:buSzPct val="100000"/>
              <a:buChar char="•"/>
            </a:pPr>
            <a:r>
              <a:rPr lang="en-US" sz="1200" dirty="0">
                <a:solidFill>
                  <a:srgbClr val="16283E"/>
                </a:solidFill>
                <a:latin typeface="Calibri" pitchFamily="34" charset="0"/>
                <a:ea typeface="Calibri" pitchFamily="34" charset="-122"/>
                <a:cs typeface="Calibri" pitchFamily="34" charset="-120"/>
              </a:rPr>
              <a:t>Quản lý Rủi ro &amp; An toàn Thông tin</a:t>
            </a:r>
            <a:endParaRPr lang="en-US" sz="1200" dirty="0"/>
          </a:p>
          <a:p>
            <a:pPr marL="342900" indent="-342900">
              <a:spcAft>
                <a:spcPts val="800"/>
              </a:spcAft>
              <a:buSzPct val="100000"/>
              <a:buChar char="•"/>
            </a:pPr>
            <a:r>
              <a:rPr lang="en-US" sz="1200" dirty="0">
                <a:solidFill>
                  <a:srgbClr val="16283E"/>
                </a:solidFill>
                <a:latin typeface="Calibri" pitchFamily="34" charset="0"/>
                <a:ea typeface="Calibri" pitchFamily="34" charset="-122"/>
                <a:cs typeface="Calibri" pitchFamily="34" charset="-120"/>
              </a:rPr>
              <a:t>Lập kế hoạch Ngân sách IT</a:t>
            </a:r>
            <a:endParaRPr lang="en-US" sz="1200" dirty="0"/>
          </a:p>
        </p:txBody>
      </p:sp>
      <p:sp>
        <p:nvSpPr>
          <p:cNvPr id="11" name="Text 8"/>
          <p:cNvSpPr/>
          <p:nvPr/>
        </p:nvSpPr>
        <p:spPr>
          <a:xfrm>
            <a:off x="841248" y="4681728"/>
            <a:ext cx="3054096" cy="548640"/>
          </a:xfrm>
          <a:prstGeom prst="rect">
            <a:avLst/>
          </a:prstGeom>
          <a:noFill/>
          <a:ln/>
        </p:spPr>
        <p:txBody>
          <a:bodyPr wrap="square" lIns="0" tIns="0" rIns="0" bIns="0" rtlCol="0" anchor="ctr"/>
          <a:lstStyle/>
          <a:p>
            <a:pPr indent="0" marL="0">
              <a:buNone/>
            </a:pPr>
            <a:r>
              <a:rPr lang="en-US" sz="1050" i="1" dirty="0">
                <a:solidFill>
                  <a:srgbClr val="5A6B80"/>
                </a:solidFill>
                <a:latin typeface="Calibri" pitchFamily="34" charset="0"/>
                <a:ea typeface="Calibri" pitchFamily="34" charset="-122"/>
                <a:cs typeface="Calibri" pitchFamily="34" charset="-120"/>
              </a:rPr>
              <a:t>Định hướng, giám sát &amp; đo lường KPI toàn Khối</a:t>
            </a:r>
            <a:endParaRPr lang="en-US" sz="1050" dirty="0"/>
          </a:p>
        </p:txBody>
      </p:sp>
      <p:sp>
        <p:nvSpPr>
          <p:cNvPr id="12" name="Shape 9"/>
          <p:cNvSpPr/>
          <p:nvPr/>
        </p:nvSpPr>
        <p:spPr>
          <a:xfrm>
            <a:off x="4306824" y="1828800"/>
            <a:ext cx="3602736" cy="3566160"/>
          </a:xfrm>
          <a:prstGeom prst="roundRect">
            <a:avLst>
              <a:gd name="adj" fmla="val 2308"/>
            </a:avLst>
          </a:prstGeom>
          <a:solidFill>
            <a:srgbClr val="0A2E5C"/>
          </a:solidFill>
          <a:ln/>
          <a:effectLst>
            <a:outerShdw sx="100000" sy="100000" kx="0" ky="0" algn="bl" rotWithShape="0" blurRad="88900" dist="25400" dir="5400000">
              <a:srgbClr val="0A2E5C">
                <a:alpha val="14000"/>
              </a:srgbClr>
            </a:outerShdw>
          </a:effectLst>
        </p:spPr>
      </p:sp>
      <p:sp>
        <p:nvSpPr>
          <p:cNvPr id="13" name="Shape 10"/>
          <p:cNvSpPr/>
          <p:nvPr/>
        </p:nvSpPr>
        <p:spPr>
          <a:xfrm>
            <a:off x="4562856" y="2066544"/>
            <a:ext cx="566928" cy="566928"/>
          </a:xfrm>
          <a:prstGeom prst="ellipse">
            <a:avLst/>
          </a:prstGeom>
          <a:solidFill>
            <a:srgbClr val="F2A900"/>
          </a:solidFill>
          <a:ln/>
        </p:spPr>
      </p:sp>
      <p:pic>
        <p:nvPicPr>
          <p:cNvPr id="14" name="Image 1" descr="icons/star_navy.png">    </p:cNvPr>
          <p:cNvPicPr>
            <a:picLocks noChangeAspect="1"/>
          </p:cNvPicPr>
          <p:nvPr/>
        </p:nvPicPr>
        <p:blipFill>
          <a:blip r:embed="rId2"/>
          <a:stretch>
            <a:fillRect/>
          </a:stretch>
        </p:blipFill>
        <p:spPr>
          <a:xfrm>
            <a:off x="4715927" y="2219615"/>
            <a:ext cx="260787" cy="260787"/>
          </a:xfrm>
          <a:prstGeom prst="rect">
            <a:avLst/>
          </a:prstGeom>
        </p:spPr>
      </p:pic>
      <p:sp>
        <p:nvSpPr>
          <p:cNvPr id="15" name="Text 11"/>
          <p:cNvSpPr/>
          <p:nvPr/>
        </p:nvSpPr>
        <p:spPr>
          <a:xfrm>
            <a:off x="5266944" y="2066544"/>
            <a:ext cx="2468880" cy="310896"/>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CỐT LÕI</a:t>
            </a:r>
            <a:endParaRPr lang="en-US" sz="1600" dirty="0"/>
          </a:p>
        </p:txBody>
      </p:sp>
      <p:sp>
        <p:nvSpPr>
          <p:cNvPr id="16" name="Text 12"/>
          <p:cNvSpPr/>
          <p:nvPr/>
        </p:nvSpPr>
        <p:spPr>
          <a:xfrm>
            <a:off x="5266944" y="2377440"/>
            <a:ext cx="2468880" cy="256032"/>
          </a:xfrm>
          <a:prstGeom prst="rect">
            <a:avLst/>
          </a:prstGeom>
          <a:noFill/>
          <a:ln/>
        </p:spPr>
        <p:txBody>
          <a:bodyPr wrap="square" lIns="0" tIns="0" rIns="0" bIns="0" rtlCol="0" anchor="ctr"/>
          <a:lstStyle/>
          <a:p>
            <a:pPr indent="0" marL="0">
              <a:buNone/>
            </a:pPr>
            <a:r>
              <a:rPr lang="en-US" sz="1050" dirty="0">
                <a:solidFill>
                  <a:srgbClr val="B9CCE8"/>
                </a:solidFill>
                <a:latin typeface="Calibri" pitchFamily="34" charset="0"/>
                <a:ea typeface="Calibri" pitchFamily="34" charset="-122"/>
                <a:cs typeface="Calibri" pitchFamily="34" charset="-120"/>
              </a:rPr>
              <a:t>Core · 3 quy trình</a:t>
            </a:r>
            <a:endParaRPr lang="en-US" sz="1050" dirty="0"/>
          </a:p>
        </p:txBody>
      </p:sp>
      <p:sp>
        <p:nvSpPr>
          <p:cNvPr id="17" name="Text 13"/>
          <p:cNvSpPr/>
          <p:nvPr/>
        </p:nvSpPr>
        <p:spPr>
          <a:xfrm>
            <a:off x="4581144" y="2852928"/>
            <a:ext cx="3099816" cy="1554480"/>
          </a:xfrm>
          <a:prstGeom prst="rect">
            <a:avLst/>
          </a:prstGeom>
          <a:noFill/>
          <a:ln/>
        </p:spPr>
        <p:txBody>
          <a:bodyPr wrap="square" lIns="0" tIns="0" rIns="0" bIns="0" rtlCol="0" anchor="t"/>
          <a:lstStyle/>
          <a:p>
            <a:pPr marL="342900" indent="-342900">
              <a:spcAft>
                <a:spcPts val="800"/>
              </a:spcAft>
              <a:buSzPct val="100000"/>
              <a:buChar char="•"/>
            </a:pPr>
            <a:r>
              <a:rPr lang="en-US" sz="1200" b="1" dirty="0">
                <a:solidFill>
                  <a:srgbClr val="F2A900"/>
                </a:solidFill>
                <a:latin typeface="Calibri" pitchFamily="34" charset="0"/>
                <a:ea typeface="Calibri" pitchFamily="34" charset="-122"/>
                <a:cs typeface="Calibri" pitchFamily="34" charset="-120"/>
              </a:rPr>
              <a:t>Quản lý Yêu cầu Dịch vụ (PYC) — trọng tâm đề tài</a:t>
            </a:r>
            <a:endParaRPr lang="en-US" sz="1200" dirty="0"/>
          </a:p>
          <a:p>
            <a:pPr marL="342900" indent="-3429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Quản lý Sự cố (Incident)</a:t>
            </a:r>
            <a:endParaRPr lang="en-US" sz="1200" dirty="0"/>
          </a:p>
          <a:p>
            <a:pPr marL="342900" indent="-3429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Quản lý Phát hành (Release)</a:t>
            </a:r>
            <a:endParaRPr lang="en-US" sz="1200" dirty="0"/>
          </a:p>
        </p:txBody>
      </p:sp>
      <p:sp>
        <p:nvSpPr>
          <p:cNvPr id="18" name="Text 14"/>
          <p:cNvSpPr/>
          <p:nvPr/>
        </p:nvSpPr>
        <p:spPr>
          <a:xfrm>
            <a:off x="4581144" y="4681728"/>
            <a:ext cx="3054096" cy="548640"/>
          </a:xfrm>
          <a:prstGeom prst="rect">
            <a:avLst/>
          </a:prstGeom>
          <a:noFill/>
          <a:ln/>
        </p:spPr>
        <p:txBody>
          <a:bodyPr wrap="square" lIns="0" tIns="0" rIns="0" bIns="0" rtlCol="0" anchor="ctr"/>
          <a:lstStyle/>
          <a:p>
            <a:pPr indent="0" marL="0">
              <a:buNone/>
            </a:pPr>
            <a:r>
              <a:rPr lang="en-US" sz="1050" i="1" dirty="0">
                <a:solidFill>
                  <a:srgbClr val="B9CCE8"/>
                </a:solidFill>
                <a:latin typeface="Calibri" pitchFamily="34" charset="0"/>
                <a:ea typeface="Calibri" pitchFamily="34" charset="-122"/>
                <a:cs typeface="Calibri" pitchFamily="34" charset="-120"/>
              </a:rPr>
              <a:t>"Nhà máy" tạo giá trị trực tiếp cho người dùng nội bộ</a:t>
            </a:r>
            <a:endParaRPr lang="en-US" sz="1050" dirty="0"/>
          </a:p>
        </p:txBody>
      </p:sp>
      <p:sp>
        <p:nvSpPr>
          <p:cNvPr id="19" name="Shape 15"/>
          <p:cNvSpPr/>
          <p:nvPr/>
        </p:nvSpPr>
        <p:spPr>
          <a:xfrm>
            <a:off x="8046720" y="1828800"/>
            <a:ext cx="3602736" cy="3566160"/>
          </a:xfrm>
          <a:prstGeom prst="roundRect">
            <a:avLst>
              <a:gd name="adj" fmla="val 2308"/>
            </a:avLst>
          </a:prstGeom>
          <a:solidFill>
            <a:srgbClr val="F4F8FC"/>
          </a:solidFill>
          <a:ln w="12700">
            <a:solidFill>
              <a:srgbClr val="D3DFEE"/>
            </a:solidFill>
            <a:prstDash val="solid"/>
          </a:ln>
          <a:effectLst>
            <a:outerShdw sx="100000" sy="100000" kx="0" ky="0" algn="bl" rotWithShape="0" blurRad="88900" dist="25400" dir="5400000">
              <a:srgbClr val="0A2E5C">
                <a:alpha val="14000"/>
              </a:srgbClr>
            </a:outerShdw>
          </a:effectLst>
        </p:spPr>
      </p:sp>
      <p:sp>
        <p:nvSpPr>
          <p:cNvPr id="20" name="Shape 16"/>
          <p:cNvSpPr/>
          <p:nvPr/>
        </p:nvSpPr>
        <p:spPr>
          <a:xfrm>
            <a:off x="8302752" y="2066544"/>
            <a:ext cx="566928" cy="566928"/>
          </a:xfrm>
          <a:prstGeom prst="ellipse">
            <a:avLst/>
          </a:prstGeom>
          <a:solidFill>
            <a:srgbClr val="0A2E5C"/>
          </a:solidFill>
          <a:ln/>
        </p:spPr>
      </p:sp>
      <p:pic>
        <p:nvPicPr>
          <p:cNvPr id="21" name="Image 2" descr="icons/toolbox_white.png">    </p:cNvPr>
          <p:cNvPicPr>
            <a:picLocks noChangeAspect="1"/>
          </p:cNvPicPr>
          <p:nvPr/>
        </p:nvPicPr>
        <p:blipFill>
          <a:blip r:embed="rId3"/>
          <a:stretch>
            <a:fillRect/>
          </a:stretch>
        </p:blipFill>
        <p:spPr>
          <a:xfrm>
            <a:off x="8455823" y="2219615"/>
            <a:ext cx="260787" cy="260787"/>
          </a:xfrm>
          <a:prstGeom prst="rect">
            <a:avLst/>
          </a:prstGeom>
        </p:spPr>
      </p:pic>
      <p:sp>
        <p:nvSpPr>
          <p:cNvPr id="22" name="Text 17"/>
          <p:cNvSpPr/>
          <p:nvPr/>
        </p:nvSpPr>
        <p:spPr>
          <a:xfrm>
            <a:off x="9006840" y="2066544"/>
            <a:ext cx="2468880" cy="310896"/>
          </a:xfrm>
          <a:prstGeom prst="rect">
            <a:avLst/>
          </a:prstGeom>
          <a:noFill/>
          <a:ln/>
        </p:spPr>
        <p:txBody>
          <a:bodyPr wrap="square" lIns="0" tIns="0" rIns="0" bIns="0" rtlCol="0" anchor="ctr"/>
          <a:lstStyle/>
          <a:p>
            <a:pPr indent="0" marL="0">
              <a:buNone/>
            </a:pPr>
            <a:r>
              <a:rPr lang="en-US" sz="1600" b="1" dirty="0">
                <a:solidFill>
                  <a:srgbClr val="0A2E5C"/>
                </a:solidFill>
                <a:latin typeface="Cambria" pitchFamily="34" charset="0"/>
                <a:ea typeface="Cambria" pitchFamily="34" charset="-122"/>
                <a:cs typeface="Cambria" pitchFamily="34" charset="-120"/>
              </a:rPr>
              <a:t>HỖ TRỢ</a:t>
            </a:r>
            <a:endParaRPr lang="en-US" sz="1600" dirty="0"/>
          </a:p>
        </p:txBody>
      </p:sp>
      <p:sp>
        <p:nvSpPr>
          <p:cNvPr id="23" name="Text 18"/>
          <p:cNvSpPr/>
          <p:nvPr/>
        </p:nvSpPr>
        <p:spPr>
          <a:xfrm>
            <a:off x="9006840" y="2377440"/>
            <a:ext cx="2468880" cy="256032"/>
          </a:xfrm>
          <a:prstGeom prst="rect">
            <a:avLst/>
          </a:prstGeom>
          <a:noFill/>
          <a:ln/>
        </p:spPr>
        <p:txBody>
          <a:bodyPr wrap="square" lIns="0" tIns="0" rIns="0" bIns="0" rtlCol="0" anchor="ctr"/>
          <a:lstStyle/>
          <a:p>
            <a:pPr indent="0" marL="0">
              <a:buNone/>
            </a:pPr>
            <a:r>
              <a:rPr lang="en-US" sz="1050" dirty="0">
                <a:solidFill>
                  <a:srgbClr val="5A6B80"/>
                </a:solidFill>
                <a:latin typeface="Calibri" pitchFamily="34" charset="0"/>
                <a:ea typeface="Calibri" pitchFamily="34" charset="-122"/>
                <a:cs typeface="Calibri" pitchFamily="34" charset="-120"/>
              </a:rPr>
              <a:t>Support · 4 quy trình</a:t>
            </a:r>
            <a:endParaRPr lang="en-US" sz="1050" dirty="0"/>
          </a:p>
        </p:txBody>
      </p:sp>
      <p:sp>
        <p:nvSpPr>
          <p:cNvPr id="24" name="Text 19"/>
          <p:cNvSpPr/>
          <p:nvPr/>
        </p:nvSpPr>
        <p:spPr>
          <a:xfrm>
            <a:off x="8321040" y="2852928"/>
            <a:ext cx="3099816" cy="1828800"/>
          </a:xfrm>
          <a:prstGeom prst="rect">
            <a:avLst/>
          </a:prstGeom>
          <a:noFill/>
          <a:ln/>
        </p:spPr>
        <p:txBody>
          <a:bodyPr wrap="square" lIns="0" tIns="0" rIns="0" bIns="0" rtlCol="0" anchor="ctr"/>
          <a:lstStyle/>
          <a:p>
            <a:pPr marL="342900" indent="-342900">
              <a:spcAft>
                <a:spcPts val="700"/>
              </a:spcAft>
              <a:buSzPct val="100000"/>
              <a:buChar char="•"/>
            </a:pPr>
            <a:r>
              <a:rPr lang="en-US" sz="1200" dirty="0">
                <a:solidFill>
                  <a:srgbClr val="16283E"/>
                </a:solidFill>
                <a:latin typeface="Calibri" pitchFamily="34" charset="0"/>
                <a:ea typeface="Calibri" pitchFamily="34" charset="-122"/>
                <a:cs typeface="Calibri" pitchFamily="34" charset="-120"/>
              </a:rPr>
              <a:t>Quản lý Vấn đề (Problem)</a:t>
            </a:r>
            <a:endParaRPr lang="en-US" sz="1200" dirty="0"/>
          </a:p>
          <a:p>
            <a:pPr marL="342900" indent="-342900">
              <a:spcAft>
                <a:spcPts val="700"/>
              </a:spcAft>
              <a:buSzPct val="100000"/>
              <a:buChar char="•"/>
            </a:pPr>
            <a:r>
              <a:rPr lang="en-US" sz="1200" dirty="0">
                <a:solidFill>
                  <a:srgbClr val="16283E"/>
                </a:solidFill>
                <a:latin typeface="Calibri" pitchFamily="34" charset="0"/>
                <a:ea typeface="Calibri" pitchFamily="34" charset="-122"/>
                <a:cs typeface="Calibri" pitchFamily="34" charset="-120"/>
              </a:rPr>
              <a:t>Quản lý Thay đổi (Change)</a:t>
            </a:r>
            <a:endParaRPr lang="en-US" sz="1200" dirty="0"/>
          </a:p>
          <a:p>
            <a:pPr marL="342900" indent="-342900">
              <a:spcAft>
                <a:spcPts val="700"/>
              </a:spcAft>
              <a:buSzPct val="100000"/>
              <a:buChar char="•"/>
            </a:pPr>
            <a:r>
              <a:rPr lang="en-US" sz="1200" dirty="0">
                <a:solidFill>
                  <a:srgbClr val="16283E"/>
                </a:solidFill>
                <a:latin typeface="Calibri" pitchFamily="34" charset="0"/>
                <a:ea typeface="Calibri" pitchFamily="34" charset="-122"/>
                <a:cs typeface="Calibri" pitchFamily="34" charset="-120"/>
              </a:rPr>
              <a:t>Quản lý Tài sản CNTT</a:t>
            </a:r>
            <a:endParaRPr lang="en-US" sz="1200" dirty="0"/>
          </a:p>
          <a:p>
            <a:pPr marL="342900" indent="-342900">
              <a:spcAft>
                <a:spcPts val="700"/>
              </a:spcAft>
              <a:buSzPct val="100000"/>
              <a:buChar char="•"/>
            </a:pPr>
            <a:r>
              <a:rPr lang="en-US" sz="1200" dirty="0">
                <a:solidFill>
                  <a:srgbClr val="16283E"/>
                </a:solidFill>
                <a:latin typeface="Calibri" pitchFamily="34" charset="0"/>
                <a:ea typeface="Calibri" pitchFamily="34" charset="-122"/>
                <a:cs typeface="Calibri" pitchFamily="34" charset="-120"/>
              </a:rPr>
              <a:t>Quản lý Tri thức (Knowledge)</a:t>
            </a:r>
            <a:endParaRPr lang="en-US" sz="1200" dirty="0"/>
          </a:p>
        </p:txBody>
      </p:sp>
      <p:sp>
        <p:nvSpPr>
          <p:cNvPr id="25" name="Text 20"/>
          <p:cNvSpPr/>
          <p:nvPr/>
        </p:nvSpPr>
        <p:spPr>
          <a:xfrm>
            <a:off x="8321040" y="4681728"/>
            <a:ext cx="3054096" cy="548640"/>
          </a:xfrm>
          <a:prstGeom prst="rect">
            <a:avLst/>
          </a:prstGeom>
          <a:noFill/>
          <a:ln/>
        </p:spPr>
        <p:txBody>
          <a:bodyPr wrap="square" lIns="0" tIns="0" rIns="0" bIns="0" rtlCol="0" anchor="ctr"/>
          <a:lstStyle/>
          <a:p>
            <a:pPr indent="0" marL="0">
              <a:buNone/>
            </a:pPr>
            <a:r>
              <a:rPr lang="en-US" sz="1050" i="1" dirty="0">
                <a:solidFill>
                  <a:srgbClr val="5A6B80"/>
                </a:solidFill>
                <a:latin typeface="Calibri" pitchFamily="34" charset="0"/>
                <a:ea typeface="Calibri" pitchFamily="34" charset="-122"/>
                <a:cs typeface="Calibri" pitchFamily="34" charset="-120"/>
              </a:rPr>
              <a:t>Cung cấp công cụ, tài sản &amp; nguồn lực</a:t>
            </a:r>
            <a:endParaRPr lang="en-US" sz="1050" dirty="0"/>
          </a:p>
        </p:txBody>
      </p:sp>
      <p:sp>
        <p:nvSpPr>
          <p:cNvPr id="26" name="Shape 21"/>
          <p:cNvSpPr/>
          <p:nvPr/>
        </p:nvSpPr>
        <p:spPr>
          <a:xfrm>
            <a:off x="566928" y="5614416"/>
            <a:ext cx="11045952" cy="658368"/>
          </a:xfrm>
          <a:prstGeom prst="roundRect">
            <a:avLst>
              <a:gd name="adj" fmla="val 12500"/>
            </a:avLst>
          </a:prstGeom>
          <a:solidFill>
            <a:srgbClr val="FDF3D9"/>
          </a:solidFill>
          <a:ln/>
        </p:spPr>
      </p:sp>
      <p:sp>
        <p:nvSpPr>
          <p:cNvPr id="27" name="Text 22"/>
          <p:cNvSpPr/>
          <p:nvPr/>
        </p:nvSpPr>
        <p:spPr>
          <a:xfrm>
            <a:off x="868680" y="5660136"/>
            <a:ext cx="10515600" cy="566928"/>
          </a:xfrm>
          <a:prstGeom prst="rect">
            <a:avLst/>
          </a:prstGeom>
          <a:noFill/>
          <a:ln/>
        </p:spPr>
        <p:txBody>
          <a:bodyPr wrap="square" lIns="0" tIns="0" rIns="0" bIns="0" rtlCol="0" anchor="ctr"/>
          <a:lstStyle/>
          <a:p>
            <a:pPr indent="0" marL="0">
              <a:buNone/>
            </a:pPr>
            <a:r>
              <a:rPr lang="en-US" sz="1150" b="1" dirty="0">
                <a:solidFill>
                  <a:srgbClr val="0A2E5C"/>
                </a:solidFill>
                <a:latin typeface="Calibri" pitchFamily="34" charset="0"/>
                <a:ea typeface="Calibri" pitchFamily="34" charset="-122"/>
                <a:cs typeface="Calibri" pitchFamily="34" charset="-120"/>
              </a:rPr>
              <a:t>Ba tầng vận hành tương hỗ → mọi cải tiến PYC (Cốt lõi) đều phải xét trong tương quan với giám sát SLA (Quản lý) và nền tảng tài sản – tri thức (Hỗ trợ).</a:t>
            </a:r>
            <a:endParaRPr lang="en-US" sz="1150" dirty="0"/>
          </a:p>
        </p:txBody>
      </p:sp>
      <p:sp>
        <p:nvSpPr>
          <p:cNvPr id="28" name="Text 23"/>
          <p:cNvSpPr/>
          <p:nvPr/>
        </p:nvSpPr>
        <p:spPr>
          <a:xfrm>
            <a:off x="11411712" y="6473952"/>
            <a:ext cx="457200" cy="274320"/>
          </a:xfrm>
          <a:prstGeom prst="rect">
            <a:avLst/>
          </a:prstGeom>
          <a:noFill/>
          <a:ln/>
        </p:spPr>
        <p:txBody>
          <a:bodyPr wrap="square" rtlCol="0" anchor="ctr"/>
          <a:lstStyle/>
          <a:p>
            <a:pPr algn="r" indent="0" marL="0">
              <a:buNone/>
            </a:pPr>
            <a:r>
              <a:rPr lang="en-US" sz="900" dirty="0">
                <a:solidFill>
                  <a:srgbClr val="5A6B80"/>
                </a:solidFill>
                <a:latin typeface="Calibri" pitchFamily="34" charset="0"/>
                <a:ea typeface="Calibri" pitchFamily="34" charset="-122"/>
                <a:cs typeface="Calibri" pitchFamily="34" charset="-120"/>
              </a:rPr>
              <a:t>05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lIns="0" tIns="0" rIns="0" bIns="0" rtlCol="0" anchor="ctr"/>
          <a:lstStyle/>
          <a:p>
            <a:pPr indent="0" marL="0">
              <a:buNone/>
            </a:pPr>
            <a:r>
              <a:rPr lang="en-US" sz="1050" b="1" spc="240" kern="0" dirty="0">
                <a:solidFill>
                  <a:srgbClr val="2160A6"/>
                </a:solidFill>
                <a:latin typeface="Calibri" pitchFamily="34" charset="0"/>
                <a:ea typeface="Calibri" pitchFamily="34" charset="-122"/>
                <a:cs typeface="Calibri" pitchFamily="34" charset="-120"/>
              </a:rPr>
              <a:t>CHƯƠNG 2 · PHƯƠNG PHÁP THỰC HIỆN</a:t>
            </a:r>
            <a:endParaRPr lang="en-US" sz="1050" dirty="0"/>
          </a:p>
        </p:txBody>
      </p:sp>
      <p:sp>
        <p:nvSpPr>
          <p:cNvPr id="3" name="Text 1"/>
          <p:cNvSpPr/>
          <p:nvPr/>
        </p:nvSpPr>
        <p:spPr>
          <a:xfrm>
            <a:off x="548640" y="566928"/>
            <a:ext cx="11064240" cy="566928"/>
          </a:xfrm>
          <a:prstGeom prst="rect">
            <a:avLst/>
          </a:prstGeom>
          <a:noFill/>
          <a:ln/>
        </p:spPr>
        <p:txBody>
          <a:bodyPr wrap="square" lIns="0" tIns="0" rIns="0" bIns="0" rtlCol="0" anchor="ctr"/>
          <a:lstStyle/>
          <a:p>
            <a:pPr indent="0" marL="0">
              <a:buNone/>
            </a:pPr>
            <a:r>
              <a:rPr lang="en-US" sz="2900" b="1" dirty="0">
                <a:solidFill>
                  <a:srgbClr val="0A2E5C"/>
                </a:solidFill>
                <a:latin typeface="Cambria" pitchFamily="34" charset="0"/>
                <a:ea typeface="Cambria" pitchFamily="34" charset="-122"/>
                <a:cs typeface="Cambria" pitchFamily="34" charset="-120"/>
              </a:rPr>
              <a:t>Thu thập dữ liệu dựa trên bằng chứng &amp; phỏng vấn</a:t>
            </a:r>
            <a:endParaRPr lang="en-US" sz="2900" dirty="0"/>
          </a:p>
        </p:txBody>
      </p:sp>
      <p:sp>
        <p:nvSpPr>
          <p:cNvPr id="4" name="Shape 2"/>
          <p:cNvSpPr/>
          <p:nvPr/>
        </p:nvSpPr>
        <p:spPr>
          <a:xfrm>
            <a:off x="566928" y="1371600"/>
            <a:ext cx="5440680" cy="4800600"/>
          </a:xfrm>
          <a:prstGeom prst="roundRect">
            <a:avLst>
              <a:gd name="adj" fmla="val 1714"/>
            </a:avLst>
          </a:prstGeom>
          <a:solidFill>
            <a:srgbClr val="F4F8FC"/>
          </a:solidFill>
          <a:ln w="12700">
            <a:solidFill>
              <a:srgbClr val="D3DFEE"/>
            </a:solidFill>
            <a:prstDash val="solid"/>
          </a:ln>
          <a:effectLst>
            <a:outerShdw sx="100000" sy="100000" kx="0" ky="0" algn="bl" rotWithShape="0" blurRad="88900" dist="25400" dir="5400000">
              <a:srgbClr val="0A2E5C">
                <a:alpha val="14000"/>
              </a:srgbClr>
            </a:outerShdw>
          </a:effectLst>
        </p:spPr>
      </p:sp>
      <p:sp>
        <p:nvSpPr>
          <p:cNvPr id="5" name="Shape 3"/>
          <p:cNvSpPr/>
          <p:nvPr/>
        </p:nvSpPr>
        <p:spPr>
          <a:xfrm>
            <a:off x="868680" y="1645920"/>
            <a:ext cx="603504" cy="603504"/>
          </a:xfrm>
          <a:prstGeom prst="ellipse">
            <a:avLst/>
          </a:prstGeom>
          <a:solidFill>
            <a:srgbClr val="0A2E5C"/>
          </a:solidFill>
          <a:ln/>
        </p:spPr>
      </p:sp>
      <p:pic>
        <p:nvPicPr>
          <p:cNvPr id="6" name="Image 0" descr="icons/file_white.png">    </p:cNvPr>
          <p:cNvPicPr>
            <a:picLocks noChangeAspect="1"/>
          </p:cNvPicPr>
          <p:nvPr/>
        </p:nvPicPr>
        <p:blipFill>
          <a:blip r:embed="rId1"/>
          <a:stretch>
            <a:fillRect/>
          </a:stretch>
        </p:blipFill>
        <p:spPr>
          <a:xfrm>
            <a:off x="1031626" y="1808866"/>
            <a:ext cx="277612" cy="277612"/>
          </a:xfrm>
          <a:prstGeom prst="rect">
            <a:avLst/>
          </a:prstGeom>
        </p:spPr>
      </p:pic>
      <p:sp>
        <p:nvSpPr>
          <p:cNvPr id="7" name="Text 4"/>
          <p:cNvSpPr/>
          <p:nvPr/>
        </p:nvSpPr>
        <p:spPr>
          <a:xfrm>
            <a:off x="1627632" y="1700784"/>
            <a:ext cx="4114800" cy="365760"/>
          </a:xfrm>
          <a:prstGeom prst="rect">
            <a:avLst/>
          </a:prstGeom>
          <a:noFill/>
          <a:ln/>
        </p:spPr>
        <p:txBody>
          <a:bodyPr wrap="square" lIns="0" tIns="0" rIns="0" bIns="0" rtlCol="0" anchor="ctr"/>
          <a:lstStyle/>
          <a:p>
            <a:pPr indent="0" marL="0">
              <a:buNone/>
            </a:pPr>
            <a:r>
              <a:rPr lang="en-US" sz="1700" b="1" dirty="0">
                <a:solidFill>
                  <a:srgbClr val="0A2E5C"/>
                </a:solidFill>
                <a:latin typeface="Cambria" pitchFamily="34" charset="0"/>
                <a:ea typeface="Cambria" pitchFamily="34" charset="-122"/>
                <a:cs typeface="Cambria" pitchFamily="34" charset="-120"/>
              </a:rPr>
              <a:t>Bằng chứng tài liệu</a:t>
            </a:r>
            <a:endParaRPr lang="en-US" sz="1700" dirty="0"/>
          </a:p>
        </p:txBody>
      </p:sp>
      <p:sp>
        <p:nvSpPr>
          <p:cNvPr id="8" name="Text 5"/>
          <p:cNvSpPr/>
          <p:nvPr/>
        </p:nvSpPr>
        <p:spPr>
          <a:xfrm>
            <a:off x="896112" y="2395728"/>
            <a:ext cx="4846320" cy="3566160"/>
          </a:xfrm>
          <a:prstGeom prst="rect">
            <a:avLst/>
          </a:prstGeom>
          <a:noFill/>
          <a:ln/>
        </p:spPr>
        <p:txBody>
          <a:bodyPr wrap="square" lIns="0" tIns="0" rIns="0" bIns="0" rtlCol="0" anchor="t"/>
          <a:lstStyle/>
          <a:p>
            <a:pPr marL="342900" indent="-342900">
              <a:lnSpc>
                <a:spcPct val="112000"/>
              </a:lnSpc>
              <a:spcAft>
                <a:spcPts val="1200"/>
              </a:spcAft>
              <a:buSzPct val="100000"/>
              <a:buChar char="•"/>
            </a:pPr>
            <a:r>
              <a:rPr lang="en-US" sz="1200" dirty="0">
                <a:solidFill>
                  <a:srgbClr val="16283E"/>
                </a:solidFill>
                <a:latin typeface="Calibri" pitchFamily="34" charset="0"/>
                <a:ea typeface="Calibri" pitchFamily="34" charset="-122"/>
                <a:cs typeface="Calibri" pitchFamily="34" charset="-120"/>
              </a:rPr>
              <a:t>Lưu đồ quy trình PYC thực tế + sơ đồ tổ chức Khối IT → xác định các Làn trách nhiệm (Đơn vị yêu cầu / Đơn vị xử lý).</a:t>
            </a:r>
            <a:endParaRPr lang="en-US" sz="1200" dirty="0"/>
          </a:p>
          <a:p>
            <a:pPr marL="342900" indent="-342900">
              <a:lnSpc>
                <a:spcPct val="112000"/>
              </a:lnSpc>
              <a:spcAft>
                <a:spcPts val="1200"/>
              </a:spcAft>
              <a:buSzPct val="100000"/>
              <a:buChar char="•"/>
            </a:pPr>
            <a:r>
              <a:rPr lang="en-US" sz="1200" dirty="0">
                <a:solidFill>
                  <a:srgbClr val="16283E"/>
                </a:solidFill>
                <a:latin typeface="Calibri" pitchFamily="34" charset="0"/>
                <a:ea typeface="Calibri" pitchFamily="34" charset="-122"/>
                <a:cs typeface="Calibri" pitchFamily="34" charset="-120"/>
              </a:rPr>
              <a:t>Kế hoạch làm việc theo giai đoạn và bảng thuật ngữ thống nhất: PYC, SLA, Lead Time, VA/NVA/VBA, Gateway, Lane…</a:t>
            </a:r>
            <a:endParaRPr lang="en-US" sz="1200" dirty="0"/>
          </a:p>
          <a:p>
            <a:pPr marL="342900" indent="-342900">
              <a:lnSpc>
                <a:spcPct val="112000"/>
              </a:lnSpc>
              <a:spcAft>
                <a:spcPts val="1200"/>
              </a:spcAft>
              <a:buSzPct val="100000"/>
              <a:buChar char="•"/>
            </a:pPr>
            <a:r>
              <a:rPr lang="en-US" sz="1200" dirty="0">
                <a:solidFill>
                  <a:srgbClr val="16283E"/>
                </a:solidFill>
                <a:latin typeface="Calibri" pitchFamily="34" charset="0"/>
                <a:ea typeface="Calibri" pitchFamily="34" charset="-122"/>
                <a:cs typeface="Calibri" pitchFamily="34" charset="-120"/>
              </a:rPr>
              <a:t>Bộ biểu mẫu: Phiếu PYC trên Cổng dịch vụ, Hướng dẫn xử lý yêu cầu CNTT, Quy định an toàn bảo mật tài sản CNTT, Quy trình Phát triển phần mềm (nhánh bug).</a:t>
            </a:r>
            <a:endParaRPr lang="en-US" sz="1200" dirty="0"/>
          </a:p>
        </p:txBody>
      </p:sp>
      <p:sp>
        <p:nvSpPr>
          <p:cNvPr id="9" name="Shape 6"/>
          <p:cNvSpPr/>
          <p:nvPr/>
        </p:nvSpPr>
        <p:spPr>
          <a:xfrm>
            <a:off x="6199632" y="1371600"/>
            <a:ext cx="5440680" cy="4800600"/>
          </a:xfrm>
          <a:prstGeom prst="roundRect">
            <a:avLst>
              <a:gd name="adj" fmla="val 1714"/>
            </a:avLst>
          </a:prstGeom>
          <a:solidFill>
            <a:srgbClr val="FFFFFF"/>
          </a:solidFill>
          <a:ln w="12700">
            <a:solidFill>
              <a:srgbClr val="D3DFEE"/>
            </a:solidFill>
            <a:prstDash val="solid"/>
          </a:ln>
          <a:effectLst>
            <a:outerShdw sx="100000" sy="100000" kx="0" ky="0" algn="bl" rotWithShape="0" blurRad="88900" dist="25400" dir="5400000">
              <a:srgbClr val="0A2E5C">
                <a:alpha val="14000"/>
              </a:srgbClr>
            </a:outerShdw>
          </a:effectLst>
        </p:spPr>
      </p:sp>
      <p:sp>
        <p:nvSpPr>
          <p:cNvPr id="10" name="Shape 7"/>
          <p:cNvSpPr/>
          <p:nvPr/>
        </p:nvSpPr>
        <p:spPr>
          <a:xfrm>
            <a:off x="6501384" y="1645920"/>
            <a:ext cx="603504" cy="603504"/>
          </a:xfrm>
          <a:prstGeom prst="ellipse">
            <a:avLst/>
          </a:prstGeom>
          <a:solidFill>
            <a:srgbClr val="F2A900"/>
          </a:solidFill>
          <a:ln/>
        </p:spPr>
      </p:sp>
      <p:pic>
        <p:nvPicPr>
          <p:cNvPr id="11" name="Image 1" descr="icons/comments_navy.png">    </p:cNvPr>
          <p:cNvPicPr>
            <a:picLocks noChangeAspect="1"/>
          </p:cNvPicPr>
          <p:nvPr/>
        </p:nvPicPr>
        <p:blipFill>
          <a:blip r:embed="rId2"/>
          <a:stretch>
            <a:fillRect/>
          </a:stretch>
        </p:blipFill>
        <p:spPr>
          <a:xfrm>
            <a:off x="6664330" y="1808866"/>
            <a:ext cx="277612" cy="277612"/>
          </a:xfrm>
          <a:prstGeom prst="rect">
            <a:avLst/>
          </a:prstGeom>
        </p:spPr>
      </p:pic>
      <p:sp>
        <p:nvSpPr>
          <p:cNvPr id="12" name="Text 8"/>
          <p:cNvSpPr/>
          <p:nvPr/>
        </p:nvSpPr>
        <p:spPr>
          <a:xfrm>
            <a:off x="7260336" y="1700784"/>
            <a:ext cx="4297680" cy="365760"/>
          </a:xfrm>
          <a:prstGeom prst="rect">
            <a:avLst/>
          </a:prstGeom>
          <a:noFill/>
          <a:ln/>
        </p:spPr>
        <p:txBody>
          <a:bodyPr wrap="square" lIns="0" tIns="0" rIns="0" bIns="0" rtlCol="0" anchor="ctr"/>
          <a:lstStyle/>
          <a:p>
            <a:pPr indent="0" marL="0">
              <a:buNone/>
            </a:pPr>
            <a:r>
              <a:rPr lang="en-US" sz="1700" b="1" dirty="0">
                <a:solidFill>
                  <a:srgbClr val="0A2E5C"/>
                </a:solidFill>
                <a:latin typeface="Cambria" pitchFamily="34" charset="0"/>
                <a:ea typeface="Cambria" pitchFamily="34" charset="-122"/>
                <a:cs typeface="Cambria" pitchFamily="34" charset="-120"/>
              </a:rPr>
              <a:t>Phỏng vấn 4 vai trò × 20 câu hỏi</a:t>
            </a:r>
            <a:endParaRPr lang="en-US" sz="1700" dirty="0"/>
          </a:p>
        </p:txBody>
      </p:sp>
      <p:sp>
        <p:nvSpPr>
          <p:cNvPr id="13" name="Shape 9"/>
          <p:cNvSpPr/>
          <p:nvPr/>
        </p:nvSpPr>
        <p:spPr>
          <a:xfrm>
            <a:off x="6446520" y="2395728"/>
            <a:ext cx="457200" cy="457200"/>
          </a:xfrm>
          <a:prstGeom prst="ellipse">
            <a:avLst/>
          </a:prstGeom>
          <a:solidFill>
            <a:srgbClr val="E8F0FA"/>
          </a:solidFill>
          <a:ln/>
        </p:spPr>
      </p:sp>
      <p:pic>
        <p:nvPicPr>
          <p:cNvPr id="14" name="Image 2" descr="icons/user_navy.png">    </p:cNvPr>
          <p:cNvPicPr>
            <a:picLocks noChangeAspect="1"/>
          </p:cNvPicPr>
          <p:nvPr/>
        </p:nvPicPr>
        <p:blipFill>
          <a:blip r:embed="rId3"/>
          <a:stretch>
            <a:fillRect/>
          </a:stretch>
        </p:blipFill>
        <p:spPr>
          <a:xfrm>
            <a:off x="6565392" y="2514600"/>
            <a:ext cx="219456" cy="219456"/>
          </a:xfrm>
          <a:prstGeom prst="rect">
            <a:avLst/>
          </a:prstGeom>
        </p:spPr>
      </p:pic>
      <p:sp>
        <p:nvSpPr>
          <p:cNvPr id="15" name="Text 10"/>
          <p:cNvSpPr/>
          <p:nvPr/>
        </p:nvSpPr>
        <p:spPr>
          <a:xfrm>
            <a:off x="7013448" y="2350008"/>
            <a:ext cx="2011680" cy="274320"/>
          </a:xfrm>
          <a:prstGeom prst="rect">
            <a:avLst/>
          </a:prstGeom>
          <a:noFill/>
          <a:ln/>
        </p:spPr>
        <p:txBody>
          <a:bodyPr wrap="square" lIns="0" tIns="0" rIns="0" bIns="0" rtlCol="0" anchor="ctr"/>
          <a:lstStyle/>
          <a:p>
            <a:pPr indent="0" marL="0">
              <a:buNone/>
            </a:pPr>
            <a:r>
              <a:rPr lang="en-US" sz="1150" b="1" dirty="0">
                <a:solidFill>
                  <a:srgbClr val="16283E"/>
                </a:solidFill>
                <a:latin typeface="Calibri" pitchFamily="34" charset="0"/>
                <a:ea typeface="Calibri" pitchFamily="34" charset="-122"/>
                <a:cs typeface="Calibri" pitchFamily="34" charset="-120"/>
              </a:rPr>
              <a:t>Người dùng (End-user)</a:t>
            </a:r>
            <a:endParaRPr lang="en-US" sz="1150" dirty="0"/>
          </a:p>
        </p:txBody>
      </p:sp>
      <p:sp>
        <p:nvSpPr>
          <p:cNvPr id="16" name="Text 11"/>
          <p:cNvSpPr/>
          <p:nvPr/>
        </p:nvSpPr>
        <p:spPr>
          <a:xfrm>
            <a:off x="7013448" y="2624328"/>
            <a:ext cx="2011680" cy="457200"/>
          </a:xfrm>
          <a:prstGeom prst="rect">
            <a:avLst/>
          </a:prstGeom>
          <a:noFill/>
          <a:ln/>
        </p:spPr>
        <p:txBody>
          <a:bodyPr wrap="square" lIns="0" tIns="0" rIns="0" bIns="0" rtlCol="0" anchor="ctr"/>
          <a:lstStyle/>
          <a:p>
            <a:pPr indent="0" marL="0">
              <a:lnSpc>
                <a:spcPct val="100000"/>
              </a:lnSpc>
              <a:buNone/>
            </a:pPr>
            <a:r>
              <a:rPr lang="en-US" sz="950" dirty="0">
                <a:solidFill>
                  <a:srgbClr val="5A6B80"/>
                </a:solidFill>
                <a:latin typeface="Calibri" pitchFamily="34" charset="0"/>
                <a:ea typeface="Calibri" pitchFamily="34" charset="-122"/>
                <a:cs typeface="Calibri" pitchFamily="34" charset="-120"/>
              </a:rPr>
              <a:t>trực tiếp khởi tạo PYC</a:t>
            </a:r>
            <a:endParaRPr lang="en-US" sz="950" dirty="0"/>
          </a:p>
        </p:txBody>
      </p:sp>
      <p:sp>
        <p:nvSpPr>
          <p:cNvPr id="17" name="Shape 12"/>
          <p:cNvSpPr/>
          <p:nvPr/>
        </p:nvSpPr>
        <p:spPr>
          <a:xfrm>
            <a:off x="9052560" y="2395728"/>
            <a:ext cx="457200" cy="457200"/>
          </a:xfrm>
          <a:prstGeom prst="ellipse">
            <a:avLst/>
          </a:prstGeom>
          <a:solidFill>
            <a:srgbClr val="E8F0FA"/>
          </a:solidFill>
          <a:ln/>
        </p:spPr>
      </p:sp>
      <p:pic>
        <p:nvPicPr>
          <p:cNvPr id="18" name="Image 3" descr="icons/usertie_navy.png">    </p:cNvPr>
          <p:cNvPicPr>
            <a:picLocks noChangeAspect="1"/>
          </p:cNvPicPr>
          <p:nvPr/>
        </p:nvPicPr>
        <p:blipFill>
          <a:blip r:embed="rId4"/>
          <a:stretch>
            <a:fillRect/>
          </a:stretch>
        </p:blipFill>
        <p:spPr>
          <a:xfrm>
            <a:off x="9171432" y="2514600"/>
            <a:ext cx="219456" cy="219456"/>
          </a:xfrm>
          <a:prstGeom prst="rect">
            <a:avLst/>
          </a:prstGeom>
        </p:spPr>
      </p:pic>
      <p:sp>
        <p:nvSpPr>
          <p:cNvPr id="19" name="Text 13"/>
          <p:cNvSpPr/>
          <p:nvPr/>
        </p:nvSpPr>
        <p:spPr>
          <a:xfrm>
            <a:off x="9619488" y="2350008"/>
            <a:ext cx="2011680" cy="274320"/>
          </a:xfrm>
          <a:prstGeom prst="rect">
            <a:avLst/>
          </a:prstGeom>
          <a:noFill/>
          <a:ln/>
        </p:spPr>
        <p:txBody>
          <a:bodyPr wrap="square" lIns="0" tIns="0" rIns="0" bIns="0" rtlCol="0" anchor="ctr"/>
          <a:lstStyle/>
          <a:p>
            <a:pPr indent="0" marL="0">
              <a:buNone/>
            </a:pPr>
            <a:r>
              <a:rPr lang="en-US" sz="1150" b="1" dirty="0">
                <a:solidFill>
                  <a:srgbClr val="16283E"/>
                </a:solidFill>
                <a:latin typeface="Calibri" pitchFamily="34" charset="0"/>
                <a:ea typeface="Calibri" pitchFamily="34" charset="-122"/>
                <a:cs typeface="Calibri" pitchFamily="34" charset="-120"/>
              </a:rPr>
              <a:t>Quản lý trực tiếp</a:t>
            </a:r>
            <a:endParaRPr lang="en-US" sz="1150" dirty="0"/>
          </a:p>
        </p:txBody>
      </p:sp>
      <p:sp>
        <p:nvSpPr>
          <p:cNvPr id="20" name="Text 14"/>
          <p:cNvSpPr/>
          <p:nvPr/>
        </p:nvSpPr>
        <p:spPr>
          <a:xfrm>
            <a:off x="9619488" y="2624328"/>
            <a:ext cx="2011680" cy="457200"/>
          </a:xfrm>
          <a:prstGeom prst="rect">
            <a:avLst/>
          </a:prstGeom>
          <a:noFill/>
          <a:ln/>
        </p:spPr>
        <p:txBody>
          <a:bodyPr wrap="square" lIns="0" tIns="0" rIns="0" bIns="0" rtlCol="0" anchor="ctr"/>
          <a:lstStyle/>
          <a:p>
            <a:pPr indent="0" marL="0">
              <a:lnSpc>
                <a:spcPct val="100000"/>
              </a:lnSpc>
              <a:buNone/>
            </a:pPr>
            <a:r>
              <a:rPr lang="en-US" sz="950" dirty="0">
                <a:solidFill>
                  <a:srgbClr val="5A6B80"/>
                </a:solidFill>
                <a:latin typeface="Calibri" pitchFamily="34" charset="0"/>
                <a:ea typeface="Calibri" pitchFamily="34" charset="-122"/>
                <a:cs typeface="Calibri" pitchFamily="34" charset="-120"/>
              </a:rPr>
              <a:t>thực hiện bước phê duyệt</a:t>
            </a:r>
            <a:endParaRPr lang="en-US" sz="950" dirty="0"/>
          </a:p>
        </p:txBody>
      </p:sp>
      <p:sp>
        <p:nvSpPr>
          <p:cNvPr id="21" name="Shape 15"/>
          <p:cNvSpPr/>
          <p:nvPr/>
        </p:nvSpPr>
        <p:spPr>
          <a:xfrm>
            <a:off x="6446520" y="3566160"/>
            <a:ext cx="457200" cy="457200"/>
          </a:xfrm>
          <a:prstGeom prst="ellipse">
            <a:avLst/>
          </a:prstGeom>
          <a:solidFill>
            <a:srgbClr val="E8F0FA"/>
          </a:solidFill>
          <a:ln/>
        </p:spPr>
      </p:sp>
      <p:pic>
        <p:nvPicPr>
          <p:cNvPr id="22" name="Image 4" descr="icons/headset_navy.png">    </p:cNvPr>
          <p:cNvPicPr>
            <a:picLocks noChangeAspect="1"/>
          </p:cNvPicPr>
          <p:nvPr/>
        </p:nvPicPr>
        <p:blipFill>
          <a:blip r:embed="rId5"/>
          <a:stretch>
            <a:fillRect/>
          </a:stretch>
        </p:blipFill>
        <p:spPr>
          <a:xfrm>
            <a:off x="6565392" y="3685032"/>
            <a:ext cx="219456" cy="219456"/>
          </a:xfrm>
          <a:prstGeom prst="rect">
            <a:avLst/>
          </a:prstGeom>
        </p:spPr>
      </p:pic>
      <p:sp>
        <p:nvSpPr>
          <p:cNvPr id="23" name="Text 16"/>
          <p:cNvSpPr/>
          <p:nvPr/>
        </p:nvSpPr>
        <p:spPr>
          <a:xfrm>
            <a:off x="7013448" y="3520440"/>
            <a:ext cx="2011680" cy="274320"/>
          </a:xfrm>
          <a:prstGeom prst="rect">
            <a:avLst/>
          </a:prstGeom>
          <a:noFill/>
          <a:ln/>
        </p:spPr>
        <p:txBody>
          <a:bodyPr wrap="square" lIns="0" tIns="0" rIns="0" bIns="0" rtlCol="0" anchor="ctr"/>
          <a:lstStyle/>
          <a:p>
            <a:pPr indent="0" marL="0">
              <a:buNone/>
            </a:pPr>
            <a:r>
              <a:rPr lang="en-US" sz="1150" b="1" dirty="0">
                <a:solidFill>
                  <a:srgbClr val="16283E"/>
                </a:solidFill>
                <a:latin typeface="Calibri" pitchFamily="34" charset="0"/>
                <a:ea typeface="Calibri" pitchFamily="34" charset="-122"/>
                <a:cs typeface="Calibri" pitchFamily="34" charset="-120"/>
              </a:rPr>
              <a:t>IT Helpdesk L1</a:t>
            </a:r>
            <a:endParaRPr lang="en-US" sz="1150" dirty="0"/>
          </a:p>
        </p:txBody>
      </p:sp>
      <p:sp>
        <p:nvSpPr>
          <p:cNvPr id="24" name="Text 17"/>
          <p:cNvSpPr/>
          <p:nvPr/>
        </p:nvSpPr>
        <p:spPr>
          <a:xfrm>
            <a:off x="7013448" y="3794760"/>
            <a:ext cx="2011680" cy="457200"/>
          </a:xfrm>
          <a:prstGeom prst="rect">
            <a:avLst/>
          </a:prstGeom>
          <a:noFill/>
          <a:ln/>
        </p:spPr>
        <p:txBody>
          <a:bodyPr wrap="square" lIns="0" tIns="0" rIns="0" bIns="0" rtlCol="0" anchor="ctr"/>
          <a:lstStyle/>
          <a:p>
            <a:pPr indent="0" marL="0">
              <a:lnSpc>
                <a:spcPct val="100000"/>
              </a:lnSpc>
              <a:buNone/>
            </a:pPr>
            <a:r>
              <a:rPr lang="en-US" sz="950" dirty="0">
                <a:solidFill>
                  <a:srgbClr val="5A6B80"/>
                </a:solidFill>
                <a:latin typeface="Calibri" pitchFamily="34" charset="0"/>
                <a:ea typeface="Calibri" pitchFamily="34" charset="-122"/>
                <a:cs typeface="Calibri" pitchFamily="34" charset="-120"/>
              </a:rPr>
              <a:t>tiếp nhận, phân loại, xử lý đầu</a:t>
            </a:r>
            <a:endParaRPr lang="en-US" sz="950" dirty="0"/>
          </a:p>
        </p:txBody>
      </p:sp>
      <p:sp>
        <p:nvSpPr>
          <p:cNvPr id="25" name="Shape 18"/>
          <p:cNvSpPr/>
          <p:nvPr/>
        </p:nvSpPr>
        <p:spPr>
          <a:xfrm>
            <a:off x="9052560" y="3566160"/>
            <a:ext cx="457200" cy="457200"/>
          </a:xfrm>
          <a:prstGeom prst="ellipse">
            <a:avLst/>
          </a:prstGeom>
          <a:solidFill>
            <a:srgbClr val="E8F0FA"/>
          </a:solidFill>
          <a:ln/>
        </p:spPr>
      </p:sp>
      <p:pic>
        <p:nvPicPr>
          <p:cNvPr id="26" name="Image 5" descr="icons/cogs_navy.png">    </p:cNvPr>
          <p:cNvPicPr>
            <a:picLocks noChangeAspect="1"/>
          </p:cNvPicPr>
          <p:nvPr/>
        </p:nvPicPr>
        <p:blipFill>
          <a:blip r:embed="rId6"/>
          <a:stretch>
            <a:fillRect/>
          </a:stretch>
        </p:blipFill>
        <p:spPr>
          <a:xfrm>
            <a:off x="9171432" y="3685032"/>
            <a:ext cx="219456" cy="219456"/>
          </a:xfrm>
          <a:prstGeom prst="rect">
            <a:avLst/>
          </a:prstGeom>
        </p:spPr>
      </p:pic>
      <p:sp>
        <p:nvSpPr>
          <p:cNvPr id="27" name="Text 19"/>
          <p:cNvSpPr/>
          <p:nvPr/>
        </p:nvSpPr>
        <p:spPr>
          <a:xfrm>
            <a:off x="9619488" y="3520440"/>
            <a:ext cx="2011680" cy="274320"/>
          </a:xfrm>
          <a:prstGeom prst="rect">
            <a:avLst/>
          </a:prstGeom>
          <a:noFill/>
          <a:ln/>
        </p:spPr>
        <p:txBody>
          <a:bodyPr wrap="square" lIns="0" tIns="0" rIns="0" bIns="0" rtlCol="0" anchor="ctr"/>
          <a:lstStyle/>
          <a:p>
            <a:pPr indent="0" marL="0">
              <a:buNone/>
            </a:pPr>
            <a:r>
              <a:rPr lang="en-US" sz="1150" b="1" dirty="0">
                <a:solidFill>
                  <a:srgbClr val="16283E"/>
                </a:solidFill>
                <a:latin typeface="Calibri" pitchFamily="34" charset="0"/>
                <a:ea typeface="Calibri" pitchFamily="34" charset="-122"/>
                <a:cs typeface="Calibri" pitchFamily="34" charset="-120"/>
              </a:rPr>
              <a:t>Chuyên viên IT L2</a:t>
            </a:r>
            <a:endParaRPr lang="en-US" sz="1150" dirty="0"/>
          </a:p>
        </p:txBody>
      </p:sp>
      <p:sp>
        <p:nvSpPr>
          <p:cNvPr id="28" name="Text 20"/>
          <p:cNvSpPr/>
          <p:nvPr/>
        </p:nvSpPr>
        <p:spPr>
          <a:xfrm>
            <a:off x="9619488" y="3794760"/>
            <a:ext cx="2011680" cy="457200"/>
          </a:xfrm>
          <a:prstGeom prst="rect">
            <a:avLst/>
          </a:prstGeom>
          <a:noFill/>
          <a:ln/>
        </p:spPr>
        <p:txBody>
          <a:bodyPr wrap="square" lIns="0" tIns="0" rIns="0" bIns="0" rtlCol="0" anchor="ctr"/>
          <a:lstStyle/>
          <a:p>
            <a:pPr indent="0" marL="0">
              <a:lnSpc>
                <a:spcPct val="100000"/>
              </a:lnSpc>
              <a:buNone/>
            </a:pPr>
            <a:r>
              <a:rPr lang="en-US" sz="950" dirty="0">
                <a:solidFill>
                  <a:srgbClr val="5A6B80"/>
                </a:solidFill>
                <a:latin typeface="Calibri" pitchFamily="34" charset="0"/>
                <a:ea typeface="Calibri" pitchFamily="34" charset="-122"/>
                <a:cs typeface="Calibri" pitchFamily="34" charset="-120"/>
              </a:rPr>
              <a:t>xử lý yêu cầu vượt phạm vi L1</a:t>
            </a:r>
            <a:endParaRPr lang="en-US" sz="950" dirty="0"/>
          </a:p>
        </p:txBody>
      </p:sp>
      <p:sp>
        <p:nvSpPr>
          <p:cNvPr id="29" name="Shape 21"/>
          <p:cNvSpPr/>
          <p:nvPr/>
        </p:nvSpPr>
        <p:spPr>
          <a:xfrm>
            <a:off x="6446520" y="4773168"/>
            <a:ext cx="4937760" cy="1170432"/>
          </a:xfrm>
          <a:prstGeom prst="roundRect">
            <a:avLst>
              <a:gd name="adj" fmla="val 7031"/>
            </a:avLst>
          </a:prstGeom>
          <a:solidFill>
            <a:srgbClr val="E8F0FA"/>
          </a:solidFill>
          <a:ln/>
        </p:spPr>
      </p:sp>
      <p:sp>
        <p:nvSpPr>
          <p:cNvPr id="30" name="Text 22"/>
          <p:cNvSpPr/>
          <p:nvPr/>
        </p:nvSpPr>
        <p:spPr>
          <a:xfrm>
            <a:off x="6675120" y="4864608"/>
            <a:ext cx="4526280" cy="1005840"/>
          </a:xfrm>
          <a:prstGeom prst="rect">
            <a:avLst/>
          </a:prstGeom>
          <a:noFill/>
          <a:ln/>
        </p:spPr>
        <p:txBody>
          <a:bodyPr wrap="square" lIns="0" tIns="0" rIns="0" bIns="0" rtlCol="0" anchor="ctr"/>
          <a:lstStyle/>
          <a:p>
            <a:pPr indent="0" marL="0">
              <a:lnSpc>
                <a:spcPct val="112000"/>
              </a:lnSpc>
              <a:buNone/>
            </a:pPr>
            <a:r>
              <a:rPr lang="en-US" sz="1100" b="1" dirty="0">
                <a:solidFill>
                  <a:srgbClr val="0A2E5C"/>
                </a:solidFill>
                <a:latin typeface="Calibri" pitchFamily="34" charset="0"/>
                <a:ea typeface="Calibri" pitchFamily="34" charset="-122"/>
                <a:cs typeface="Calibri" pitchFamily="34" charset="-120"/>
              </a:rPr>
              <a:t>10 câu định tính</a:t>
            </a:r>
            <a:pPr indent="0" marL="0">
              <a:lnSpc>
                <a:spcPct val="112000"/>
              </a:lnSpc>
              <a:buNone/>
            </a:pPr>
            <a:r>
              <a:rPr lang="en-US" sz="1100" dirty="0">
                <a:solidFill>
                  <a:srgbClr val="16283E"/>
                </a:solidFill>
                <a:latin typeface="Calibri" pitchFamily="34" charset="0"/>
                <a:ea typeface="Calibri" pitchFamily="34" charset="-122"/>
                <a:cs typeface="Calibri" pitchFamily="34" charset="-120"/>
              </a:rPr>
              <a:t> — trải nghiệm, điểm nghẽn, đề xuất cải tiến   ·   </a:t>
            </a:r>
            <a:pPr indent="0" marL="0">
              <a:lnSpc>
                <a:spcPct val="112000"/>
              </a:lnSpc>
              <a:buNone/>
            </a:pPr>
            <a:r>
              <a:rPr lang="en-US" sz="1100" b="1" dirty="0">
                <a:solidFill>
                  <a:srgbClr val="0A2E5C"/>
                </a:solidFill>
                <a:latin typeface="Calibri" pitchFamily="34" charset="0"/>
                <a:ea typeface="Calibri" pitchFamily="34" charset="-122"/>
                <a:cs typeface="Calibri" pitchFamily="34" charset="-120"/>
              </a:rPr>
              <a:t>10 câu định lượng</a:t>
            </a:r>
            <a:pPr indent="0" marL="0">
              <a:lnSpc>
                <a:spcPct val="112000"/>
              </a:lnSpc>
              <a:buNone/>
            </a:pPr>
            <a:r>
              <a:rPr lang="en-US" sz="1100" dirty="0">
                <a:solidFill>
                  <a:srgbClr val="16283E"/>
                </a:solidFill>
                <a:latin typeface="Calibri" pitchFamily="34" charset="0"/>
                <a:ea typeface="Calibri" pitchFamily="34" charset="-122"/>
                <a:cs typeface="Calibri" pitchFamily="34" charset="-120"/>
              </a:rPr>
              <a:t> — tần suất, thời gian duyệt, tỷ lệ trễ SLA, số bước ping-pong… (kết quả tổng hợp: Phụ lục A)</a:t>
            </a:r>
            <a:endParaRPr lang="en-US" sz="1100" dirty="0"/>
          </a:p>
        </p:txBody>
      </p:sp>
      <p:sp>
        <p:nvSpPr>
          <p:cNvPr id="31" name="Text 23"/>
          <p:cNvSpPr/>
          <p:nvPr/>
        </p:nvSpPr>
        <p:spPr>
          <a:xfrm>
            <a:off x="11411712" y="6473952"/>
            <a:ext cx="457200" cy="274320"/>
          </a:xfrm>
          <a:prstGeom prst="rect">
            <a:avLst/>
          </a:prstGeom>
          <a:noFill/>
          <a:ln/>
        </p:spPr>
        <p:txBody>
          <a:bodyPr wrap="square" rtlCol="0" anchor="ctr"/>
          <a:lstStyle/>
          <a:p>
            <a:pPr algn="r" indent="0" marL="0">
              <a:buNone/>
            </a:pPr>
            <a:r>
              <a:rPr lang="en-US" sz="900" dirty="0">
                <a:solidFill>
                  <a:srgbClr val="5A6B80"/>
                </a:solidFill>
                <a:latin typeface="Calibri" pitchFamily="34" charset="0"/>
                <a:ea typeface="Calibri" pitchFamily="34" charset="-122"/>
                <a:cs typeface="Calibri" pitchFamily="34" charset="-120"/>
              </a:rPr>
              <a:t>06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lIns="0" tIns="0" rIns="0" bIns="0" rtlCol="0" anchor="ctr"/>
          <a:lstStyle/>
          <a:p>
            <a:pPr indent="0" marL="0">
              <a:buNone/>
            </a:pPr>
            <a:r>
              <a:rPr lang="en-US" sz="1050" b="1" spc="240" kern="0" dirty="0">
                <a:solidFill>
                  <a:srgbClr val="2160A6"/>
                </a:solidFill>
                <a:latin typeface="Calibri" pitchFamily="34" charset="0"/>
                <a:ea typeface="Calibri" pitchFamily="34" charset="-122"/>
                <a:cs typeface="Calibri" pitchFamily="34" charset="-120"/>
              </a:rPr>
              <a:t>CHƯƠNG 3 · MÔ HÌNH HÓA HIỆN TRẠNG</a:t>
            </a:r>
            <a:endParaRPr lang="en-US" sz="1050" dirty="0"/>
          </a:p>
        </p:txBody>
      </p:sp>
      <p:sp>
        <p:nvSpPr>
          <p:cNvPr id="3" name="Text 1"/>
          <p:cNvSpPr/>
          <p:nvPr/>
        </p:nvSpPr>
        <p:spPr>
          <a:xfrm>
            <a:off x="548640" y="566928"/>
            <a:ext cx="11064240" cy="566928"/>
          </a:xfrm>
          <a:prstGeom prst="rect">
            <a:avLst/>
          </a:prstGeom>
          <a:noFill/>
          <a:ln/>
        </p:spPr>
        <p:txBody>
          <a:bodyPr wrap="square" lIns="0" tIns="0" rIns="0" bIns="0" rtlCol="0" anchor="ctr"/>
          <a:lstStyle/>
          <a:p>
            <a:pPr indent="0" marL="0">
              <a:buNone/>
            </a:pPr>
            <a:r>
              <a:rPr lang="en-US" sz="2900" b="1" dirty="0">
                <a:solidFill>
                  <a:srgbClr val="0A2E5C"/>
                </a:solidFill>
                <a:latin typeface="Cambria" pitchFamily="34" charset="0"/>
                <a:ea typeface="Cambria" pitchFamily="34" charset="-122"/>
                <a:cs typeface="Cambria" pitchFamily="34" charset="-120"/>
              </a:rPr>
              <a:t>Sơ đồ BPMN 2.0 quy trình PYC — AS-IS</a:t>
            </a:r>
            <a:endParaRPr lang="en-US" sz="2900" dirty="0"/>
          </a:p>
        </p:txBody>
      </p:sp>
      <p:sp>
        <p:nvSpPr>
          <p:cNvPr id="4" name="Shape 2"/>
          <p:cNvSpPr/>
          <p:nvPr/>
        </p:nvSpPr>
        <p:spPr>
          <a:xfrm>
            <a:off x="1243584" y="1225296"/>
            <a:ext cx="9701784" cy="5094253"/>
          </a:xfrm>
          <a:prstGeom prst="roundRect">
            <a:avLst>
              <a:gd name="adj" fmla="val 1615"/>
            </a:avLst>
          </a:prstGeom>
          <a:solidFill>
            <a:srgbClr val="FFFFFF"/>
          </a:solidFill>
          <a:ln w="12700">
            <a:solidFill>
              <a:srgbClr val="D3DFEE"/>
            </a:solidFill>
            <a:prstDash val="solid"/>
          </a:ln>
          <a:effectLst>
            <a:outerShdw sx="100000" sy="100000" kx="0" ky="0" algn="bl" rotWithShape="0" blurRad="88900" dist="25400" dir="5400000">
              <a:srgbClr val="0A2E5C">
                <a:alpha val="14000"/>
              </a:srgbClr>
            </a:outerShdw>
          </a:effectLst>
        </p:spPr>
      </p:sp>
      <p:pic>
        <p:nvPicPr>
          <p:cNvPr id="5" name="Image 0" descr="/home/claude/media/image5.png">    </p:cNvPr>
          <p:cNvPicPr>
            <a:picLocks noChangeAspect="1"/>
          </p:cNvPicPr>
          <p:nvPr/>
        </p:nvPicPr>
        <p:blipFill>
          <a:blip r:embed="rId1"/>
          <a:stretch>
            <a:fillRect/>
          </a:stretch>
        </p:blipFill>
        <p:spPr>
          <a:xfrm>
            <a:off x="1316736" y="1298448"/>
            <a:ext cx="9555480" cy="4947949"/>
          </a:xfrm>
          <a:prstGeom prst="rect">
            <a:avLst/>
          </a:prstGeom>
        </p:spPr>
      </p:pic>
      <p:sp>
        <p:nvSpPr>
          <p:cNvPr id="6" name="Text 3"/>
          <p:cNvSpPr/>
          <p:nvPr/>
        </p:nvSpPr>
        <p:spPr>
          <a:xfrm>
            <a:off x="1097280" y="6382512"/>
            <a:ext cx="9994392" cy="292608"/>
          </a:xfrm>
          <a:prstGeom prst="rect">
            <a:avLst/>
          </a:prstGeom>
          <a:noFill/>
          <a:ln/>
        </p:spPr>
        <p:txBody>
          <a:bodyPr wrap="square" lIns="0" tIns="0" rIns="0" bIns="0" rtlCol="0" anchor="ctr"/>
          <a:lstStyle/>
          <a:p>
            <a:pPr algn="ctr" indent="0" marL="0">
              <a:buNone/>
            </a:pPr>
            <a:r>
              <a:rPr lang="en-US" sz="1050" i="1" dirty="0">
                <a:solidFill>
                  <a:srgbClr val="5A6B80"/>
                </a:solidFill>
                <a:latin typeface="Calibri" pitchFamily="34" charset="0"/>
                <a:ea typeface="Calibri" pitchFamily="34" charset="-122"/>
                <a:cs typeface="Calibri" pitchFamily="34" charset="-120"/>
              </a:rPr>
              <a:t>Hình 3.2 — Quy trình PYC hiện trạng, chuẩn hóa từ lưu đồ thực tế của Sacombank bằng công cụ Camunda</a:t>
            </a:r>
            <a:endParaRPr lang="en-US" sz="1050" dirty="0"/>
          </a:p>
        </p:txBody>
      </p:sp>
      <p:sp>
        <p:nvSpPr>
          <p:cNvPr id="7" name="Text 4"/>
          <p:cNvSpPr/>
          <p:nvPr/>
        </p:nvSpPr>
        <p:spPr>
          <a:xfrm>
            <a:off x="11411712" y="6473952"/>
            <a:ext cx="457200" cy="274320"/>
          </a:xfrm>
          <a:prstGeom prst="rect">
            <a:avLst/>
          </a:prstGeom>
          <a:noFill/>
          <a:ln/>
        </p:spPr>
        <p:txBody>
          <a:bodyPr wrap="square" rtlCol="0" anchor="ctr"/>
          <a:lstStyle/>
          <a:p>
            <a:pPr algn="r" indent="0" marL="0">
              <a:buNone/>
            </a:pPr>
            <a:r>
              <a:rPr lang="en-US" sz="900" dirty="0">
                <a:solidFill>
                  <a:srgbClr val="5A6B80"/>
                </a:solidFill>
                <a:latin typeface="Calibri" pitchFamily="34" charset="0"/>
                <a:ea typeface="Calibri" pitchFamily="34" charset="-122"/>
                <a:cs typeface="Calibri" pitchFamily="34" charset="-120"/>
              </a:rPr>
              <a:t>07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lIns="0" tIns="0" rIns="0" bIns="0" rtlCol="0" anchor="ctr"/>
          <a:lstStyle/>
          <a:p>
            <a:pPr indent="0" marL="0">
              <a:buNone/>
            </a:pPr>
            <a:r>
              <a:rPr lang="en-US" sz="1050" b="1" spc="240" kern="0" dirty="0">
                <a:solidFill>
                  <a:srgbClr val="2160A6"/>
                </a:solidFill>
                <a:latin typeface="Calibri" pitchFamily="34" charset="0"/>
                <a:ea typeface="Calibri" pitchFamily="34" charset="-122"/>
                <a:cs typeface="Calibri" pitchFamily="34" charset="-120"/>
              </a:rPr>
              <a:t>CHƯƠNG 3 · MÔ HÌNH HÓA HIỆN TRẠNG</a:t>
            </a:r>
            <a:endParaRPr lang="en-US" sz="1050" dirty="0"/>
          </a:p>
        </p:txBody>
      </p:sp>
      <p:sp>
        <p:nvSpPr>
          <p:cNvPr id="3" name="Text 1"/>
          <p:cNvSpPr/>
          <p:nvPr/>
        </p:nvSpPr>
        <p:spPr>
          <a:xfrm>
            <a:off x="548640" y="566928"/>
            <a:ext cx="11064240" cy="566928"/>
          </a:xfrm>
          <a:prstGeom prst="rect">
            <a:avLst/>
          </a:prstGeom>
          <a:noFill/>
          <a:ln/>
        </p:spPr>
        <p:txBody>
          <a:bodyPr wrap="square" lIns="0" tIns="0" rIns="0" bIns="0" rtlCol="0" anchor="ctr"/>
          <a:lstStyle/>
          <a:p>
            <a:pPr indent="0" marL="0">
              <a:buNone/>
            </a:pPr>
            <a:r>
              <a:rPr lang="en-US" sz="2900" b="1" dirty="0">
                <a:solidFill>
                  <a:srgbClr val="0A2E5C"/>
                </a:solidFill>
                <a:latin typeface="Cambria" pitchFamily="34" charset="0"/>
                <a:ea typeface="Cambria" pitchFamily="34" charset="-122"/>
                <a:cs typeface="Cambria" pitchFamily="34" charset="-120"/>
              </a:rPr>
              <a:t>Bốn làn trách nhiệm của mô hình AS-IS</a:t>
            </a:r>
            <a:endParaRPr lang="en-US" sz="2900" dirty="0"/>
          </a:p>
        </p:txBody>
      </p:sp>
      <p:sp>
        <p:nvSpPr>
          <p:cNvPr id="4" name="Shape 2"/>
          <p:cNvSpPr/>
          <p:nvPr/>
        </p:nvSpPr>
        <p:spPr>
          <a:xfrm>
            <a:off x="566928" y="1371600"/>
            <a:ext cx="5413248" cy="1901952"/>
          </a:xfrm>
          <a:prstGeom prst="roundRect">
            <a:avLst>
              <a:gd name="adj" fmla="val 4327"/>
            </a:avLst>
          </a:prstGeom>
          <a:solidFill>
            <a:srgbClr val="F4F8FC"/>
          </a:solidFill>
          <a:ln w="12700">
            <a:solidFill>
              <a:srgbClr val="D3DFEE"/>
            </a:solidFill>
            <a:prstDash val="solid"/>
          </a:ln>
          <a:effectLst>
            <a:outerShdw sx="100000" sy="100000" kx="0" ky="0" algn="bl" rotWithShape="0" blurRad="88900" dist="25400" dir="5400000">
              <a:srgbClr val="0A2E5C">
                <a:alpha val="14000"/>
              </a:srgbClr>
            </a:outerShdw>
          </a:effectLst>
        </p:spPr>
      </p:sp>
      <p:sp>
        <p:nvSpPr>
          <p:cNvPr id="5" name="Shape 3"/>
          <p:cNvSpPr/>
          <p:nvPr/>
        </p:nvSpPr>
        <p:spPr>
          <a:xfrm>
            <a:off x="804672" y="1591056"/>
            <a:ext cx="512064" cy="512064"/>
          </a:xfrm>
          <a:prstGeom prst="ellipse">
            <a:avLst/>
          </a:prstGeom>
          <a:solidFill>
            <a:srgbClr val="0A2E5C"/>
          </a:solidFill>
          <a:ln/>
        </p:spPr>
      </p:sp>
      <p:pic>
        <p:nvPicPr>
          <p:cNvPr id="6" name="Image 0" descr="icons/user_white.png">    </p:cNvPr>
          <p:cNvPicPr>
            <a:picLocks noChangeAspect="1"/>
          </p:cNvPicPr>
          <p:nvPr/>
        </p:nvPicPr>
        <p:blipFill>
          <a:blip r:embed="rId1"/>
          <a:stretch>
            <a:fillRect/>
          </a:stretch>
        </p:blipFill>
        <p:spPr>
          <a:xfrm>
            <a:off x="942929" y="1729313"/>
            <a:ext cx="235549" cy="235549"/>
          </a:xfrm>
          <a:prstGeom prst="rect">
            <a:avLst/>
          </a:prstGeom>
        </p:spPr>
      </p:pic>
      <p:sp>
        <p:nvSpPr>
          <p:cNvPr id="7" name="Text 4"/>
          <p:cNvSpPr/>
          <p:nvPr/>
        </p:nvSpPr>
        <p:spPr>
          <a:xfrm>
            <a:off x="1463040" y="1645920"/>
            <a:ext cx="4389120" cy="411480"/>
          </a:xfrm>
          <a:prstGeom prst="rect">
            <a:avLst/>
          </a:prstGeom>
          <a:noFill/>
          <a:ln/>
        </p:spPr>
        <p:txBody>
          <a:bodyPr wrap="square" lIns="0" tIns="0" rIns="0" bIns="0" rtlCol="0" anchor="ctr"/>
          <a:lstStyle/>
          <a:p>
            <a:pPr indent="0" marL="0">
              <a:buNone/>
            </a:pPr>
            <a:r>
              <a:rPr lang="en-US" sz="1250" b="1" dirty="0">
                <a:solidFill>
                  <a:srgbClr val="0A2E5C"/>
                </a:solidFill>
                <a:latin typeface="Calibri" pitchFamily="34" charset="0"/>
                <a:ea typeface="Calibri" pitchFamily="34" charset="-122"/>
                <a:cs typeface="Calibri" pitchFamily="34" charset="-120"/>
              </a:rPr>
              <a:t>LÀN 1 · NGƯỜI DÙNG (END-USER)</a:t>
            </a:r>
            <a:endParaRPr lang="en-US" sz="1250" dirty="0"/>
          </a:p>
        </p:txBody>
      </p:sp>
      <p:sp>
        <p:nvSpPr>
          <p:cNvPr id="8" name="Text 5"/>
          <p:cNvSpPr/>
          <p:nvPr/>
        </p:nvSpPr>
        <p:spPr>
          <a:xfrm>
            <a:off x="841248" y="2212848"/>
            <a:ext cx="4892040" cy="960120"/>
          </a:xfrm>
          <a:prstGeom prst="rect">
            <a:avLst/>
          </a:prstGeom>
          <a:noFill/>
          <a:ln/>
        </p:spPr>
        <p:txBody>
          <a:bodyPr wrap="square" lIns="0" tIns="0" rIns="0" bIns="0" rtlCol="0" anchor="ctr"/>
          <a:lstStyle/>
          <a:p>
            <a:pPr indent="0" marL="0">
              <a:lnSpc>
                <a:spcPct val="110000"/>
              </a:lnSpc>
              <a:buNone/>
            </a:pPr>
            <a:r>
              <a:rPr lang="en-US" sz="1100" dirty="0">
                <a:solidFill>
                  <a:srgbClr val="16283E"/>
                </a:solidFill>
                <a:latin typeface="Calibri" pitchFamily="34" charset="0"/>
                <a:ea typeface="Calibri" pitchFamily="34" charset="-122"/>
                <a:cs typeface="Calibri" pitchFamily="34" charset="-120"/>
              </a:rPr>
              <a:t>Tạo &amp; gửi PYC; bổ sung thông tin khi bị trả về (vòng lặp rework); kiểm tra và xác nhận kết quả trước khi đóng phiếu.</a:t>
            </a:r>
            <a:endParaRPr lang="en-US" sz="1100" dirty="0"/>
          </a:p>
        </p:txBody>
      </p:sp>
      <p:sp>
        <p:nvSpPr>
          <p:cNvPr id="9" name="Shape 6"/>
          <p:cNvSpPr/>
          <p:nvPr/>
        </p:nvSpPr>
        <p:spPr>
          <a:xfrm>
            <a:off x="6199632" y="1371600"/>
            <a:ext cx="5413248" cy="1901952"/>
          </a:xfrm>
          <a:prstGeom prst="roundRect">
            <a:avLst>
              <a:gd name="adj" fmla="val 4327"/>
            </a:avLst>
          </a:prstGeom>
          <a:solidFill>
            <a:srgbClr val="FFFFFF"/>
          </a:solidFill>
          <a:ln w="12700">
            <a:solidFill>
              <a:srgbClr val="D3DFEE"/>
            </a:solidFill>
            <a:prstDash val="solid"/>
          </a:ln>
          <a:effectLst>
            <a:outerShdw sx="100000" sy="100000" kx="0" ky="0" algn="bl" rotWithShape="0" blurRad="88900" dist="25400" dir="5400000">
              <a:srgbClr val="0A2E5C">
                <a:alpha val="14000"/>
              </a:srgbClr>
            </a:outerShdw>
          </a:effectLst>
        </p:spPr>
      </p:sp>
      <p:sp>
        <p:nvSpPr>
          <p:cNvPr id="10" name="Shape 7"/>
          <p:cNvSpPr/>
          <p:nvPr/>
        </p:nvSpPr>
        <p:spPr>
          <a:xfrm>
            <a:off x="6437376" y="1591056"/>
            <a:ext cx="512064" cy="512064"/>
          </a:xfrm>
          <a:prstGeom prst="ellipse">
            <a:avLst/>
          </a:prstGeom>
          <a:solidFill>
            <a:srgbClr val="0A2E5C"/>
          </a:solidFill>
          <a:ln/>
        </p:spPr>
      </p:sp>
      <p:pic>
        <p:nvPicPr>
          <p:cNvPr id="11" name="Image 1" descr="icons/usertie_white.png">    </p:cNvPr>
          <p:cNvPicPr>
            <a:picLocks noChangeAspect="1"/>
          </p:cNvPicPr>
          <p:nvPr/>
        </p:nvPicPr>
        <p:blipFill>
          <a:blip r:embed="rId2"/>
          <a:stretch>
            <a:fillRect/>
          </a:stretch>
        </p:blipFill>
        <p:spPr>
          <a:xfrm>
            <a:off x="6575633" y="1729313"/>
            <a:ext cx="235549" cy="235549"/>
          </a:xfrm>
          <a:prstGeom prst="rect">
            <a:avLst/>
          </a:prstGeom>
        </p:spPr>
      </p:pic>
      <p:sp>
        <p:nvSpPr>
          <p:cNvPr id="12" name="Text 8"/>
          <p:cNvSpPr/>
          <p:nvPr/>
        </p:nvSpPr>
        <p:spPr>
          <a:xfrm>
            <a:off x="7095744" y="1645920"/>
            <a:ext cx="4389120" cy="411480"/>
          </a:xfrm>
          <a:prstGeom prst="rect">
            <a:avLst/>
          </a:prstGeom>
          <a:noFill/>
          <a:ln/>
        </p:spPr>
        <p:txBody>
          <a:bodyPr wrap="square" lIns="0" tIns="0" rIns="0" bIns="0" rtlCol="0" anchor="ctr"/>
          <a:lstStyle/>
          <a:p>
            <a:pPr indent="0" marL="0">
              <a:buNone/>
            </a:pPr>
            <a:r>
              <a:rPr lang="en-US" sz="1250" b="1" dirty="0">
                <a:solidFill>
                  <a:srgbClr val="0A2E5C"/>
                </a:solidFill>
                <a:latin typeface="Calibri" pitchFamily="34" charset="0"/>
                <a:ea typeface="Calibri" pitchFamily="34" charset="-122"/>
                <a:cs typeface="Calibri" pitchFamily="34" charset="-120"/>
              </a:rPr>
              <a:t>LÀN 2 · QUẢN LÝ (TRƯỞNG/PHÓ ĐƠN VỊ)</a:t>
            </a:r>
            <a:endParaRPr lang="en-US" sz="1250" dirty="0"/>
          </a:p>
        </p:txBody>
      </p:sp>
      <p:sp>
        <p:nvSpPr>
          <p:cNvPr id="13" name="Text 9"/>
          <p:cNvSpPr/>
          <p:nvPr/>
        </p:nvSpPr>
        <p:spPr>
          <a:xfrm>
            <a:off x="6473952" y="2212848"/>
            <a:ext cx="4892040" cy="960120"/>
          </a:xfrm>
          <a:prstGeom prst="rect">
            <a:avLst/>
          </a:prstGeom>
          <a:noFill/>
          <a:ln/>
        </p:spPr>
        <p:txBody>
          <a:bodyPr wrap="square" lIns="0" tIns="0" rIns="0" bIns="0" rtlCol="0" anchor="ctr"/>
          <a:lstStyle/>
          <a:p>
            <a:pPr indent="0" marL="0">
              <a:lnSpc>
                <a:spcPct val="110000"/>
              </a:lnSpc>
              <a:buNone/>
            </a:pPr>
            <a:r>
              <a:rPr lang="en-US" sz="1100" dirty="0">
                <a:solidFill>
                  <a:srgbClr val="16283E"/>
                </a:solidFill>
                <a:latin typeface="Calibri" pitchFamily="34" charset="0"/>
                <a:ea typeface="Calibri" pitchFamily="34" charset="-122"/>
                <a:cs typeface="Calibri" pitchFamily="34" charset="-120"/>
              </a:rPr>
              <a:t>Xem xét phê duyệt với 3 kết quả: Đồng ý · Cần làm rõ · Từ chối (hủy PYC); phân loại quyền T24 Corebanking và quyền IT thông thường.</a:t>
            </a:r>
            <a:endParaRPr lang="en-US" sz="1100" dirty="0"/>
          </a:p>
        </p:txBody>
      </p:sp>
      <p:sp>
        <p:nvSpPr>
          <p:cNvPr id="14" name="Shape 10"/>
          <p:cNvSpPr/>
          <p:nvPr/>
        </p:nvSpPr>
        <p:spPr>
          <a:xfrm>
            <a:off x="566928" y="3456432"/>
            <a:ext cx="5413248" cy="1901952"/>
          </a:xfrm>
          <a:prstGeom prst="roundRect">
            <a:avLst>
              <a:gd name="adj" fmla="val 4327"/>
            </a:avLst>
          </a:prstGeom>
          <a:solidFill>
            <a:srgbClr val="F4F8FC"/>
          </a:solidFill>
          <a:ln w="12700">
            <a:solidFill>
              <a:srgbClr val="D3DFEE"/>
            </a:solidFill>
            <a:prstDash val="solid"/>
          </a:ln>
          <a:effectLst>
            <a:outerShdw sx="100000" sy="100000" kx="0" ky="0" algn="bl" rotWithShape="0" blurRad="88900" dist="25400" dir="5400000">
              <a:srgbClr val="0A2E5C">
                <a:alpha val="14000"/>
              </a:srgbClr>
            </a:outerShdw>
          </a:effectLst>
        </p:spPr>
      </p:sp>
      <p:sp>
        <p:nvSpPr>
          <p:cNvPr id="15" name="Shape 11"/>
          <p:cNvSpPr/>
          <p:nvPr/>
        </p:nvSpPr>
        <p:spPr>
          <a:xfrm>
            <a:off x="804672" y="3675888"/>
            <a:ext cx="512064" cy="512064"/>
          </a:xfrm>
          <a:prstGeom prst="ellipse">
            <a:avLst/>
          </a:prstGeom>
          <a:solidFill>
            <a:srgbClr val="0A2E5C"/>
          </a:solidFill>
          <a:ln/>
        </p:spPr>
      </p:sp>
      <p:pic>
        <p:nvPicPr>
          <p:cNvPr id="16" name="Image 2" descr="icons/cogs_white.png">    </p:cNvPr>
          <p:cNvPicPr>
            <a:picLocks noChangeAspect="1"/>
          </p:cNvPicPr>
          <p:nvPr/>
        </p:nvPicPr>
        <p:blipFill>
          <a:blip r:embed="rId3"/>
          <a:stretch>
            <a:fillRect/>
          </a:stretch>
        </p:blipFill>
        <p:spPr>
          <a:xfrm>
            <a:off x="942929" y="3814145"/>
            <a:ext cx="235549" cy="235549"/>
          </a:xfrm>
          <a:prstGeom prst="rect">
            <a:avLst/>
          </a:prstGeom>
        </p:spPr>
      </p:pic>
      <p:sp>
        <p:nvSpPr>
          <p:cNvPr id="17" name="Text 12"/>
          <p:cNvSpPr/>
          <p:nvPr/>
        </p:nvSpPr>
        <p:spPr>
          <a:xfrm>
            <a:off x="1463040" y="3730752"/>
            <a:ext cx="4389120" cy="411480"/>
          </a:xfrm>
          <a:prstGeom prst="rect">
            <a:avLst/>
          </a:prstGeom>
          <a:noFill/>
          <a:ln/>
        </p:spPr>
        <p:txBody>
          <a:bodyPr wrap="square" lIns="0" tIns="0" rIns="0" bIns="0" rtlCol="0" anchor="ctr"/>
          <a:lstStyle/>
          <a:p>
            <a:pPr indent="0" marL="0">
              <a:buNone/>
            </a:pPr>
            <a:r>
              <a:rPr lang="en-US" sz="1250" b="1" dirty="0">
                <a:solidFill>
                  <a:srgbClr val="0A2E5C"/>
                </a:solidFill>
                <a:latin typeface="Calibri" pitchFamily="34" charset="0"/>
                <a:ea typeface="Calibri" pitchFamily="34" charset="-122"/>
                <a:cs typeface="Calibri" pitchFamily="34" charset="-120"/>
              </a:rPr>
              <a:t>LÀN 3 · HỆ THỐNG ITSM (TỰ ĐỘNG)</a:t>
            </a:r>
            <a:endParaRPr lang="en-US" sz="1250" dirty="0"/>
          </a:p>
        </p:txBody>
      </p:sp>
      <p:sp>
        <p:nvSpPr>
          <p:cNvPr id="18" name="Text 13"/>
          <p:cNvSpPr/>
          <p:nvPr/>
        </p:nvSpPr>
        <p:spPr>
          <a:xfrm>
            <a:off x="841248" y="4297680"/>
            <a:ext cx="4892040" cy="960120"/>
          </a:xfrm>
          <a:prstGeom prst="rect">
            <a:avLst/>
          </a:prstGeom>
          <a:noFill/>
          <a:ln/>
        </p:spPr>
        <p:txBody>
          <a:bodyPr wrap="square" lIns="0" tIns="0" rIns="0" bIns="0" rtlCol="0" anchor="ctr"/>
          <a:lstStyle/>
          <a:p>
            <a:pPr indent="0" marL="0">
              <a:lnSpc>
                <a:spcPct val="110000"/>
              </a:lnSpc>
              <a:buNone/>
            </a:pPr>
            <a:r>
              <a:rPr lang="en-US" sz="1100" dirty="0">
                <a:solidFill>
                  <a:srgbClr val="16283E"/>
                </a:solidFill>
                <a:latin typeface="Calibri" pitchFamily="34" charset="0"/>
                <a:ea typeface="Calibri" pitchFamily="34" charset="-122"/>
                <a:cs typeface="Calibri" pitchFamily="34" charset="-120"/>
              </a:rPr>
              <a:t>Service Task tự đổi trạng thái "In Progress" &amp; sinh Work Order; Boundary Timer đếm ngược SLA — quá hạn tự gửi email nhắc nhở.</a:t>
            </a:r>
            <a:endParaRPr lang="en-US" sz="1100" dirty="0"/>
          </a:p>
        </p:txBody>
      </p:sp>
      <p:sp>
        <p:nvSpPr>
          <p:cNvPr id="19" name="Shape 14"/>
          <p:cNvSpPr/>
          <p:nvPr/>
        </p:nvSpPr>
        <p:spPr>
          <a:xfrm>
            <a:off x="6199632" y="3456432"/>
            <a:ext cx="5413248" cy="1901952"/>
          </a:xfrm>
          <a:prstGeom prst="roundRect">
            <a:avLst>
              <a:gd name="adj" fmla="val 4327"/>
            </a:avLst>
          </a:prstGeom>
          <a:solidFill>
            <a:srgbClr val="FFFFFF"/>
          </a:solidFill>
          <a:ln w="12700">
            <a:solidFill>
              <a:srgbClr val="D3DFEE"/>
            </a:solidFill>
            <a:prstDash val="solid"/>
          </a:ln>
          <a:effectLst>
            <a:outerShdw sx="100000" sy="100000" kx="0" ky="0" algn="bl" rotWithShape="0" blurRad="88900" dist="25400" dir="5400000">
              <a:srgbClr val="0A2E5C">
                <a:alpha val="14000"/>
              </a:srgbClr>
            </a:outerShdw>
          </a:effectLst>
        </p:spPr>
      </p:sp>
      <p:sp>
        <p:nvSpPr>
          <p:cNvPr id="20" name="Shape 15"/>
          <p:cNvSpPr/>
          <p:nvPr/>
        </p:nvSpPr>
        <p:spPr>
          <a:xfrm>
            <a:off x="6437376" y="3675888"/>
            <a:ext cx="512064" cy="512064"/>
          </a:xfrm>
          <a:prstGeom prst="ellipse">
            <a:avLst/>
          </a:prstGeom>
          <a:solidFill>
            <a:srgbClr val="0A2E5C"/>
          </a:solidFill>
          <a:ln/>
        </p:spPr>
      </p:sp>
      <p:pic>
        <p:nvPicPr>
          <p:cNvPr id="21" name="Image 3" descr="icons/headset_white.png">    </p:cNvPr>
          <p:cNvPicPr>
            <a:picLocks noChangeAspect="1"/>
          </p:cNvPicPr>
          <p:nvPr/>
        </p:nvPicPr>
        <p:blipFill>
          <a:blip r:embed="rId4"/>
          <a:stretch>
            <a:fillRect/>
          </a:stretch>
        </p:blipFill>
        <p:spPr>
          <a:xfrm>
            <a:off x="6575633" y="3814145"/>
            <a:ext cx="235549" cy="235549"/>
          </a:xfrm>
          <a:prstGeom prst="rect">
            <a:avLst/>
          </a:prstGeom>
        </p:spPr>
      </p:pic>
      <p:sp>
        <p:nvSpPr>
          <p:cNvPr id="22" name="Text 16"/>
          <p:cNvSpPr/>
          <p:nvPr/>
        </p:nvSpPr>
        <p:spPr>
          <a:xfrm>
            <a:off x="7095744" y="3730752"/>
            <a:ext cx="4389120" cy="411480"/>
          </a:xfrm>
          <a:prstGeom prst="rect">
            <a:avLst/>
          </a:prstGeom>
          <a:noFill/>
          <a:ln/>
        </p:spPr>
        <p:txBody>
          <a:bodyPr wrap="square" lIns="0" tIns="0" rIns="0" bIns="0" rtlCol="0" anchor="ctr"/>
          <a:lstStyle/>
          <a:p>
            <a:pPr indent="0" marL="0">
              <a:buNone/>
            </a:pPr>
            <a:r>
              <a:rPr lang="en-US" sz="1250" b="1" dirty="0">
                <a:solidFill>
                  <a:srgbClr val="0A2E5C"/>
                </a:solidFill>
                <a:latin typeface="Calibri" pitchFamily="34" charset="0"/>
                <a:ea typeface="Calibri" pitchFamily="34" charset="-122"/>
                <a:cs typeface="Calibri" pitchFamily="34" charset="-120"/>
              </a:rPr>
              <a:t>LÀN 4 · SERVICE DESK / LEVEL 1</a:t>
            </a:r>
            <a:endParaRPr lang="en-US" sz="1250" dirty="0"/>
          </a:p>
        </p:txBody>
      </p:sp>
      <p:sp>
        <p:nvSpPr>
          <p:cNvPr id="23" name="Text 17"/>
          <p:cNvSpPr/>
          <p:nvPr/>
        </p:nvSpPr>
        <p:spPr>
          <a:xfrm>
            <a:off x="6473952" y="4297680"/>
            <a:ext cx="4892040" cy="960120"/>
          </a:xfrm>
          <a:prstGeom prst="rect">
            <a:avLst/>
          </a:prstGeom>
          <a:noFill/>
          <a:ln/>
        </p:spPr>
        <p:txBody>
          <a:bodyPr wrap="square" lIns="0" tIns="0" rIns="0" bIns="0" rtlCol="0" anchor="ctr"/>
          <a:lstStyle/>
          <a:p>
            <a:pPr indent="0" marL="0">
              <a:lnSpc>
                <a:spcPct val="110000"/>
              </a:lnSpc>
              <a:buNone/>
            </a:pPr>
            <a:r>
              <a:rPr lang="en-US" sz="1100" dirty="0">
                <a:solidFill>
                  <a:srgbClr val="16283E"/>
                </a:solidFill>
                <a:latin typeface="Calibri" pitchFamily="34" charset="0"/>
                <a:ea typeface="Calibri" pitchFamily="34" charset="-122"/>
                <a:cs typeface="Calibri" pitchFamily="34" charset="-120"/>
              </a:rPr>
              <a:t>Tiếp nhận &amp; phân loại; AND-split xử lý song song Cấu hình cấp quyền ∥ Ghi log bảo mật rồi AND-join; phát sinh bug → chuyển quy trình Phát triển phần mềm.</a:t>
            </a:r>
            <a:endParaRPr lang="en-US" sz="1100" dirty="0"/>
          </a:p>
        </p:txBody>
      </p:sp>
      <p:sp>
        <p:nvSpPr>
          <p:cNvPr id="24" name="Shape 18"/>
          <p:cNvSpPr/>
          <p:nvPr/>
        </p:nvSpPr>
        <p:spPr>
          <a:xfrm>
            <a:off x="566928" y="5596128"/>
            <a:ext cx="11045952" cy="749808"/>
          </a:xfrm>
          <a:prstGeom prst="roundRect">
            <a:avLst>
              <a:gd name="adj" fmla="val 10976"/>
            </a:avLst>
          </a:prstGeom>
          <a:solidFill>
            <a:srgbClr val="0A2E5C"/>
          </a:solidFill>
          <a:ln/>
        </p:spPr>
      </p:sp>
      <p:sp>
        <p:nvSpPr>
          <p:cNvPr id="25" name="Text 19"/>
          <p:cNvSpPr/>
          <p:nvPr/>
        </p:nvSpPr>
        <p:spPr>
          <a:xfrm>
            <a:off x="868680" y="5596128"/>
            <a:ext cx="2743200" cy="749808"/>
          </a:xfrm>
          <a:prstGeom prst="rect">
            <a:avLst/>
          </a:prstGeom>
          <a:noFill/>
          <a:ln/>
        </p:spPr>
        <p:txBody>
          <a:bodyPr wrap="square" lIns="0" tIns="0" rIns="0" bIns="0" rtlCol="0" anchor="ctr"/>
          <a:lstStyle/>
          <a:p>
            <a:pPr indent="0" marL="0">
              <a:buNone/>
            </a:pPr>
            <a:r>
              <a:rPr lang="en-US" sz="2000" b="1" dirty="0">
                <a:solidFill>
                  <a:srgbClr val="F2A900"/>
                </a:solidFill>
                <a:latin typeface="Cambria" pitchFamily="34" charset="0"/>
                <a:ea typeface="Cambria" pitchFamily="34" charset="-122"/>
                <a:cs typeface="Cambria" pitchFamily="34" charset="-120"/>
              </a:rPr>
              <a:t>4  </a:t>
            </a:r>
            <a:pPr indent="0" marL="0">
              <a:buNone/>
            </a:pPr>
            <a:r>
              <a:rPr lang="en-US" sz="1100" dirty="0">
                <a:solidFill>
                  <a:srgbClr val="FFFFFF"/>
                </a:solidFill>
                <a:latin typeface="Calibri" pitchFamily="34" charset="0"/>
                <a:ea typeface="Calibri" pitchFamily="34" charset="-122"/>
                <a:cs typeface="Calibri" pitchFamily="34" charset="-120"/>
              </a:rPr>
              <a:t>Lane</a:t>
            </a:r>
            <a:endParaRPr lang="en-US" sz="2000" dirty="0"/>
          </a:p>
        </p:txBody>
      </p:sp>
      <p:sp>
        <p:nvSpPr>
          <p:cNvPr id="26" name="Text 20"/>
          <p:cNvSpPr/>
          <p:nvPr/>
        </p:nvSpPr>
        <p:spPr>
          <a:xfrm>
            <a:off x="3611880" y="5596128"/>
            <a:ext cx="4206240" cy="749808"/>
          </a:xfrm>
          <a:prstGeom prst="rect">
            <a:avLst/>
          </a:prstGeom>
          <a:noFill/>
          <a:ln/>
        </p:spPr>
        <p:txBody>
          <a:bodyPr wrap="square" lIns="0" tIns="0" rIns="0" bIns="0" rtlCol="0" anchor="ctr"/>
          <a:lstStyle/>
          <a:p>
            <a:pPr indent="0" marL="0">
              <a:buNone/>
            </a:pPr>
            <a:r>
              <a:rPr lang="en-US" sz="2000" b="1" dirty="0">
                <a:solidFill>
                  <a:srgbClr val="F2A900"/>
                </a:solidFill>
                <a:latin typeface="Cambria" pitchFamily="34" charset="0"/>
                <a:ea typeface="Cambria" pitchFamily="34" charset="-122"/>
                <a:cs typeface="Cambria" pitchFamily="34" charset="-120"/>
              </a:rPr>
              <a:t>8  </a:t>
            </a:r>
            <a:pPr indent="0" marL="0">
              <a:buNone/>
            </a:pPr>
            <a:r>
              <a:rPr lang="en-US" sz="1100" dirty="0">
                <a:solidFill>
                  <a:srgbClr val="FFFFFF"/>
                </a:solidFill>
                <a:latin typeface="Calibri" pitchFamily="34" charset="0"/>
                <a:ea typeface="Calibri" pitchFamily="34" charset="-122"/>
                <a:cs typeface="Calibri" pitchFamily="34" charset="-120"/>
              </a:rPr>
              <a:t>Gateway — 6 XOR · 1 AND-split · 1 AND-join</a:t>
            </a:r>
            <a:endParaRPr lang="en-US" sz="2000" dirty="0"/>
          </a:p>
        </p:txBody>
      </p:sp>
      <p:sp>
        <p:nvSpPr>
          <p:cNvPr id="27" name="Text 21"/>
          <p:cNvSpPr/>
          <p:nvPr/>
        </p:nvSpPr>
        <p:spPr>
          <a:xfrm>
            <a:off x="7818120" y="5596128"/>
            <a:ext cx="2651760" cy="749808"/>
          </a:xfrm>
          <a:prstGeom prst="rect">
            <a:avLst/>
          </a:prstGeom>
          <a:noFill/>
          <a:ln/>
        </p:spPr>
        <p:txBody>
          <a:bodyPr wrap="square" lIns="0" tIns="0" rIns="0" bIns="0" rtlCol="0" anchor="ctr"/>
          <a:lstStyle/>
          <a:p>
            <a:pPr indent="0" marL="0">
              <a:buNone/>
            </a:pPr>
            <a:r>
              <a:rPr lang="en-US" sz="2000" b="1" dirty="0">
                <a:solidFill>
                  <a:srgbClr val="F2A900"/>
                </a:solidFill>
                <a:latin typeface="Cambria" pitchFamily="34" charset="0"/>
                <a:ea typeface="Cambria" pitchFamily="34" charset="-122"/>
                <a:cs typeface="Cambria" pitchFamily="34" charset="-120"/>
              </a:rPr>
              <a:t>~10  </a:t>
            </a:r>
            <a:pPr indent="0" marL="0">
              <a:buNone/>
            </a:pPr>
            <a:r>
              <a:rPr lang="en-US" sz="1100" dirty="0">
                <a:solidFill>
                  <a:srgbClr val="FFFFFF"/>
                </a:solidFill>
                <a:latin typeface="Calibri" pitchFamily="34" charset="0"/>
                <a:ea typeface="Calibri" pitchFamily="34" charset="-122"/>
                <a:cs typeface="Calibri" pitchFamily="34" charset="-120"/>
              </a:rPr>
              <a:t>Task + 1 Boundary Timer</a:t>
            </a:r>
            <a:endParaRPr lang="en-US" sz="2000" dirty="0"/>
          </a:p>
        </p:txBody>
      </p:sp>
      <p:sp>
        <p:nvSpPr>
          <p:cNvPr id="28" name="Text 22"/>
          <p:cNvSpPr/>
          <p:nvPr/>
        </p:nvSpPr>
        <p:spPr>
          <a:xfrm>
            <a:off x="10469880" y="5596128"/>
            <a:ext cx="822960" cy="749808"/>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Độ phức tạp: </a:t>
            </a:r>
            <a:pPr algn="r" indent="0" marL="0">
              <a:buNone/>
            </a:pPr>
            <a:r>
              <a:rPr lang="en-US" sz="1800" b="1" dirty="0">
                <a:solidFill>
                  <a:srgbClr val="F2A900"/>
                </a:solidFill>
                <a:latin typeface="Cambria" pitchFamily="34" charset="0"/>
                <a:ea typeface="Cambria" pitchFamily="34" charset="-122"/>
                <a:cs typeface="Cambria" pitchFamily="34" charset="-120"/>
              </a:rPr>
              <a:t>CAO</a:t>
            </a:r>
            <a:endParaRPr lang="en-US" sz="1100" dirty="0"/>
          </a:p>
        </p:txBody>
      </p:sp>
      <p:sp>
        <p:nvSpPr>
          <p:cNvPr id="29" name="Text 23"/>
          <p:cNvSpPr/>
          <p:nvPr/>
        </p:nvSpPr>
        <p:spPr>
          <a:xfrm>
            <a:off x="11411712" y="6473952"/>
            <a:ext cx="457200" cy="274320"/>
          </a:xfrm>
          <a:prstGeom prst="rect">
            <a:avLst/>
          </a:prstGeom>
          <a:noFill/>
          <a:ln/>
        </p:spPr>
        <p:txBody>
          <a:bodyPr wrap="square" rtlCol="0" anchor="ctr"/>
          <a:lstStyle/>
          <a:p>
            <a:pPr algn="r" indent="0" marL="0">
              <a:buNone/>
            </a:pPr>
            <a:r>
              <a:rPr lang="en-US" sz="900" dirty="0">
                <a:solidFill>
                  <a:srgbClr val="5A6B80"/>
                </a:solidFill>
                <a:latin typeface="Calibri" pitchFamily="34" charset="0"/>
                <a:ea typeface="Calibri" pitchFamily="34" charset="-122"/>
                <a:cs typeface="Calibri" pitchFamily="34" charset="-120"/>
              </a:rPr>
              <a:t>08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lIns="0" tIns="0" rIns="0" bIns="0" rtlCol="0" anchor="ctr"/>
          <a:lstStyle/>
          <a:p>
            <a:pPr indent="0" marL="0">
              <a:buNone/>
            </a:pPr>
            <a:r>
              <a:rPr lang="en-US" sz="1050" b="1" spc="240" kern="0" dirty="0">
                <a:solidFill>
                  <a:srgbClr val="2160A6"/>
                </a:solidFill>
                <a:latin typeface="Calibri" pitchFamily="34" charset="0"/>
                <a:ea typeface="Calibri" pitchFamily="34" charset="-122"/>
                <a:cs typeface="Calibri" pitchFamily="34" charset="-120"/>
              </a:rPr>
              <a:t>CHƯƠNG 4 · PHÂN TÍCH HIỆU SUẤT</a:t>
            </a:r>
            <a:endParaRPr lang="en-US" sz="1050" dirty="0"/>
          </a:p>
        </p:txBody>
      </p:sp>
      <p:sp>
        <p:nvSpPr>
          <p:cNvPr id="3" name="Text 1"/>
          <p:cNvSpPr/>
          <p:nvPr/>
        </p:nvSpPr>
        <p:spPr>
          <a:xfrm>
            <a:off x="548640" y="566928"/>
            <a:ext cx="11064240" cy="566928"/>
          </a:xfrm>
          <a:prstGeom prst="rect">
            <a:avLst/>
          </a:prstGeom>
          <a:noFill/>
          <a:ln/>
        </p:spPr>
        <p:txBody>
          <a:bodyPr wrap="square" lIns="0" tIns="0" rIns="0" bIns="0" rtlCol="0" anchor="ctr"/>
          <a:lstStyle/>
          <a:p>
            <a:pPr indent="0" marL="0">
              <a:buNone/>
            </a:pPr>
            <a:r>
              <a:rPr lang="en-US" sz="2900" b="1" dirty="0">
                <a:solidFill>
                  <a:srgbClr val="0A2E5C"/>
                </a:solidFill>
                <a:latin typeface="Cambria" pitchFamily="34" charset="0"/>
                <a:ea typeface="Cambria" pitchFamily="34" charset="-122"/>
                <a:cs typeface="Cambria" pitchFamily="34" charset="-120"/>
              </a:rPr>
              <a:t>Phân loại giá trị các tác vụ: VA · VBA · NVA</a:t>
            </a:r>
            <a:endParaRPr lang="en-US" sz="2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417320"/>
          <a:ext cx="6720840" cy="914400"/>
        </p:xfrm>
        <a:graphic>
          <a:graphicData uri="http://schemas.openxmlformats.org/drawingml/2006/table">
            <a:tbl>
              <a:tblPr/>
              <a:tblGrid>
                <a:gridCol w="3291840"/>
                <a:gridCol w="2331720"/>
                <a:gridCol w="1097280"/>
              </a:tblGrid>
              <a:tr h="51206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Tác vụ</a:t>
                      </a:r>
                      <a:endParaRPr lang="en-US" sz="1150" dirty="0">
                        <a:latin typeface="Calibri" charset="0"/>
                        <a:ea typeface="Calibri" charset="0"/>
                        <a:cs typeface="Calibri" charset="0"/>
                      </a:endParaRPr>
                    </a:p>
                  </a:txBody>
                  <a:tcPr marL="54864" marR="54864" marT="54864" marB="54864" anchor="ctr">
                    <a:lnL w="9525" cap="flat" cmpd="sng" algn="ctr">
                      <a:solidFill>
                        <a:srgbClr val="D3DFEE"/>
                      </a:solidFill>
                      <a:prstDash val="solid"/>
                      <a:round/>
                      <a:headEnd type="none" w="med" len="med"/>
                      <a:tailEnd type="none" w="med" len="med"/>
                    </a:lnL>
                    <a:lnR w="9525" cap="flat" cmpd="sng" algn="ctr">
                      <a:solidFill>
                        <a:srgbClr val="D3DFEE"/>
                      </a:solidFill>
                      <a:prstDash val="solid"/>
                      <a:round/>
                      <a:headEnd type="none" w="med" len="med"/>
                      <a:tailEnd type="none" w="med" len="med"/>
                    </a:lnR>
                    <a:lnT w="9525" cap="flat" cmpd="sng" algn="ctr">
                      <a:solidFill>
                        <a:srgbClr val="D3DFEE"/>
                      </a:solidFill>
                      <a:prstDash val="solid"/>
                      <a:round/>
                      <a:headEnd type="none" w="med" len="med"/>
                      <a:tailEnd type="none" w="med" len="med"/>
                    </a:lnT>
                    <a:lnB w="9525" cap="flat" cmpd="sng" algn="ctr">
                      <a:solidFill>
                        <a:srgbClr val="D3DFEE"/>
                      </a:solidFill>
                      <a:prstDash val="solid"/>
                      <a:round/>
                      <a:headEnd type="none" w="med" len="med"/>
                      <a:tailEnd type="none" w="med" len="med"/>
                    </a:lnB>
                    <a:solidFill>
                      <a:srgbClr val="0A2E5C"/>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Người thực hiện</a:t>
                      </a:r>
                      <a:endParaRPr lang="en-US" sz="1150" dirty="0">
                        <a:latin typeface="Calibri" charset="0"/>
                        <a:ea typeface="Calibri" charset="0"/>
                        <a:cs typeface="Calibri" charset="0"/>
                      </a:endParaRPr>
                    </a:p>
                  </a:txBody>
                  <a:tcPr marL="54864" marR="54864" marT="54864" marB="54864" anchor="ctr">
                    <a:lnL w="9525" cap="flat" cmpd="sng" algn="ctr">
                      <a:solidFill>
                        <a:srgbClr val="D3DFEE"/>
                      </a:solidFill>
                      <a:prstDash val="solid"/>
                      <a:round/>
                      <a:headEnd type="none" w="med" len="med"/>
                      <a:tailEnd type="none" w="med" len="med"/>
                    </a:lnL>
                    <a:lnR w="9525" cap="flat" cmpd="sng" algn="ctr">
                      <a:solidFill>
                        <a:srgbClr val="D3DFEE"/>
                      </a:solidFill>
                      <a:prstDash val="solid"/>
                      <a:round/>
                      <a:headEnd type="none" w="med" len="med"/>
                      <a:tailEnd type="none" w="med" len="med"/>
                    </a:lnR>
                    <a:lnT w="9525" cap="flat" cmpd="sng" algn="ctr">
                      <a:solidFill>
                        <a:srgbClr val="D3DFEE"/>
                      </a:solidFill>
                      <a:prstDash val="solid"/>
                      <a:round/>
                      <a:headEnd type="none" w="med" len="med"/>
                      <a:tailEnd type="none" w="med" len="med"/>
                    </a:lnT>
                    <a:lnB w="9525" cap="flat" cmpd="sng" algn="ctr">
                      <a:solidFill>
                        <a:srgbClr val="D3DFEE"/>
                      </a:solidFill>
                      <a:prstDash val="solid"/>
                      <a:round/>
                      <a:headEnd type="none" w="med" len="med"/>
                      <a:tailEnd type="none" w="med" len="med"/>
                    </a:lnB>
                    <a:solidFill>
                      <a:srgbClr val="0A2E5C"/>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Loại</a:t>
                      </a:r>
                      <a:endParaRPr lang="en-US" sz="1150" dirty="0">
                        <a:latin typeface="Calibri" charset="0"/>
                        <a:ea typeface="Calibri" charset="0"/>
                        <a:cs typeface="Calibri" charset="0"/>
                      </a:endParaRPr>
                    </a:p>
                  </a:txBody>
                  <a:tcPr marL="54864" marR="54864" marT="54864" marB="54864" anchor="ctr">
                    <a:lnL w="9525" cap="flat" cmpd="sng" algn="ctr">
                      <a:solidFill>
                        <a:srgbClr val="D3DFEE"/>
                      </a:solidFill>
                      <a:prstDash val="solid"/>
                      <a:round/>
                      <a:headEnd type="none" w="med" len="med"/>
                      <a:tailEnd type="none" w="med" len="med"/>
                    </a:lnL>
                    <a:lnR w="9525" cap="flat" cmpd="sng" algn="ctr">
                      <a:solidFill>
                        <a:srgbClr val="D3DFEE"/>
                      </a:solidFill>
                      <a:prstDash val="solid"/>
                      <a:round/>
                      <a:headEnd type="none" w="med" len="med"/>
                      <a:tailEnd type="none" w="med" len="med"/>
                    </a:lnR>
                    <a:lnT w="9525" cap="flat" cmpd="sng" algn="ctr">
                      <a:solidFill>
                        <a:srgbClr val="D3DFEE"/>
                      </a:solidFill>
                      <a:prstDash val="solid"/>
                      <a:round/>
                      <a:headEnd type="none" w="med" len="med"/>
                      <a:tailEnd type="none" w="med" len="med"/>
                    </a:lnT>
                    <a:lnB w="9525" cap="flat" cmpd="sng" algn="ctr">
                      <a:solidFill>
                        <a:srgbClr val="D3DFEE"/>
                      </a:solidFill>
                      <a:prstDash val="solid"/>
                      <a:round/>
                      <a:headEnd type="none" w="med" len="med"/>
                      <a:tailEnd type="none" w="med" len="med"/>
                    </a:lnB>
                    <a:solidFill>
                      <a:srgbClr val="0A2E5C"/>
                    </a:solidFill>
                  </a:tcPr>
                </a:tc>
              </a:tr>
              <a:tr h="512064">
                <a:tc>
                  <a:txBody>
                    <a:bodyPr/>
                    <a:lstStyle/>
                    <a:p>
                      <a:pPr indent="0" marL="0">
                        <a:buNone/>
                      </a:pPr>
                      <a:r>
                        <a:rPr lang="en-US" sz="1150" dirty="0">
                          <a:solidFill>
                            <a:srgbClr val="16283E"/>
                          </a:solidFill>
                          <a:latin typeface="Calibri" pitchFamily="34" charset="0"/>
                          <a:ea typeface="Calibri" pitchFamily="34" charset="-122"/>
                          <a:cs typeface="Calibri" pitchFamily="34" charset="-120"/>
                        </a:rPr>
                        <a:t>Tạo và gửi PYC</a:t>
                      </a:r>
                      <a:endParaRPr lang="en-US" sz="1150" dirty="0">
                        <a:latin typeface="Calibri" charset="0"/>
                        <a:ea typeface="Calibri" charset="0"/>
                        <a:cs typeface="Calibri" charset="0"/>
                      </a:endParaRPr>
                    </a:p>
                  </a:txBody>
                  <a:tcPr marL="54864" marR="54864" marT="54864" marB="54864" anchor="ctr">
                    <a:lnL w="9525" cap="flat" cmpd="sng" algn="ctr">
                      <a:solidFill>
                        <a:srgbClr val="D3DFEE"/>
                      </a:solidFill>
                      <a:prstDash val="solid"/>
                      <a:round/>
                      <a:headEnd type="none" w="med" len="med"/>
                      <a:tailEnd type="none" w="med" len="med"/>
                    </a:lnL>
                    <a:lnR w="9525" cap="flat" cmpd="sng" algn="ctr">
                      <a:solidFill>
                        <a:srgbClr val="D3DFEE"/>
                      </a:solidFill>
                      <a:prstDash val="solid"/>
                      <a:round/>
                      <a:headEnd type="none" w="med" len="med"/>
                      <a:tailEnd type="none" w="med" len="med"/>
                    </a:lnR>
                    <a:lnT w="9525" cap="flat" cmpd="sng" algn="ctr">
                      <a:solidFill>
                        <a:srgbClr val="D3DFEE"/>
                      </a:solidFill>
                      <a:prstDash val="solid"/>
                      <a:round/>
                      <a:headEnd type="none" w="med" len="med"/>
                      <a:tailEnd type="none" w="med" len="med"/>
                    </a:lnT>
                    <a:lnB w="9525" cap="flat" cmpd="sng" algn="ctr">
                      <a:solidFill>
                        <a:srgbClr val="D3DFEE"/>
                      </a:solidFill>
                      <a:prstDash val="solid"/>
                      <a:round/>
                      <a:headEnd type="none" w="med" len="med"/>
                      <a:tailEnd type="none" w="med" len="med"/>
                    </a:lnB>
                    <a:solidFill>
                      <a:srgbClr val="FFFFFF"/>
                    </a:solidFill>
                  </a:tcPr>
                </a:tc>
                <a:tc>
                  <a:txBody>
                    <a:bodyPr/>
                    <a:lstStyle/>
                    <a:p>
                      <a:pPr indent="0" marL="0">
                        <a:buNone/>
                      </a:pPr>
                      <a:r>
                        <a:rPr lang="en-US" sz="1150" dirty="0">
                          <a:solidFill>
                            <a:srgbClr val="16283E"/>
                          </a:solidFill>
                          <a:latin typeface="Calibri" pitchFamily="34" charset="0"/>
                          <a:ea typeface="Calibri" pitchFamily="34" charset="-122"/>
                          <a:cs typeface="Calibri" pitchFamily="34" charset="-120"/>
                        </a:rPr>
                        <a:t>Người dùng (End-user)</a:t>
                      </a:r>
                      <a:endParaRPr lang="en-US" sz="1150" dirty="0">
                        <a:latin typeface="Calibri" charset="0"/>
                        <a:ea typeface="Calibri" charset="0"/>
                        <a:cs typeface="Calibri" charset="0"/>
                      </a:endParaRPr>
                    </a:p>
                  </a:txBody>
                  <a:tcPr marL="54864" marR="54864" marT="54864" marB="54864" anchor="ctr">
                    <a:lnL w="9525" cap="flat" cmpd="sng" algn="ctr">
                      <a:solidFill>
                        <a:srgbClr val="D3DFEE"/>
                      </a:solidFill>
                      <a:prstDash val="solid"/>
                      <a:round/>
                      <a:headEnd type="none" w="med" len="med"/>
                      <a:tailEnd type="none" w="med" len="med"/>
                    </a:lnL>
                    <a:lnR w="9525" cap="flat" cmpd="sng" algn="ctr">
                      <a:solidFill>
                        <a:srgbClr val="D3DFEE"/>
                      </a:solidFill>
                      <a:prstDash val="solid"/>
                      <a:round/>
                      <a:headEnd type="none" w="med" len="med"/>
                      <a:tailEnd type="none" w="med" len="med"/>
                    </a:lnR>
                    <a:lnT w="9525" cap="flat" cmpd="sng" algn="ctr">
                      <a:solidFill>
                        <a:srgbClr val="D3DFEE"/>
                      </a:solidFill>
                      <a:prstDash val="solid"/>
                      <a:round/>
                      <a:headEnd type="none" w="med" len="med"/>
                      <a:tailEnd type="none" w="med" len="med"/>
                    </a:lnT>
                    <a:lnB w="9525" cap="flat" cmpd="sng" algn="ctr">
                      <a:solidFill>
                        <a:srgbClr val="D3DFEE"/>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VA</a:t>
                      </a:r>
                      <a:endParaRPr lang="en-US" sz="1150" dirty="0">
                        <a:latin typeface="Calibri" charset="0"/>
                        <a:ea typeface="Calibri" charset="0"/>
                        <a:cs typeface="Calibri" charset="0"/>
                      </a:endParaRPr>
                    </a:p>
                  </a:txBody>
                  <a:tcPr marL="54864" marR="54864" marT="54864" marB="54864" anchor="ctr">
                    <a:lnL w="9525" cap="flat" cmpd="sng" algn="ctr">
                      <a:solidFill>
                        <a:srgbClr val="D3DFEE"/>
                      </a:solidFill>
                      <a:prstDash val="solid"/>
                      <a:round/>
                      <a:headEnd type="none" w="med" len="med"/>
                      <a:tailEnd type="none" w="med" len="med"/>
                    </a:lnL>
                    <a:lnR w="9525" cap="flat" cmpd="sng" algn="ctr">
                      <a:solidFill>
                        <a:srgbClr val="D3DFEE"/>
                      </a:solidFill>
                      <a:prstDash val="solid"/>
                      <a:round/>
                      <a:headEnd type="none" w="med" len="med"/>
                      <a:tailEnd type="none" w="med" len="med"/>
                    </a:lnR>
                    <a:lnT w="9525" cap="flat" cmpd="sng" algn="ctr">
                      <a:solidFill>
                        <a:srgbClr val="D3DFEE"/>
                      </a:solidFill>
                      <a:prstDash val="solid"/>
                      <a:round/>
                      <a:headEnd type="none" w="med" len="med"/>
                      <a:tailEnd type="none" w="med" len="med"/>
                    </a:lnT>
                    <a:lnB w="9525" cap="flat" cmpd="sng" algn="ctr">
                      <a:solidFill>
                        <a:srgbClr val="D3DFEE"/>
                      </a:solidFill>
                      <a:prstDash val="solid"/>
                      <a:round/>
                      <a:headEnd type="none" w="med" len="med"/>
                      <a:tailEnd type="none" w="med" len="med"/>
                    </a:lnB>
                    <a:solidFill>
                      <a:srgbClr val="0A2E5C"/>
                    </a:solidFill>
                  </a:tcPr>
                </a:tc>
              </a:tr>
              <a:tr h="512064">
                <a:tc>
                  <a:txBody>
                    <a:bodyPr/>
                    <a:lstStyle/>
                    <a:p>
                      <a:pPr indent="0" marL="0">
                        <a:buNone/>
                      </a:pPr>
                      <a:r>
                        <a:rPr lang="en-US" sz="1150" dirty="0">
                          <a:solidFill>
                            <a:srgbClr val="16283E"/>
                          </a:solidFill>
                          <a:latin typeface="Calibri" pitchFamily="34" charset="0"/>
                          <a:ea typeface="Calibri" pitchFamily="34" charset="-122"/>
                          <a:cs typeface="Calibri" pitchFamily="34" charset="-120"/>
                        </a:rPr>
                        <a:t>Bổ sung thông tin (rework)</a:t>
                      </a:r>
                      <a:endParaRPr lang="en-US" sz="1150" dirty="0">
                        <a:latin typeface="Calibri" charset="0"/>
                        <a:ea typeface="Calibri" charset="0"/>
                        <a:cs typeface="Calibri" charset="0"/>
                      </a:endParaRPr>
                    </a:p>
                  </a:txBody>
                  <a:tcPr marL="54864" marR="54864" marT="54864" marB="54864" anchor="ctr">
                    <a:lnL w="9525" cap="flat" cmpd="sng" algn="ctr">
                      <a:solidFill>
                        <a:srgbClr val="D3DFEE"/>
                      </a:solidFill>
                      <a:prstDash val="solid"/>
                      <a:round/>
                      <a:headEnd type="none" w="med" len="med"/>
                      <a:tailEnd type="none" w="med" len="med"/>
                    </a:lnL>
                    <a:lnR w="9525" cap="flat" cmpd="sng" algn="ctr">
                      <a:solidFill>
                        <a:srgbClr val="D3DFEE"/>
                      </a:solidFill>
                      <a:prstDash val="solid"/>
                      <a:round/>
                      <a:headEnd type="none" w="med" len="med"/>
                      <a:tailEnd type="none" w="med" len="med"/>
                    </a:lnR>
                    <a:lnT w="9525" cap="flat" cmpd="sng" algn="ctr">
                      <a:solidFill>
                        <a:srgbClr val="D3DFEE"/>
                      </a:solidFill>
                      <a:prstDash val="solid"/>
                      <a:round/>
                      <a:headEnd type="none" w="med" len="med"/>
                      <a:tailEnd type="none" w="med" len="med"/>
                    </a:lnT>
                    <a:lnB w="9525" cap="flat" cmpd="sng" algn="ctr">
                      <a:solidFill>
                        <a:srgbClr val="D3DFEE"/>
                      </a:solidFill>
                      <a:prstDash val="solid"/>
                      <a:round/>
                      <a:headEnd type="none" w="med" len="med"/>
                      <a:tailEnd type="none" w="med" len="med"/>
                    </a:lnB>
                    <a:solidFill>
                      <a:srgbClr val="F4F8FC"/>
                    </a:solidFill>
                  </a:tcPr>
                </a:tc>
                <a:tc>
                  <a:txBody>
                    <a:bodyPr/>
                    <a:lstStyle/>
                    <a:p>
                      <a:pPr indent="0" marL="0">
                        <a:buNone/>
                      </a:pPr>
                      <a:r>
                        <a:rPr lang="en-US" sz="1150" dirty="0">
                          <a:solidFill>
                            <a:srgbClr val="16283E"/>
                          </a:solidFill>
                          <a:latin typeface="Calibri" pitchFamily="34" charset="0"/>
                          <a:ea typeface="Calibri" pitchFamily="34" charset="-122"/>
                          <a:cs typeface="Calibri" pitchFamily="34" charset="-120"/>
                        </a:rPr>
                        <a:t>Người dùng (End-user)</a:t>
                      </a:r>
                      <a:endParaRPr lang="en-US" sz="1150" dirty="0">
                        <a:latin typeface="Calibri" charset="0"/>
                        <a:ea typeface="Calibri" charset="0"/>
                        <a:cs typeface="Calibri" charset="0"/>
                      </a:endParaRPr>
                    </a:p>
                  </a:txBody>
                  <a:tcPr marL="54864" marR="54864" marT="54864" marB="54864" anchor="ctr">
                    <a:lnL w="9525" cap="flat" cmpd="sng" algn="ctr">
                      <a:solidFill>
                        <a:srgbClr val="D3DFEE"/>
                      </a:solidFill>
                      <a:prstDash val="solid"/>
                      <a:round/>
                      <a:headEnd type="none" w="med" len="med"/>
                      <a:tailEnd type="none" w="med" len="med"/>
                    </a:lnL>
                    <a:lnR w="9525" cap="flat" cmpd="sng" algn="ctr">
                      <a:solidFill>
                        <a:srgbClr val="D3DFEE"/>
                      </a:solidFill>
                      <a:prstDash val="solid"/>
                      <a:round/>
                      <a:headEnd type="none" w="med" len="med"/>
                      <a:tailEnd type="none" w="med" len="med"/>
                    </a:lnR>
                    <a:lnT w="9525" cap="flat" cmpd="sng" algn="ctr">
                      <a:solidFill>
                        <a:srgbClr val="D3DFEE"/>
                      </a:solidFill>
                      <a:prstDash val="solid"/>
                      <a:round/>
                      <a:headEnd type="none" w="med" len="med"/>
                      <a:tailEnd type="none" w="med" len="med"/>
                    </a:lnT>
                    <a:lnB w="9525" cap="flat" cmpd="sng" algn="ctr">
                      <a:solidFill>
                        <a:srgbClr val="D3DFEE"/>
                      </a:solidFill>
                      <a:prstDash val="solid"/>
                      <a:round/>
                      <a:headEnd type="none" w="med" len="med"/>
                      <a:tailEnd type="none" w="med" len="med"/>
                    </a:lnB>
                    <a:solidFill>
                      <a:srgbClr val="F4F8FC"/>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NVA</a:t>
                      </a:r>
                      <a:endParaRPr lang="en-US" sz="1150" dirty="0">
                        <a:latin typeface="Calibri" charset="0"/>
                        <a:ea typeface="Calibri" charset="0"/>
                        <a:cs typeface="Calibri" charset="0"/>
                      </a:endParaRPr>
                    </a:p>
                  </a:txBody>
                  <a:tcPr marL="54864" marR="54864" marT="54864" marB="54864" anchor="ctr">
                    <a:lnL w="9525" cap="flat" cmpd="sng" algn="ctr">
                      <a:solidFill>
                        <a:srgbClr val="D3DFEE"/>
                      </a:solidFill>
                      <a:prstDash val="solid"/>
                      <a:round/>
                      <a:headEnd type="none" w="med" len="med"/>
                      <a:tailEnd type="none" w="med" len="med"/>
                    </a:lnL>
                    <a:lnR w="9525" cap="flat" cmpd="sng" algn="ctr">
                      <a:solidFill>
                        <a:srgbClr val="D3DFEE"/>
                      </a:solidFill>
                      <a:prstDash val="solid"/>
                      <a:round/>
                      <a:headEnd type="none" w="med" len="med"/>
                      <a:tailEnd type="none" w="med" len="med"/>
                    </a:lnR>
                    <a:lnT w="9525" cap="flat" cmpd="sng" algn="ctr">
                      <a:solidFill>
                        <a:srgbClr val="D3DFEE"/>
                      </a:solidFill>
                      <a:prstDash val="solid"/>
                      <a:round/>
                      <a:headEnd type="none" w="med" len="med"/>
                      <a:tailEnd type="none" w="med" len="med"/>
                    </a:lnT>
                    <a:lnB w="9525" cap="flat" cmpd="sng" algn="ctr">
                      <a:solidFill>
                        <a:srgbClr val="D3DFEE"/>
                      </a:solidFill>
                      <a:prstDash val="solid"/>
                      <a:round/>
                      <a:headEnd type="none" w="med" len="med"/>
                      <a:tailEnd type="none" w="med" len="med"/>
                    </a:lnB>
                    <a:solidFill>
                      <a:srgbClr val="B3402A"/>
                    </a:solidFill>
                  </a:tcPr>
                </a:tc>
              </a:tr>
              <a:tr h="512064">
                <a:tc>
                  <a:txBody>
                    <a:bodyPr/>
                    <a:lstStyle/>
                    <a:p>
                      <a:pPr indent="0" marL="0">
                        <a:buNone/>
                      </a:pPr>
                      <a:r>
                        <a:rPr lang="en-US" sz="1150" dirty="0">
                          <a:solidFill>
                            <a:srgbClr val="16283E"/>
                          </a:solidFill>
                          <a:latin typeface="Calibri" pitchFamily="34" charset="0"/>
                          <a:ea typeface="Calibri" pitchFamily="34" charset="-122"/>
                          <a:cs typeface="Calibri" pitchFamily="34" charset="-120"/>
                        </a:rPr>
                        <a:t>Xem xét phê duyệt</a:t>
                      </a:r>
                      <a:endParaRPr lang="en-US" sz="1150" dirty="0">
                        <a:latin typeface="Calibri" charset="0"/>
                        <a:ea typeface="Calibri" charset="0"/>
                        <a:cs typeface="Calibri" charset="0"/>
                      </a:endParaRPr>
                    </a:p>
                  </a:txBody>
                  <a:tcPr marL="54864" marR="54864" marT="54864" marB="54864" anchor="ctr">
                    <a:lnL w="9525" cap="flat" cmpd="sng" algn="ctr">
                      <a:solidFill>
                        <a:srgbClr val="D3DFEE"/>
                      </a:solidFill>
                      <a:prstDash val="solid"/>
                      <a:round/>
                      <a:headEnd type="none" w="med" len="med"/>
                      <a:tailEnd type="none" w="med" len="med"/>
                    </a:lnL>
                    <a:lnR w="9525" cap="flat" cmpd="sng" algn="ctr">
                      <a:solidFill>
                        <a:srgbClr val="D3DFEE"/>
                      </a:solidFill>
                      <a:prstDash val="solid"/>
                      <a:round/>
                      <a:headEnd type="none" w="med" len="med"/>
                      <a:tailEnd type="none" w="med" len="med"/>
                    </a:lnR>
                    <a:lnT w="9525" cap="flat" cmpd="sng" algn="ctr">
                      <a:solidFill>
                        <a:srgbClr val="D3DFEE"/>
                      </a:solidFill>
                      <a:prstDash val="solid"/>
                      <a:round/>
                      <a:headEnd type="none" w="med" len="med"/>
                      <a:tailEnd type="none" w="med" len="med"/>
                    </a:lnT>
                    <a:lnB w="9525" cap="flat" cmpd="sng" algn="ctr">
                      <a:solidFill>
                        <a:srgbClr val="D3DFEE"/>
                      </a:solidFill>
                      <a:prstDash val="solid"/>
                      <a:round/>
                      <a:headEnd type="none" w="med" len="med"/>
                      <a:tailEnd type="none" w="med" len="med"/>
                    </a:lnB>
                    <a:solidFill>
                      <a:srgbClr val="FFFFFF"/>
                    </a:solidFill>
                  </a:tcPr>
                </a:tc>
                <a:tc>
                  <a:txBody>
                    <a:bodyPr/>
                    <a:lstStyle/>
                    <a:p>
                      <a:pPr indent="0" marL="0">
                        <a:buNone/>
                      </a:pPr>
                      <a:r>
                        <a:rPr lang="en-US" sz="1150" dirty="0">
                          <a:solidFill>
                            <a:srgbClr val="16283E"/>
                          </a:solidFill>
                          <a:latin typeface="Calibri" pitchFamily="34" charset="0"/>
                          <a:ea typeface="Calibri" pitchFamily="34" charset="-122"/>
                          <a:cs typeface="Calibri" pitchFamily="34" charset="-120"/>
                        </a:rPr>
                        <a:t>Quản lý</a:t>
                      </a:r>
                      <a:endParaRPr lang="en-US" sz="1150" dirty="0">
                        <a:latin typeface="Calibri" charset="0"/>
                        <a:ea typeface="Calibri" charset="0"/>
                        <a:cs typeface="Calibri" charset="0"/>
                      </a:endParaRPr>
                    </a:p>
                  </a:txBody>
                  <a:tcPr marL="54864" marR="54864" marT="54864" marB="54864" anchor="ctr">
                    <a:lnL w="9525" cap="flat" cmpd="sng" algn="ctr">
                      <a:solidFill>
                        <a:srgbClr val="D3DFEE"/>
                      </a:solidFill>
                      <a:prstDash val="solid"/>
                      <a:round/>
                      <a:headEnd type="none" w="med" len="med"/>
                      <a:tailEnd type="none" w="med" len="med"/>
                    </a:lnL>
                    <a:lnR w="9525" cap="flat" cmpd="sng" algn="ctr">
                      <a:solidFill>
                        <a:srgbClr val="D3DFEE"/>
                      </a:solidFill>
                      <a:prstDash val="solid"/>
                      <a:round/>
                      <a:headEnd type="none" w="med" len="med"/>
                      <a:tailEnd type="none" w="med" len="med"/>
                    </a:lnR>
                    <a:lnT w="9525" cap="flat" cmpd="sng" algn="ctr">
                      <a:solidFill>
                        <a:srgbClr val="D3DFEE"/>
                      </a:solidFill>
                      <a:prstDash val="solid"/>
                      <a:round/>
                      <a:headEnd type="none" w="med" len="med"/>
                      <a:tailEnd type="none" w="med" len="med"/>
                    </a:lnT>
                    <a:lnB w="9525" cap="flat" cmpd="sng" algn="ctr">
                      <a:solidFill>
                        <a:srgbClr val="D3DFEE"/>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0A2E5C"/>
                          </a:solidFill>
                          <a:latin typeface="Calibri" pitchFamily="34" charset="0"/>
                          <a:ea typeface="Calibri" pitchFamily="34" charset="-122"/>
                          <a:cs typeface="Calibri" pitchFamily="34" charset="-120"/>
                        </a:rPr>
                        <a:t>VBA</a:t>
                      </a:r>
                      <a:endParaRPr lang="en-US" sz="1150" dirty="0">
                        <a:latin typeface="Calibri" charset="0"/>
                        <a:ea typeface="Calibri" charset="0"/>
                        <a:cs typeface="Calibri" charset="0"/>
                      </a:endParaRPr>
                    </a:p>
                  </a:txBody>
                  <a:tcPr marL="54864" marR="54864" marT="54864" marB="54864" anchor="ctr">
                    <a:lnL w="9525" cap="flat" cmpd="sng" algn="ctr">
                      <a:solidFill>
                        <a:srgbClr val="D3DFEE"/>
                      </a:solidFill>
                      <a:prstDash val="solid"/>
                      <a:round/>
                      <a:headEnd type="none" w="med" len="med"/>
                      <a:tailEnd type="none" w="med" len="med"/>
                    </a:lnL>
                    <a:lnR w="9525" cap="flat" cmpd="sng" algn="ctr">
                      <a:solidFill>
                        <a:srgbClr val="D3DFEE"/>
                      </a:solidFill>
                      <a:prstDash val="solid"/>
                      <a:round/>
                      <a:headEnd type="none" w="med" len="med"/>
                      <a:tailEnd type="none" w="med" len="med"/>
                    </a:lnR>
                    <a:lnT w="9525" cap="flat" cmpd="sng" algn="ctr">
                      <a:solidFill>
                        <a:srgbClr val="D3DFEE"/>
                      </a:solidFill>
                      <a:prstDash val="solid"/>
                      <a:round/>
                      <a:headEnd type="none" w="med" len="med"/>
                      <a:tailEnd type="none" w="med" len="med"/>
                    </a:lnT>
                    <a:lnB w="9525" cap="flat" cmpd="sng" algn="ctr">
                      <a:solidFill>
                        <a:srgbClr val="D3DFEE"/>
                      </a:solidFill>
                      <a:prstDash val="solid"/>
                      <a:round/>
                      <a:headEnd type="none" w="med" len="med"/>
                      <a:tailEnd type="none" w="med" len="med"/>
                    </a:lnB>
                    <a:solidFill>
                      <a:srgbClr val="E8F0FA"/>
                    </a:solidFill>
                  </a:tcPr>
                </a:tc>
              </a:tr>
              <a:tr h="512064">
                <a:tc>
                  <a:txBody>
                    <a:bodyPr/>
                    <a:lstStyle/>
                    <a:p>
                      <a:pPr indent="0" marL="0">
                        <a:buNone/>
                      </a:pPr>
                      <a:r>
                        <a:rPr lang="en-US" sz="1150" dirty="0">
                          <a:solidFill>
                            <a:srgbClr val="16283E"/>
                          </a:solidFill>
                          <a:latin typeface="Calibri" pitchFamily="34" charset="0"/>
                          <a:ea typeface="Calibri" pitchFamily="34" charset="-122"/>
                          <a:cs typeface="Calibri" pitchFamily="34" charset="-120"/>
                        </a:rPr>
                        <a:t>Tự động tạo Work Order</a:t>
                      </a:r>
                      <a:endParaRPr lang="en-US" sz="1150" dirty="0">
                        <a:latin typeface="Calibri" charset="0"/>
                        <a:ea typeface="Calibri" charset="0"/>
                        <a:cs typeface="Calibri" charset="0"/>
                      </a:endParaRPr>
                    </a:p>
                  </a:txBody>
                  <a:tcPr marL="54864" marR="54864" marT="54864" marB="54864" anchor="ctr">
                    <a:lnL w="9525" cap="flat" cmpd="sng" algn="ctr">
                      <a:solidFill>
                        <a:srgbClr val="D3DFEE"/>
                      </a:solidFill>
                      <a:prstDash val="solid"/>
                      <a:round/>
                      <a:headEnd type="none" w="med" len="med"/>
                      <a:tailEnd type="none" w="med" len="med"/>
                    </a:lnL>
                    <a:lnR w="9525" cap="flat" cmpd="sng" algn="ctr">
                      <a:solidFill>
                        <a:srgbClr val="D3DFEE"/>
                      </a:solidFill>
                      <a:prstDash val="solid"/>
                      <a:round/>
                      <a:headEnd type="none" w="med" len="med"/>
                      <a:tailEnd type="none" w="med" len="med"/>
                    </a:lnR>
                    <a:lnT w="9525" cap="flat" cmpd="sng" algn="ctr">
                      <a:solidFill>
                        <a:srgbClr val="D3DFEE"/>
                      </a:solidFill>
                      <a:prstDash val="solid"/>
                      <a:round/>
                      <a:headEnd type="none" w="med" len="med"/>
                      <a:tailEnd type="none" w="med" len="med"/>
                    </a:lnT>
                    <a:lnB w="9525" cap="flat" cmpd="sng" algn="ctr">
                      <a:solidFill>
                        <a:srgbClr val="D3DFEE"/>
                      </a:solidFill>
                      <a:prstDash val="solid"/>
                      <a:round/>
                      <a:headEnd type="none" w="med" len="med"/>
                      <a:tailEnd type="none" w="med" len="med"/>
                    </a:lnB>
                    <a:solidFill>
                      <a:srgbClr val="F4F8FC"/>
                    </a:solidFill>
                  </a:tcPr>
                </a:tc>
                <a:tc>
                  <a:txBody>
                    <a:bodyPr/>
                    <a:lstStyle/>
                    <a:p>
                      <a:pPr indent="0" marL="0">
                        <a:buNone/>
                      </a:pPr>
                      <a:r>
                        <a:rPr lang="en-US" sz="1150" dirty="0">
                          <a:solidFill>
                            <a:srgbClr val="16283E"/>
                          </a:solidFill>
                          <a:latin typeface="Calibri" pitchFamily="34" charset="0"/>
                          <a:ea typeface="Calibri" pitchFamily="34" charset="-122"/>
                          <a:cs typeface="Calibri" pitchFamily="34" charset="-120"/>
                        </a:rPr>
                        <a:t>Hệ thống ITSM</a:t>
                      </a:r>
                      <a:endParaRPr lang="en-US" sz="1150" dirty="0">
                        <a:latin typeface="Calibri" charset="0"/>
                        <a:ea typeface="Calibri" charset="0"/>
                        <a:cs typeface="Calibri" charset="0"/>
                      </a:endParaRPr>
                    </a:p>
                  </a:txBody>
                  <a:tcPr marL="54864" marR="54864" marT="54864" marB="54864" anchor="ctr">
                    <a:lnL w="9525" cap="flat" cmpd="sng" algn="ctr">
                      <a:solidFill>
                        <a:srgbClr val="D3DFEE"/>
                      </a:solidFill>
                      <a:prstDash val="solid"/>
                      <a:round/>
                      <a:headEnd type="none" w="med" len="med"/>
                      <a:tailEnd type="none" w="med" len="med"/>
                    </a:lnL>
                    <a:lnR w="9525" cap="flat" cmpd="sng" algn="ctr">
                      <a:solidFill>
                        <a:srgbClr val="D3DFEE"/>
                      </a:solidFill>
                      <a:prstDash val="solid"/>
                      <a:round/>
                      <a:headEnd type="none" w="med" len="med"/>
                      <a:tailEnd type="none" w="med" len="med"/>
                    </a:lnR>
                    <a:lnT w="9525" cap="flat" cmpd="sng" algn="ctr">
                      <a:solidFill>
                        <a:srgbClr val="D3DFEE"/>
                      </a:solidFill>
                      <a:prstDash val="solid"/>
                      <a:round/>
                      <a:headEnd type="none" w="med" len="med"/>
                      <a:tailEnd type="none" w="med" len="med"/>
                    </a:lnT>
                    <a:lnB w="9525" cap="flat" cmpd="sng" algn="ctr">
                      <a:solidFill>
                        <a:srgbClr val="D3DFEE"/>
                      </a:solidFill>
                      <a:prstDash val="solid"/>
                      <a:round/>
                      <a:headEnd type="none" w="med" len="med"/>
                      <a:tailEnd type="none" w="med" len="med"/>
                    </a:lnB>
                    <a:solidFill>
                      <a:srgbClr val="F4F8FC"/>
                    </a:solidFill>
                  </a:tcPr>
                </a:tc>
                <a:tc>
                  <a:txBody>
                    <a:bodyPr/>
                    <a:lstStyle/>
                    <a:p>
                      <a:pPr algn="ctr" indent="0" marL="0">
                        <a:buNone/>
                      </a:pPr>
                      <a:r>
                        <a:rPr lang="en-US" sz="1150" b="1" dirty="0">
                          <a:solidFill>
                            <a:srgbClr val="0A2E5C"/>
                          </a:solidFill>
                          <a:latin typeface="Calibri" pitchFamily="34" charset="0"/>
                          <a:ea typeface="Calibri" pitchFamily="34" charset="-122"/>
                          <a:cs typeface="Calibri" pitchFamily="34" charset="-120"/>
                        </a:rPr>
                        <a:t>VBA</a:t>
                      </a:r>
                      <a:endParaRPr lang="en-US" sz="1150" dirty="0">
                        <a:latin typeface="Calibri" charset="0"/>
                        <a:ea typeface="Calibri" charset="0"/>
                        <a:cs typeface="Calibri" charset="0"/>
                      </a:endParaRPr>
                    </a:p>
                  </a:txBody>
                  <a:tcPr marL="54864" marR="54864" marT="54864" marB="54864" anchor="ctr">
                    <a:lnL w="9525" cap="flat" cmpd="sng" algn="ctr">
                      <a:solidFill>
                        <a:srgbClr val="D3DFEE"/>
                      </a:solidFill>
                      <a:prstDash val="solid"/>
                      <a:round/>
                      <a:headEnd type="none" w="med" len="med"/>
                      <a:tailEnd type="none" w="med" len="med"/>
                    </a:lnL>
                    <a:lnR w="9525" cap="flat" cmpd="sng" algn="ctr">
                      <a:solidFill>
                        <a:srgbClr val="D3DFEE"/>
                      </a:solidFill>
                      <a:prstDash val="solid"/>
                      <a:round/>
                      <a:headEnd type="none" w="med" len="med"/>
                      <a:tailEnd type="none" w="med" len="med"/>
                    </a:lnR>
                    <a:lnT w="9525" cap="flat" cmpd="sng" algn="ctr">
                      <a:solidFill>
                        <a:srgbClr val="D3DFEE"/>
                      </a:solidFill>
                      <a:prstDash val="solid"/>
                      <a:round/>
                      <a:headEnd type="none" w="med" len="med"/>
                      <a:tailEnd type="none" w="med" len="med"/>
                    </a:lnT>
                    <a:lnB w="9525" cap="flat" cmpd="sng" algn="ctr">
                      <a:solidFill>
                        <a:srgbClr val="D3DFEE"/>
                      </a:solidFill>
                      <a:prstDash val="solid"/>
                      <a:round/>
                      <a:headEnd type="none" w="med" len="med"/>
                      <a:tailEnd type="none" w="med" len="med"/>
                    </a:lnB>
                    <a:solidFill>
                      <a:srgbClr val="E8F0FA"/>
                    </a:solidFill>
                  </a:tcPr>
                </a:tc>
              </a:tr>
              <a:tr h="512064">
                <a:tc>
                  <a:txBody>
                    <a:bodyPr/>
                    <a:lstStyle/>
                    <a:p>
                      <a:pPr indent="0" marL="0">
                        <a:buNone/>
                      </a:pPr>
                      <a:r>
                        <a:rPr lang="en-US" sz="1150" dirty="0">
                          <a:solidFill>
                            <a:srgbClr val="16283E"/>
                          </a:solidFill>
                          <a:latin typeface="Calibri" pitchFamily="34" charset="0"/>
                          <a:ea typeface="Calibri" pitchFamily="34" charset="-122"/>
                          <a:cs typeface="Calibri" pitchFamily="34" charset="-120"/>
                        </a:rPr>
                        <a:t>Tiếp nhận &amp; phân loại</a:t>
                      </a:r>
                      <a:endParaRPr lang="en-US" sz="1150" dirty="0">
                        <a:latin typeface="Calibri" charset="0"/>
                        <a:ea typeface="Calibri" charset="0"/>
                        <a:cs typeface="Calibri" charset="0"/>
                      </a:endParaRPr>
                    </a:p>
                  </a:txBody>
                  <a:tcPr marL="54864" marR="54864" marT="54864" marB="54864" anchor="ctr">
                    <a:lnL w="9525" cap="flat" cmpd="sng" algn="ctr">
                      <a:solidFill>
                        <a:srgbClr val="D3DFEE"/>
                      </a:solidFill>
                      <a:prstDash val="solid"/>
                      <a:round/>
                      <a:headEnd type="none" w="med" len="med"/>
                      <a:tailEnd type="none" w="med" len="med"/>
                    </a:lnL>
                    <a:lnR w="9525" cap="flat" cmpd="sng" algn="ctr">
                      <a:solidFill>
                        <a:srgbClr val="D3DFEE"/>
                      </a:solidFill>
                      <a:prstDash val="solid"/>
                      <a:round/>
                      <a:headEnd type="none" w="med" len="med"/>
                      <a:tailEnd type="none" w="med" len="med"/>
                    </a:lnR>
                    <a:lnT w="9525" cap="flat" cmpd="sng" algn="ctr">
                      <a:solidFill>
                        <a:srgbClr val="D3DFEE"/>
                      </a:solidFill>
                      <a:prstDash val="solid"/>
                      <a:round/>
                      <a:headEnd type="none" w="med" len="med"/>
                      <a:tailEnd type="none" w="med" len="med"/>
                    </a:lnT>
                    <a:lnB w="9525" cap="flat" cmpd="sng" algn="ctr">
                      <a:solidFill>
                        <a:srgbClr val="D3DFEE"/>
                      </a:solidFill>
                      <a:prstDash val="solid"/>
                      <a:round/>
                      <a:headEnd type="none" w="med" len="med"/>
                      <a:tailEnd type="none" w="med" len="med"/>
                    </a:lnB>
                    <a:solidFill>
                      <a:srgbClr val="FFFFFF"/>
                    </a:solidFill>
                  </a:tcPr>
                </a:tc>
                <a:tc>
                  <a:txBody>
                    <a:bodyPr/>
                    <a:lstStyle/>
                    <a:p>
                      <a:pPr indent="0" marL="0">
                        <a:buNone/>
                      </a:pPr>
                      <a:r>
                        <a:rPr lang="en-US" sz="1150" dirty="0">
                          <a:solidFill>
                            <a:srgbClr val="16283E"/>
                          </a:solidFill>
                          <a:latin typeface="Calibri" pitchFamily="34" charset="0"/>
                          <a:ea typeface="Calibri" pitchFamily="34" charset="-122"/>
                          <a:cs typeface="Calibri" pitchFamily="34" charset="-120"/>
                        </a:rPr>
                        <a:t>Service Desk L1</a:t>
                      </a:r>
                      <a:endParaRPr lang="en-US" sz="1150" dirty="0">
                        <a:latin typeface="Calibri" charset="0"/>
                        <a:ea typeface="Calibri" charset="0"/>
                        <a:cs typeface="Calibri" charset="0"/>
                      </a:endParaRPr>
                    </a:p>
                  </a:txBody>
                  <a:tcPr marL="54864" marR="54864" marT="54864" marB="54864" anchor="ctr">
                    <a:lnL w="9525" cap="flat" cmpd="sng" algn="ctr">
                      <a:solidFill>
                        <a:srgbClr val="D3DFEE"/>
                      </a:solidFill>
                      <a:prstDash val="solid"/>
                      <a:round/>
                      <a:headEnd type="none" w="med" len="med"/>
                      <a:tailEnd type="none" w="med" len="med"/>
                    </a:lnL>
                    <a:lnR w="9525" cap="flat" cmpd="sng" algn="ctr">
                      <a:solidFill>
                        <a:srgbClr val="D3DFEE"/>
                      </a:solidFill>
                      <a:prstDash val="solid"/>
                      <a:round/>
                      <a:headEnd type="none" w="med" len="med"/>
                      <a:tailEnd type="none" w="med" len="med"/>
                    </a:lnR>
                    <a:lnT w="9525" cap="flat" cmpd="sng" algn="ctr">
                      <a:solidFill>
                        <a:srgbClr val="D3DFEE"/>
                      </a:solidFill>
                      <a:prstDash val="solid"/>
                      <a:round/>
                      <a:headEnd type="none" w="med" len="med"/>
                      <a:tailEnd type="none" w="med" len="med"/>
                    </a:lnT>
                    <a:lnB w="9525" cap="flat" cmpd="sng" algn="ctr">
                      <a:solidFill>
                        <a:srgbClr val="D3DFEE"/>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0A2E5C"/>
                          </a:solidFill>
                          <a:latin typeface="Calibri" pitchFamily="34" charset="0"/>
                          <a:ea typeface="Calibri" pitchFamily="34" charset="-122"/>
                          <a:cs typeface="Calibri" pitchFamily="34" charset="-120"/>
                        </a:rPr>
                        <a:t>VBA</a:t>
                      </a:r>
                      <a:endParaRPr lang="en-US" sz="1150" dirty="0">
                        <a:latin typeface="Calibri" charset="0"/>
                        <a:ea typeface="Calibri" charset="0"/>
                        <a:cs typeface="Calibri" charset="0"/>
                      </a:endParaRPr>
                    </a:p>
                  </a:txBody>
                  <a:tcPr marL="54864" marR="54864" marT="54864" marB="54864" anchor="ctr">
                    <a:lnL w="9525" cap="flat" cmpd="sng" algn="ctr">
                      <a:solidFill>
                        <a:srgbClr val="D3DFEE"/>
                      </a:solidFill>
                      <a:prstDash val="solid"/>
                      <a:round/>
                      <a:headEnd type="none" w="med" len="med"/>
                      <a:tailEnd type="none" w="med" len="med"/>
                    </a:lnL>
                    <a:lnR w="9525" cap="flat" cmpd="sng" algn="ctr">
                      <a:solidFill>
                        <a:srgbClr val="D3DFEE"/>
                      </a:solidFill>
                      <a:prstDash val="solid"/>
                      <a:round/>
                      <a:headEnd type="none" w="med" len="med"/>
                      <a:tailEnd type="none" w="med" len="med"/>
                    </a:lnR>
                    <a:lnT w="9525" cap="flat" cmpd="sng" algn="ctr">
                      <a:solidFill>
                        <a:srgbClr val="D3DFEE"/>
                      </a:solidFill>
                      <a:prstDash val="solid"/>
                      <a:round/>
                      <a:headEnd type="none" w="med" len="med"/>
                      <a:tailEnd type="none" w="med" len="med"/>
                    </a:lnT>
                    <a:lnB w="9525" cap="flat" cmpd="sng" algn="ctr">
                      <a:solidFill>
                        <a:srgbClr val="D3DFEE"/>
                      </a:solidFill>
                      <a:prstDash val="solid"/>
                      <a:round/>
                      <a:headEnd type="none" w="med" len="med"/>
                      <a:tailEnd type="none" w="med" len="med"/>
                    </a:lnB>
                    <a:solidFill>
                      <a:srgbClr val="E8F0FA"/>
                    </a:solidFill>
                  </a:tcPr>
                </a:tc>
              </a:tr>
              <a:tr h="512064">
                <a:tc>
                  <a:txBody>
                    <a:bodyPr/>
                    <a:lstStyle/>
                    <a:p>
                      <a:pPr indent="0" marL="0">
                        <a:buNone/>
                      </a:pPr>
                      <a:r>
                        <a:rPr lang="en-US" sz="1150" dirty="0">
                          <a:solidFill>
                            <a:srgbClr val="16283E"/>
                          </a:solidFill>
                          <a:latin typeface="Calibri" pitchFamily="34" charset="0"/>
                          <a:ea typeface="Calibri" pitchFamily="34" charset="-122"/>
                          <a:cs typeface="Calibri" pitchFamily="34" charset="-120"/>
                        </a:rPr>
                        <a:t>Cấu hình cấp quyền</a:t>
                      </a:r>
                      <a:endParaRPr lang="en-US" sz="1150" dirty="0">
                        <a:latin typeface="Calibri" charset="0"/>
                        <a:ea typeface="Calibri" charset="0"/>
                        <a:cs typeface="Calibri" charset="0"/>
                      </a:endParaRPr>
                    </a:p>
                  </a:txBody>
                  <a:tcPr marL="54864" marR="54864" marT="54864" marB="54864" anchor="ctr">
                    <a:lnL w="9525" cap="flat" cmpd="sng" algn="ctr">
                      <a:solidFill>
                        <a:srgbClr val="D3DFEE"/>
                      </a:solidFill>
                      <a:prstDash val="solid"/>
                      <a:round/>
                      <a:headEnd type="none" w="med" len="med"/>
                      <a:tailEnd type="none" w="med" len="med"/>
                    </a:lnL>
                    <a:lnR w="9525" cap="flat" cmpd="sng" algn="ctr">
                      <a:solidFill>
                        <a:srgbClr val="D3DFEE"/>
                      </a:solidFill>
                      <a:prstDash val="solid"/>
                      <a:round/>
                      <a:headEnd type="none" w="med" len="med"/>
                      <a:tailEnd type="none" w="med" len="med"/>
                    </a:lnR>
                    <a:lnT w="9525" cap="flat" cmpd="sng" algn="ctr">
                      <a:solidFill>
                        <a:srgbClr val="D3DFEE"/>
                      </a:solidFill>
                      <a:prstDash val="solid"/>
                      <a:round/>
                      <a:headEnd type="none" w="med" len="med"/>
                      <a:tailEnd type="none" w="med" len="med"/>
                    </a:lnT>
                    <a:lnB w="9525" cap="flat" cmpd="sng" algn="ctr">
                      <a:solidFill>
                        <a:srgbClr val="D3DFEE"/>
                      </a:solidFill>
                      <a:prstDash val="solid"/>
                      <a:round/>
                      <a:headEnd type="none" w="med" len="med"/>
                      <a:tailEnd type="none" w="med" len="med"/>
                    </a:lnB>
                    <a:solidFill>
                      <a:srgbClr val="F4F8FC"/>
                    </a:solidFill>
                  </a:tcPr>
                </a:tc>
                <a:tc>
                  <a:txBody>
                    <a:bodyPr/>
                    <a:lstStyle/>
                    <a:p>
                      <a:pPr indent="0" marL="0">
                        <a:buNone/>
                      </a:pPr>
                      <a:r>
                        <a:rPr lang="en-US" sz="1150" dirty="0">
                          <a:solidFill>
                            <a:srgbClr val="16283E"/>
                          </a:solidFill>
                          <a:latin typeface="Calibri" pitchFamily="34" charset="0"/>
                          <a:ea typeface="Calibri" pitchFamily="34" charset="-122"/>
                          <a:cs typeface="Calibri" pitchFamily="34" charset="-120"/>
                        </a:rPr>
                        <a:t>Service Desk L1</a:t>
                      </a:r>
                      <a:endParaRPr lang="en-US" sz="1150" dirty="0">
                        <a:latin typeface="Calibri" charset="0"/>
                        <a:ea typeface="Calibri" charset="0"/>
                        <a:cs typeface="Calibri" charset="0"/>
                      </a:endParaRPr>
                    </a:p>
                  </a:txBody>
                  <a:tcPr marL="54864" marR="54864" marT="54864" marB="54864" anchor="ctr">
                    <a:lnL w="9525" cap="flat" cmpd="sng" algn="ctr">
                      <a:solidFill>
                        <a:srgbClr val="D3DFEE"/>
                      </a:solidFill>
                      <a:prstDash val="solid"/>
                      <a:round/>
                      <a:headEnd type="none" w="med" len="med"/>
                      <a:tailEnd type="none" w="med" len="med"/>
                    </a:lnL>
                    <a:lnR w="9525" cap="flat" cmpd="sng" algn="ctr">
                      <a:solidFill>
                        <a:srgbClr val="D3DFEE"/>
                      </a:solidFill>
                      <a:prstDash val="solid"/>
                      <a:round/>
                      <a:headEnd type="none" w="med" len="med"/>
                      <a:tailEnd type="none" w="med" len="med"/>
                    </a:lnR>
                    <a:lnT w="9525" cap="flat" cmpd="sng" algn="ctr">
                      <a:solidFill>
                        <a:srgbClr val="D3DFEE"/>
                      </a:solidFill>
                      <a:prstDash val="solid"/>
                      <a:round/>
                      <a:headEnd type="none" w="med" len="med"/>
                      <a:tailEnd type="none" w="med" len="med"/>
                    </a:lnT>
                    <a:lnB w="9525" cap="flat" cmpd="sng" algn="ctr">
                      <a:solidFill>
                        <a:srgbClr val="D3DFEE"/>
                      </a:solidFill>
                      <a:prstDash val="solid"/>
                      <a:round/>
                      <a:headEnd type="none" w="med" len="med"/>
                      <a:tailEnd type="none" w="med" len="med"/>
                    </a:lnB>
                    <a:solidFill>
                      <a:srgbClr val="F4F8FC"/>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VA</a:t>
                      </a:r>
                      <a:endParaRPr lang="en-US" sz="1150" dirty="0">
                        <a:latin typeface="Calibri" charset="0"/>
                        <a:ea typeface="Calibri" charset="0"/>
                        <a:cs typeface="Calibri" charset="0"/>
                      </a:endParaRPr>
                    </a:p>
                  </a:txBody>
                  <a:tcPr marL="54864" marR="54864" marT="54864" marB="54864" anchor="ctr">
                    <a:lnL w="9525" cap="flat" cmpd="sng" algn="ctr">
                      <a:solidFill>
                        <a:srgbClr val="D3DFEE"/>
                      </a:solidFill>
                      <a:prstDash val="solid"/>
                      <a:round/>
                      <a:headEnd type="none" w="med" len="med"/>
                      <a:tailEnd type="none" w="med" len="med"/>
                    </a:lnL>
                    <a:lnR w="9525" cap="flat" cmpd="sng" algn="ctr">
                      <a:solidFill>
                        <a:srgbClr val="D3DFEE"/>
                      </a:solidFill>
                      <a:prstDash val="solid"/>
                      <a:round/>
                      <a:headEnd type="none" w="med" len="med"/>
                      <a:tailEnd type="none" w="med" len="med"/>
                    </a:lnR>
                    <a:lnT w="9525" cap="flat" cmpd="sng" algn="ctr">
                      <a:solidFill>
                        <a:srgbClr val="D3DFEE"/>
                      </a:solidFill>
                      <a:prstDash val="solid"/>
                      <a:round/>
                      <a:headEnd type="none" w="med" len="med"/>
                      <a:tailEnd type="none" w="med" len="med"/>
                    </a:lnT>
                    <a:lnB w="9525" cap="flat" cmpd="sng" algn="ctr">
                      <a:solidFill>
                        <a:srgbClr val="D3DFEE"/>
                      </a:solidFill>
                      <a:prstDash val="solid"/>
                      <a:round/>
                      <a:headEnd type="none" w="med" len="med"/>
                      <a:tailEnd type="none" w="med" len="med"/>
                    </a:lnB>
                    <a:solidFill>
                      <a:srgbClr val="0A2E5C"/>
                    </a:solidFill>
                  </a:tcPr>
                </a:tc>
              </a:tr>
              <a:tr h="512064">
                <a:tc>
                  <a:txBody>
                    <a:bodyPr/>
                    <a:lstStyle/>
                    <a:p>
                      <a:pPr indent="0" marL="0">
                        <a:buNone/>
                      </a:pPr>
                      <a:r>
                        <a:rPr lang="en-US" sz="1150" dirty="0">
                          <a:solidFill>
                            <a:srgbClr val="16283E"/>
                          </a:solidFill>
                          <a:latin typeface="Calibri" pitchFamily="34" charset="0"/>
                          <a:ea typeface="Calibri" pitchFamily="34" charset="-122"/>
                          <a:cs typeface="Calibri" pitchFamily="34" charset="-120"/>
                        </a:rPr>
                        <a:t>Ghi log bảo mật</a:t>
                      </a:r>
                      <a:endParaRPr lang="en-US" sz="1150" dirty="0">
                        <a:latin typeface="Calibri" charset="0"/>
                        <a:ea typeface="Calibri" charset="0"/>
                        <a:cs typeface="Calibri" charset="0"/>
                      </a:endParaRPr>
                    </a:p>
                  </a:txBody>
                  <a:tcPr marL="54864" marR="54864" marT="54864" marB="54864" anchor="ctr">
                    <a:lnL w="9525" cap="flat" cmpd="sng" algn="ctr">
                      <a:solidFill>
                        <a:srgbClr val="D3DFEE"/>
                      </a:solidFill>
                      <a:prstDash val="solid"/>
                      <a:round/>
                      <a:headEnd type="none" w="med" len="med"/>
                      <a:tailEnd type="none" w="med" len="med"/>
                    </a:lnL>
                    <a:lnR w="9525" cap="flat" cmpd="sng" algn="ctr">
                      <a:solidFill>
                        <a:srgbClr val="D3DFEE"/>
                      </a:solidFill>
                      <a:prstDash val="solid"/>
                      <a:round/>
                      <a:headEnd type="none" w="med" len="med"/>
                      <a:tailEnd type="none" w="med" len="med"/>
                    </a:lnR>
                    <a:lnT w="9525" cap="flat" cmpd="sng" algn="ctr">
                      <a:solidFill>
                        <a:srgbClr val="D3DFEE"/>
                      </a:solidFill>
                      <a:prstDash val="solid"/>
                      <a:round/>
                      <a:headEnd type="none" w="med" len="med"/>
                      <a:tailEnd type="none" w="med" len="med"/>
                    </a:lnT>
                    <a:lnB w="9525" cap="flat" cmpd="sng" algn="ctr">
                      <a:solidFill>
                        <a:srgbClr val="D3DFEE"/>
                      </a:solidFill>
                      <a:prstDash val="solid"/>
                      <a:round/>
                      <a:headEnd type="none" w="med" len="med"/>
                      <a:tailEnd type="none" w="med" len="med"/>
                    </a:lnB>
                    <a:solidFill>
                      <a:srgbClr val="FFFFFF"/>
                    </a:solidFill>
                  </a:tcPr>
                </a:tc>
                <a:tc>
                  <a:txBody>
                    <a:bodyPr/>
                    <a:lstStyle/>
                    <a:p>
                      <a:pPr indent="0" marL="0">
                        <a:buNone/>
                      </a:pPr>
                      <a:r>
                        <a:rPr lang="en-US" sz="1150" dirty="0">
                          <a:solidFill>
                            <a:srgbClr val="16283E"/>
                          </a:solidFill>
                          <a:latin typeface="Calibri" pitchFamily="34" charset="0"/>
                          <a:ea typeface="Calibri" pitchFamily="34" charset="-122"/>
                          <a:cs typeface="Calibri" pitchFamily="34" charset="-120"/>
                        </a:rPr>
                        <a:t>Service Desk L1</a:t>
                      </a:r>
                      <a:endParaRPr lang="en-US" sz="1150" dirty="0">
                        <a:latin typeface="Calibri" charset="0"/>
                        <a:ea typeface="Calibri" charset="0"/>
                        <a:cs typeface="Calibri" charset="0"/>
                      </a:endParaRPr>
                    </a:p>
                  </a:txBody>
                  <a:tcPr marL="54864" marR="54864" marT="54864" marB="54864" anchor="ctr">
                    <a:lnL w="9525" cap="flat" cmpd="sng" algn="ctr">
                      <a:solidFill>
                        <a:srgbClr val="D3DFEE"/>
                      </a:solidFill>
                      <a:prstDash val="solid"/>
                      <a:round/>
                      <a:headEnd type="none" w="med" len="med"/>
                      <a:tailEnd type="none" w="med" len="med"/>
                    </a:lnL>
                    <a:lnR w="9525" cap="flat" cmpd="sng" algn="ctr">
                      <a:solidFill>
                        <a:srgbClr val="D3DFEE"/>
                      </a:solidFill>
                      <a:prstDash val="solid"/>
                      <a:round/>
                      <a:headEnd type="none" w="med" len="med"/>
                      <a:tailEnd type="none" w="med" len="med"/>
                    </a:lnR>
                    <a:lnT w="9525" cap="flat" cmpd="sng" algn="ctr">
                      <a:solidFill>
                        <a:srgbClr val="D3DFEE"/>
                      </a:solidFill>
                      <a:prstDash val="solid"/>
                      <a:round/>
                      <a:headEnd type="none" w="med" len="med"/>
                      <a:tailEnd type="none" w="med" len="med"/>
                    </a:lnT>
                    <a:lnB w="9525" cap="flat" cmpd="sng" algn="ctr">
                      <a:solidFill>
                        <a:srgbClr val="D3DFEE"/>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0A2E5C"/>
                          </a:solidFill>
                          <a:latin typeface="Calibri" pitchFamily="34" charset="0"/>
                          <a:ea typeface="Calibri" pitchFamily="34" charset="-122"/>
                          <a:cs typeface="Calibri" pitchFamily="34" charset="-120"/>
                        </a:rPr>
                        <a:t>VBA</a:t>
                      </a:r>
                      <a:endParaRPr lang="en-US" sz="1150" dirty="0">
                        <a:latin typeface="Calibri" charset="0"/>
                        <a:ea typeface="Calibri" charset="0"/>
                        <a:cs typeface="Calibri" charset="0"/>
                      </a:endParaRPr>
                    </a:p>
                  </a:txBody>
                  <a:tcPr marL="54864" marR="54864" marT="54864" marB="54864" anchor="ctr">
                    <a:lnL w="9525" cap="flat" cmpd="sng" algn="ctr">
                      <a:solidFill>
                        <a:srgbClr val="D3DFEE"/>
                      </a:solidFill>
                      <a:prstDash val="solid"/>
                      <a:round/>
                      <a:headEnd type="none" w="med" len="med"/>
                      <a:tailEnd type="none" w="med" len="med"/>
                    </a:lnL>
                    <a:lnR w="9525" cap="flat" cmpd="sng" algn="ctr">
                      <a:solidFill>
                        <a:srgbClr val="D3DFEE"/>
                      </a:solidFill>
                      <a:prstDash val="solid"/>
                      <a:round/>
                      <a:headEnd type="none" w="med" len="med"/>
                      <a:tailEnd type="none" w="med" len="med"/>
                    </a:lnR>
                    <a:lnT w="9525" cap="flat" cmpd="sng" algn="ctr">
                      <a:solidFill>
                        <a:srgbClr val="D3DFEE"/>
                      </a:solidFill>
                      <a:prstDash val="solid"/>
                      <a:round/>
                      <a:headEnd type="none" w="med" len="med"/>
                      <a:tailEnd type="none" w="med" len="med"/>
                    </a:lnT>
                    <a:lnB w="9525" cap="flat" cmpd="sng" algn="ctr">
                      <a:solidFill>
                        <a:srgbClr val="D3DFEE"/>
                      </a:solidFill>
                      <a:prstDash val="solid"/>
                      <a:round/>
                      <a:headEnd type="none" w="med" len="med"/>
                      <a:tailEnd type="none" w="med" len="med"/>
                    </a:lnB>
                    <a:solidFill>
                      <a:srgbClr val="E8F0FA"/>
                    </a:solidFill>
                  </a:tcPr>
                </a:tc>
              </a:tr>
            </a:tbl>
          </a:graphicData>
        </a:graphic>
      </p:graphicFrame>
      <p:sp>
        <p:nvSpPr>
          <p:cNvPr id="5" name="Shape 2"/>
          <p:cNvSpPr/>
          <p:nvPr/>
        </p:nvSpPr>
        <p:spPr>
          <a:xfrm>
            <a:off x="7543800" y="1417320"/>
            <a:ext cx="4069080" cy="1463040"/>
          </a:xfrm>
          <a:prstGeom prst="roundRect">
            <a:avLst>
              <a:gd name="adj" fmla="val 5625"/>
            </a:avLst>
          </a:prstGeom>
          <a:solidFill>
            <a:srgbClr val="FFFFFF"/>
          </a:solidFill>
          <a:ln w="12700">
            <a:solidFill>
              <a:srgbClr val="D3DFEE"/>
            </a:solidFill>
            <a:prstDash val="solid"/>
          </a:ln>
          <a:effectLst>
            <a:outerShdw sx="100000" sy="100000" kx="0" ky="0" algn="bl" rotWithShape="0" blurRad="88900" dist="25400" dir="5400000">
              <a:srgbClr val="0A2E5C">
                <a:alpha val="14000"/>
              </a:srgbClr>
            </a:outerShdw>
          </a:effectLst>
        </p:spPr>
      </p:sp>
      <p:sp>
        <p:nvSpPr>
          <p:cNvPr id="6" name="Shape 3"/>
          <p:cNvSpPr/>
          <p:nvPr/>
        </p:nvSpPr>
        <p:spPr>
          <a:xfrm>
            <a:off x="7772400" y="1618488"/>
            <a:ext cx="914400" cy="365760"/>
          </a:xfrm>
          <a:prstGeom prst="roundRect">
            <a:avLst>
              <a:gd name="adj" fmla="val 20000"/>
            </a:avLst>
          </a:prstGeom>
          <a:solidFill>
            <a:srgbClr val="0A2E5C"/>
          </a:solidFill>
          <a:ln/>
        </p:spPr>
      </p:sp>
      <p:sp>
        <p:nvSpPr>
          <p:cNvPr id="7" name="Text 4"/>
          <p:cNvSpPr/>
          <p:nvPr/>
        </p:nvSpPr>
        <p:spPr>
          <a:xfrm>
            <a:off x="7772400" y="1618488"/>
            <a:ext cx="91440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VA</a:t>
            </a:r>
            <a:endParaRPr lang="en-US" sz="1200" dirty="0"/>
          </a:p>
        </p:txBody>
      </p:sp>
      <p:sp>
        <p:nvSpPr>
          <p:cNvPr id="8" name="Text 5"/>
          <p:cNvSpPr/>
          <p:nvPr/>
        </p:nvSpPr>
        <p:spPr>
          <a:xfrm>
            <a:off x="8823960" y="1618488"/>
            <a:ext cx="2697480" cy="365760"/>
          </a:xfrm>
          <a:prstGeom prst="rect">
            <a:avLst/>
          </a:prstGeom>
          <a:noFill/>
          <a:ln/>
        </p:spPr>
        <p:txBody>
          <a:bodyPr wrap="square" lIns="0" tIns="0" rIns="0" bIns="0" rtlCol="0" anchor="ctr"/>
          <a:lstStyle/>
          <a:p>
            <a:pPr indent="0" marL="0">
              <a:buNone/>
            </a:pPr>
            <a:r>
              <a:rPr lang="en-US" sz="1150" b="1" dirty="0">
                <a:solidFill>
                  <a:srgbClr val="16283E"/>
                </a:solidFill>
                <a:latin typeface="Calibri" pitchFamily="34" charset="0"/>
                <a:ea typeface="Calibri" pitchFamily="34" charset="-122"/>
                <a:cs typeface="Calibri" pitchFamily="34" charset="-120"/>
              </a:rPr>
              <a:t>tạo giá trị trực tiếp</a:t>
            </a:r>
            <a:endParaRPr lang="en-US" sz="1150" dirty="0"/>
          </a:p>
        </p:txBody>
      </p:sp>
      <p:sp>
        <p:nvSpPr>
          <p:cNvPr id="9" name="Text 6"/>
          <p:cNvSpPr/>
          <p:nvPr/>
        </p:nvSpPr>
        <p:spPr>
          <a:xfrm>
            <a:off x="7772400" y="2075688"/>
            <a:ext cx="3611880" cy="731520"/>
          </a:xfrm>
          <a:prstGeom prst="rect">
            <a:avLst/>
          </a:prstGeom>
          <a:noFill/>
          <a:ln/>
        </p:spPr>
        <p:txBody>
          <a:bodyPr wrap="square" lIns="0" tIns="0" rIns="0" bIns="0" rtlCol="0" anchor="ctr"/>
          <a:lstStyle/>
          <a:p>
            <a:pPr indent="0" marL="0">
              <a:lnSpc>
                <a:spcPct val="108000"/>
              </a:lnSpc>
              <a:buNone/>
            </a:pPr>
            <a:r>
              <a:rPr lang="en-US" sz="1050" dirty="0">
                <a:solidFill>
                  <a:srgbClr val="5A6B80"/>
                </a:solidFill>
                <a:latin typeface="Calibri" pitchFamily="34" charset="0"/>
                <a:ea typeface="Calibri" pitchFamily="34" charset="-122"/>
                <a:cs typeface="Calibri" pitchFamily="34" charset="-120"/>
              </a:rPr>
              <a:t>"Tạo &amp; gửi PYC" và "Cấu hình cấp quyền" là trung tâm tạo giá trị của toàn bộ luồng.</a:t>
            </a:r>
            <a:endParaRPr lang="en-US" sz="1050" dirty="0"/>
          </a:p>
        </p:txBody>
      </p:sp>
      <p:sp>
        <p:nvSpPr>
          <p:cNvPr id="10" name="Shape 7"/>
          <p:cNvSpPr/>
          <p:nvPr/>
        </p:nvSpPr>
        <p:spPr>
          <a:xfrm>
            <a:off x="7543800" y="3044952"/>
            <a:ext cx="4069080" cy="1463040"/>
          </a:xfrm>
          <a:prstGeom prst="roundRect">
            <a:avLst>
              <a:gd name="adj" fmla="val 5625"/>
            </a:avLst>
          </a:prstGeom>
          <a:solidFill>
            <a:srgbClr val="FFFFFF"/>
          </a:solidFill>
          <a:ln w="12700">
            <a:solidFill>
              <a:srgbClr val="D3DFEE"/>
            </a:solidFill>
            <a:prstDash val="solid"/>
          </a:ln>
          <a:effectLst>
            <a:outerShdw sx="100000" sy="100000" kx="0" ky="0" algn="bl" rotWithShape="0" blurRad="88900" dist="25400" dir="5400000">
              <a:srgbClr val="0A2E5C">
                <a:alpha val="14000"/>
              </a:srgbClr>
            </a:outerShdw>
          </a:effectLst>
        </p:spPr>
      </p:sp>
      <p:sp>
        <p:nvSpPr>
          <p:cNvPr id="11" name="Shape 8"/>
          <p:cNvSpPr/>
          <p:nvPr/>
        </p:nvSpPr>
        <p:spPr>
          <a:xfrm>
            <a:off x="7772400" y="3246120"/>
            <a:ext cx="914400" cy="365760"/>
          </a:xfrm>
          <a:prstGeom prst="roundRect">
            <a:avLst>
              <a:gd name="adj" fmla="val 20000"/>
            </a:avLst>
          </a:prstGeom>
          <a:solidFill>
            <a:srgbClr val="B3402A"/>
          </a:solidFill>
          <a:ln/>
        </p:spPr>
      </p:sp>
      <p:sp>
        <p:nvSpPr>
          <p:cNvPr id="12" name="Text 9"/>
          <p:cNvSpPr/>
          <p:nvPr/>
        </p:nvSpPr>
        <p:spPr>
          <a:xfrm>
            <a:off x="7772400" y="3246120"/>
            <a:ext cx="91440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NVA</a:t>
            </a:r>
            <a:endParaRPr lang="en-US" sz="1200" dirty="0"/>
          </a:p>
        </p:txBody>
      </p:sp>
      <p:sp>
        <p:nvSpPr>
          <p:cNvPr id="13" name="Text 10"/>
          <p:cNvSpPr/>
          <p:nvPr/>
        </p:nvSpPr>
        <p:spPr>
          <a:xfrm>
            <a:off x="8823960" y="3246120"/>
            <a:ext cx="2697480" cy="365760"/>
          </a:xfrm>
          <a:prstGeom prst="rect">
            <a:avLst/>
          </a:prstGeom>
          <a:noFill/>
          <a:ln/>
        </p:spPr>
        <p:txBody>
          <a:bodyPr wrap="square" lIns="0" tIns="0" rIns="0" bIns="0" rtlCol="0" anchor="ctr"/>
          <a:lstStyle/>
          <a:p>
            <a:pPr indent="0" marL="0">
              <a:buNone/>
            </a:pPr>
            <a:r>
              <a:rPr lang="en-US" sz="1150" b="1" dirty="0">
                <a:solidFill>
                  <a:srgbClr val="16283E"/>
                </a:solidFill>
                <a:latin typeface="Calibri" pitchFamily="34" charset="0"/>
                <a:ea typeface="Calibri" pitchFamily="34" charset="-122"/>
                <a:cs typeface="Calibri" pitchFamily="34" charset="-120"/>
              </a:rPr>
              <a:t>điểm nghẽn rework</a:t>
            </a:r>
            <a:endParaRPr lang="en-US" sz="1150" dirty="0"/>
          </a:p>
        </p:txBody>
      </p:sp>
      <p:sp>
        <p:nvSpPr>
          <p:cNvPr id="14" name="Text 11"/>
          <p:cNvSpPr/>
          <p:nvPr/>
        </p:nvSpPr>
        <p:spPr>
          <a:xfrm>
            <a:off x="7772400" y="3703320"/>
            <a:ext cx="3611880" cy="731520"/>
          </a:xfrm>
          <a:prstGeom prst="rect">
            <a:avLst/>
          </a:prstGeom>
          <a:noFill/>
          <a:ln/>
        </p:spPr>
        <p:txBody>
          <a:bodyPr wrap="square" lIns="0" tIns="0" rIns="0" bIns="0" rtlCol="0" anchor="ctr"/>
          <a:lstStyle/>
          <a:p>
            <a:pPr indent="0" marL="0">
              <a:lnSpc>
                <a:spcPct val="108000"/>
              </a:lnSpc>
              <a:buNone/>
            </a:pPr>
            <a:r>
              <a:rPr lang="en-US" sz="1050" dirty="0">
                <a:solidFill>
                  <a:srgbClr val="5A6B80"/>
                </a:solidFill>
                <a:latin typeface="Calibri" pitchFamily="34" charset="0"/>
                <a:ea typeface="Calibri" pitchFamily="34" charset="-122"/>
                <a:cs typeface="Calibri" pitchFamily="34" charset="-120"/>
              </a:rPr>
              <a:t>"Bổ sung thông tin" là bottleneck sinh lãng phí → cần cải tiến biểu mẫu đầu vào.</a:t>
            </a:r>
            <a:endParaRPr lang="en-US" sz="1050" dirty="0"/>
          </a:p>
        </p:txBody>
      </p:sp>
      <p:sp>
        <p:nvSpPr>
          <p:cNvPr id="15" name="Shape 12"/>
          <p:cNvSpPr/>
          <p:nvPr/>
        </p:nvSpPr>
        <p:spPr>
          <a:xfrm>
            <a:off x="7543800" y="4672584"/>
            <a:ext cx="4069080" cy="1463040"/>
          </a:xfrm>
          <a:prstGeom prst="roundRect">
            <a:avLst>
              <a:gd name="adj" fmla="val 5625"/>
            </a:avLst>
          </a:prstGeom>
          <a:solidFill>
            <a:srgbClr val="FFFFFF"/>
          </a:solidFill>
          <a:ln w="12700">
            <a:solidFill>
              <a:srgbClr val="D3DFEE"/>
            </a:solidFill>
            <a:prstDash val="solid"/>
          </a:ln>
          <a:effectLst>
            <a:outerShdw sx="100000" sy="100000" kx="0" ky="0" algn="bl" rotWithShape="0" blurRad="88900" dist="25400" dir="5400000">
              <a:srgbClr val="0A2E5C">
                <a:alpha val="14000"/>
              </a:srgbClr>
            </a:outerShdw>
          </a:effectLst>
        </p:spPr>
      </p:sp>
      <p:sp>
        <p:nvSpPr>
          <p:cNvPr id="16" name="Shape 13"/>
          <p:cNvSpPr/>
          <p:nvPr/>
        </p:nvSpPr>
        <p:spPr>
          <a:xfrm>
            <a:off x="7772400" y="4873752"/>
            <a:ext cx="914400" cy="365760"/>
          </a:xfrm>
          <a:prstGeom prst="roundRect">
            <a:avLst>
              <a:gd name="adj" fmla="val 20000"/>
            </a:avLst>
          </a:prstGeom>
          <a:solidFill>
            <a:srgbClr val="4A6FA5"/>
          </a:solidFill>
          <a:ln/>
        </p:spPr>
      </p:sp>
      <p:sp>
        <p:nvSpPr>
          <p:cNvPr id="17" name="Text 14"/>
          <p:cNvSpPr/>
          <p:nvPr/>
        </p:nvSpPr>
        <p:spPr>
          <a:xfrm>
            <a:off x="7772400" y="4873752"/>
            <a:ext cx="91440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VBA</a:t>
            </a:r>
            <a:endParaRPr lang="en-US" sz="1200" dirty="0"/>
          </a:p>
        </p:txBody>
      </p:sp>
      <p:sp>
        <p:nvSpPr>
          <p:cNvPr id="18" name="Text 15"/>
          <p:cNvSpPr/>
          <p:nvPr/>
        </p:nvSpPr>
        <p:spPr>
          <a:xfrm>
            <a:off x="8823960" y="4873752"/>
            <a:ext cx="2697480" cy="365760"/>
          </a:xfrm>
          <a:prstGeom prst="rect">
            <a:avLst/>
          </a:prstGeom>
          <a:noFill/>
          <a:ln/>
        </p:spPr>
        <p:txBody>
          <a:bodyPr wrap="square" lIns="0" tIns="0" rIns="0" bIns="0" rtlCol="0" anchor="ctr"/>
          <a:lstStyle/>
          <a:p>
            <a:pPr indent="0" marL="0">
              <a:buNone/>
            </a:pPr>
            <a:r>
              <a:rPr lang="en-US" sz="1150" b="1" dirty="0">
                <a:solidFill>
                  <a:srgbClr val="16283E"/>
                </a:solidFill>
                <a:latin typeface="Calibri" pitchFamily="34" charset="0"/>
                <a:ea typeface="Calibri" pitchFamily="34" charset="-122"/>
                <a:cs typeface="Calibri" pitchFamily="34" charset="-120"/>
              </a:rPr>
              <a:t>chiếm tỷ trọng lớn</a:t>
            </a:r>
            <a:endParaRPr lang="en-US" sz="1150" dirty="0"/>
          </a:p>
        </p:txBody>
      </p:sp>
      <p:sp>
        <p:nvSpPr>
          <p:cNvPr id="19" name="Text 16"/>
          <p:cNvSpPr/>
          <p:nvPr/>
        </p:nvSpPr>
        <p:spPr>
          <a:xfrm>
            <a:off x="7772400" y="5330952"/>
            <a:ext cx="3611880" cy="731520"/>
          </a:xfrm>
          <a:prstGeom prst="rect">
            <a:avLst/>
          </a:prstGeom>
          <a:noFill/>
          <a:ln/>
        </p:spPr>
        <p:txBody>
          <a:bodyPr wrap="square" lIns="0" tIns="0" rIns="0" bIns="0" rtlCol="0" anchor="ctr"/>
          <a:lstStyle/>
          <a:p>
            <a:pPr indent="0" marL="0">
              <a:lnSpc>
                <a:spcPct val="108000"/>
              </a:lnSpc>
              <a:buNone/>
            </a:pPr>
            <a:r>
              <a:rPr lang="en-US" sz="1050" dirty="0">
                <a:solidFill>
                  <a:srgbClr val="5A6B80"/>
                </a:solidFill>
                <a:latin typeface="Calibri" pitchFamily="34" charset="0"/>
                <a:ea typeface="Calibri" pitchFamily="34" charset="-122"/>
                <a:cs typeface="Calibri" pitchFamily="34" charset="-120"/>
              </a:rPr>
              <a:t>Phê duyệt &amp; ghi nhận hệ thống cần được tối ưu (tự động duyệt quyền cơ bản) để giảm Lead Time.</a:t>
            </a:r>
            <a:endParaRPr lang="en-US" sz="1050" dirty="0"/>
          </a:p>
        </p:txBody>
      </p:sp>
      <p:sp>
        <p:nvSpPr>
          <p:cNvPr id="20" name="Text 17"/>
          <p:cNvSpPr/>
          <p:nvPr/>
        </p:nvSpPr>
        <p:spPr>
          <a:xfrm>
            <a:off x="11411712" y="6473952"/>
            <a:ext cx="457200" cy="274320"/>
          </a:xfrm>
          <a:prstGeom prst="rect">
            <a:avLst/>
          </a:prstGeom>
          <a:noFill/>
          <a:ln/>
        </p:spPr>
        <p:txBody>
          <a:bodyPr wrap="square" rtlCol="0" anchor="ctr"/>
          <a:lstStyle/>
          <a:p>
            <a:pPr algn="r" indent="0" marL="0">
              <a:buNone/>
            </a:pPr>
            <a:r>
              <a:rPr lang="en-US" sz="900" dirty="0">
                <a:solidFill>
                  <a:srgbClr val="5A6B80"/>
                </a:solidFill>
                <a:latin typeface="Calibri" pitchFamily="34" charset="0"/>
                <a:ea typeface="Calibri" pitchFamily="34" charset="-122"/>
                <a:cs typeface="Calibri" pitchFamily="34" charset="-120"/>
              </a:rPr>
              <a:t>09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lIns="0" tIns="0" rIns="0" bIns="0" rtlCol="0" anchor="ctr"/>
          <a:lstStyle/>
          <a:p>
            <a:pPr indent="0" marL="0">
              <a:buNone/>
            </a:pPr>
            <a:r>
              <a:rPr lang="en-US" sz="1050" b="1" spc="240" kern="0" dirty="0">
                <a:solidFill>
                  <a:srgbClr val="2160A6"/>
                </a:solidFill>
                <a:latin typeface="Calibri" pitchFamily="34" charset="0"/>
                <a:ea typeface="Calibri" pitchFamily="34" charset="-122"/>
                <a:cs typeface="Calibri" pitchFamily="34" charset="-120"/>
              </a:rPr>
              <a:t>CHƯƠNG 4 · PHÂN TÍCH HIỆU SUẤT</a:t>
            </a:r>
            <a:endParaRPr lang="en-US" sz="1050" dirty="0"/>
          </a:p>
        </p:txBody>
      </p:sp>
      <p:sp>
        <p:nvSpPr>
          <p:cNvPr id="3" name="Text 1"/>
          <p:cNvSpPr/>
          <p:nvPr/>
        </p:nvSpPr>
        <p:spPr>
          <a:xfrm>
            <a:off x="548640" y="566928"/>
            <a:ext cx="11064240" cy="566928"/>
          </a:xfrm>
          <a:prstGeom prst="rect">
            <a:avLst/>
          </a:prstGeom>
          <a:noFill/>
          <a:ln/>
        </p:spPr>
        <p:txBody>
          <a:bodyPr wrap="square" lIns="0" tIns="0" rIns="0" bIns="0" rtlCol="0" anchor="ctr"/>
          <a:lstStyle/>
          <a:p>
            <a:pPr indent="0" marL="0">
              <a:buNone/>
            </a:pPr>
            <a:r>
              <a:rPr lang="en-US" sz="2900" b="1" dirty="0">
                <a:solidFill>
                  <a:srgbClr val="0A2E5C"/>
                </a:solidFill>
                <a:latin typeface="Cambria" pitchFamily="34" charset="0"/>
                <a:ea typeface="Cambria" pitchFamily="34" charset="-122"/>
                <a:cs typeface="Cambria" pitchFamily="34" charset="-120"/>
              </a:rPr>
              <a:t>Ba loại lãng phí nhận diện theo tư duy Lean</a:t>
            </a:r>
            <a:endParaRPr lang="en-US" sz="2900" dirty="0"/>
          </a:p>
        </p:txBody>
      </p:sp>
      <p:sp>
        <p:nvSpPr>
          <p:cNvPr id="4" name="Shape 2"/>
          <p:cNvSpPr/>
          <p:nvPr/>
        </p:nvSpPr>
        <p:spPr>
          <a:xfrm>
            <a:off x="566928" y="1417320"/>
            <a:ext cx="3639312" cy="4526280"/>
          </a:xfrm>
          <a:prstGeom prst="roundRect">
            <a:avLst>
              <a:gd name="adj" fmla="val 2261"/>
            </a:avLst>
          </a:prstGeom>
          <a:solidFill>
            <a:srgbClr val="FFFFFF"/>
          </a:solidFill>
          <a:ln w="12700">
            <a:solidFill>
              <a:srgbClr val="D3DFEE"/>
            </a:solidFill>
            <a:prstDash val="solid"/>
          </a:ln>
          <a:effectLst>
            <a:outerShdw sx="100000" sy="100000" kx="0" ky="0" algn="bl" rotWithShape="0" blurRad="88900" dist="25400" dir="5400000">
              <a:srgbClr val="0A2E5C">
                <a:alpha val="14000"/>
              </a:srgbClr>
            </a:outerShdw>
          </a:effectLst>
        </p:spPr>
      </p:sp>
      <p:sp>
        <p:nvSpPr>
          <p:cNvPr id="5" name="Shape 3"/>
          <p:cNvSpPr/>
          <p:nvPr/>
        </p:nvSpPr>
        <p:spPr>
          <a:xfrm>
            <a:off x="1984248" y="1709928"/>
            <a:ext cx="804672" cy="804672"/>
          </a:xfrm>
          <a:prstGeom prst="ellipse">
            <a:avLst/>
          </a:prstGeom>
          <a:solidFill>
            <a:srgbClr val="B3402A"/>
          </a:solidFill>
          <a:ln/>
        </p:spPr>
      </p:sp>
      <p:pic>
        <p:nvPicPr>
          <p:cNvPr id="6" name="Image 0" descr="icons/exchange_white.png">    </p:cNvPr>
          <p:cNvPicPr>
            <a:picLocks noChangeAspect="1"/>
          </p:cNvPicPr>
          <p:nvPr/>
        </p:nvPicPr>
        <p:blipFill>
          <a:blip r:embed="rId1"/>
          <a:stretch>
            <a:fillRect/>
          </a:stretch>
        </p:blipFill>
        <p:spPr>
          <a:xfrm>
            <a:off x="2201509" y="1927189"/>
            <a:ext cx="370149" cy="370149"/>
          </a:xfrm>
          <a:prstGeom prst="rect">
            <a:avLst/>
          </a:prstGeom>
        </p:spPr>
      </p:pic>
      <p:sp>
        <p:nvSpPr>
          <p:cNvPr id="7" name="Text 4"/>
          <p:cNvSpPr/>
          <p:nvPr/>
        </p:nvSpPr>
        <p:spPr>
          <a:xfrm>
            <a:off x="566928" y="2606040"/>
            <a:ext cx="3639312" cy="384048"/>
          </a:xfrm>
          <a:prstGeom prst="rect">
            <a:avLst/>
          </a:prstGeom>
          <a:noFill/>
          <a:ln/>
        </p:spPr>
        <p:txBody>
          <a:bodyPr wrap="square" lIns="0" tIns="0" rIns="0" bIns="0" rtlCol="0" anchor="ctr"/>
          <a:lstStyle/>
          <a:p>
            <a:pPr algn="ctr" indent="0" marL="0">
              <a:buNone/>
            </a:pPr>
            <a:r>
              <a:rPr lang="en-US" sz="2100" b="1" dirty="0">
                <a:solidFill>
                  <a:srgbClr val="0A2E5C"/>
                </a:solidFill>
                <a:latin typeface="Cambria" pitchFamily="34" charset="0"/>
                <a:ea typeface="Cambria" pitchFamily="34" charset="-122"/>
                <a:cs typeface="Cambria" pitchFamily="34" charset="-120"/>
              </a:rPr>
              <a:t>MOVE</a:t>
            </a:r>
            <a:endParaRPr lang="en-US" sz="2100" dirty="0"/>
          </a:p>
        </p:txBody>
      </p:sp>
      <p:sp>
        <p:nvSpPr>
          <p:cNvPr id="8" name="Text 5"/>
          <p:cNvSpPr/>
          <p:nvPr/>
        </p:nvSpPr>
        <p:spPr>
          <a:xfrm>
            <a:off x="566928" y="2990088"/>
            <a:ext cx="3639312" cy="274320"/>
          </a:xfrm>
          <a:prstGeom prst="rect">
            <a:avLst/>
          </a:prstGeom>
          <a:noFill/>
          <a:ln/>
        </p:spPr>
        <p:txBody>
          <a:bodyPr wrap="square" lIns="0" tIns="0" rIns="0" bIns="0" rtlCol="0" anchor="ctr"/>
          <a:lstStyle/>
          <a:p>
            <a:pPr algn="ctr" indent="0" marL="0">
              <a:buNone/>
            </a:pPr>
            <a:r>
              <a:rPr lang="en-US" sz="1150" dirty="0">
                <a:solidFill>
                  <a:srgbClr val="5A6B80"/>
                </a:solidFill>
                <a:latin typeface="Calibri" pitchFamily="34" charset="0"/>
                <a:ea typeface="Calibri" pitchFamily="34" charset="-122"/>
                <a:cs typeface="Calibri" pitchFamily="34" charset="-120"/>
              </a:rPr>
              <a:t>Chuyển giao (Handoff)</a:t>
            </a:r>
            <a:endParaRPr lang="en-US" sz="1150" dirty="0"/>
          </a:p>
        </p:txBody>
      </p:sp>
      <p:sp>
        <p:nvSpPr>
          <p:cNvPr id="9" name="Text 6"/>
          <p:cNvSpPr/>
          <p:nvPr/>
        </p:nvSpPr>
        <p:spPr>
          <a:xfrm>
            <a:off x="841248" y="3429000"/>
            <a:ext cx="3090672" cy="1920240"/>
          </a:xfrm>
          <a:prstGeom prst="rect">
            <a:avLst/>
          </a:prstGeom>
          <a:noFill/>
          <a:ln/>
        </p:spPr>
        <p:txBody>
          <a:bodyPr wrap="square" lIns="0" tIns="0" rIns="0" bIns="0" rtlCol="0" anchor="ctr"/>
          <a:lstStyle/>
          <a:p>
            <a:pPr marL="342900" indent="-342900">
              <a:lnSpc>
                <a:spcPct val="110000"/>
              </a:lnSpc>
              <a:spcAft>
                <a:spcPts val="1000"/>
              </a:spcAft>
              <a:buSzPct val="100000"/>
              <a:buChar char="•"/>
            </a:pPr>
            <a:r>
              <a:rPr lang="en-US" sz="1100" dirty="0">
                <a:solidFill>
                  <a:srgbClr val="16283E"/>
                </a:solidFill>
                <a:latin typeface="Calibri" pitchFamily="34" charset="0"/>
                <a:ea typeface="Calibri" pitchFamily="34" charset="-122"/>
                <a:cs typeface="Calibri" pitchFamily="34" charset="-120"/>
              </a:rPr>
              <a:t>Yêu cầu luân chuyển qua cả 4 Làn: Người dùng → Quản lý → ITSM → Service Desk.</a:t>
            </a:r>
            <a:endParaRPr lang="en-US" sz="1100" dirty="0"/>
          </a:p>
          <a:p>
            <a:pPr marL="342900" indent="-342900">
              <a:lnSpc>
                <a:spcPct val="110000"/>
              </a:lnSpc>
              <a:spcAft>
                <a:spcPts val="1000"/>
              </a:spcAft>
              <a:buSzPct val="100000"/>
              <a:buChar char="•"/>
            </a:pPr>
            <a:r>
              <a:rPr lang="en-US" sz="1100" dirty="0">
                <a:solidFill>
                  <a:srgbClr val="16283E"/>
                </a:solidFill>
                <a:latin typeface="Calibri" pitchFamily="34" charset="0"/>
                <a:ea typeface="Calibri" pitchFamily="34" charset="-122"/>
                <a:cs typeface="Calibri" pitchFamily="34" charset="-120"/>
              </a:rPr>
              <a:t>Ping-pong IT ↔ người dùng khi "Bổ sung thông tin" đẩy lãng phí lên cao nhất, rủi ro trôi trượt thông tin qua mỗi trạm.</a:t>
            </a:r>
            <a:endParaRPr lang="en-US" sz="1100" dirty="0"/>
          </a:p>
        </p:txBody>
      </p:sp>
      <p:sp>
        <p:nvSpPr>
          <p:cNvPr id="10" name="Shape 7"/>
          <p:cNvSpPr/>
          <p:nvPr/>
        </p:nvSpPr>
        <p:spPr>
          <a:xfrm>
            <a:off x="4370832" y="1417320"/>
            <a:ext cx="3639312" cy="4526280"/>
          </a:xfrm>
          <a:prstGeom prst="roundRect">
            <a:avLst>
              <a:gd name="adj" fmla="val 2261"/>
            </a:avLst>
          </a:prstGeom>
          <a:solidFill>
            <a:srgbClr val="F4F8FC"/>
          </a:solidFill>
          <a:ln w="12700">
            <a:solidFill>
              <a:srgbClr val="D3DFEE"/>
            </a:solidFill>
            <a:prstDash val="solid"/>
          </a:ln>
          <a:effectLst>
            <a:outerShdw sx="100000" sy="100000" kx="0" ky="0" algn="bl" rotWithShape="0" blurRad="88900" dist="25400" dir="5400000">
              <a:srgbClr val="0A2E5C">
                <a:alpha val="14000"/>
              </a:srgbClr>
            </a:outerShdw>
          </a:effectLst>
        </p:spPr>
      </p:sp>
      <p:sp>
        <p:nvSpPr>
          <p:cNvPr id="11" name="Shape 8"/>
          <p:cNvSpPr/>
          <p:nvPr/>
        </p:nvSpPr>
        <p:spPr>
          <a:xfrm>
            <a:off x="5788152" y="1709928"/>
            <a:ext cx="804672" cy="804672"/>
          </a:xfrm>
          <a:prstGeom prst="ellipse">
            <a:avLst/>
          </a:prstGeom>
          <a:solidFill>
            <a:srgbClr val="B3402A"/>
          </a:solidFill>
          <a:ln/>
        </p:spPr>
      </p:sp>
      <p:pic>
        <p:nvPicPr>
          <p:cNvPr id="12" name="Image 1" descr="icons/clock_white.png">    </p:cNvPr>
          <p:cNvPicPr>
            <a:picLocks noChangeAspect="1"/>
          </p:cNvPicPr>
          <p:nvPr/>
        </p:nvPicPr>
        <p:blipFill>
          <a:blip r:embed="rId2"/>
          <a:stretch>
            <a:fillRect/>
          </a:stretch>
        </p:blipFill>
        <p:spPr>
          <a:xfrm>
            <a:off x="6005413" y="1927189"/>
            <a:ext cx="370149" cy="370149"/>
          </a:xfrm>
          <a:prstGeom prst="rect">
            <a:avLst/>
          </a:prstGeom>
        </p:spPr>
      </p:pic>
      <p:sp>
        <p:nvSpPr>
          <p:cNvPr id="13" name="Text 9"/>
          <p:cNvSpPr/>
          <p:nvPr/>
        </p:nvSpPr>
        <p:spPr>
          <a:xfrm>
            <a:off x="4370832" y="2606040"/>
            <a:ext cx="3639312" cy="384048"/>
          </a:xfrm>
          <a:prstGeom prst="rect">
            <a:avLst/>
          </a:prstGeom>
          <a:noFill/>
          <a:ln/>
        </p:spPr>
        <p:txBody>
          <a:bodyPr wrap="square" lIns="0" tIns="0" rIns="0" bIns="0" rtlCol="0" anchor="ctr"/>
          <a:lstStyle/>
          <a:p>
            <a:pPr algn="ctr" indent="0" marL="0">
              <a:buNone/>
            </a:pPr>
            <a:r>
              <a:rPr lang="en-US" sz="2100" b="1" dirty="0">
                <a:solidFill>
                  <a:srgbClr val="0A2E5C"/>
                </a:solidFill>
                <a:latin typeface="Cambria" pitchFamily="34" charset="0"/>
                <a:ea typeface="Cambria" pitchFamily="34" charset="-122"/>
                <a:cs typeface="Cambria" pitchFamily="34" charset="-120"/>
              </a:rPr>
              <a:t>HOLD</a:t>
            </a:r>
            <a:endParaRPr lang="en-US" sz="2100" dirty="0"/>
          </a:p>
        </p:txBody>
      </p:sp>
      <p:sp>
        <p:nvSpPr>
          <p:cNvPr id="14" name="Text 10"/>
          <p:cNvSpPr/>
          <p:nvPr/>
        </p:nvSpPr>
        <p:spPr>
          <a:xfrm>
            <a:off x="4370832" y="2990088"/>
            <a:ext cx="3639312" cy="274320"/>
          </a:xfrm>
          <a:prstGeom prst="rect">
            <a:avLst/>
          </a:prstGeom>
          <a:noFill/>
          <a:ln/>
        </p:spPr>
        <p:txBody>
          <a:bodyPr wrap="square" lIns="0" tIns="0" rIns="0" bIns="0" rtlCol="0" anchor="ctr"/>
          <a:lstStyle/>
          <a:p>
            <a:pPr algn="ctr" indent="0" marL="0">
              <a:buNone/>
            </a:pPr>
            <a:r>
              <a:rPr lang="en-US" sz="1150" dirty="0">
                <a:solidFill>
                  <a:srgbClr val="5A6B80"/>
                </a:solidFill>
                <a:latin typeface="Calibri" pitchFamily="34" charset="0"/>
                <a:ea typeface="Calibri" pitchFamily="34" charset="-122"/>
                <a:cs typeface="Calibri" pitchFamily="34" charset="-120"/>
              </a:rPr>
              <a:t>Chờ đợi (Waiting)</a:t>
            </a:r>
            <a:endParaRPr lang="en-US" sz="1150" dirty="0"/>
          </a:p>
        </p:txBody>
      </p:sp>
      <p:sp>
        <p:nvSpPr>
          <p:cNvPr id="15" name="Text 11"/>
          <p:cNvSpPr/>
          <p:nvPr/>
        </p:nvSpPr>
        <p:spPr>
          <a:xfrm>
            <a:off x="4645152" y="3429000"/>
            <a:ext cx="3090672" cy="1920240"/>
          </a:xfrm>
          <a:prstGeom prst="rect">
            <a:avLst/>
          </a:prstGeom>
          <a:noFill/>
          <a:ln/>
        </p:spPr>
        <p:txBody>
          <a:bodyPr wrap="square" lIns="0" tIns="0" rIns="0" bIns="0" rtlCol="0" anchor="ctr"/>
          <a:lstStyle/>
          <a:p>
            <a:pPr marL="342900" indent="-342900">
              <a:lnSpc>
                <a:spcPct val="110000"/>
              </a:lnSpc>
              <a:spcAft>
                <a:spcPts val="1000"/>
              </a:spcAft>
              <a:buSzPct val="100000"/>
              <a:buChar char="•"/>
            </a:pPr>
            <a:r>
              <a:rPr lang="en-US" sz="1100" dirty="0">
                <a:solidFill>
                  <a:srgbClr val="16283E"/>
                </a:solidFill>
                <a:latin typeface="Calibri" pitchFamily="34" charset="0"/>
                <a:ea typeface="Calibri" pitchFamily="34" charset="-122"/>
                <a:cs typeface="Calibri" pitchFamily="34" charset="-120"/>
              </a:rPr>
              <a:t>Phiếu bị "ngâm" chờ duyệt khi quản lý bận họp, đi công tác — dù đội IT phía sau đang rảnh.</a:t>
            </a:r>
            <a:endParaRPr lang="en-US" sz="1100" dirty="0"/>
          </a:p>
          <a:p>
            <a:pPr marL="342900" indent="-342900">
              <a:lnSpc>
                <a:spcPct val="110000"/>
              </a:lnSpc>
              <a:spcAft>
                <a:spcPts val="1000"/>
              </a:spcAft>
              <a:buSzPct val="100000"/>
              <a:buChar char="•"/>
            </a:pPr>
            <a:r>
              <a:rPr lang="en-US" sz="1100" dirty="0">
                <a:solidFill>
                  <a:srgbClr val="16283E"/>
                </a:solidFill>
                <a:latin typeface="Calibri" pitchFamily="34" charset="0"/>
                <a:ea typeface="Calibri" pitchFamily="34" charset="-122"/>
                <a:cs typeface="Calibri" pitchFamily="34" charset="-120"/>
              </a:rPr>
              <a:t>Cổng AND-join buộc chờ cả "Cấu hình cấp quyền" và "Ghi log bảo mật" hoàn tất mới đi tiếp.</a:t>
            </a:r>
            <a:endParaRPr lang="en-US" sz="1100" dirty="0"/>
          </a:p>
        </p:txBody>
      </p:sp>
      <p:sp>
        <p:nvSpPr>
          <p:cNvPr id="16" name="Shape 12"/>
          <p:cNvSpPr/>
          <p:nvPr/>
        </p:nvSpPr>
        <p:spPr>
          <a:xfrm>
            <a:off x="4873752" y="5431536"/>
            <a:ext cx="2633472" cy="347472"/>
          </a:xfrm>
          <a:prstGeom prst="roundRect">
            <a:avLst>
              <a:gd name="adj" fmla="val 50000"/>
            </a:avLst>
          </a:prstGeom>
          <a:solidFill>
            <a:srgbClr val="F2A900"/>
          </a:solidFill>
          <a:ln/>
        </p:spPr>
      </p:sp>
      <p:sp>
        <p:nvSpPr>
          <p:cNvPr id="17" name="Text 13"/>
          <p:cNvSpPr/>
          <p:nvPr/>
        </p:nvSpPr>
        <p:spPr>
          <a:xfrm>
            <a:off x="4873752" y="5431536"/>
            <a:ext cx="2633472" cy="347472"/>
          </a:xfrm>
          <a:prstGeom prst="rect">
            <a:avLst/>
          </a:prstGeom>
          <a:noFill/>
          <a:ln/>
        </p:spPr>
        <p:txBody>
          <a:bodyPr wrap="square" lIns="0" tIns="0" rIns="0" bIns="0" rtlCol="0" anchor="ctr"/>
          <a:lstStyle/>
          <a:p>
            <a:pPr algn="ctr" indent="0" marL="0">
              <a:buNone/>
            </a:pPr>
            <a:r>
              <a:rPr lang="en-US" sz="1050" b="1" dirty="0">
                <a:solidFill>
                  <a:srgbClr val="0A2E5C"/>
                </a:solidFill>
                <a:latin typeface="Calibri" pitchFamily="34" charset="0"/>
                <a:ea typeface="Calibri" pitchFamily="34" charset="-122"/>
                <a:cs typeface="Calibri" pitchFamily="34" charset="-120"/>
              </a:rPr>
              <a:t>Phổ biến &amp; nghiêm trọng nhất</a:t>
            </a:r>
            <a:endParaRPr lang="en-US" sz="1050" dirty="0"/>
          </a:p>
        </p:txBody>
      </p:sp>
      <p:sp>
        <p:nvSpPr>
          <p:cNvPr id="18" name="Shape 14"/>
          <p:cNvSpPr/>
          <p:nvPr/>
        </p:nvSpPr>
        <p:spPr>
          <a:xfrm>
            <a:off x="8174736" y="1417320"/>
            <a:ext cx="3639312" cy="4526280"/>
          </a:xfrm>
          <a:prstGeom prst="roundRect">
            <a:avLst>
              <a:gd name="adj" fmla="val 2261"/>
            </a:avLst>
          </a:prstGeom>
          <a:solidFill>
            <a:srgbClr val="FFFFFF"/>
          </a:solidFill>
          <a:ln w="12700">
            <a:solidFill>
              <a:srgbClr val="D3DFEE"/>
            </a:solidFill>
            <a:prstDash val="solid"/>
          </a:ln>
          <a:effectLst>
            <a:outerShdw sx="100000" sy="100000" kx="0" ky="0" algn="bl" rotWithShape="0" blurRad="88900" dist="25400" dir="5400000">
              <a:srgbClr val="0A2E5C">
                <a:alpha val="14000"/>
              </a:srgbClr>
            </a:outerShdw>
          </a:effectLst>
        </p:spPr>
      </p:sp>
      <p:sp>
        <p:nvSpPr>
          <p:cNvPr id="19" name="Shape 15"/>
          <p:cNvSpPr/>
          <p:nvPr/>
        </p:nvSpPr>
        <p:spPr>
          <a:xfrm>
            <a:off x="9592056" y="1709928"/>
            <a:ext cx="804672" cy="804672"/>
          </a:xfrm>
          <a:prstGeom prst="ellipse">
            <a:avLst/>
          </a:prstGeom>
          <a:solidFill>
            <a:srgbClr val="B3402A"/>
          </a:solidFill>
          <a:ln/>
        </p:spPr>
      </p:sp>
      <p:pic>
        <p:nvPicPr>
          <p:cNvPr id="20" name="Image 2" descr="icons/clone_white.png">    </p:cNvPr>
          <p:cNvPicPr>
            <a:picLocks noChangeAspect="1"/>
          </p:cNvPicPr>
          <p:nvPr/>
        </p:nvPicPr>
        <p:blipFill>
          <a:blip r:embed="rId3"/>
          <a:stretch>
            <a:fillRect/>
          </a:stretch>
        </p:blipFill>
        <p:spPr>
          <a:xfrm>
            <a:off x="9809317" y="1927189"/>
            <a:ext cx="370149" cy="370149"/>
          </a:xfrm>
          <a:prstGeom prst="rect">
            <a:avLst/>
          </a:prstGeom>
        </p:spPr>
      </p:pic>
      <p:sp>
        <p:nvSpPr>
          <p:cNvPr id="21" name="Text 16"/>
          <p:cNvSpPr/>
          <p:nvPr/>
        </p:nvSpPr>
        <p:spPr>
          <a:xfrm>
            <a:off x="8174736" y="2606040"/>
            <a:ext cx="3639312" cy="384048"/>
          </a:xfrm>
          <a:prstGeom prst="rect">
            <a:avLst/>
          </a:prstGeom>
          <a:noFill/>
          <a:ln/>
        </p:spPr>
        <p:txBody>
          <a:bodyPr wrap="square" lIns="0" tIns="0" rIns="0" bIns="0" rtlCol="0" anchor="ctr"/>
          <a:lstStyle/>
          <a:p>
            <a:pPr algn="ctr" indent="0" marL="0">
              <a:buNone/>
            </a:pPr>
            <a:r>
              <a:rPr lang="en-US" sz="2100" b="1" dirty="0">
                <a:solidFill>
                  <a:srgbClr val="0A2E5C"/>
                </a:solidFill>
                <a:latin typeface="Cambria" pitchFamily="34" charset="0"/>
                <a:ea typeface="Cambria" pitchFamily="34" charset="-122"/>
                <a:cs typeface="Cambria" pitchFamily="34" charset="-120"/>
              </a:rPr>
              <a:t>OVERDO</a:t>
            </a:r>
            <a:endParaRPr lang="en-US" sz="2100" dirty="0"/>
          </a:p>
        </p:txBody>
      </p:sp>
      <p:sp>
        <p:nvSpPr>
          <p:cNvPr id="22" name="Text 17"/>
          <p:cNvSpPr/>
          <p:nvPr/>
        </p:nvSpPr>
        <p:spPr>
          <a:xfrm>
            <a:off x="8174736" y="2990088"/>
            <a:ext cx="3639312" cy="274320"/>
          </a:xfrm>
          <a:prstGeom prst="rect">
            <a:avLst/>
          </a:prstGeom>
          <a:noFill/>
          <a:ln/>
        </p:spPr>
        <p:txBody>
          <a:bodyPr wrap="square" lIns="0" tIns="0" rIns="0" bIns="0" rtlCol="0" anchor="ctr"/>
          <a:lstStyle/>
          <a:p>
            <a:pPr algn="ctr" indent="0" marL="0">
              <a:buNone/>
            </a:pPr>
            <a:r>
              <a:rPr lang="en-US" sz="1150" dirty="0">
                <a:solidFill>
                  <a:srgbClr val="5A6B80"/>
                </a:solidFill>
                <a:latin typeface="Calibri" pitchFamily="34" charset="0"/>
                <a:ea typeface="Calibri" pitchFamily="34" charset="-122"/>
                <a:cs typeface="Calibri" pitchFamily="34" charset="-120"/>
              </a:rPr>
              <a:t>Làm thừa (Overprocessing)</a:t>
            </a:r>
            <a:endParaRPr lang="en-US" sz="1150" dirty="0"/>
          </a:p>
        </p:txBody>
      </p:sp>
      <p:sp>
        <p:nvSpPr>
          <p:cNvPr id="23" name="Text 18"/>
          <p:cNvSpPr/>
          <p:nvPr/>
        </p:nvSpPr>
        <p:spPr>
          <a:xfrm>
            <a:off x="8449056" y="3429000"/>
            <a:ext cx="3090672" cy="1920240"/>
          </a:xfrm>
          <a:prstGeom prst="rect">
            <a:avLst/>
          </a:prstGeom>
          <a:noFill/>
          <a:ln/>
        </p:spPr>
        <p:txBody>
          <a:bodyPr wrap="square" lIns="0" tIns="0" rIns="0" bIns="0" rtlCol="0" anchor="ctr"/>
          <a:lstStyle/>
          <a:p>
            <a:pPr marL="342900" indent="-342900">
              <a:lnSpc>
                <a:spcPct val="110000"/>
              </a:lnSpc>
              <a:spcAft>
                <a:spcPts val="1000"/>
              </a:spcAft>
              <a:buSzPct val="100000"/>
              <a:buChar char="•"/>
            </a:pPr>
            <a:r>
              <a:rPr lang="en-US" sz="1100" dirty="0">
                <a:solidFill>
                  <a:srgbClr val="16283E"/>
                </a:solidFill>
                <a:latin typeface="Calibri" pitchFamily="34" charset="0"/>
                <a:ea typeface="Calibri" pitchFamily="34" charset="-122"/>
                <a:cs typeface="Calibri" pitchFamily="34" charset="-120"/>
              </a:rPr>
              <a:t>Cổng "Cần duyệt?" áp cho mọi loại phiếu — kể cả quyền rủi ro thấp: wifi, folder chung, cấp lại mật khẩu.</a:t>
            </a:r>
            <a:endParaRPr lang="en-US" sz="1100" dirty="0"/>
          </a:p>
          <a:p>
            <a:pPr marL="342900" indent="-342900">
              <a:lnSpc>
                <a:spcPct val="110000"/>
              </a:lnSpc>
              <a:spcAft>
                <a:spcPts val="1000"/>
              </a:spcAft>
              <a:buSzPct val="100000"/>
              <a:buChar char="•"/>
            </a:pPr>
            <a:r>
              <a:rPr lang="en-US" sz="1100" dirty="0">
                <a:solidFill>
                  <a:srgbClr val="16283E"/>
                </a:solidFill>
                <a:latin typeface="Calibri" pitchFamily="34" charset="0"/>
                <a:ea typeface="Calibri" pitchFamily="34" charset="-122"/>
                <a:cs typeface="Calibri" pitchFamily="34" charset="-120"/>
              </a:rPr>
              <a:t>Lãng phí chất xám &amp; thời gian cấp quản lý; quy trình nặng thủ tục thay vì tốc độ phục vụ.</a:t>
            </a:r>
            <a:endParaRPr lang="en-US" sz="1100" dirty="0"/>
          </a:p>
        </p:txBody>
      </p:sp>
      <p:sp>
        <p:nvSpPr>
          <p:cNvPr id="24" name="Text 19"/>
          <p:cNvSpPr/>
          <p:nvPr/>
        </p:nvSpPr>
        <p:spPr>
          <a:xfrm>
            <a:off x="11411712" y="6473952"/>
            <a:ext cx="457200" cy="274320"/>
          </a:xfrm>
          <a:prstGeom prst="rect">
            <a:avLst/>
          </a:prstGeom>
          <a:noFill/>
          <a:ln/>
        </p:spPr>
        <p:txBody>
          <a:bodyPr wrap="square" rtlCol="0" anchor="ctr"/>
          <a:lstStyle/>
          <a:p>
            <a:pPr algn="r" indent="0" marL="0">
              <a:buNone/>
            </a:pPr>
            <a:r>
              <a:rPr lang="en-US" sz="900" dirty="0">
                <a:solidFill>
                  <a:srgbClr val="5A6B80"/>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lIns="0" tIns="0" rIns="0" bIns="0" rtlCol="0" anchor="ctr"/>
          <a:lstStyle/>
          <a:p>
            <a:pPr indent="0" marL="0">
              <a:buNone/>
            </a:pPr>
            <a:r>
              <a:rPr lang="en-US" sz="1050" b="1" spc="240" kern="0" dirty="0">
                <a:solidFill>
                  <a:srgbClr val="2160A6"/>
                </a:solidFill>
                <a:latin typeface="Calibri" pitchFamily="34" charset="0"/>
                <a:ea typeface="Calibri" pitchFamily="34" charset="-122"/>
                <a:cs typeface="Calibri" pitchFamily="34" charset="-120"/>
              </a:rPr>
              <a:t>CHƯƠNG 4 · PHÂN TÍCH HIỆU SUẤT</a:t>
            </a:r>
            <a:endParaRPr lang="en-US" sz="1050" dirty="0"/>
          </a:p>
        </p:txBody>
      </p:sp>
      <p:sp>
        <p:nvSpPr>
          <p:cNvPr id="3" name="Text 1"/>
          <p:cNvSpPr/>
          <p:nvPr/>
        </p:nvSpPr>
        <p:spPr>
          <a:xfrm>
            <a:off x="548640" y="566928"/>
            <a:ext cx="11064240" cy="566928"/>
          </a:xfrm>
          <a:prstGeom prst="rect">
            <a:avLst/>
          </a:prstGeom>
          <a:noFill/>
          <a:ln/>
        </p:spPr>
        <p:txBody>
          <a:bodyPr wrap="square" lIns="0" tIns="0" rIns="0" bIns="0" rtlCol="0" anchor="ctr"/>
          <a:lstStyle/>
          <a:p>
            <a:pPr indent="0" marL="0">
              <a:buNone/>
            </a:pPr>
            <a:r>
              <a:rPr lang="en-US" sz="2900" b="1" dirty="0">
                <a:solidFill>
                  <a:srgbClr val="0A2E5C"/>
                </a:solidFill>
                <a:latin typeface="Cambria" pitchFamily="34" charset="0"/>
                <a:ea typeface="Cambria" pitchFamily="34" charset="-122"/>
                <a:cs typeface="Cambria" pitchFamily="34" charset="-120"/>
              </a:rPr>
              <a:t>Nguyên nhân gốc rễ — Sơ đồ Xương cá &amp; Pareto</a:t>
            </a:r>
            <a:endParaRPr lang="en-US" sz="2900" dirty="0"/>
          </a:p>
        </p:txBody>
      </p:sp>
      <p:sp>
        <p:nvSpPr>
          <p:cNvPr id="4" name="Shape 2"/>
          <p:cNvSpPr/>
          <p:nvPr/>
        </p:nvSpPr>
        <p:spPr>
          <a:xfrm>
            <a:off x="566928" y="1417320"/>
            <a:ext cx="5413248" cy="1810512"/>
          </a:xfrm>
          <a:prstGeom prst="roundRect">
            <a:avLst>
              <a:gd name="adj" fmla="val 4545"/>
            </a:avLst>
          </a:prstGeom>
          <a:solidFill>
            <a:srgbClr val="FFFFFF"/>
          </a:solidFill>
          <a:ln w="12700">
            <a:solidFill>
              <a:srgbClr val="D3DFEE"/>
            </a:solidFill>
            <a:prstDash val="solid"/>
          </a:ln>
          <a:effectLst>
            <a:outerShdw sx="100000" sy="100000" kx="0" ky="0" algn="bl" rotWithShape="0" blurRad="88900" dist="25400" dir="5400000">
              <a:srgbClr val="0A2E5C">
                <a:alpha val="14000"/>
              </a:srgbClr>
            </a:outerShdw>
          </a:effectLst>
        </p:spPr>
      </p:sp>
      <p:sp>
        <p:nvSpPr>
          <p:cNvPr id="5" name="Shape 3"/>
          <p:cNvSpPr/>
          <p:nvPr/>
        </p:nvSpPr>
        <p:spPr>
          <a:xfrm>
            <a:off x="804672" y="1655064"/>
            <a:ext cx="512064" cy="512064"/>
          </a:xfrm>
          <a:prstGeom prst="ellipse">
            <a:avLst/>
          </a:prstGeom>
          <a:solidFill>
            <a:srgbClr val="0A2E5C"/>
          </a:solidFill>
          <a:ln/>
        </p:spPr>
      </p:sp>
      <p:pic>
        <p:nvPicPr>
          <p:cNvPr id="6" name="Image 0" descr="icons/users_white.png">    </p:cNvPr>
          <p:cNvPicPr>
            <a:picLocks noChangeAspect="1"/>
          </p:cNvPicPr>
          <p:nvPr/>
        </p:nvPicPr>
        <p:blipFill>
          <a:blip r:embed="rId1"/>
          <a:stretch>
            <a:fillRect/>
          </a:stretch>
        </p:blipFill>
        <p:spPr>
          <a:xfrm>
            <a:off x="942929" y="1793321"/>
            <a:ext cx="235549" cy="235549"/>
          </a:xfrm>
          <a:prstGeom prst="rect">
            <a:avLst/>
          </a:prstGeom>
        </p:spPr>
      </p:pic>
      <p:sp>
        <p:nvSpPr>
          <p:cNvPr id="7" name="Text 4"/>
          <p:cNvSpPr/>
          <p:nvPr/>
        </p:nvSpPr>
        <p:spPr>
          <a:xfrm>
            <a:off x="1463040" y="1636776"/>
            <a:ext cx="3200400" cy="310896"/>
          </a:xfrm>
          <a:prstGeom prst="rect">
            <a:avLst/>
          </a:prstGeom>
          <a:noFill/>
          <a:ln/>
        </p:spPr>
        <p:txBody>
          <a:bodyPr wrap="square" lIns="0" tIns="0" rIns="0" bIns="0" rtlCol="0" anchor="ctr"/>
          <a:lstStyle/>
          <a:p>
            <a:pPr indent="0" marL="0">
              <a:buNone/>
            </a:pPr>
            <a:r>
              <a:rPr lang="en-US" sz="1250" b="1" dirty="0">
                <a:solidFill>
                  <a:srgbClr val="0A2E5C"/>
                </a:solidFill>
                <a:latin typeface="Calibri" pitchFamily="34" charset="0"/>
                <a:ea typeface="Calibri" pitchFamily="34" charset="-122"/>
                <a:cs typeface="Calibri" pitchFamily="34" charset="-120"/>
              </a:rPr>
              <a:t>CON NGƯỜI (MAN)</a:t>
            </a:r>
            <a:endParaRPr lang="en-US" sz="1250" dirty="0"/>
          </a:p>
        </p:txBody>
      </p:sp>
      <p:sp>
        <p:nvSpPr>
          <p:cNvPr id="8" name="Text 5"/>
          <p:cNvSpPr/>
          <p:nvPr/>
        </p:nvSpPr>
        <p:spPr>
          <a:xfrm>
            <a:off x="1463040" y="2039112"/>
            <a:ext cx="4315968" cy="1051560"/>
          </a:xfrm>
          <a:prstGeom prst="rect">
            <a:avLst/>
          </a:prstGeom>
          <a:noFill/>
          <a:ln/>
        </p:spPr>
        <p:txBody>
          <a:bodyPr wrap="square" lIns="0" tIns="0" rIns="0" bIns="0" rtlCol="0" anchor="ctr"/>
          <a:lstStyle/>
          <a:p>
            <a:pPr indent="0" marL="0">
              <a:lnSpc>
                <a:spcPct val="110000"/>
              </a:lnSpc>
              <a:buNone/>
            </a:pPr>
            <a:r>
              <a:rPr lang="en-US" sz="1100" dirty="0">
                <a:solidFill>
                  <a:srgbClr val="16283E"/>
                </a:solidFill>
                <a:latin typeface="Calibri" pitchFamily="34" charset="0"/>
                <a:ea typeface="Calibri" pitchFamily="34" charset="-122"/>
                <a:cs typeface="Calibri" pitchFamily="34" charset="-120"/>
              </a:rPr>
              <a:t>Quản lý bận họp / công tác nên chậm thao tác phê duyệt; người dùng chưa quen thao tác trên Cổng dịch vụ.</a:t>
            </a:r>
            <a:endParaRPr lang="en-US" sz="1100" dirty="0"/>
          </a:p>
        </p:txBody>
      </p:sp>
      <p:sp>
        <p:nvSpPr>
          <p:cNvPr id="9" name="Shape 6"/>
          <p:cNvSpPr/>
          <p:nvPr/>
        </p:nvSpPr>
        <p:spPr>
          <a:xfrm>
            <a:off x="6199632" y="1417320"/>
            <a:ext cx="5413248" cy="1810512"/>
          </a:xfrm>
          <a:prstGeom prst="roundRect">
            <a:avLst>
              <a:gd name="adj" fmla="val 4545"/>
            </a:avLst>
          </a:prstGeom>
          <a:solidFill>
            <a:srgbClr val="FFFFFF"/>
          </a:solidFill>
          <a:ln w="22225">
            <a:solidFill>
              <a:srgbClr val="F2A900"/>
            </a:solidFill>
            <a:prstDash val="solid"/>
          </a:ln>
          <a:effectLst>
            <a:outerShdw sx="100000" sy="100000" kx="0" ky="0" algn="bl" rotWithShape="0" blurRad="88900" dist="25400" dir="5400000">
              <a:srgbClr val="0A2E5C">
                <a:alpha val="14000"/>
              </a:srgbClr>
            </a:outerShdw>
          </a:effectLst>
        </p:spPr>
      </p:sp>
      <p:sp>
        <p:nvSpPr>
          <p:cNvPr id="10" name="Shape 7"/>
          <p:cNvSpPr/>
          <p:nvPr/>
        </p:nvSpPr>
        <p:spPr>
          <a:xfrm>
            <a:off x="6437376" y="1655064"/>
            <a:ext cx="512064" cy="512064"/>
          </a:xfrm>
          <a:prstGeom prst="ellipse">
            <a:avLst/>
          </a:prstGeom>
          <a:solidFill>
            <a:srgbClr val="F2A900"/>
          </a:solidFill>
          <a:ln/>
        </p:spPr>
      </p:sp>
      <p:pic>
        <p:nvPicPr>
          <p:cNvPr id="11" name="Image 1" descr="icons/sitemap_navy.png">    </p:cNvPr>
          <p:cNvPicPr>
            <a:picLocks noChangeAspect="1"/>
          </p:cNvPicPr>
          <p:nvPr/>
        </p:nvPicPr>
        <p:blipFill>
          <a:blip r:embed="rId2"/>
          <a:stretch>
            <a:fillRect/>
          </a:stretch>
        </p:blipFill>
        <p:spPr>
          <a:xfrm>
            <a:off x="6575633" y="1793321"/>
            <a:ext cx="235549" cy="235549"/>
          </a:xfrm>
          <a:prstGeom prst="rect">
            <a:avLst/>
          </a:prstGeom>
        </p:spPr>
      </p:pic>
      <p:sp>
        <p:nvSpPr>
          <p:cNvPr id="12" name="Text 8"/>
          <p:cNvSpPr/>
          <p:nvPr/>
        </p:nvSpPr>
        <p:spPr>
          <a:xfrm>
            <a:off x="7095744" y="1636776"/>
            <a:ext cx="3200400" cy="310896"/>
          </a:xfrm>
          <a:prstGeom prst="rect">
            <a:avLst/>
          </a:prstGeom>
          <a:noFill/>
          <a:ln/>
        </p:spPr>
        <p:txBody>
          <a:bodyPr wrap="square" lIns="0" tIns="0" rIns="0" bIns="0" rtlCol="0" anchor="ctr"/>
          <a:lstStyle/>
          <a:p>
            <a:pPr indent="0" marL="0">
              <a:buNone/>
            </a:pPr>
            <a:r>
              <a:rPr lang="en-US" sz="1250" b="1" dirty="0">
                <a:solidFill>
                  <a:srgbClr val="0A2E5C"/>
                </a:solidFill>
                <a:latin typeface="Calibri" pitchFamily="34" charset="0"/>
                <a:ea typeface="Calibri" pitchFamily="34" charset="-122"/>
                <a:cs typeface="Calibri" pitchFamily="34" charset="-120"/>
              </a:rPr>
              <a:t>QUY TRÌNH (METHOD)</a:t>
            </a:r>
            <a:endParaRPr lang="en-US" sz="1250" dirty="0"/>
          </a:p>
        </p:txBody>
      </p:sp>
      <p:sp>
        <p:nvSpPr>
          <p:cNvPr id="13" name="Shape 9"/>
          <p:cNvSpPr/>
          <p:nvPr/>
        </p:nvSpPr>
        <p:spPr>
          <a:xfrm>
            <a:off x="10177272" y="1636776"/>
            <a:ext cx="1234440" cy="310896"/>
          </a:xfrm>
          <a:prstGeom prst="roundRect">
            <a:avLst>
              <a:gd name="adj" fmla="val 50000"/>
            </a:avLst>
          </a:prstGeom>
          <a:solidFill>
            <a:srgbClr val="F2A900"/>
          </a:solidFill>
          <a:ln/>
        </p:spPr>
      </p:sp>
      <p:sp>
        <p:nvSpPr>
          <p:cNvPr id="14" name="Text 10"/>
          <p:cNvSpPr/>
          <p:nvPr/>
        </p:nvSpPr>
        <p:spPr>
          <a:xfrm>
            <a:off x="10177272" y="1636776"/>
            <a:ext cx="1234440" cy="310896"/>
          </a:xfrm>
          <a:prstGeom prst="rect">
            <a:avLst/>
          </a:prstGeom>
          <a:noFill/>
          <a:ln/>
        </p:spPr>
        <p:txBody>
          <a:bodyPr wrap="square" lIns="0" tIns="0" rIns="0" bIns="0" rtlCol="0" anchor="ctr"/>
          <a:lstStyle/>
          <a:p>
            <a:pPr algn="ctr" indent="0" marL="0">
              <a:buNone/>
            </a:pPr>
            <a:r>
              <a:rPr lang="en-US" sz="950" b="1" dirty="0">
                <a:solidFill>
                  <a:srgbClr val="0A2E5C"/>
                </a:solidFill>
                <a:latin typeface="Calibri" pitchFamily="34" charset="0"/>
                <a:ea typeface="Calibri" pitchFamily="34" charset="-122"/>
                <a:cs typeface="Calibri" pitchFamily="34" charset="-120"/>
              </a:rPr>
              <a:t>Pareto ưu tiên</a:t>
            </a:r>
            <a:endParaRPr lang="en-US" sz="950" dirty="0"/>
          </a:p>
        </p:txBody>
      </p:sp>
      <p:sp>
        <p:nvSpPr>
          <p:cNvPr id="15" name="Text 11"/>
          <p:cNvSpPr/>
          <p:nvPr/>
        </p:nvSpPr>
        <p:spPr>
          <a:xfrm>
            <a:off x="7095744" y="2039112"/>
            <a:ext cx="4315968" cy="1051560"/>
          </a:xfrm>
          <a:prstGeom prst="rect">
            <a:avLst/>
          </a:prstGeom>
          <a:noFill/>
          <a:ln/>
        </p:spPr>
        <p:txBody>
          <a:bodyPr wrap="square" lIns="0" tIns="0" rIns="0" bIns="0" rtlCol="0" anchor="ctr"/>
          <a:lstStyle/>
          <a:p>
            <a:pPr indent="0" marL="0">
              <a:lnSpc>
                <a:spcPct val="110000"/>
              </a:lnSpc>
              <a:buNone/>
            </a:pPr>
            <a:r>
              <a:rPr lang="en-US" sz="1100" dirty="0">
                <a:solidFill>
                  <a:srgbClr val="16283E"/>
                </a:solidFill>
                <a:latin typeface="Calibri" pitchFamily="34" charset="0"/>
                <a:ea typeface="Calibri" pitchFamily="34" charset="-122"/>
                <a:cs typeface="Calibri" pitchFamily="34" charset="-120"/>
              </a:rPr>
              <a:t>Mọi PYC — kể cả quyền rủi ro thấp — đều qua phê duyệt thủ công; thiếu cơ chế phân loại rủi ro tự động.</a:t>
            </a:r>
            <a:endParaRPr lang="en-US" sz="1100" dirty="0"/>
          </a:p>
        </p:txBody>
      </p:sp>
      <p:sp>
        <p:nvSpPr>
          <p:cNvPr id="16" name="Shape 12"/>
          <p:cNvSpPr/>
          <p:nvPr/>
        </p:nvSpPr>
        <p:spPr>
          <a:xfrm>
            <a:off x="566928" y="3410712"/>
            <a:ext cx="5413248" cy="1810512"/>
          </a:xfrm>
          <a:prstGeom prst="roundRect">
            <a:avLst>
              <a:gd name="adj" fmla="val 4545"/>
            </a:avLst>
          </a:prstGeom>
          <a:solidFill>
            <a:srgbClr val="FFFFFF"/>
          </a:solidFill>
          <a:ln w="22225">
            <a:solidFill>
              <a:srgbClr val="F2A900"/>
            </a:solidFill>
            <a:prstDash val="solid"/>
          </a:ln>
          <a:effectLst>
            <a:outerShdw sx="100000" sy="100000" kx="0" ky="0" algn="bl" rotWithShape="0" blurRad="88900" dist="25400" dir="5400000">
              <a:srgbClr val="0A2E5C">
                <a:alpha val="14000"/>
              </a:srgbClr>
            </a:outerShdw>
          </a:effectLst>
        </p:spPr>
      </p:sp>
      <p:sp>
        <p:nvSpPr>
          <p:cNvPr id="17" name="Shape 13"/>
          <p:cNvSpPr/>
          <p:nvPr/>
        </p:nvSpPr>
        <p:spPr>
          <a:xfrm>
            <a:off x="804672" y="3648456"/>
            <a:ext cx="512064" cy="512064"/>
          </a:xfrm>
          <a:prstGeom prst="ellipse">
            <a:avLst/>
          </a:prstGeom>
          <a:solidFill>
            <a:srgbClr val="F2A900"/>
          </a:solidFill>
          <a:ln/>
        </p:spPr>
      </p:sp>
      <p:pic>
        <p:nvPicPr>
          <p:cNvPr id="18" name="Image 2" descr="icons/desktop_navy.png">    </p:cNvPr>
          <p:cNvPicPr>
            <a:picLocks noChangeAspect="1"/>
          </p:cNvPicPr>
          <p:nvPr/>
        </p:nvPicPr>
        <p:blipFill>
          <a:blip r:embed="rId3"/>
          <a:stretch>
            <a:fillRect/>
          </a:stretch>
        </p:blipFill>
        <p:spPr>
          <a:xfrm>
            <a:off x="942929" y="3786713"/>
            <a:ext cx="235549" cy="235549"/>
          </a:xfrm>
          <a:prstGeom prst="rect">
            <a:avLst/>
          </a:prstGeom>
        </p:spPr>
      </p:pic>
      <p:sp>
        <p:nvSpPr>
          <p:cNvPr id="19" name="Text 14"/>
          <p:cNvSpPr/>
          <p:nvPr/>
        </p:nvSpPr>
        <p:spPr>
          <a:xfrm>
            <a:off x="1463040" y="3630168"/>
            <a:ext cx="3200400" cy="310896"/>
          </a:xfrm>
          <a:prstGeom prst="rect">
            <a:avLst/>
          </a:prstGeom>
          <a:noFill/>
          <a:ln/>
        </p:spPr>
        <p:txBody>
          <a:bodyPr wrap="square" lIns="0" tIns="0" rIns="0" bIns="0" rtlCol="0" anchor="ctr"/>
          <a:lstStyle/>
          <a:p>
            <a:pPr indent="0" marL="0">
              <a:buNone/>
            </a:pPr>
            <a:r>
              <a:rPr lang="en-US" sz="1250" b="1" dirty="0">
                <a:solidFill>
                  <a:srgbClr val="0A2E5C"/>
                </a:solidFill>
                <a:latin typeface="Calibri" pitchFamily="34" charset="0"/>
                <a:ea typeface="Calibri" pitchFamily="34" charset="-122"/>
                <a:cs typeface="Calibri" pitchFamily="34" charset="-120"/>
              </a:rPr>
              <a:t>HỆ THỐNG (MACHINE)</a:t>
            </a:r>
            <a:endParaRPr lang="en-US" sz="1250" dirty="0"/>
          </a:p>
        </p:txBody>
      </p:sp>
      <p:sp>
        <p:nvSpPr>
          <p:cNvPr id="20" name="Shape 15"/>
          <p:cNvSpPr/>
          <p:nvPr/>
        </p:nvSpPr>
        <p:spPr>
          <a:xfrm>
            <a:off x="4544568" y="3630168"/>
            <a:ext cx="1234440" cy="310896"/>
          </a:xfrm>
          <a:prstGeom prst="roundRect">
            <a:avLst>
              <a:gd name="adj" fmla="val 50000"/>
            </a:avLst>
          </a:prstGeom>
          <a:solidFill>
            <a:srgbClr val="F2A900"/>
          </a:solidFill>
          <a:ln/>
        </p:spPr>
      </p:sp>
      <p:sp>
        <p:nvSpPr>
          <p:cNvPr id="21" name="Text 16"/>
          <p:cNvSpPr/>
          <p:nvPr/>
        </p:nvSpPr>
        <p:spPr>
          <a:xfrm>
            <a:off x="4544568" y="3630168"/>
            <a:ext cx="1234440" cy="310896"/>
          </a:xfrm>
          <a:prstGeom prst="rect">
            <a:avLst/>
          </a:prstGeom>
          <a:noFill/>
          <a:ln/>
        </p:spPr>
        <p:txBody>
          <a:bodyPr wrap="square" lIns="0" tIns="0" rIns="0" bIns="0" rtlCol="0" anchor="ctr"/>
          <a:lstStyle/>
          <a:p>
            <a:pPr algn="ctr" indent="0" marL="0">
              <a:buNone/>
            </a:pPr>
            <a:r>
              <a:rPr lang="en-US" sz="950" b="1" dirty="0">
                <a:solidFill>
                  <a:srgbClr val="0A2E5C"/>
                </a:solidFill>
                <a:latin typeface="Calibri" pitchFamily="34" charset="0"/>
                <a:ea typeface="Calibri" pitchFamily="34" charset="-122"/>
                <a:cs typeface="Calibri" pitchFamily="34" charset="-120"/>
              </a:rPr>
              <a:t>Pareto ưu tiên</a:t>
            </a:r>
            <a:endParaRPr lang="en-US" sz="950" dirty="0"/>
          </a:p>
        </p:txBody>
      </p:sp>
      <p:sp>
        <p:nvSpPr>
          <p:cNvPr id="22" name="Text 17"/>
          <p:cNvSpPr/>
          <p:nvPr/>
        </p:nvSpPr>
        <p:spPr>
          <a:xfrm>
            <a:off x="1463040" y="4032504"/>
            <a:ext cx="4315968" cy="1051560"/>
          </a:xfrm>
          <a:prstGeom prst="rect">
            <a:avLst/>
          </a:prstGeom>
          <a:noFill/>
          <a:ln/>
        </p:spPr>
        <p:txBody>
          <a:bodyPr wrap="square" lIns="0" tIns="0" rIns="0" bIns="0" rtlCol="0" anchor="ctr"/>
          <a:lstStyle/>
          <a:p>
            <a:pPr indent="0" marL="0">
              <a:lnSpc>
                <a:spcPct val="110000"/>
              </a:lnSpc>
              <a:buNone/>
            </a:pPr>
            <a:r>
              <a:rPr lang="en-US" sz="1100" dirty="0">
                <a:solidFill>
                  <a:srgbClr val="16283E"/>
                </a:solidFill>
                <a:latin typeface="Calibri" pitchFamily="34" charset="0"/>
                <a:ea typeface="Calibri" pitchFamily="34" charset="-122"/>
                <a:cs typeface="Calibri" pitchFamily="34" charset="-120"/>
              </a:rPr>
              <a:t>Biểu mẫu cho nhập văn bản tự do (free-text), không có validation bắt buộc → thiếu / sai thông tin.</a:t>
            </a:r>
            <a:endParaRPr lang="en-US" sz="1100" dirty="0"/>
          </a:p>
        </p:txBody>
      </p:sp>
      <p:sp>
        <p:nvSpPr>
          <p:cNvPr id="23" name="Shape 18"/>
          <p:cNvSpPr/>
          <p:nvPr/>
        </p:nvSpPr>
        <p:spPr>
          <a:xfrm>
            <a:off x="6199632" y="3410712"/>
            <a:ext cx="5413248" cy="1810512"/>
          </a:xfrm>
          <a:prstGeom prst="roundRect">
            <a:avLst>
              <a:gd name="adj" fmla="val 4545"/>
            </a:avLst>
          </a:prstGeom>
          <a:solidFill>
            <a:srgbClr val="FFFFFF"/>
          </a:solidFill>
          <a:ln w="12700">
            <a:solidFill>
              <a:srgbClr val="D3DFEE"/>
            </a:solidFill>
            <a:prstDash val="solid"/>
          </a:ln>
          <a:effectLst>
            <a:outerShdw sx="100000" sy="100000" kx="0" ky="0" algn="bl" rotWithShape="0" blurRad="88900" dist="25400" dir="5400000">
              <a:srgbClr val="0A2E5C">
                <a:alpha val="14000"/>
              </a:srgbClr>
            </a:outerShdw>
          </a:effectLst>
        </p:spPr>
      </p:sp>
      <p:sp>
        <p:nvSpPr>
          <p:cNvPr id="24" name="Shape 19"/>
          <p:cNvSpPr/>
          <p:nvPr/>
        </p:nvSpPr>
        <p:spPr>
          <a:xfrm>
            <a:off x="6437376" y="3648456"/>
            <a:ext cx="512064" cy="512064"/>
          </a:xfrm>
          <a:prstGeom prst="ellipse">
            <a:avLst/>
          </a:prstGeom>
          <a:solidFill>
            <a:srgbClr val="0A2E5C"/>
          </a:solidFill>
          <a:ln/>
        </p:spPr>
      </p:sp>
      <p:pic>
        <p:nvPicPr>
          <p:cNvPr id="25" name="Image 3" descr="icons/tacho_white.png">    </p:cNvPr>
          <p:cNvPicPr>
            <a:picLocks noChangeAspect="1"/>
          </p:cNvPicPr>
          <p:nvPr/>
        </p:nvPicPr>
        <p:blipFill>
          <a:blip r:embed="rId4"/>
          <a:stretch>
            <a:fillRect/>
          </a:stretch>
        </p:blipFill>
        <p:spPr>
          <a:xfrm>
            <a:off x="6575633" y="3786713"/>
            <a:ext cx="235549" cy="235549"/>
          </a:xfrm>
          <a:prstGeom prst="rect">
            <a:avLst/>
          </a:prstGeom>
        </p:spPr>
      </p:pic>
      <p:sp>
        <p:nvSpPr>
          <p:cNvPr id="26" name="Text 20"/>
          <p:cNvSpPr/>
          <p:nvPr/>
        </p:nvSpPr>
        <p:spPr>
          <a:xfrm>
            <a:off x="7095744" y="3630168"/>
            <a:ext cx="3200400" cy="310896"/>
          </a:xfrm>
          <a:prstGeom prst="rect">
            <a:avLst/>
          </a:prstGeom>
          <a:noFill/>
          <a:ln/>
        </p:spPr>
        <p:txBody>
          <a:bodyPr wrap="square" lIns="0" tIns="0" rIns="0" bIns="0" rtlCol="0" anchor="ctr"/>
          <a:lstStyle/>
          <a:p>
            <a:pPr indent="0" marL="0">
              <a:buNone/>
            </a:pPr>
            <a:r>
              <a:rPr lang="en-US" sz="1250" b="1" dirty="0">
                <a:solidFill>
                  <a:srgbClr val="0A2E5C"/>
                </a:solidFill>
                <a:latin typeface="Calibri" pitchFamily="34" charset="0"/>
                <a:ea typeface="Calibri" pitchFamily="34" charset="-122"/>
                <a:cs typeface="Calibri" pitchFamily="34" charset="-120"/>
              </a:rPr>
              <a:t>ĐO LƯỜNG (MEASUREMENT)</a:t>
            </a:r>
            <a:endParaRPr lang="en-US" sz="1250" dirty="0"/>
          </a:p>
        </p:txBody>
      </p:sp>
      <p:sp>
        <p:nvSpPr>
          <p:cNvPr id="27" name="Text 21"/>
          <p:cNvSpPr/>
          <p:nvPr/>
        </p:nvSpPr>
        <p:spPr>
          <a:xfrm>
            <a:off x="7095744" y="4032504"/>
            <a:ext cx="4315968" cy="1051560"/>
          </a:xfrm>
          <a:prstGeom prst="rect">
            <a:avLst/>
          </a:prstGeom>
          <a:noFill/>
          <a:ln/>
        </p:spPr>
        <p:txBody>
          <a:bodyPr wrap="square" lIns="0" tIns="0" rIns="0" bIns="0" rtlCol="0" anchor="ctr"/>
          <a:lstStyle/>
          <a:p>
            <a:pPr indent="0" marL="0">
              <a:lnSpc>
                <a:spcPct val="110000"/>
              </a:lnSpc>
              <a:buNone/>
            </a:pPr>
            <a:r>
              <a:rPr lang="en-US" sz="1100" dirty="0">
                <a:solidFill>
                  <a:srgbClr val="16283E"/>
                </a:solidFill>
                <a:latin typeface="Calibri" pitchFamily="34" charset="0"/>
                <a:ea typeface="Calibri" pitchFamily="34" charset="-122"/>
                <a:cs typeface="Calibri" pitchFamily="34" charset="-120"/>
              </a:rPr>
              <a:t>Chưa có cảnh báo SLA thời gian thực cho quản lý; việc ghi log bảo mật còn thủ công, thiếu đồng bộ.</a:t>
            </a:r>
            <a:endParaRPr lang="en-US" sz="1100" dirty="0"/>
          </a:p>
        </p:txBody>
      </p:sp>
      <p:sp>
        <p:nvSpPr>
          <p:cNvPr id="28" name="Shape 22"/>
          <p:cNvSpPr/>
          <p:nvPr/>
        </p:nvSpPr>
        <p:spPr>
          <a:xfrm>
            <a:off x="566928" y="5559552"/>
            <a:ext cx="11045952" cy="749808"/>
          </a:xfrm>
          <a:prstGeom prst="roundRect">
            <a:avLst>
              <a:gd name="adj" fmla="val 10976"/>
            </a:avLst>
          </a:prstGeom>
          <a:solidFill>
            <a:srgbClr val="F2A900"/>
          </a:solidFill>
          <a:ln/>
        </p:spPr>
      </p:sp>
      <p:sp>
        <p:nvSpPr>
          <p:cNvPr id="29" name="Text 23"/>
          <p:cNvSpPr/>
          <p:nvPr/>
        </p:nvSpPr>
        <p:spPr>
          <a:xfrm>
            <a:off x="868680" y="5559552"/>
            <a:ext cx="10515600" cy="749808"/>
          </a:xfrm>
          <a:prstGeom prst="rect">
            <a:avLst/>
          </a:prstGeom>
          <a:noFill/>
          <a:ln/>
        </p:spPr>
        <p:txBody>
          <a:bodyPr wrap="square" lIns="0" tIns="0" rIns="0" bIns="0" rtlCol="0" anchor="ctr"/>
          <a:lstStyle/>
          <a:p>
            <a:pPr indent="0" marL="0">
              <a:buNone/>
            </a:pPr>
            <a:r>
              <a:rPr lang="en-US" sz="1200" b="1" dirty="0">
                <a:solidFill>
                  <a:srgbClr val="0A2E5C"/>
                </a:solidFill>
                <a:latin typeface="Calibri" pitchFamily="34" charset="0"/>
                <a:ea typeface="Calibri" pitchFamily="34" charset="-122"/>
                <a:cs typeface="Calibri" pitchFamily="34" charset="-120"/>
              </a:rPr>
              <a:t>Nguyên lý Pareto 80/20:  </a:t>
            </a:r>
            <a:pPr indent="0" marL="0">
              <a:buNone/>
            </a:pPr>
            <a:r>
              <a:rPr lang="en-US" sz="1200" dirty="0">
                <a:solidFill>
                  <a:srgbClr val="0A2E5C"/>
                </a:solidFill>
                <a:latin typeface="Calibri" pitchFamily="34" charset="0"/>
                <a:ea typeface="Calibri" pitchFamily="34" charset="-122"/>
                <a:cs typeface="Calibri" pitchFamily="34" charset="-120"/>
              </a:rPr>
              <a:t>khắc phục 2 nhóm Quy trình &amp; Hệ thống — có tần suất cao nhất — sẽ loại bỏ phần lớn lãng phí Hold, Move  ⇒  cơ sở của 3 giải pháp ở Chương 5.</a:t>
            </a:r>
            <a:endParaRPr lang="en-US" sz="1200" dirty="0"/>
          </a:p>
        </p:txBody>
      </p:sp>
      <p:sp>
        <p:nvSpPr>
          <p:cNvPr id="30" name="Text 24"/>
          <p:cNvSpPr/>
          <p:nvPr/>
        </p:nvSpPr>
        <p:spPr>
          <a:xfrm>
            <a:off x="11411712" y="6473952"/>
            <a:ext cx="457200" cy="274320"/>
          </a:xfrm>
          <a:prstGeom prst="rect">
            <a:avLst/>
          </a:prstGeom>
          <a:noFill/>
          <a:ln/>
        </p:spPr>
        <p:txBody>
          <a:bodyPr wrap="square" rtlCol="0" anchor="ctr"/>
          <a:lstStyle/>
          <a:p>
            <a:pPr algn="r" indent="0" marL="0">
              <a:buNone/>
            </a:pPr>
            <a:r>
              <a:rPr lang="en-US" sz="900" dirty="0">
                <a:solidFill>
                  <a:srgbClr val="5A6B80"/>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lIns="0" tIns="0" rIns="0" bIns="0" rtlCol="0" anchor="ctr"/>
          <a:lstStyle/>
          <a:p>
            <a:pPr indent="0" marL="0">
              <a:buNone/>
            </a:pPr>
            <a:r>
              <a:rPr lang="en-US" sz="1050" b="1" spc="240" kern="0" dirty="0">
                <a:solidFill>
                  <a:srgbClr val="2160A6"/>
                </a:solidFill>
                <a:latin typeface="Calibri" pitchFamily="34" charset="0"/>
                <a:ea typeface="Calibri" pitchFamily="34" charset="-122"/>
                <a:cs typeface="Calibri" pitchFamily="34" charset="-120"/>
              </a:rPr>
              <a:t>CHƯƠNG 4 · PHÂN TÍCH HIỆU SUẤT</a:t>
            </a:r>
            <a:endParaRPr lang="en-US" sz="1050" dirty="0"/>
          </a:p>
        </p:txBody>
      </p:sp>
      <p:sp>
        <p:nvSpPr>
          <p:cNvPr id="3" name="Text 1"/>
          <p:cNvSpPr/>
          <p:nvPr/>
        </p:nvSpPr>
        <p:spPr>
          <a:xfrm>
            <a:off x="548640" y="566928"/>
            <a:ext cx="11064240" cy="566928"/>
          </a:xfrm>
          <a:prstGeom prst="rect">
            <a:avLst/>
          </a:prstGeom>
          <a:noFill/>
          <a:ln/>
        </p:spPr>
        <p:txBody>
          <a:bodyPr wrap="square" lIns="0" tIns="0" rIns="0" bIns="0" rtlCol="0" anchor="ctr"/>
          <a:lstStyle/>
          <a:p>
            <a:pPr indent="0" marL="0">
              <a:buNone/>
            </a:pPr>
            <a:r>
              <a:rPr lang="en-US" sz="2900" b="1" dirty="0">
                <a:solidFill>
                  <a:srgbClr val="0A2E5C"/>
                </a:solidFill>
                <a:latin typeface="Cambria" pitchFamily="34" charset="0"/>
                <a:ea typeface="Cambria" pitchFamily="34" charset="-122"/>
                <a:cs typeface="Cambria" pitchFamily="34" charset="-120"/>
              </a:rPr>
              <a:t>Định lượng thời gian xử lý quy trình PYC (AS-IS)</a:t>
            </a:r>
            <a:endParaRPr lang="en-US" sz="2900" dirty="0"/>
          </a:p>
        </p:txBody>
      </p:sp>
      <p:sp>
        <p:nvSpPr>
          <p:cNvPr id="4" name="Shape 2"/>
          <p:cNvSpPr/>
          <p:nvPr/>
        </p:nvSpPr>
        <p:spPr>
          <a:xfrm>
            <a:off x="566928" y="1371600"/>
            <a:ext cx="6263640" cy="4828032"/>
          </a:xfrm>
          <a:prstGeom prst="roundRect">
            <a:avLst>
              <a:gd name="adj" fmla="val 1705"/>
            </a:avLst>
          </a:prstGeom>
          <a:solidFill>
            <a:srgbClr val="FFFFFF"/>
          </a:solidFill>
          <a:ln w="12700">
            <a:solidFill>
              <a:srgbClr val="D3DFEE"/>
            </a:solidFill>
            <a:prstDash val="solid"/>
          </a:ln>
          <a:effectLst>
            <a:outerShdw sx="100000" sy="100000" kx="0" ky="0" algn="bl" rotWithShape="0" blurRad="88900" dist="25400" dir="5400000">
              <a:srgbClr val="0A2E5C">
                <a:alpha val="14000"/>
              </a:srgbClr>
            </a:outerShdw>
          </a:effectLst>
        </p:spPr>
      </p:sp>
      <p:sp>
        <p:nvSpPr>
          <p:cNvPr id="5" name="Text 3"/>
          <p:cNvSpPr/>
          <p:nvPr/>
        </p:nvSpPr>
        <p:spPr>
          <a:xfrm>
            <a:off x="868680" y="1554480"/>
            <a:ext cx="5669280" cy="274320"/>
          </a:xfrm>
          <a:prstGeom prst="rect">
            <a:avLst/>
          </a:prstGeom>
          <a:noFill/>
          <a:ln/>
        </p:spPr>
        <p:txBody>
          <a:bodyPr wrap="square" lIns="0" tIns="0" rIns="0" bIns="0" rtlCol="0" anchor="ctr"/>
          <a:lstStyle/>
          <a:p>
            <a:pPr indent="0" marL="0">
              <a:buNone/>
            </a:pPr>
            <a:r>
              <a:rPr lang="en-US" sz="1050" b="1" spc="160" kern="0" dirty="0">
                <a:solidFill>
                  <a:srgbClr val="2160A6"/>
                </a:solidFill>
                <a:latin typeface="Calibri" pitchFamily="34" charset="0"/>
                <a:ea typeface="Calibri" pitchFamily="34" charset="-122"/>
                <a:cs typeface="Calibri" pitchFamily="34" charset="-120"/>
              </a:rPr>
              <a:t>THỜI GIAN KỲ VỌNG QUA CÁC CỔNG (GATEWAY)</a:t>
            </a:r>
            <a:endParaRPr lang="en-US" sz="1050" dirty="0"/>
          </a:p>
        </p:txBody>
      </p:sp>
      <p:sp>
        <p:nvSpPr>
          <p:cNvPr id="6" name="Shape 4"/>
          <p:cNvSpPr/>
          <p:nvPr/>
        </p:nvSpPr>
        <p:spPr>
          <a:xfrm>
            <a:off x="868680" y="1920240"/>
            <a:ext cx="5669280" cy="640080"/>
          </a:xfrm>
          <a:prstGeom prst="roundRect">
            <a:avLst>
              <a:gd name="adj" fmla="val 10000"/>
            </a:avLst>
          </a:prstGeom>
          <a:solidFill>
            <a:srgbClr val="F4F8FC"/>
          </a:solidFill>
          <a:ln w="9525">
            <a:solidFill>
              <a:srgbClr val="D3DFEE"/>
            </a:solidFill>
            <a:prstDash val="solid"/>
          </a:ln>
        </p:spPr>
      </p:sp>
      <p:sp>
        <p:nvSpPr>
          <p:cNvPr id="7" name="Text 5"/>
          <p:cNvSpPr/>
          <p:nvPr/>
        </p:nvSpPr>
        <p:spPr>
          <a:xfrm>
            <a:off x="1051560" y="1975104"/>
            <a:ext cx="3063240" cy="274320"/>
          </a:xfrm>
          <a:prstGeom prst="rect">
            <a:avLst/>
          </a:prstGeom>
          <a:noFill/>
          <a:ln/>
        </p:spPr>
        <p:txBody>
          <a:bodyPr wrap="square" lIns="0" tIns="0" rIns="0" bIns="0" rtlCol="0" anchor="ctr"/>
          <a:lstStyle/>
          <a:p>
            <a:pPr indent="0" marL="0">
              <a:buNone/>
            </a:pPr>
            <a:r>
              <a:rPr lang="en-US" sz="1150" b="1" dirty="0">
                <a:solidFill>
                  <a:srgbClr val="16283E"/>
                </a:solidFill>
                <a:latin typeface="Calibri" pitchFamily="34" charset="0"/>
                <a:ea typeface="Calibri" pitchFamily="34" charset="-122"/>
                <a:cs typeface="Calibri" pitchFamily="34" charset="-120"/>
              </a:rPr>
              <a:t>Khối 1 · Khởi tạo &amp; phê duyệt</a:t>
            </a:r>
            <a:endParaRPr lang="en-US" sz="1150" dirty="0"/>
          </a:p>
        </p:txBody>
      </p:sp>
      <p:sp>
        <p:nvSpPr>
          <p:cNvPr id="8" name="Text 6"/>
          <p:cNvSpPr/>
          <p:nvPr/>
        </p:nvSpPr>
        <p:spPr>
          <a:xfrm>
            <a:off x="1051560" y="2249424"/>
            <a:ext cx="3063240" cy="256032"/>
          </a:xfrm>
          <a:prstGeom prst="rect">
            <a:avLst/>
          </a:prstGeom>
          <a:noFill/>
          <a:ln/>
        </p:spPr>
        <p:txBody>
          <a:bodyPr wrap="square" lIns="0" tIns="0" rIns="0" bIns="0" rtlCol="0" anchor="ctr"/>
          <a:lstStyle/>
          <a:p>
            <a:pPr indent="0" marL="0">
              <a:buNone/>
            </a:pPr>
            <a:r>
              <a:rPr lang="en-US" sz="950" i="1" dirty="0">
                <a:solidFill>
                  <a:srgbClr val="5A6B80"/>
                </a:solidFill>
                <a:latin typeface="Calibri" pitchFamily="34" charset="0"/>
                <a:ea typeface="Calibri" pitchFamily="34" charset="-122"/>
                <a:cs typeface="Calibri" pitchFamily="34" charset="-120"/>
              </a:rPr>
              <a:t>vòng lặp rework 20%</a:t>
            </a:r>
            <a:endParaRPr lang="en-US" sz="950" dirty="0"/>
          </a:p>
        </p:txBody>
      </p:sp>
      <p:sp>
        <p:nvSpPr>
          <p:cNvPr id="9" name="Text 7"/>
          <p:cNvSpPr/>
          <p:nvPr/>
        </p:nvSpPr>
        <p:spPr>
          <a:xfrm>
            <a:off x="4069080" y="1920240"/>
            <a:ext cx="2377440" cy="640080"/>
          </a:xfrm>
          <a:prstGeom prst="rect">
            <a:avLst/>
          </a:prstGeom>
          <a:noFill/>
          <a:ln/>
        </p:spPr>
        <p:txBody>
          <a:bodyPr wrap="square" lIns="0" tIns="0" rIns="0" bIns="0" rtlCol="0" anchor="ctr"/>
          <a:lstStyle/>
          <a:p>
            <a:pPr algn="r" indent="0" marL="0">
              <a:buNone/>
            </a:pPr>
            <a:r>
              <a:rPr lang="en-US" sz="1200" b="1" dirty="0">
                <a:solidFill>
                  <a:srgbClr val="0A2E5C"/>
                </a:solidFill>
                <a:latin typeface="Calibri" pitchFamily="34" charset="0"/>
                <a:ea typeface="Calibri" pitchFamily="34" charset="-122"/>
                <a:cs typeface="Calibri" pitchFamily="34" charset="-120"/>
              </a:rPr>
              <a:t>T1 = 2,5 ÷ 0,8 = 3,125 giờ</a:t>
            </a:r>
            <a:endParaRPr lang="en-US" sz="1200" dirty="0"/>
          </a:p>
        </p:txBody>
      </p:sp>
      <p:sp>
        <p:nvSpPr>
          <p:cNvPr id="10" name="Shape 8"/>
          <p:cNvSpPr/>
          <p:nvPr/>
        </p:nvSpPr>
        <p:spPr>
          <a:xfrm>
            <a:off x="868680" y="2670048"/>
            <a:ext cx="5669280" cy="640080"/>
          </a:xfrm>
          <a:prstGeom prst="roundRect">
            <a:avLst>
              <a:gd name="adj" fmla="val 10000"/>
            </a:avLst>
          </a:prstGeom>
          <a:solidFill>
            <a:srgbClr val="FFFFFF"/>
          </a:solidFill>
          <a:ln w="9525">
            <a:solidFill>
              <a:srgbClr val="D3DFEE"/>
            </a:solidFill>
            <a:prstDash val="solid"/>
          </a:ln>
        </p:spPr>
      </p:sp>
      <p:sp>
        <p:nvSpPr>
          <p:cNvPr id="11" name="Text 9"/>
          <p:cNvSpPr/>
          <p:nvPr/>
        </p:nvSpPr>
        <p:spPr>
          <a:xfrm>
            <a:off x="1051560" y="2724912"/>
            <a:ext cx="3063240" cy="274320"/>
          </a:xfrm>
          <a:prstGeom prst="rect">
            <a:avLst/>
          </a:prstGeom>
          <a:noFill/>
          <a:ln/>
        </p:spPr>
        <p:txBody>
          <a:bodyPr wrap="square" lIns="0" tIns="0" rIns="0" bIns="0" rtlCol="0" anchor="ctr"/>
          <a:lstStyle/>
          <a:p>
            <a:pPr indent="0" marL="0">
              <a:buNone/>
            </a:pPr>
            <a:r>
              <a:rPr lang="en-US" sz="1150" b="1" dirty="0">
                <a:solidFill>
                  <a:srgbClr val="16283E"/>
                </a:solidFill>
                <a:latin typeface="Calibri" pitchFamily="34" charset="0"/>
                <a:ea typeface="Calibri" pitchFamily="34" charset="-122"/>
                <a:cs typeface="Calibri" pitchFamily="34" charset="-120"/>
              </a:rPr>
              <a:t>Khối 2 · Sinh WO &amp; phân loại</a:t>
            </a:r>
            <a:endParaRPr lang="en-US" sz="1150" dirty="0"/>
          </a:p>
        </p:txBody>
      </p:sp>
      <p:sp>
        <p:nvSpPr>
          <p:cNvPr id="12" name="Text 10"/>
          <p:cNvSpPr/>
          <p:nvPr/>
        </p:nvSpPr>
        <p:spPr>
          <a:xfrm>
            <a:off x="1051560" y="2999232"/>
            <a:ext cx="3063240" cy="256032"/>
          </a:xfrm>
          <a:prstGeom prst="rect">
            <a:avLst/>
          </a:prstGeom>
          <a:noFill/>
          <a:ln/>
        </p:spPr>
        <p:txBody>
          <a:bodyPr wrap="square" lIns="0" tIns="0" rIns="0" bIns="0" rtlCol="0" anchor="ctr"/>
          <a:lstStyle/>
          <a:p>
            <a:pPr indent="0" marL="0">
              <a:buNone/>
            </a:pPr>
            <a:r>
              <a:rPr lang="en-US" sz="950" i="1" dirty="0">
                <a:solidFill>
                  <a:srgbClr val="5A6B80"/>
                </a:solidFill>
                <a:latin typeface="Calibri" pitchFamily="34" charset="0"/>
                <a:ea typeface="Calibri" pitchFamily="34" charset="-122"/>
                <a:cs typeface="Calibri" pitchFamily="34" charset="-120"/>
              </a:rPr>
              <a:t>luồng tuần tự</a:t>
            </a:r>
            <a:endParaRPr lang="en-US" sz="950" dirty="0"/>
          </a:p>
        </p:txBody>
      </p:sp>
      <p:sp>
        <p:nvSpPr>
          <p:cNvPr id="13" name="Text 11"/>
          <p:cNvSpPr/>
          <p:nvPr/>
        </p:nvSpPr>
        <p:spPr>
          <a:xfrm>
            <a:off x="4069080" y="2670048"/>
            <a:ext cx="2377440" cy="640080"/>
          </a:xfrm>
          <a:prstGeom prst="rect">
            <a:avLst/>
          </a:prstGeom>
          <a:noFill/>
          <a:ln/>
        </p:spPr>
        <p:txBody>
          <a:bodyPr wrap="square" lIns="0" tIns="0" rIns="0" bIns="0" rtlCol="0" anchor="ctr"/>
          <a:lstStyle/>
          <a:p>
            <a:pPr algn="r" indent="0" marL="0">
              <a:buNone/>
            </a:pPr>
            <a:r>
              <a:rPr lang="en-US" sz="1200" b="1" dirty="0">
                <a:solidFill>
                  <a:srgbClr val="0A2E5C"/>
                </a:solidFill>
                <a:latin typeface="Calibri" pitchFamily="34" charset="0"/>
                <a:ea typeface="Calibri" pitchFamily="34" charset="-122"/>
                <a:cs typeface="Calibri" pitchFamily="34" charset="-120"/>
              </a:rPr>
              <a:t>T2 = 0 + 0,5 = 0,5 giờ</a:t>
            </a:r>
            <a:endParaRPr lang="en-US" sz="1200" dirty="0"/>
          </a:p>
        </p:txBody>
      </p:sp>
      <p:sp>
        <p:nvSpPr>
          <p:cNvPr id="14" name="Shape 12"/>
          <p:cNvSpPr/>
          <p:nvPr/>
        </p:nvSpPr>
        <p:spPr>
          <a:xfrm>
            <a:off x="868680" y="3419856"/>
            <a:ext cx="5669280" cy="640080"/>
          </a:xfrm>
          <a:prstGeom prst="roundRect">
            <a:avLst>
              <a:gd name="adj" fmla="val 10000"/>
            </a:avLst>
          </a:prstGeom>
          <a:solidFill>
            <a:srgbClr val="F4F8FC"/>
          </a:solidFill>
          <a:ln w="9525">
            <a:solidFill>
              <a:srgbClr val="D3DFEE"/>
            </a:solidFill>
            <a:prstDash val="solid"/>
          </a:ln>
        </p:spPr>
      </p:sp>
      <p:sp>
        <p:nvSpPr>
          <p:cNvPr id="15" name="Text 13"/>
          <p:cNvSpPr/>
          <p:nvPr/>
        </p:nvSpPr>
        <p:spPr>
          <a:xfrm>
            <a:off x="1051560" y="3474720"/>
            <a:ext cx="3063240" cy="274320"/>
          </a:xfrm>
          <a:prstGeom prst="rect">
            <a:avLst/>
          </a:prstGeom>
          <a:noFill/>
          <a:ln/>
        </p:spPr>
        <p:txBody>
          <a:bodyPr wrap="square" lIns="0" tIns="0" rIns="0" bIns="0" rtlCol="0" anchor="ctr"/>
          <a:lstStyle/>
          <a:p>
            <a:pPr indent="0" marL="0">
              <a:buNone/>
            </a:pPr>
            <a:r>
              <a:rPr lang="en-US" sz="1150" b="1" dirty="0">
                <a:solidFill>
                  <a:srgbClr val="16283E"/>
                </a:solidFill>
                <a:latin typeface="Calibri" pitchFamily="34" charset="0"/>
                <a:ea typeface="Calibri" pitchFamily="34" charset="-122"/>
                <a:cs typeface="Calibri" pitchFamily="34" charset="-120"/>
              </a:rPr>
              <a:t>Khối 3 · Cấu hình ∥ Ghi log</a:t>
            </a:r>
            <a:endParaRPr lang="en-US" sz="1150" dirty="0"/>
          </a:p>
        </p:txBody>
      </p:sp>
      <p:sp>
        <p:nvSpPr>
          <p:cNvPr id="16" name="Text 14"/>
          <p:cNvSpPr/>
          <p:nvPr/>
        </p:nvSpPr>
        <p:spPr>
          <a:xfrm>
            <a:off x="1051560" y="3749040"/>
            <a:ext cx="3063240" cy="256032"/>
          </a:xfrm>
          <a:prstGeom prst="rect">
            <a:avLst/>
          </a:prstGeom>
          <a:noFill/>
          <a:ln/>
        </p:spPr>
        <p:txBody>
          <a:bodyPr wrap="square" lIns="0" tIns="0" rIns="0" bIns="0" rtlCol="0" anchor="ctr"/>
          <a:lstStyle/>
          <a:p>
            <a:pPr indent="0" marL="0">
              <a:buNone/>
            </a:pPr>
            <a:r>
              <a:rPr lang="en-US" sz="950" i="1" dirty="0">
                <a:solidFill>
                  <a:srgbClr val="5A6B80"/>
                </a:solidFill>
                <a:latin typeface="Calibri" pitchFamily="34" charset="0"/>
                <a:ea typeface="Calibri" pitchFamily="34" charset="-122"/>
                <a:cs typeface="Calibri" pitchFamily="34" charset="-120"/>
              </a:rPr>
              <a:t>cổng AND song song</a:t>
            </a:r>
            <a:endParaRPr lang="en-US" sz="950" dirty="0"/>
          </a:p>
        </p:txBody>
      </p:sp>
      <p:sp>
        <p:nvSpPr>
          <p:cNvPr id="17" name="Text 15"/>
          <p:cNvSpPr/>
          <p:nvPr/>
        </p:nvSpPr>
        <p:spPr>
          <a:xfrm>
            <a:off x="4069080" y="3419856"/>
            <a:ext cx="2377440" cy="640080"/>
          </a:xfrm>
          <a:prstGeom prst="rect">
            <a:avLst/>
          </a:prstGeom>
          <a:noFill/>
          <a:ln/>
        </p:spPr>
        <p:txBody>
          <a:bodyPr wrap="square" lIns="0" tIns="0" rIns="0" bIns="0" rtlCol="0" anchor="ctr"/>
          <a:lstStyle/>
          <a:p>
            <a:pPr algn="r" indent="0" marL="0">
              <a:buNone/>
            </a:pPr>
            <a:r>
              <a:rPr lang="en-US" sz="1200" b="1" dirty="0">
                <a:solidFill>
                  <a:srgbClr val="0A2E5C"/>
                </a:solidFill>
                <a:latin typeface="Calibri" pitchFamily="34" charset="0"/>
                <a:ea typeface="Calibri" pitchFamily="34" charset="-122"/>
                <a:cs typeface="Calibri" pitchFamily="34" charset="-120"/>
              </a:rPr>
              <a:t>T3 = max(1,5 ; 0,5) = 1,5 giờ</a:t>
            </a:r>
            <a:endParaRPr lang="en-US" sz="1200" dirty="0"/>
          </a:p>
        </p:txBody>
      </p:sp>
      <p:sp>
        <p:nvSpPr>
          <p:cNvPr id="18" name="Shape 16"/>
          <p:cNvSpPr/>
          <p:nvPr/>
        </p:nvSpPr>
        <p:spPr>
          <a:xfrm>
            <a:off x="868680" y="4169664"/>
            <a:ext cx="5669280" cy="640080"/>
          </a:xfrm>
          <a:prstGeom prst="roundRect">
            <a:avLst>
              <a:gd name="adj" fmla="val 10000"/>
            </a:avLst>
          </a:prstGeom>
          <a:solidFill>
            <a:srgbClr val="FFFFFF"/>
          </a:solidFill>
          <a:ln w="9525">
            <a:solidFill>
              <a:srgbClr val="D3DFEE"/>
            </a:solidFill>
            <a:prstDash val="solid"/>
          </a:ln>
        </p:spPr>
      </p:sp>
      <p:sp>
        <p:nvSpPr>
          <p:cNvPr id="19" name="Text 17"/>
          <p:cNvSpPr/>
          <p:nvPr/>
        </p:nvSpPr>
        <p:spPr>
          <a:xfrm>
            <a:off x="1051560" y="4224528"/>
            <a:ext cx="3063240" cy="274320"/>
          </a:xfrm>
          <a:prstGeom prst="rect">
            <a:avLst/>
          </a:prstGeom>
          <a:noFill/>
          <a:ln/>
        </p:spPr>
        <p:txBody>
          <a:bodyPr wrap="square" lIns="0" tIns="0" rIns="0" bIns="0" rtlCol="0" anchor="ctr"/>
          <a:lstStyle/>
          <a:p>
            <a:pPr indent="0" marL="0">
              <a:buNone/>
            </a:pPr>
            <a:r>
              <a:rPr lang="en-US" sz="1150" b="1" dirty="0">
                <a:solidFill>
                  <a:srgbClr val="16283E"/>
                </a:solidFill>
                <a:latin typeface="Calibri" pitchFamily="34" charset="0"/>
                <a:ea typeface="Calibri" pitchFamily="34" charset="-122"/>
                <a:cs typeface="Calibri" pitchFamily="34" charset="-120"/>
              </a:rPr>
              <a:t>Khối 4 · Hoàn tất &amp; đóng phiếu</a:t>
            </a:r>
            <a:endParaRPr lang="en-US" sz="1150" dirty="0"/>
          </a:p>
        </p:txBody>
      </p:sp>
      <p:sp>
        <p:nvSpPr>
          <p:cNvPr id="20" name="Text 18"/>
          <p:cNvSpPr/>
          <p:nvPr/>
        </p:nvSpPr>
        <p:spPr>
          <a:xfrm>
            <a:off x="1051560" y="4498848"/>
            <a:ext cx="3063240" cy="256032"/>
          </a:xfrm>
          <a:prstGeom prst="rect">
            <a:avLst/>
          </a:prstGeom>
          <a:noFill/>
          <a:ln/>
        </p:spPr>
        <p:txBody>
          <a:bodyPr wrap="square" lIns="0" tIns="0" rIns="0" bIns="0" rtlCol="0" anchor="ctr"/>
          <a:lstStyle/>
          <a:p>
            <a:pPr indent="0" marL="0">
              <a:buNone/>
            </a:pPr>
            <a:r>
              <a:rPr lang="en-US" sz="950" i="1" dirty="0">
                <a:solidFill>
                  <a:srgbClr val="5A6B80"/>
                </a:solidFill>
                <a:latin typeface="Calibri" pitchFamily="34" charset="0"/>
                <a:ea typeface="Calibri" pitchFamily="34" charset="-122"/>
                <a:cs typeface="Calibri" pitchFamily="34" charset="-120"/>
              </a:rPr>
              <a:t>XOR 90% / 10% bug</a:t>
            </a:r>
            <a:endParaRPr lang="en-US" sz="950" dirty="0"/>
          </a:p>
        </p:txBody>
      </p:sp>
      <p:sp>
        <p:nvSpPr>
          <p:cNvPr id="21" name="Text 19"/>
          <p:cNvSpPr/>
          <p:nvPr/>
        </p:nvSpPr>
        <p:spPr>
          <a:xfrm>
            <a:off x="4069080" y="4169664"/>
            <a:ext cx="2377440" cy="640080"/>
          </a:xfrm>
          <a:prstGeom prst="rect">
            <a:avLst/>
          </a:prstGeom>
          <a:noFill/>
          <a:ln/>
        </p:spPr>
        <p:txBody>
          <a:bodyPr wrap="square" lIns="0" tIns="0" rIns="0" bIns="0" rtlCol="0" anchor="ctr"/>
          <a:lstStyle/>
          <a:p>
            <a:pPr algn="r" indent="0" marL="0">
              <a:buNone/>
            </a:pPr>
            <a:r>
              <a:rPr lang="en-US" sz="1200" b="1" dirty="0">
                <a:solidFill>
                  <a:srgbClr val="0A2E5C"/>
                </a:solidFill>
                <a:latin typeface="Calibri" pitchFamily="34" charset="0"/>
                <a:ea typeface="Calibri" pitchFamily="34" charset="-122"/>
                <a:cs typeface="Calibri" pitchFamily="34" charset="-120"/>
              </a:rPr>
              <a:t>T4 = 0,9×0,5 + 0,1×2 = 0,65 giờ</a:t>
            </a:r>
            <a:endParaRPr lang="en-US" sz="1200" dirty="0"/>
          </a:p>
        </p:txBody>
      </p:sp>
      <p:sp>
        <p:nvSpPr>
          <p:cNvPr id="22" name="Shape 20"/>
          <p:cNvSpPr/>
          <p:nvPr/>
        </p:nvSpPr>
        <p:spPr>
          <a:xfrm>
            <a:off x="868680" y="5010912"/>
            <a:ext cx="5669280" cy="713232"/>
          </a:xfrm>
          <a:prstGeom prst="roundRect">
            <a:avLst>
              <a:gd name="adj" fmla="val 8974"/>
            </a:avLst>
          </a:prstGeom>
          <a:solidFill>
            <a:srgbClr val="0A2E5C"/>
          </a:solidFill>
          <a:ln/>
        </p:spPr>
      </p:sp>
      <p:sp>
        <p:nvSpPr>
          <p:cNvPr id="23" name="Text 21"/>
          <p:cNvSpPr/>
          <p:nvPr/>
        </p:nvSpPr>
        <p:spPr>
          <a:xfrm>
            <a:off x="1051560" y="5010912"/>
            <a:ext cx="3108960" cy="713232"/>
          </a:xfrm>
          <a:prstGeom prst="rect">
            <a:avLst/>
          </a:prstGeom>
          <a:noFill/>
          <a:ln/>
        </p:spPr>
        <p:txBody>
          <a:bodyPr wrap="square" lIns="0" tIns="0" rIns="0" bIns="0" rtlCol="0" anchor="ctr"/>
          <a:lstStyle/>
          <a:p>
            <a:pPr indent="0" marL="0">
              <a:buNone/>
            </a:pPr>
            <a:r>
              <a:rPr lang="en-US" sz="1150" b="1" spc="120" kern="0" dirty="0">
                <a:solidFill>
                  <a:srgbClr val="FFFFFF"/>
                </a:solidFill>
                <a:latin typeface="Calibri" pitchFamily="34" charset="0"/>
                <a:ea typeface="Calibri" pitchFamily="34" charset="-122"/>
                <a:cs typeface="Calibri" pitchFamily="34" charset="-120"/>
              </a:rPr>
              <a:t>TỔNG LEAD TIME KỲ VỌNG</a:t>
            </a:r>
            <a:endParaRPr lang="en-US" sz="1150" dirty="0"/>
          </a:p>
        </p:txBody>
      </p:sp>
      <p:sp>
        <p:nvSpPr>
          <p:cNvPr id="24" name="Text 22"/>
          <p:cNvSpPr/>
          <p:nvPr/>
        </p:nvSpPr>
        <p:spPr>
          <a:xfrm>
            <a:off x="4023360" y="5010912"/>
            <a:ext cx="2377440" cy="713232"/>
          </a:xfrm>
          <a:prstGeom prst="rect">
            <a:avLst/>
          </a:prstGeom>
          <a:noFill/>
          <a:ln/>
        </p:spPr>
        <p:txBody>
          <a:bodyPr wrap="square" lIns="0" tIns="0" rIns="0" bIns="0" rtlCol="0" anchor="ctr"/>
          <a:lstStyle/>
          <a:p>
            <a:pPr algn="r" indent="0" marL="0">
              <a:buNone/>
            </a:pPr>
            <a:r>
              <a:rPr lang="en-US" sz="2200" b="1" dirty="0">
                <a:solidFill>
                  <a:srgbClr val="F2A900"/>
                </a:solidFill>
                <a:latin typeface="Cambria" pitchFamily="34" charset="0"/>
                <a:ea typeface="Cambria" pitchFamily="34" charset="-122"/>
                <a:cs typeface="Cambria" pitchFamily="34" charset="-120"/>
              </a:rPr>
              <a:t>5,775 giờ</a:t>
            </a:r>
            <a:endParaRPr lang="en-US" sz="2200" dirty="0"/>
          </a:p>
        </p:txBody>
      </p:sp>
      <p:sp>
        <p:nvSpPr>
          <p:cNvPr id="25" name="Text 23"/>
          <p:cNvSpPr/>
          <p:nvPr/>
        </p:nvSpPr>
        <p:spPr>
          <a:xfrm>
            <a:off x="868680" y="5833872"/>
            <a:ext cx="5669280" cy="274320"/>
          </a:xfrm>
          <a:prstGeom prst="rect">
            <a:avLst/>
          </a:prstGeom>
          <a:noFill/>
          <a:ln/>
        </p:spPr>
        <p:txBody>
          <a:bodyPr wrap="square" lIns="0" tIns="0" rIns="0" bIns="0" rtlCol="0" anchor="ctr"/>
          <a:lstStyle/>
          <a:p>
            <a:pPr indent="0" marL="0">
              <a:buNone/>
            </a:pPr>
            <a:r>
              <a:rPr lang="en-US" sz="1000" i="1" dirty="0">
                <a:solidFill>
                  <a:srgbClr val="5A6B80"/>
                </a:solidFill>
                <a:latin typeface="Calibri" pitchFamily="34" charset="0"/>
                <a:ea typeface="Calibri" pitchFamily="34" charset="-122"/>
                <a:cs typeface="Calibri" pitchFamily="34" charset="-120"/>
              </a:rPr>
              <a:t>Đối chiếu: quy trình Quản lý Sự cố (Incident) ≈ 2,96 giờ.</a:t>
            </a:r>
            <a:endParaRPr lang="en-US" sz="1000" dirty="0"/>
          </a:p>
        </p:txBody>
      </p:sp>
      <p:sp>
        <p:nvSpPr>
          <p:cNvPr id="26" name="Shape 24"/>
          <p:cNvSpPr/>
          <p:nvPr/>
        </p:nvSpPr>
        <p:spPr>
          <a:xfrm>
            <a:off x="7022592" y="1371600"/>
            <a:ext cx="4590288" cy="1499616"/>
          </a:xfrm>
          <a:prstGeom prst="roundRect">
            <a:avLst>
              <a:gd name="adj" fmla="val 5488"/>
            </a:avLst>
          </a:prstGeom>
          <a:solidFill>
            <a:srgbClr val="F4F8FC"/>
          </a:solidFill>
          <a:ln w="12700">
            <a:solidFill>
              <a:srgbClr val="D3DFEE"/>
            </a:solidFill>
            <a:prstDash val="solid"/>
          </a:ln>
          <a:effectLst>
            <a:outerShdw sx="100000" sy="100000" kx="0" ky="0" algn="bl" rotWithShape="0" blurRad="88900" dist="25400" dir="5400000">
              <a:srgbClr val="0A2E5C">
                <a:alpha val="14000"/>
              </a:srgbClr>
            </a:outerShdw>
          </a:effectLst>
        </p:spPr>
      </p:sp>
      <p:sp>
        <p:nvSpPr>
          <p:cNvPr id="27" name="Text 25"/>
          <p:cNvSpPr/>
          <p:nvPr/>
        </p:nvSpPr>
        <p:spPr>
          <a:xfrm>
            <a:off x="7242048" y="1463040"/>
            <a:ext cx="4114800" cy="457200"/>
          </a:xfrm>
          <a:prstGeom prst="rect">
            <a:avLst/>
          </a:prstGeom>
          <a:noFill/>
          <a:ln/>
        </p:spPr>
        <p:txBody>
          <a:bodyPr wrap="square" lIns="0" tIns="0" rIns="0" bIns="0" rtlCol="0" anchor="ctr"/>
          <a:lstStyle/>
          <a:p>
            <a:pPr indent="0" marL="0">
              <a:buNone/>
            </a:pPr>
            <a:r>
              <a:rPr lang="en-US" sz="2100" b="1" dirty="0">
                <a:solidFill>
                  <a:srgbClr val="B3402A"/>
                </a:solidFill>
                <a:latin typeface="Cambria" pitchFamily="34" charset="0"/>
                <a:ea typeface="Cambria" pitchFamily="34" charset="-122"/>
                <a:cs typeface="Cambria" pitchFamily="34" charset="-120"/>
              </a:rPr>
              <a:t>2 → 8+ giờ</a:t>
            </a:r>
            <a:endParaRPr lang="en-US" sz="2100" dirty="0"/>
          </a:p>
        </p:txBody>
      </p:sp>
      <p:sp>
        <p:nvSpPr>
          <p:cNvPr id="28" name="Text 26"/>
          <p:cNvSpPr/>
          <p:nvPr/>
        </p:nvSpPr>
        <p:spPr>
          <a:xfrm>
            <a:off x="7242048" y="1920240"/>
            <a:ext cx="4160520" cy="868680"/>
          </a:xfrm>
          <a:prstGeom prst="rect">
            <a:avLst/>
          </a:prstGeom>
          <a:noFill/>
          <a:ln/>
        </p:spPr>
        <p:txBody>
          <a:bodyPr wrap="square" lIns="0" tIns="0" rIns="0" bIns="0" rtlCol="0" anchor="ctr"/>
          <a:lstStyle/>
          <a:p>
            <a:pPr indent="0" marL="0">
              <a:lnSpc>
                <a:spcPct val="108000"/>
              </a:lnSpc>
              <a:buNone/>
            </a:pPr>
            <a:r>
              <a:rPr lang="en-US" sz="1050" dirty="0">
                <a:solidFill>
                  <a:srgbClr val="16283E"/>
                </a:solidFill>
                <a:latin typeface="Calibri" pitchFamily="34" charset="0"/>
                <a:ea typeface="Calibri" pitchFamily="34" charset="-122"/>
                <a:cs typeface="Calibri" pitchFamily="34" charset="-120"/>
              </a:rPr>
              <a:t>chờ quản lý phê duyệt — riêng khâu chờ duyệt chiếm ~40% tổng Lead Time (lãng phí Hold).</a:t>
            </a:r>
            <a:endParaRPr lang="en-US" sz="1050" dirty="0"/>
          </a:p>
        </p:txBody>
      </p:sp>
      <p:sp>
        <p:nvSpPr>
          <p:cNvPr id="29" name="Shape 27"/>
          <p:cNvSpPr/>
          <p:nvPr/>
        </p:nvSpPr>
        <p:spPr>
          <a:xfrm>
            <a:off x="7022592" y="3035808"/>
            <a:ext cx="4590288" cy="1499616"/>
          </a:xfrm>
          <a:prstGeom prst="roundRect">
            <a:avLst>
              <a:gd name="adj" fmla="val 5488"/>
            </a:avLst>
          </a:prstGeom>
          <a:solidFill>
            <a:srgbClr val="F4F8FC"/>
          </a:solidFill>
          <a:ln w="12700">
            <a:solidFill>
              <a:srgbClr val="D3DFEE"/>
            </a:solidFill>
            <a:prstDash val="solid"/>
          </a:ln>
          <a:effectLst>
            <a:outerShdw sx="100000" sy="100000" kx="0" ky="0" algn="bl" rotWithShape="0" blurRad="88900" dist="25400" dir="5400000">
              <a:srgbClr val="0A2E5C">
                <a:alpha val="14000"/>
              </a:srgbClr>
            </a:outerShdw>
          </a:effectLst>
        </p:spPr>
      </p:sp>
      <p:sp>
        <p:nvSpPr>
          <p:cNvPr id="30" name="Text 28"/>
          <p:cNvSpPr/>
          <p:nvPr/>
        </p:nvSpPr>
        <p:spPr>
          <a:xfrm>
            <a:off x="7242048" y="3127248"/>
            <a:ext cx="4114800" cy="457200"/>
          </a:xfrm>
          <a:prstGeom prst="rect">
            <a:avLst/>
          </a:prstGeom>
          <a:noFill/>
          <a:ln/>
        </p:spPr>
        <p:txBody>
          <a:bodyPr wrap="square" lIns="0" tIns="0" rIns="0" bIns="0" rtlCol="0" anchor="ctr"/>
          <a:lstStyle/>
          <a:p>
            <a:pPr indent="0" marL="0">
              <a:buNone/>
            </a:pPr>
            <a:r>
              <a:rPr lang="en-US" sz="2100" b="1" dirty="0">
                <a:solidFill>
                  <a:srgbClr val="B3402A"/>
                </a:solidFill>
                <a:latin typeface="Cambria" pitchFamily="34" charset="0"/>
                <a:ea typeface="Cambria" pitchFamily="34" charset="-122"/>
                <a:cs typeface="Cambria" pitchFamily="34" charset="-120"/>
              </a:rPr>
              <a:t>5–10%</a:t>
            </a:r>
            <a:endParaRPr lang="en-US" sz="2100" dirty="0"/>
          </a:p>
        </p:txBody>
      </p:sp>
      <p:sp>
        <p:nvSpPr>
          <p:cNvPr id="31" name="Text 29"/>
          <p:cNvSpPr/>
          <p:nvPr/>
        </p:nvSpPr>
        <p:spPr>
          <a:xfrm>
            <a:off x="7242048" y="3584448"/>
            <a:ext cx="4160520" cy="868680"/>
          </a:xfrm>
          <a:prstGeom prst="rect">
            <a:avLst/>
          </a:prstGeom>
          <a:noFill/>
          <a:ln/>
        </p:spPr>
        <p:txBody>
          <a:bodyPr wrap="square" lIns="0" tIns="0" rIns="0" bIns="0" rtlCol="0" anchor="ctr"/>
          <a:lstStyle/>
          <a:p>
            <a:pPr indent="0" marL="0">
              <a:lnSpc>
                <a:spcPct val="108000"/>
              </a:lnSpc>
              <a:buNone/>
            </a:pPr>
            <a:r>
              <a:rPr lang="en-US" sz="1050" dirty="0">
                <a:solidFill>
                  <a:srgbClr val="16283E"/>
                </a:solidFill>
                <a:latin typeface="Calibri" pitchFamily="34" charset="0"/>
                <a:ea typeface="Calibri" pitchFamily="34" charset="-122"/>
                <a:cs typeface="Calibri" pitchFamily="34" charset="-120"/>
              </a:rPr>
              <a:t>PYC trễ hạn SLA, tăng vào mùa cao điểm; phần lớn do ping-pong &amp; chờ duyệt, không do năng lực kỹ thuật.</a:t>
            </a:r>
            <a:endParaRPr lang="en-US" sz="1050" dirty="0"/>
          </a:p>
        </p:txBody>
      </p:sp>
      <p:sp>
        <p:nvSpPr>
          <p:cNvPr id="32" name="Shape 30"/>
          <p:cNvSpPr/>
          <p:nvPr/>
        </p:nvSpPr>
        <p:spPr>
          <a:xfrm>
            <a:off x="7022592" y="4700016"/>
            <a:ext cx="4590288" cy="1499616"/>
          </a:xfrm>
          <a:prstGeom prst="roundRect">
            <a:avLst>
              <a:gd name="adj" fmla="val 5488"/>
            </a:avLst>
          </a:prstGeom>
          <a:solidFill>
            <a:srgbClr val="F4F8FC"/>
          </a:solidFill>
          <a:ln w="12700">
            <a:solidFill>
              <a:srgbClr val="D3DFEE"/>
            </a:solidFill>
            <a:prstDash val="solid"/>
          </a:ln>
          <a:effectLst>
            <a:outerShdw sx="100000" sy="100000" kx="0" ky="0" algn="bl" rotWithShape="0" blurRad="88900" dist="25400" dir="5400000">
              <a:srgbClr val="0A2E5C">
                <a:alpha val="14000"/>
              </a:srgbClr>
            </a:outerShdw>
          </a:effectLst>
        </p:spPr>
      </p:sp>
      <p:sp>
        <p:nvSpPr>
          <p:cNvPr id="33" name="Text 31"/>
          <p:cNvSpPr/>
          <p:nvPr/>
        </p:nvSpPr>
        <p:spPr>
          <a:xfrm>
            <a:off x="7242048" y="4791456"/>
            <a:ext cx="4114800" cy="457200"/>
          </a:xfrm>
          <a:prstGeom prst="rect">
            <a:avLst/>
          </a:prstGeom>
          <a:noFill/>
          <a:ln/>
        </p:spPr>
        <p:txBody>
          <a:bodyPr wrap="square" lIns="0" tIns="0" rIns="0" bIns="0" rtlCol="0" anchor="ctr"/>
          <a:lstStyle/>
          <a:p>
            <a:pPr indent="0" marL="0">
              <a:buNone/>
            </a:pPr>
            <a:r>
              <a:rPr lang="en-US" sz="2100" b="1" dirty="0">
                <a:solidFill>
                  <a:srgbClr val="B3402A"/>
                </a:solidFill>
                <a:latin typeface="Cambria" pitchFamily="34" charset="0"/>
                <a:ea typeface="Cambria" pitchFamily="34" charset="-122"/>
                <a:cs typeface="Cambria" pitchFamily="34" charset="-120"/>
              </a:rPr>
              <a:t>20–50%</a:t>
            </a:r>
            <a:endParaRPr lang="en-US" sz="2100" dirty="0"/>
          </a:p>
        </p:txBody>
      </p:sp>
      <p:sp>
        <p:nvSpPr>
          <p:cNvPr id="34" name="Text 32"/>
          <p:cNvSpPr/>
          <p:nvPr/>
        </p:nvSpPr>
        <p:spPr>
          <a:xfrm>
            <a:off x="7242048" y="5248656"/>
            <a:ext cx="4160520" cy="868680"/>
          </a:xfrm>
          <a:prstGeom prst="rect">
            <a:avLst/>
          </a:prstGeom>
          <a:noFill/>
          <a:ln/>
        </p:spPr>
        <p:txBody>
          <a:bodyPr wrap="square" lIns="0" tIns="0" rIns="0" bIns="0" rtlCol="0" anchor="ctr"/>
          <a:lstStyle/>
          <a:p>
            <a:pPr indent="0" marL="0">
              <a:lnSpc>
                <a:spcPct val="108000"/>
              </a:lnSpc>
              <a:buNone/>
            </a:pPr>
            <a:r>
              <a:rPr lang="en-US" sz="1050" dirty="0">
                <a:solidFill>
                  <a:srgbClr val="16283E"/>
                </a:solidFill>
                <a:latin typeface="Calibri" pitchFamily="34" charset="0"/>
                <a:ea typeface="Calibri" pitchFamily="34" charset="-122"/>
                <a:cs typeface="Calibri" pitchFamily="34" charset="-120"/>
              </a:rPr>
              <a:t>phiếu bị trả về do sai danh mục / thiếu dữ liệu — Helpdesk tốn hàng chục giờ NVA mỗi tuần chỉ để xác minh lại thông tin.</a:t>
            </a:r>
            <a:endParaRPr lang="en-US" sz="1050" dirty="0"/>
          </a:p>
        </p:txBody>
      </p:sp>
      <p:sp>
        <p:nvSpPr>
          <p:cNvPr id="35" name="Text 33"/>
          <p:cNvSpPr/>
          <p:nvPr/>
        </p:nvSpPr>
        <p:spPr>
          <a:xfrm>
            <a:off x="11411712" y="6473952"/>
            <a:ext cx="457200" cy="274320"/>
          </a:xfrm>
          <a:prstGeom prst="rect">
            <a:avLst/>
          </a:prstGeom>
          <a:noFill/>
          <a:ln/>
        </p:spPr>
        <p:txBody>
          <a:bodyPr wrap="square" rtlCol="0" anchor="ctr"/>
          <a:lstStyle/>
          <a:p>
            <a:pPr algn="r" indent="0" marL="0">
              <a:buNone/>
            </a:pPr>
            <a:r>
              <a:rPr lang="en-US" sz="900" dirty="0">
                <a:solidFill>
                  <a:srgbClr val="5A6B80"/>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lIns="0" tIns="0" rIns="0" bIns="0" rtlCol="0" anchor="ctr"/>
          <a:lstStyle/>
          <a:p>
            <a:pPr indent="0" marL="0">
              <a:buNone/>
            </a:pPr>
            <a:r>
              <a:rPr lang="en-US" sz="1050" b="1" spc="240" kern="0" dirty="0">
                <a:solidFill>
                  <a:srgbClr val="2160A6"/>
                </a:solidFill>
                <a:latin typeface="Calibri" pitchFamily="34" charset="0"/>
                <a:ea typeface="Calibri" pitchFamily="34" charset="-122"/>
                <a:cs typeface="Calibri" pitchFamily="34" charset="-120"/>
              </a:rPr>
              <a:t>CHƯƠNG 5 · ĐỀ XUẤT CẢI TIẾN</a:t>
            </a:r>
            <a:endParaRPr lang="en-US" sz="1050" dirty="0"/>
          </a:p>
        </p:txBody>
      </p:sp>
      <p:sp>
        <p:nvSpPr>
          <p:cNvPr id="3" name="Text 1"/>
          <p:cNvSpPr/>
          <p:nvPr/>
        </p:nvSpPr>
        <p:spPr>
          <a:xfrm>
            <a:off x="548640" y="566928"/>
            <a:ext cx="11064240" cy="566928"/>
          </a:xfrm>
          <a:prstGeom prst="rect">
            <a:avLst/>
          </a:prstGeom>
          <a:noFill/>
          <a:ln/>
        </p:spPr>
        <p:txBody>
          <a:bodyPr wrap="square" lIns="0" tIns="0" rIns="0" bIns="0" rtlCol="0" anchor="ctr"/>
          <a:lstStyle/>
          <a:p>
            <a:pPr indent="0" marL="0">
              <a:buNone/>
            </a:pPr>
            <a:r>
              <a:rPr lang="en-US" sz="2900" b="1" dirty="0">
                <a:solidFill>
                  <a:srgbClr val="0A2E5C"/>
                </a:solidFill>
                <a:latin typeface="Cambria" pitchFamily="34" charset="0"/>
                <a:ea typeface="Cambria" pitchFamily="34" charset="-122"/>
                <a:cs typeface="Cambria" pitchFamily="34" charset="-120"/>
              </a:rPr>
              <a:t>Ba giải pháp tinh gọn quy trình PYC</a:t>
            </a:r>
            <a:endParaRPr lang="en-US" sz="2900" dirty="0"/>
          </a:p>
        </p:txBody>
      </p:sp>
      <p:sp>
        <p:nvSpPr>
          <p:cNvPr id="4" name="Shape 2"/>
          <p:cNvSpPr/>
          <p:nvPr/>
        </p:nvSpPr>
        <p:spPr>
          <a:xfrm>
            <a:off x="566928" y="1417320"/>
            <a:ext cx="3639312" cy="4709160"/>
          </a:xfrm>
          <a:prstGeom prst="roundRect">
            <a:avLst>
              <a:gd name="adj" fmla="val 2261"/>
            </a:avLst>
          </a:prstGeom>
          <a:solidFill>
            <a:srgbClr val="FFFFFF"/>
          </a:solidFill>
          <a:ln w="12700">
            <a:solidFill>
              <a:srgbClr val="D3DFEE"/>
            </a:solidFill>
            <a:prstDash val="solid"/>
          </a:ln>
          <a:effectLst>
            <a:outerShdw sx="100000" sy="100000" kx="0" ky="0" algn="bl" rotWithShape="0" blurRad="88900" dist="25400" dir="5400000">
              <a:srgbClr val="0A2E5C">
                <a:alpha val="14000"/>
              </a:srgbClr>
            </a:outerShdw>
          </a:effectLst>
        </p:spPr>
      </p:sp>
      <p:sp>
        <p:nvSpPr>
          <p:cNvPr id="5" name="Shape 3"/>
          <p:cNvSpPr/>
          <p:nvPr/>
        </p:nvSpPr>
        <p:spPr>
          <a:xfrm>
            <a:off x="841248" y="1691640"/>
            <a:ext cx="713232" cy="713232"/>
          </a:xfrm>
          <a:prstGeom prst="ellipse">
            <a:avLst/>
          </a:prstGeom>
          <a:solidFill>
            <a:srgbClr val="0A2E5C"/>
          </a:solidFill>
          <a:ln/>
        </p:spPr>
      </p:sp>
      <p:pic>
        <p:nvPicPr>
          <p:cNvPr id="6" name="Image 0" descr="icons/wpforms_white.png">    </p:cNvPr>
          <p:cNvPicPr>
            <a:picLocks noChangeAspect="1"/>
          </p:cNvPicPr>
          <p:nvPr/>
        </p:nvPicPr>
        <p:blipFill>
          <a:blip r:embed="rId1"/>
          <a:stretch>
            <a:fillRect/>
          </a:stretch>
        </p:blipFill>
        <p:spPr>
          <a:xfrm>
            <a:off x="1033821" y="1884213"/>
            <a:ext cx="328087" cy="328087"/>
          </a:xfrm>
          <a:prstGeom prst="rect">
            <a:avLst/>
          </a:prstGeom>
        </p:spPr>
      </p:pic>
      <p:sp>
        <p:nvSpPr>
          <p:cNvPr id="7" name="Text 4"/>
          <p:cNvSpPr/>
          <p:nvPr/>
        </p:nvSpPr>
        <p:spPr>
          <a:xfrm>
            <a:off x="3246120" y="1618488"/>
            <a:ext cx="731520" cy="502920"/>
          </a:xfrm>
          <a:prstGeom prst="rect">
            <a:avLst/>
          </a:prstGeom>
          <a:noFill/>
          <a:ln/>
        </p:spPr>
        <p:txBody>
          <a:bodyPr wrap="square" lIns="0" tIns="0" rIns="0" bIns="0" rtlCol="0" anchor="ctr"/>
          <a:lstStyle/>
          <a:p>
            <a:pPr algn="r" indent="0" marL="0">
              <a:buNone/>
            </a:pPr>
            <a:r>
              <a:rPr lang="en-US" sz="2600" b="1" dirty="0">
                <a:solidFill>
                  <a:srgbClr val="D9E4F2"/>
                </a:solidFill>
                <a:latin typeface="Cambria" pitchFamily="34" charset="0"/>
                <a:ea typeface="Cambria" pitchFamily="34" charset="-122"/>
                <a:cs typeface="Cambria" pitchFamily="34" charset="-120"/>
              </a:rPr>
              <a:t>01</a:t>
            </a:r>
            <a:endParaRPr lang="en-US" sz="2600" dirty="0"/>
          </a:p>
        </p:txBody>
      </p:sp>
      <p:sp>
        <p:nvSpPr>
          <p:cNvPr id="8" name="Text 5"/>
          <p:cNvSpPr/>
          <p:nvPr/>
        </p:nvSpPr>
        <p:spPr>
          <a:xfrm>
            <a:off x="841248" y="2587752"/>
            <a:ext cx="3090672" cy="566928"/>
          </a:xfrm>
          <a:prstGeom prst="rect">
            <a:avLst/>
          </a:prstGeom>
          <a:noFill/>
          <a:ln/>
        </p:spPr>
        <p:txBody>
          <a:bodyPr wrap="square" lIns="0" tIns="0" rIns="0" bIns="0" rtlCol="0" anchor="ctr"/>
          <a:lstStyle/>
          <a:p>
            <a:pPr indent="0" marL="0">
              <a:lnSpc>
                <a:spcPct val="100000"/>
              </a:lnSpc>
              <a:buNone/>
            </a:pPr>
            <a:r>
              <a:rPr lang="en-US" sz="1550" b="1" dirty="0">
                <a:solidFill>
                  <a:srgbClr val="0A2E5C"/>
                </a:solidFill>
                <a:latin typeface="Cambria" pitchFamily="34" charset="0"/>
                <a:ea typeface="Cambria" pitchFamily="34" charset="-122"/>
                <a:cs typeface="Cambria" pitchFamily="34" charset="-120"/>
              </a:rPr>
              <a:t>SMART-FORM CHUẨN HÓA</a:t>
            </a:r>
            <a:endParaRPr lang="en-US" sz="1550" dirty="0"/>
          </a:p>
        </p:txBody>
      </p:sp>
      <p:sp>
        <p:nvSpPr>
          <p:cNvPr id="9" name="Shape 6"/>
          <p:cNvSpPr/>
          <p:nvPr/>
        </p:nvSpPr>
        <p:spPr>
          <a:xfrm>
            <a:off x="841248" y="3200400"/>
            <a:ext cx="3090672" cy="329184"/>
          </a:xfrm>
          <a:prstGeom prst="roundRect">
            <a:avLst>
              <a:gd name="adj" fmla="val 50000"/>
            </a:avLst>
          </a:prstGeom>
          <a:solidFill>
            <a:srgbClr val="FBEAE5"/>
          </a:solidFill>
          <a:ln/>
        </p:spPr>
      </p:sp>
      <p:sp>
        <p:nvSpPr>
          <p:cNvPr id="10" name="Text 7"/>
          <p:cNvSpPr/>
          <p:nvPr/>
        </p:nvSpPr>
        <p:spPr>
          <a:xfrm>
            <a:off x="841248" y="3200400"/>
            <a:ext cx="3090672" cy="329184"/>
          </a:xfrm>
          <a:prstGeom prst="rect">
            <a:avLst/>
          </a:prstGeom>
          <a:noFill/>
          <a:ln/>
        </p:spPr>
        <p:txBody>
          <a:bodyPr wrap="square" lIns="0" tIns="0" rIns="0" bIns="0" rtlCol="0" anchor="ctr"/>
          <a:lstStyle/>
          <a:p>
            <a:pPr algn="ctr" indent="0" marL="0">
              <a:buNone/>
            </a:pPr>
            <a:r>
              <a:rPr lang="en-US" sz="1000" b="1" dirty="0">
                <a:solidFill>
                  <a:srgbClr val="B3402A"/>
                </a:solidFill>
                <a:latin typeface="Calibri" pitchFamily="34" charset="0"/>
                <a:ea typeface="Calibri" pitchFamily="34" charset="-122"/>
                <a:cs typeface="Calibri" pitchFamily="34" charset="-120"/>
              </a:rPr>
              <a:t>Giải quyết Move &amp; NVA</a:t>
            </a:r>
            <a:endParaRPr lang="en-US" sz="1000" dirty="0"/>
          </a:p>
        </p:txBody>
      </p:sp>
      <p:sp>
        <p:nvSpPr>
          <p:cNvPr id="11" name="Text 8"/>
          <p:cNvSpPr/>
          <p:nvPr/>
        </p:nvSpPr>
        <p:spPr>
          <a:xfrm>
            <a:off x="841248" y="3703320"/>
            <a:ext cx="3090672" cy="1234440"/>
          </a:xfrm>
          <a:prstGeom prst="rect">
            <a:avLst/>
          </a:prstGeom>
          <a:noFill/>
          <a:ln/>
        </p:spPr>
        <p:txBody>
          <a:bodyPr wrap="square" lIns="0" tIns="0" rIns="0" bIns="0" rtlCol="0" anchor="ctr"/>
          <a:lstStyle/>
          <a:p>
            <a:pPr indent="0" marL="0">
              <a:lnSpc>
                <a:spcPct val="112000"/>
              </a:lnSpc>
              <a:buNone/>
            </a:pPr>
            <a:r>
              <a:rPr lang="en-US" sz="1100" dirty="0">
                <a:solidFill>
                  <a:srgbClr val="16283E"/>
                </a:solidFill>
                <a:latin typeface="Calibri" pitchFamily="34" charset="0"/>
                <a:ea typeface="Calibri" pitchFamily="34" charset="-122"/>
                <a:cs typeface="Calibri" pitchFamily="34" charset="-120"/>
              </a:rPr>
              <a:t>Trường thông tin bắt buộc (mandatory) + danh sách thả xuống (dropdown) thay cho nhập tự do trên Cổng ITSM.</a:t>
            </a:r>
            <a:endParaRPr lang="en-US" sz="1100" dirty="0"/>
          </a:p>
        </p:txBody>
      </p:sp>
      <p:sp>
        <p:nvSpPr>
          <p:cNvPr id="12" name="Shape 9"/>
          <p:cNvSpPr/>
          <p:nvPr/>
        </p:nvSpPr>
        <p:spPr>
          <a:xfrm>
            <a:off x="841248" y="5029200"/>
            <a:ext cx="3090672" cy="0"/>
          </a:xfrm>
          <a:prstGeom prst="line">
            <a:avLst/>
          </a:prstGeom>
          <a:noFill/>
          <a:ln w="12700">
            <a:solidFill>
              <a:srgbClr val="D3DFEE"/>
            </a:solidFill>
            <a:prstDash val="solid"/>
          </a:ln>
        </p:spPr>
      </p:sp>
      <p:sp>
        <p:nvSpPr>
          <p:cNvPr id="13" name="Shape 10"/>
          <p:cNvSpPr/>
          <p:nvPr/>
        </p:nvSpPr>
        <p:spPr>
          <a:xfrm>
            <a:off x="841248" y="5202936"/>
            <a:ext cx="310896" cy="310896"/>
          </a:xfrm>
          <a:prstGeom prst="ellipse">
            <a:avLst/>
          </a:prstGeom>
          <a:solidFill>
            <a:srgbClr val="F2A900"/>
          </a:solidFill>
          <a:ln/>
        </p:spPr>
      </p:sp>
      <p:pic>
        <p:nvPicPr>
          <p:cNvPr id="14" name="Image 1" descr="icons/check_navy.png">    </p:cNvPr>
          <p:cNvPicPr>
            <a:picLocks noChangeAspect="1"/>
          </p:cNvPicPr>
          <p:nvPr/>
        </p:nvPicPr>
        <p:blipFill>
          <a:blip r:embed="rId2"/>
          <a:stretch>
            <a:fillRect/>
          </a:stretch>
        </p:blipFill>
        <p:spPr>
          <a:xfrm>
            <a:off x="903427" y="5265115"/>
            <a:ext cx="186538" cy="186538"/>
          </a:xfrm>
          <a:prstGeom prst="rect">
            <a:avLst/>
          </a:prstGeom>
        </p:spPr>
      </p:pic>
      <p:sp>
        <p:nvSpPr>
          <p:cNvPr id="15" name="Text 11"/>
          <p:cNvSpPr/>
          <p:nvPr/>
        </p:nvSpPr>
        <p:spPr>
          <a:xfrm>
            <a:off x="1261872" y="5129784"/>
            <a:ext cx="2679192" cy="868680"/>
          </a:xfrm>
          <a:prstGeom prst="rect">
            <a:avLst/>
          </a:prstGeom>
          <a:noFill/>
          <a:ln/>
        </p:spPr>
        <p:txBody>
          <a:bodyPr wrap="square" lIns="0" tIns="0" rIns="0" bIns="0" rtlCol="0" anchor="ctr"/>
          <a:lstStyle/>
          <a:p>
            <a:pPr indent="0" marL="0">
              <a:lnSpc>
                <a:spcPct val="108000"/>
              </a:lnSpc>
              <a:buNone/>
            </a:pPr>
            <a:r>
              <a:rPr lang="en-US" sz="1050" b="1" dirty="0">
                <a:solidFill>
                  <a:srgbClr val="0A2E5C"/>
                </a:solidFill>
                <a:latin typeface="Calibri" pitchFamily="34" charset="0"/>
                <a:ea typeface="Calibri" pitchFamily="34" charset="-122"/>
                <a:cs typeface="Calibri" pitchFamily="34" charset="-120"/>
              </a:rPr>
              <a:t>"Right First Time" — triệt tiêu vòng lặp trả hồ sơ, giảm Lead Time.</a:t>
            </a:r>
            <a:endParaRPr lang="en-US" sz="1050" dirty="0"/>
          </a:p>
        </p:txBody>
      </p:sp>
      <p:sp>
        <p:nvSpPr>
          <p:cNvPr id="16" name="Shape 12"/>
          <p:cNvSpPr/>
          <p:nvPr/>
        </p:nvSpPr>
        <p:spPr>
          <a:xfrm>
            <a:off x="4370832" y="1417320"/>
            <a:ext cx="3639312" cy="4709160"/>
          </a:xfrm>
          <a:prstGeom prst="roundRect">
            <a:avLst>
              <a:gd name="adj" fmla="val 2261"/>
            </a:avLst>
          </a:prstGeom>
          <a:solidFill>
            <a:srgbClr val="FFFFFF"/>
          </a:solidFill>
          <a:ln w="12700">
            <a:solidFill>
              <a:srgbClr val="D3DFEE"/>
            </a:solidFill>
            <a:prstDash val="solid"/>
          </a:ln>
          <a:effectLst>
            <a:outerShdw sx="100000" sy="100000" kx="0" ky="0" algn="bl" rotWithShape="0" blurRad="88900" dist="25400" dir="5400000">
              <a:srgbClr val="0A2E5C">
                <a:alpha val="14000"/>
              </a:srgbClr>
            </a:outerShdw>
          </a:effectLst>
        </p:spPr>
      </p:sp>
      <p:sp>
        <p:nvSpPr>
          <p:cNvPr id="17" name="Shape 13"/>
          <p:cNvSpPr/>
          <p:nvPr/>
        </p:nvSpPr>
        <p:spPr>
          <a:xfrm>
            <a:off x="4645152" y="1691640"/>
            <a:ext cx="713232" cy="713232"/>
          </a:xfrm>
          <a:prstGeom prst="ellipse">
            <a:avLst/>
          </a:prstGeom>
          <a:solidFill>
            <a:srgbClr val="0A2E5C"/>
          </a:solidFill>
          <a:ln/>
        </p:spPr>
      </p:sp>
      <p:pic>
        <p:nvPicPr>
          <p:cNvPr id="18" name="Image 2" descr="icons/robot_white.png">    </p:cNvPr>
          <p:cNvPicPr>
            <a:picLocks noChangeAspect="1"/>
          </p:cNvPicPr>
          <p:nvPr/>
        </p:nvPicPr>
        <p:blipFill>
          <a:blip r:embed="rId3"/>
          <a:stretch>
            <a:fillRect/>
          </a:stretch>
        </p:blipFill>
        <p:spPr>
          <a:xfrm>
            <a:off x="4837725" y="1884213"/>
            <a:ext cx="328087" cy="328087"/>
          </a:xfrm>
          <a:prstGeom prst="rect">
            <a:avLst/>
          </a:prstGeom>
        </p:spPr>
      </p:pic>
      <p:sp>
        <p:nvSpPr>
          <p:cNvPr id="19" name="Text 14"/>
          <p:cNvSpPr/>
          <p:nvPr/>
        </p:nvSpPr>
        <p:spPr>
          <a:xfrm>
            <a:off x="7050024" y="1618488"/>
            <a:ext cx="731520" cy="502920"/>
          </a:xfrm>
          <a:prstGeom prst="rect">
            <a:avLst/>
          </a:prstGeom>
          <a:noFill/>
          <a:ln/>
        </p:spPr>
        <p:txBody>
          <a:bodyPr wrap="square" lIns="0" tIns="0" rIns="0" bIns="0" rtlCol="0" anchor="ctr"/>
          <a:lstStyle/>
          <a:p>
            <a:pPr algn="r" indent="0" marL="0">
              <a:buNone/>
            </a:pPr>
            <a:r>
              <a:rPr lang="en-US" sz="2600" b="1" dirty="0">
                <a:solidFill>
                  <a:srgbClr val="D9E4F2"/>
                </a:solidFill>
                <a:latin typeface="Cambria" pitchFamily="34" charset="0"/>
                <a:ea typeface="Cambria" pitchFamily="34" charset="-122"/>
                <a:cs typeface="Cambria" pitchFamily="34" charset="-120"/>
              </a:rPr>
              <a:t>02</a:t>
            </a:r>
            <a:endParaRPr lang="en-US" sz="2600" dirty="0"/>
          </a:p>
        </p:txBody>
      </p:sp>
      <p:sp>
        <p:nvSpPr>
          <p:cNvPr id="20" name="Text 15"/>
          <p:cNvSpPr/>
          <p:nvPr/>
        </p:nvSpPr>
        <p:spPr>
          <a:xfrm>
            <a:off x="4645152" y="2587752"/>
            <a:ext cx="3090672" cy="566928"/>
          </a:xfrm>
          <a:prstGeom prst="rect">
            <a:avLst/>
          </a:prstGeom>
          <a:noFill/>
          <a:ln/>
        </p:spPr>
        <p:txBody>
          <a:bodyPr wrap="square" lIns="0" tIns="0" rIns="0" bIns="0" rtlCol="0" anchor="ctr"/>
          <a:lstStyle/>
          <a:p>
            <a:pPr indent="0" marL="0">
              <a:lnSpc>
                <a:spcPct val="100000"/>
              </a:lnSpc>
              <a:buNone/>
            </a:pPr>
            <a:r>
              <a:rPr lang="en-US" sz="1550" b="1" dirty="0">
                <a:solidFill>
                  <a:srgbClr val="0A2E5C"/>
                </a:solidFill>
                <a:latin typeface="Cambria" pitchFamily="34" charset="0"/>
                <a:ea typeface="Cambria" pitchFamily="34" charset="-122"/>
                <a:cs typeface="Cambria" pitchFamily="34" charset="-120"/>
              </a:rPr>
              <a:t>MA TRẬN AUTO-APPROVAL</a:t>
            </a:r>
            <a:endParaRPr lang="en-US" sz="1550" dirty="0"/>
          </a:p>
        </p:txBody>
      </p:sp>
      <p:sp>
        <p:nvSpPr>
          <p:cNvPr id="21" name="Shape 16"/>
          <p:cNvSpPr/>
          <p:nvPr/>
        </p:nvSpPr>
        <p:spPr>
          <a:xfrm>
            <a:off x="4645152" y="3200400"/>
            <a:ext cx="3090672" cy="329184"/>
          </a:xfrm>
          <a:prstGeom prst="roundRect">
            <a:avLst>
              <a:gd name="adj" fmla="val 50000"/>
            </a:avLst>
          </a:prstGeom>
          <a:solidFill>
            <a:srgbClr val="FBEAE5"/>
          </a:solidFill>
          <a:ln/>
        </p:spPr>
      </p:sp>
      <p:sp>
        <p:nvSpPr>
          <p:cNvPr id="22" name="Text 17"/>
          <p:cNvSpPr/>
          <p:nvPr/>
        </p:nvSpPr>
        <p:spPr>
          <a:xfrm>
            <a:off x="4645152" y="3200400"/>
            <a:ext cx="3090672" cy="329184"/>
          </a:xfrm>
          <a:prstGeom prst="rect">
            <a:avLst/>
          </a:prstGeom>
          <a:noFill/>
          <a:ln/>
        </p:spPr>
        <p:txBody>
          <a:bodyPr wrap="square" lIns="0" tIns="0" rIns="0" bIns="0" rtlCol="0" anchor="ctr"/>
          <a:lstStyle/>
          <a:p>
            <a:pPr algn="ctr" indent="0" marL="0">
              <a:buNone/>
            </a:pPr>
            <a:r>
              <a:rPr lang="en-US" sz="1000" b="1" dirty="0">
                <a:solidFill>
                  <a:srgbClr val="B3402A"/>
                </a:solidFill>
                <a:latin typeface="Calibri" pitchFamily="34" charset="0"/>
                <a:ea typeface="Calibri" pitchFamily="34" charset="-122"/>
                <a:cs typeface="Calibri" pitchFamily="34" charset="-120"/>
              </a:rPr>
              <a:t>Giải quyết Hold &amp; Overdo</a:t>
            </a:r>
            <a:endParaRPr lang="en-US" sz="1000" dirty="0"/>
          </a:p>
        </p:txBody>
      </p:sp>
      <p:sp>
        <p:nvSpPr>
          <p:cNvPr id="23" name="Text 18"/>
          <p:cNvSpPr/>
          <p:nvPr/>
        </p:nvSpPr>
        <p:spPr>
          <a:xfrm>
            <a:off x="4645152" y="3703320"/>
            <a:ext cx="3090672" cy="1234440"/>
          </a:xfrm>
          <a:prstGeom prst="rect">
            <a:avLst/>
          </a:prstGeom>
          <a:noFill/>
          <a:ln/>
        </p:spPr>
        <p:txBody>
          <a:bodyPr wrap="square" lIns="0" tIns="0" rIns="0" bIns="0" rtlCol="0" anchor="ctr"/>
          <a:lstStyle/>
          <a:p>
            <a:pPr indent="0" marL="0">
              <a:lnSpc>
                <a:spcPct val="112000"/>
              </a:lnSpc>
              <a:buNone/>
            </a:pPr>
            <a:r>
              <a:rPr lang="en-US" sz="1100" dirty="0">
                <a:solidFill>
                  <a:srgbClr val="16283E"/>
                </a:solidFill>
                <a:latin typeface="Calibri" pitchFamily="34" charset="0"/>
                <a:ea typeface="Calibri" pitchFamily="34" charset="-122"/>
                <a:cs typeface="Calibri" pitchFamily="34" charset="-120"/>
              </a:rPr>
              <a:t>Rủi ro thấp (wifi, folder chung, reset mật khẩu) tự động bypass bước duyệt; rủi ro cao (T24, Database) mới qua quản lý.</a:t>
            </a:r>
            <a:endParaRPr lang="en-US" sz="1100" dirty="0"/>
          </a:p>
        </p:txBody>
      </p:sp>
      <p:sp>
        <p:nvSpPr>
          <p:cNvPr id="24" name="Shape 19"/>
          <p:cNvSpPr/>
          <p:nvPr/>
        </p:nvSpPr>
        <p:spPr>
          <a:xfrm>
            <a:off x="4645152" y="5029200"/>
            <a:ext cx="3090672" cy="0"/>
          </a:xfrm>
          <a:prstGeom prst="line">
            <a:avLst/>
          </a:prstGeom>
          <a:noFill/>
          <a:ln w="12700">
            <a:solidFill>
              <a:srgbClr val="D3DFEE"/>
            </a:solidFill>
            <a:prstDash val="solid"/>
          </a:ln>
        </p:spPr>
      </p:sp>
      <p:sp>
        <p:nvSpPr>
          <p:cNvPr id="25" name="Shape 20"/>
          <p:cNvSpPr/>
          <p:nvPr/>
        </p:nvSpPr>
        <p:spPr>
          <a:xfrm>
            <a:off x="4645152" y="5202936"/>
            <a:ext cx="310896" cy="310896"/>
          </a:xfrm>
          <a:prstGeom prst="ellipse">
            <a:avLst/>
          </a:prstGeom>
          <a:solidFill>
            <a:srgbClr val="F2A900"/>
          </a:solidFill>
          <a:ln/>
        </p:spPr>
      </p:sp>
      <p:pic>
        <p:nvPicPr>
          <p:cNvPr id="26" name="Image 3" descr="icons/check_navy.png">    </p:cNvPr>
          <p:cNvPicPr>
            <a:picLocks noChangeAspect="1"/>
          </p:cNvPicPr>
          <p:nvPr/>
        </p:nvPicPr>
        <p:blipFill>
          <a:blip r:embed="rId4"/>
          <a:stretch>
            <a:fillRect/>
          </a:stretch>
        </p:blipFill>
        <p:spPr>
          <a:xfrm>
            <a:off x="4707331" y="5265115"/>
            <a:ext cx="186538" cy="186538"/>
          </a:xfrm>
          <a:prstGeom prst="rect">
            <a:avLst/>
          </a:prstGeom>
        </p:spPr>
      </p:pic>
      <p:sp>
        <p:nvSpPr>
          <p:cNvPr id="27" name="Text 21"/>
          <p:cNvSpPr/>
          <p:nvPr/>
        </p:nvSpPr>
        <p:spPr>
          <a:xfrm>
            <a:off x="5065776" y="5129784"/>
            <a:ext cx="2679192" cy="868680"/>
          </a:xfrm>
          <a:prstGeom prst="rect">
            <a:avLst/>
          </a:prstGeom>
          <a:noFill/>
          <a:ln/>
        </p:spPr>
        <p:txBody>
          <a:bodyPr wrap="square" lIns="0" tIns="0" rIns="0" bIns="0" rtlCol="0" anchor="ctr"/>
          <a:lstStyle/>
          <a:p>
            <a:pPr indent="0" marL="0">
              <a:lnSpc>
                <a:spcPct val="108000"/>
              </a:lnSpc>
              <a:buNone/>
            </a:pPr>
            <a:r>
              <a:rPr lang="en-US" sz="1050" b="1" dirty="0">
                <a:solidFill>
                  <a:srgbClr val="0A2E5C"/>
                </a:solidFill>
                <a:latin typeface="Calibri" pitchFamily="34" charset="0"/>
                <a:ea typeface="Calibri" pitchFamily="34" charset="-122"/>
                <a:cs typeface="Calibri" pitchFamily="34" charset="-120"/>
              </a:rPr>
              <a:t>Xóa nút thắt chờ duyệt, giải phóng thời gian cấp quản lý.</a:t>
            </a:r>
            <a:endParaRPr lang="en-US" sz="1050" dirty="0"/>
          </a:p>
        </p:txBody>
      </p:sp>
      <p:sp>
        <p:nvSpPr>
          <p:cNvPr id="28" name="Shape 22"/>
          <p:cNvSpPr/>
          <p:nvPr/>
        </p:nvSpPr>
        <p:spPr>
          <a:xfrm>
            <a:off x="8174736" y="1417320"/>
            <a:ext cx="3639312" cy="4709160"/>
          </a:xfrm>
          <a:prstGeom prst="roundRect">
            <a:avLst>
              <a:gd name="adj" fmla="val 2261"/>
            </a:avLst>
          </a:prstGeom>
          <a:solidFill>
            <a:srgbClr val="FFFFFF"/>
          </a:solidFill>
          <a:ln w="12700">
            <a:solidFill>
              <a:srgbClr val="D3DFEE"/>
            </a:solidFill>
            <a:prstDash val="solid"/>
          </a:ln>
          <a:effectLst>
            <a:outerShdw sx="100000" sy="100000" kx="0" ky="0" algn="bl" rotWithShape="0" blurRad="88900" dist="25400" dir="5400000">
              <a:srgbClr val="0A2E5C">
                <a:alpha val="14000"/>
              </a:srgbClr>
            </a:outerShdw>
          </a:effectLst>
        </p:spPr>
      </p:sp>
      <p:sp>
        <p:nvSpPr>
          <p:cNvPr id="29" name="Shape 23"/>
          <p:cNvSpPr/>
          <p:nvPr/>
        </p:nvSpPr>
        <p:spPr>
          <a:xfrm>
            <a:off x="8449056" y="1691640"/>
            <a:ext cx="713232" cy="713232"/>
          </a:xfrm>
          <a:prstGeom prst="ellipse">
            <a:avLst/>
          </a:prstGeom>
          <a:solidFill>
            <a:srgbClr val="0A2E5C"/>
          </a:solidFill>
          <a:ln/>
        </p:spPr>
      </p:sp>
      <p:pic>
        <p:nvPicPr>
          <p:cNvPr id="30" name="Image 4" descr="icons/plug_white.png">    </p:cNvPr>
          <p:cNvPicPr>
            <a:picLocks noChangeAspect="1"/>
          </p:cNvPicPr>
          <p:nvPr/>
        </p:nvPicPr>
        <p:blipFill>
          <a:blip r:embed="rId5"/>
          <a:stretch>
            <a:fillRect/>
          </a:stretch>
        </p:blipFill>
        <p:spPr>
          <a:xfrm>
            <a:off x="8641629" y="1884213"/>
            <a:ext cx="328087" cy="328087"/>
          </a:xfrm>
          <a:prstGeom prst="rect">
            <a:avLst/>
          </a:prstGeom>
        </p:spPr>
      </p:pic>
      <p:sp>
        <p:nvSpPr>
          <p:cNvPr id="31" name="Text 24"/>
          <p:cNvSpPr/>
          <p:nvPr/>
        </p:nvSpPr>
        <p:spPr>
          <a:xfrm>
            <a:off x="10853928" y="1618488"/>
            <a:ext cx="731520" cy="502920"/>
          </a:xfrm>
          <a:prstGeom prst="rect">
            <a:avLst/>
          </a:prstGeom>
          <a:noFill/>
          <a:ln/>
        </p:spPr>
        <p:txBody>
          <a:bodyPr wrap="square" lIns="0" tIns="0" rIns="0" bIns="0" rtlCol="0" anchor="ctr"/>
          <a:lstStyle/>
          <a:p>
            <a:pPr algn="r" indent="0" marL="0">
              <a:buNone/>
            </a:pPr>
            <a:r>
              <a:rPr lang="en-US" sz="2600" b="1" dirty="0">
                <a:solidFill>
                  <a:srgbClr val="D9E4F2"/>
                </a:solidFill>
                <a:latin typeface="Cambria" pitchFamily="34" charset="0"/>
                <a:ea typeface="Cambria" pitchFamily="34" charset="-122"/>
                <a:cs typeface="Cambria" pitchFamily="34" charset="-120"/>
              </a:rPr>
              <a:t>03</a:t>
            </a:r>
            <a:endParaRPr lang="en-US" sz="2600" dirty="0"/>
          </a:p>
        </p:txBody>
      </p:sp>
      <p:sp>
        <p:nvSpPr>
          <p:cNvPr id="32" name="Text 25"/>
          <p:cNvSpPr/>
          <p:nvPr/>
        </p:nvSpPr>
        <p:spPr>
          <a:xfrm>
            <a:off x="8449056" y="2587752"/>
            <a:ext cx="3090672" cy="566928"/>
          </a:xfrm>
          <a:prstGeom prst="rect">
            <a:avLst/>
          </a:prstGeom>
          <a:noFill/>
          <a:ln/>
        </p:spPr>
        <p:txBody>
          <a:bodyPr wrap="square" lIns="0" tIns="0" rIns="0" bIns="0" rtlCol="0" anchor="ctr"/>
          <a:lstStyle/>
          <a:p>
            <a:pPr indent="0" marL="0">
              <a:lnSpc>
                <a:spcPct val="100000"/>
              </a:lnSpc>
              <a:buNone/>
            </a:pPr>
            <a:r>
              <a:rPr lang="en-US" sz="1550" b="1" dirty="0">
                <a:solidFill>
                  <a:srgbClr val="0A2E5C"/>
                </a:solidFill>
                <a:latin typeface="Cambria" pitchFamily="34" charset="0"/>
                <a:ea typeface="Cambria" pitchFamily="34" charset="-122"/>
                <a:cs typeface="Cambria" pitchFamily="34" charset="-120"/>
              </a:rPr>
              <a:t>TỰ ĐỘNG GHI LOG QUA API</a:t>
            </a:r>
            <a:endParaRPr lang="en-US" sz="1550" dirty="0"/>
          </a:p>
        </p:txBody>
      </p:sp>
      <p:sp>
        <p:nvSpPr>
          <p:cNvPr id="33" name="Shape 26"/>
          <p:cNvSpPr/>
          <p:nvPr/>
        </p:nvSpPr>
        <p:spPr>
          <a:xfrm>
            <a:off x="8449056" y="3200400"/>
            <a:ext cx="3090672" cy="329184"/>
          </a:xfrm>
          <a:prstGeom prst="roundRect">
            <a:avLst>
              <a:gd name="adj" fmla="val 50000"/>
            </a:avLst>
          </a:prstGeom>
          <a:solidFill>
            <a:srgbClr val="FBEAE5"/>
          </a:solidFill>
          <a:ln/>
        </p:spPr>
      </p:sp>
      <p:sp>
        <p:nvSpPr>
          <p:cNvPr id="34" name="Text 27"/>
          <p:cNvSpPr/>
          <p:nvPr/>
        </p:nvSpPr>
        <p:spPr>
          <a:xfrm>
            <a:off x="8449056" y="3200400"/>
            <a:ext cx="3090672" cy="329184"/>
          </a:xfrm>
          <a:prstGeom prst="rect">
            <a:avLst/>
          </a:prstGeom>
          <a:noFill/>
          <a:ln/>
        </p:spPr>
        <p:txBody>
          <a:bodyPr wrap="square" lIns="0" tIns="0" rIns="0" bIns="0" rtlCol="0" anchor="ctr"/>
          <a:lstStyle/>
          <a:p>
            <a:pPr algn="ctr" indent="0" marL="0">
              <a:buNone/>
            </a:pPr>
            <a:r>
              <a:rPr lang="en-US" sz="1000" b="1" dirty="0">
                <a:solidFill>
                  <a:srgbClr val="B3402A"/>
                </a:solidFill>
                <a:latin typeface="Calibri" pitchFamily="34" charset="0"/>
                <a:ea typeface="Calibri" pitchFamily="34" charset="-122"/>
                <a:cs typeface="Calibri" pitchFamily="34" charset="-120"/>
              </a:rPr>
              <a:t>Giải quyết Hold tại cổng gom luồng</a:t>
            </a:r>
            <a:endParaRPr lang="en-US" sz="1000" dirty="0"/>
          </a:p>
        </p:txBody>
      </p:sp>
      <p:sp>
        <p:nvSpPr>
          <p:cNvPr id="35" name="Text 28"/>
          <p:cNvSpPr/>
          <p:nvPr/>
        </p:nvSpPr>
        <p:spPr>
          <a:xfrm>
            <a:off x="8449056" y="3703320"/>
            <a:ext cx="3090672" cy="1234440"/>
          </a:xfrm>
          <a:prstGeom prst="rect">
            <a:avLst/>
          </a:prstGeom>
          <a:noFill/>
          <a:ln/>
        </p:spPr>
        <p:txBody>
          <a:bodyPr wrap="square" lIns="0" tIns="0" rIns="0" bIns="0" rtlCol="0" anchor="ctr"/>
          <a:lstStyle/>
          <a:p>
            <a:pPr indent="0" marL="0">
              <a:lnSpc>
                <a:spcPct val="112000"/>
              </a:lnSpc>
              <a:buNone/>
            </a:pPr>
            <a:r>
              <a:rPr lang="en-US" sz="1100" dirty="0">
                <a:solidFill>
                  <a:srgbClr val="16283E"/>
                </a:solidFill>
                <a:latin typeface="Calibri" pitchFamily="34" charset="0"/>
                <a:ea typeface="Calibri" pitchFamily="34" charset="-122"/>
                <a:cs typeface="Calibri" pitchFamily="34" charset="-120"/>
              </a:rPr>
              <a:t>Tích hợp API giữa hệ thống cấp quyền và hệ thống log tập trung (SIEM): cấp quyền xong là log được ghi tự động.</a:t>
            </a:r>
            <a:endParaRPr lang="en-US" sz="1100" dirty="0"/>
          </a:p>
        </p:txBody>
      </p:sp>
      <p:sp>
        <p:nvSpPr>
          <p:cNvPr id="36" name="Shape 29"/>
          <p:cNvSpPr/>
          <p:nvPr/>
        </p:nvSpPr>
        <p:spPr>
          <a:xfrm>
            <a:off x="8449056" y="5029200"/>
            <a:ext cx="3090672" cy="0"/>
          </a:xfrm>
          <a:prstGeom prst="line">
            <a:avLst/>
          </a:prstGeom>
          <a:noFill/>
          <a:ln w="12700">
            <a:solidFill>
              <a:srgbClr val="D3DFEE"/>
            </a:solidFill>
            <a:prstDash val="solid"/>
          </a:ln>
        </p:spPr>
      </p:sp>
      <p:sp>
        <p:nvSpPr>
          <p:cNvPr id="37" name="Shape 30"/>
          <p:cNvSpPr/>
          <p:nvPr/>
        </p:nvSpPr>
        <p:spPr>
          <a:xfrm>
            <a:off x="8449056" y="5202936"/>
            <a:ext cx="310896" cy="310896"/>
          </a:xfrm>
          <a:prstGeom prst="ellipse">
            <a:avLst/>
          </a:prstGeom>
          <a:solidFill>
            <a:srgbClr val="F2A900"/>
          </a:solidFill>
          <a:ln/>
        </p:spPr>
      </p:sp>
      <p:pic>
        <p:nvPicPr>
          <p:cNvPr id="38" name="Image 5" descr="icons/check_navy.png">    </p:cNvPr>
          <p:cNvPicPr>
            <a:picLocks noChangeAspect="1"/>
          </p:cNvPicPr>
          <p:nvPr/>
        </p:nvPicPr>
        <p:blipFill>
          <a:blip r:embed="rId6"/>
          <a:stretch>
            <a:fillRect/>
          </a:stretch>
        </p:blipFill>
        <p:spPr>
          <a:xfrm>
            <a:off x="8511235" y="5265115"/>
            <a:ext cx="186538" cy="186538"/>
          </a:xfrm>
          <a:prstGeom prst="rect">
            <a:avLst/>
          </a:prstGeom>
        </p:spPr>
      </p:pic>
      <p:sp>
        <p:nvSpPr>
          <p:cNvPr id="39" name="Text 31"/>
          <p:cNvSpPr/>
          <p:nvPr/>
        </p:nvSpPr>
        <p:spPr>
          <a:xfrm>
            <a:off x="8869680" y="5129784"/>
            <a:ext cx="2679192" cy="868680"/>
          </a:xfrm>
          <a:prstGeom prst="rect">
            <a:avLst/>
          </a:prstGeom>
          <a:noFill/>
          <a:ln/>
        </p:spPr>
        <p:txBody>
          <a:bodyPr wrap="square" lIns="0" tIns="0" rIns="0" bIns="0" rtlCol="0" anchor="ctr"/>
          <a:lstStyle/>
          <a:p>
            <a:pPr indent="0" marL="0">
              <a:lnSpc>
                <a:spcPct val="108000"/>
              </a:lnSpc>
              <a:buNone/>
            </a:pPr>
            <a:r>
              <a:rPr lang="en-US" sz="1050" b="1" dirty="0">
                <a:solidFill>
                  <a:srgbClr val="0A2E5C"/>
                </a:solidFill>
                <a:latin typeface="Calibri" pitchFamily="34" charset="0"/>
                <a:ea typeface="Calibri" pitchFamily="34" charset="-122"/>
                <a:cs typeface="Calibri" pitchFamily="34" charset="-120"/>
              </a:rPr>
              <a:t>"Ghi log" chuyển từ User Task → Service Task, hết điểm chờ song song.</a:t>
            </a:r>
            <a:endParaRPr lang="en-US" sz="1050" dirty="0"/>
          </a:p>
        </p:txBody>
      </p:sp>
      <p:sp>
        <p:nvSpPr>
          <p:cNvPr id="40" name="Text 32"/>
          <p:cNvSpPr/>
          <p:nvPr/>
        </p:nvSpPr>
        <p:spPr>
          <a:xfrm>
            <a:off x="11411712" y="6473952"/>
            <a:ext cx="457200" cy="274320"/>
          </a:xfrm>
          <a:prstGeom prst="rect">
            <a:avLst/>
          </a:prstGeom>
          <a:noFill/>
          <a:ln/>
        </p:spPr>
        <p:txBody>
          <a:bodyPr wrap="square" rtlCol="0" anchor="ctr"/>
          <a:lstStyle/>
          <a:p>
            <a:pPr algn="r" indent="0" marL="0">
              <a:buNone/>
            </a:pPr>
            <a:r>
              <a:rPr lang="en-US" sz="900" dirty="0">
                <a:solidFill>
                  <a:srgbClr val="5A6B80"/>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lIns="0" tIns="0" rIns="0" bIns="0" rtlCol="0" anchor="ctr"/>
          <a:lstStyle/>
          <a:p>
            <a:pPr indent="0" marL="0">
              <a:buNone/>
            </a:pPr>
            <a:r>
              <a:rPr lang="en-US" sz="1050" b="1" spc="240" kern="0" dirty="0">
                <a:solidFill>
                  <a:srgbClr val="2160A6"/>
                </a:solidFill>
                <a:latin typeface="Calibri" pitchFamily="34" charset="0"/>
                <a:ea typeface="Calibri" pitchFamily="34" charset="-122"/>
                <a:cs typeface="Calibri" pitchFamily="34" charset="-120"/>
              </a:rPr>
              <a:t>CHƯƠNG 5 · MÔ HÌNH TƯƠNG LAI</a:t>
            </a:r>
            <a:endParaRPr lang="en-US" sz="1050" dirty="0"/>
          </a:p>
        </p:txBody>
      </p:sp>
      <p:sp>
        <p:nvSpPr>
          <p:cNvPr id="3" name="Text 1"/>
          <p:cNvSpPr/>
          <p:nvPr/>
        </p:nvSpPr>
        <p:spPr>
          <a:xfrm>
            <a:off x="548640" y="566928"/>
            <a:ext cx="11064240" cy="566928"/>
          </a:xfrm>
          <a:prstGeom prst="rect">
            <a:avLst/>
          </a:prstGeom>
          <a:noFill/>
          <a:ln/>
        </p:spPr>
        <p:txBody>
          <a:bodyPr wrap="square" lIns="0" tIns="0" rIns="0" bIns="0" rtlCol="0" anchor="ctr"/>
          <a:lstStyle/>
          <a:p>
            <a:pPr indent="0" marL="0">
              <a:buNone/>
            </a:pPr>
            <a:r>
              <a:rPr lang="en-US" sz="2900" b="1" dirty="0">
                <a:solidFill>
                  <a:srgbClr val="0A2E5C"/>
                </a:solidFill>
                <a:latin typeface="Cambria" pitchFamily="34" charset="0"/>
                <a:ea typeface="Cambria" pitchFamily="34" charset="-122"/>
                <a:cs typeface="Cambria" pitchFamily="34" charset="-120"/>
              </a:rPr>
              <a:t>Sơ đồ BPMN 2.0 quy trình PYC — TO-BE</a:t>
            </a:r>
            <a:endParaRPr lang="en-US" sz="2900" dirty="0"/>
          </a:p>
        </p:txBody>
      </p:sp>
      <p:sp>
        <p:nvSpPr>
          <p:cNvPr id="4" name="Shape 2"/>
          <p:cNvSpPr/>
          <p:nvPr/>
        </p:nvSpPr>
        <p:spPr>
          <a:xfrm>
            <a:off x="502920" y="1481328"/>
            <a:ext cx="8238744" cy="4336673"/>
          </a:xfrm>
          <a:prstGeom prst="roundRect">
            <a:avLst>
              <a:gd name="adj" fmla="val 1898"/>
            </a:avLst>
          </a:prstGeom>
          <a:solidFill>
            <a:srgbClr val="FFFFFF"/>
          </a:solidFill>
          <a:ln w="12700">
            <a:solidFill>
              <a:srgbClr val="D3DFEE"/>
            </a:solidFill>
            <a:prstDash val="solid"/>
          </a:ln>
          <a:effectLst>
            <a:outerShdw sx="100000" sy="100000" kx="0" ky="0" algn="bl" rotWithShape="0" blurRad="88900" dist="25400" dir="5400000">
              <a:srgbClr val="0A2E5C">
                <a:alpha val="14000"/>
              </a:srgbClr>
            </a:outerShdw>
          </a:effectLst>
        </p:spPr>
      </p:sp>
      <p:pic>
        <p:nvPicPr>
          <p:cNvPr id="5" name="Image 0" descr="/home/claude/media/image11.png">    </p:cNvPr>
          <p:cNvPicPr>
            <a:picLocks noChangeAspect="1"/>
          </p:cNvPicPr>
          <p:nvPr/>
        </p:nvPicPr>
        <p:blipFill>
          <a:blip r:embed="rId1"/>
          <a:stretch>
            <a:fillRect/>
          </a:stretch>
        </p:blipFill>
        <p:spPr>
          <a:xfrm>
            <a:off x="576072" y="1554480"/>
            <a:ext cx="8092440" cy="4190369"/>
          </a:xfrm>
          <a:prstGeom prst="rect">
            <a:avLst/>
          </a:prstGeom>
        </p:spPr>
      </p:pic>
      <p:sp>
        <p:nvSpPr>
          <p:cNvPr id="6" name="Text 3"/>
          <p:cNvSpPr/>
          <p:nvPr/>
        </p:nvSpPr>
        <p:spPr>
          <a:xfrm>
            <a:off x="502920" y="5925312"/>
            <a:ext cx="8238744" cy="274320"/>
          </a:xfrm>
          <a:prstGeom prst="rect">
            <a:avLst/>
          </a:prstGeom>
          <a:noFill/>
          <a:ln/>
        </p:spPr>
        <p:txBody>
          <a:bodyPr wrap="square" lIns="0" tIns="0" rIns="0" bIns="0" rtlCol="0" anchor="ctr"/>
          <a:lstStyle/>
          <a:p>
            <a:pPr algn="ctr" indent="0" marL="0">
              <a:buNone/>
            </a:pPr>
            <a:r>
              <a:rPr lang="en-US" sz="1050" i="1" dirty="0">
                <a:solidFill>
                  <a:srgbClr val="5A6B80"/>
                </a:solidFill>
                <a:latin typeface="Calibri" pitchFamily="34" charset="0"/>
                <a:ea typeface="Calibri" pitchFamily="34" charset="-122"/>
                <a:cs typeface="Calibri" pitchFamily="34" charset="-120"/>
              </a:rPr>
              <a:t>Hình 5.1 — Quy trình PYC sau cải tiến (TO-BE)</a:t>
            </a:r>
            <a:endParaRPr lang="en-US" sz="1050" dirty="0"/>
          </a:p>
        </p:txBody>
      </p:sp>
      <p:sp>
        <p:nvSpPr>
          <p:cNvPr id="7" name="Text 4"/>
          <p:cNvSpPr/>
          <p:nvPr/>
        </p:nvSpPr>
        <p:spPr>
          <a:xfrm>
            <a:off x="9006840" y="1481328"/>
            <a:ext cx="2743200" cy="292608"/>
          </a:xfrm>
          <a:prstGeom prst="rect">
            <a:avLst/>
          </a:prstGeom>
          <a:noFill/>
          <a:ln/>
        </p:spPr>
        <p:txBody>
          <a:bodyPr wrap="square" lIns="0" tIns="0" rIns="0" bIns="0" rtlCol="0" anchor="ctr"/>
          <a:lstStyle/>
          <a:p>
            <a:pPr indent="0" marL="0">
              <a:buNone/>
            </a:pPr>
            <a:r>
              <a:rPr lang="en-US" sz="1050" b="1" spc="160" kern="0" dirty="0">
                <a:solidFill>
                  <a:srgbClr val="2160A6"/>
                </a:solidFill>
                <a:latin typeface="Calibri" pitchFamily="34" charset="0"/>
                <a:ea typeface="Calibri" pitchFamily="34" charset="-122"/>
                <a:cs typeface="Calibri" pitchFamily="34" charset="-120"/>
              </a:rPr>
              <a:t>3 ĐIỂM KHÁC BIỆT SO VỚI AS-IS</a:t>
            </a:r>
            <a:endParaRPr lang="en-US" sz="1050" dirty="0"/>
          </a:p>
        </p:txBody>
      </p:sp>
      <p:sp>
        <p:nvSpPr>
          <p:cNvPr id="8" name="Shape 5"/>
          <p:cNvSpPr/>
          <p:nvPr/>
        </p:nvSpPr>
        <p:spPr>
          <a:xfrm>
            <a:off x="9006840" y="1901952"/>
            <a:ext cx="402336" cy="402336"/>
          </a:xfrm>
          <a:prstGeom prst="ellipse">
            <a:avLst/>
          </a:prstGeom>
          <a:solidFill>
            <a:srgbClr val="F2A900"/>
          </a:solidFill>
          <a:ln/>
        </p:spPr>
      </p:sp>
      <p:sp>
        <p:nvSpPr>
          <p:cNvPr id="9" name="Text 6"/>
          <p:cNvSpPr/>
          <p:nvPr/>
        </p:nvSpPr>
        <p:spPr>
          <a:xfrm>
            <a:off x="9006840" y="1901952"/>
            <a:ext cx="402336" cy="402336"/>
          </a:xfrm>
          <a:prstGeom prst="rect">
            <a:avLst/>
          </a:prstGeom>
          <a:noFill/>
          <a:ln/>
        </p:spPr>
        <p:txBody>
          <a:bodyPr wrap="square" lIns="0" tIns="0" rIns="0" bIns="0" rtlCol="0" anchor="ctr"/>
          <a:lstStyle/>
          <a:p>
            <a:pPr algn="ctr" indent="0" marL="0">
              <a:buNone/>
            </a:pPr>
            <a:r>
              <a:rPr lang="en-US" sz="1400" b="1" dirty="0">
                <a:solidFill>
                  <a:srgbClr val="0A2E5C"/>
                </a:solidFill>
                <a:latin typeface="Cambria" pitchFamily="34" charset="0"/>
                <a:ea typeface="Cambria" pitchFamily="34" charset="-122"/>
                <a:cs typeface="Cambria" pitchFamily="34" charset="-120"/>
              </a:rPr>
              <a:t>1</a:t>
            </a:r>
            <a:endParaRPr lang="en-US" sz="1400" dirty="0"/>
          </a:p>
        </p:txBody>
      </p:sp>
      <p:sp>
        <p:nvSpPr>
          <p:cNvPr id="10" name="Text 7"/>
          <p:cNvSpPr/>
          <p:nvPr/>
        </p:nvSpPr>
        <p:spPr>
          <a:xfrm>
            <a:off x="9555480" y="1874520"/>
            <a:ext cx="2240280" cy="1325880"/>
          </a:xfrm>
          <a:prstGeom prst="rect">
            <a:avLst/>
          </a:prstGeom>
          <a:noFill/>
          <a:ln/>
        </p:spPr>
        <p:txBody>
          <a:bodyPr wrap="square" lIns="0" tIns="0" rIns="0" bIns="0" rtlCol="0" anchor="t"/>
          <a:lstStyle/>
          <a:p>
            <a:pPr indent="0" marL="0">
              <a:lnSpc>
                <a:spcPct val="110000"/>
              </a:lnSpc>
              <a:buNone/>
            </a:pPr>
            <a:r>
              <a:rPr lang="en-US" sz="1050" dirty="0">
                <a:solidFill>
                  <a:srgbClr val="16283E"/>
                </a:solidFill>
                <a:latin typeface="Calibri" pitchFamily="34" charset="0"/>
                <a:ea typeface="Calibri" pitchFamily="34" charset="-122"/>
                <a:cs typeface="Calibri" pitchFamily="34" charset="-120"/>
              </a:rPr>
              <a:t>Gateway phân loại rủi ro đặt ngay sau khi tạo PYC — quyền cơ bản tự động bypass phê duyệt, đi thẳng vào ITSM.</a:t>
            </a:r>
            <a:endParaRPr lang="en-US" sz="1050" dirty="0"/>
          </a:p>
        </p:txBody>
      </p:sp>
      <p:sp>
        <p:nvSpPr>
          <p:cNvPr id="11" name="Shape 8"/>
          <p:cNvSpPr/>
          <p:nvPr/>
        </p:nvSpPr>
        <p:spPr>
          <a:xfrm>
            <a:off x="9006840" y="3383280"/>
            <a:ext cx="402336" cy="402336"/>
          </a:xfrm>
          <a:prstGeom prst="ellipse">
            <a:avLst/>
          </a:prstGeom>
          <a:solidFill>
            <a:srgbClr val="F2A900"/>
          </a:solidFill>
          <a:ln/>
        </p:spPr>
      </p:sp>
      <p:sp>
        <p:nvSpPr>
          <p:cNvPr id="12" name="Text 9"/>
          <p:cNvSpPr/>
          <p:nvPr/>
        </p:nvSpPr>
        <p:spPr>
          <a:xfrm>
            <a:off x="9006840" y="3383280"/>
            <a:ext cx="402336" cy="402336"/>
          </a:xfrm>
          <a:prstGeom prst="rect">
            <a:avLst/>
          </a:prstGeom>
          <a:noFill/>
          <a:ln/>
        </p:spPr>
        <p:txBody>
          <a:bodyPr wrap="square" lIns="0" tIns="0" rIns="0" bIns="0" rtlCol="0" anchor="ctr"/>
          <a:lstStyle/>
          <a:p>
            <a:pPr algn="ctr" indent="0" marL="0">
              <a:buNone/>
            </a:pPr>
            <a:r>
              <a:rPr lang="en-US" sz="1400" b="1" dirty="0">
                <a:solidFill>
                  <a:srgbClr val="0A2E5C"/>
                </a:solidFill>
                <a:latin typeface="Cambria" pitchFamily="34" charset="0"/>
                <a:ea typeface="Cambria" pitchFamily="34" charset="-122"/>
                <a:cs typeface="Cambria" pitchFamily="34" charset="-120"/>
              </a:rPr>
              <a:t>2</a:t>
            </a:r>
            <a:endParaRPr lang="en-US" sz="1400" dirty="0"/>
          </a:p>
        </p:txBody>
      </p:sp>
      <p:sp>
        <p:nvSpPr>
          <p:cNvPr id="13" name="Text 10"/>
          <p:cNvSpPr/>
          <p:nvPr/>
        </p:nvSpPr>
        <p:spPr>
          <a:xfrm>
            <a:off x="9555480" y="3355848"/>
            <a:ext cx="2240280" cy="1325880"/>
          </a:xfrm>
          <a:prstGeom prst="rect">
            <a:avLst/>
          </a:prstGeom>
          <a:noFill/>
          <a:ln/>
        </p:spPr>
        <p:txBody>
          <a:bodyPr wrap="square" lIns="0" tIns="0" rIns="0" bIns="0" rtlCol="0" anchor="t"/>
          <a:lstStyle/>
          <a:p>
            <a:pPr indent="0" marL="0">
              <a:lnSpc>
                <a:spcPct val="110000"/>
              </a:lnSpc>
              <a:buNone/>
            </a:pPr>
            <a:r>
              <a:rPr lang="en-US" sz="1050" dirty="0">
                <a:solidFill>
                  <a:srgbClr val="16283E"/>
                </a:solidFill>
                <a:latin typeface="Calibri" pitchFamily="34" charset="0"/>
                <a:ea typeface="Calibri" pitchFamily="34" charset="-122"/>
                <a:cs typeface="Calibri" pitchFamily="34" charset="-120"/>
              </a:rPr>
              <a:t>Chỉ quyền rủi ro cao mới đi qua Làn Quản lý để xét duyệt thủ công.</a:t>
            </a:r>
            <a:endParaRPr lang="en-US" sz="1050" dirty="0"/>
          </a:p>
        </p:txBody>
      </p:sp>
      <p:sp>
        <p:nvSpPr>
          <p:cNvPr id="14" name="Shape 11"/>
          <p:cNvSpPr/>
          <p:nvPr/>
        </p:nvSpPr>
        <p:spPr>
          <a:xfrm>
            <a:off x="9006840" y="4864608"/>
            <a:ext cx="402336" cy="402336"/>
          </a:xfrm>
          <a:prstGeom prst="ellipse">
            <a:avLst/>
          </a:prstGeom>
          <a:solidFill>
            <a:srgbClr val="F2A900"/>
          </a:solidFill>
          <a:ln/>
        </p:spPr>
      </p:sp>
      <p:sp>
        <p:nvSpPr>
          <p:cNvPr id="15" name="Text 12"/>
          <p:cNvSpPr/>
          <p:nvPr/>
        </p:nvSpPr>
        <p:spPr>
          <a:xfrm>
            <a:off x="9006840" y="4864608"/>
            <a:ext cx="402336" cy="402336"/>
          </a:xfrm>
          <a:prstGeom prst="rect">
            <a:avLst/>
          </a:prstGeom>
          <a:noFill/>
          <a:ln/>
        </p:spPr>
        <p:txBody>
          <a:bodyPr wrap="square" lIns="0" tIns="0" rIns="0" bIns="0" rtlCol="0" anchor="ctr"/>
          <a:lstStyle/>
          <a:p>
            <a:pPr algn="ctr" indent="0" marL="0">
              <a:buNone/>
            </a:pPr>
            <a:r>
              <a:rPr lang="en-US" sz="1400" b="1" dirty="0">
                <a:solidFill>
                  <a:srgbClr val="0A2E5C"/>
                </a:solidFill>
                <a:latin typeface="Cambria" pitchFamily="34" charset="0"/>
                <a:ea typeface="Cambria" pitchFamily="34" charset="-122"/>
                <a:cs typeface="Cambria" pitchFamily="34" charset="-120"/>
              </a:rPr>
              <a:t>3</a:t>
            </a:r>
            <a:endParaRPr lang="en-US" sz="1400" dirty="0"/>
          </a:p>
        </p:txBody>
      </p:sp>
      <p:sp>
        <p:nvSpPr>
          <p:cNvPr id="16" name="Text 13"/>
          <p:cNvSpPr/>
          <p:nvPr/>
        </p:nvSpPr>
        <p:spPr>
          <a:xfrm>
            <a:off x="9555480" y="4837176"/>
            <a:ext cx="2240280" cy="1325880"/>
          </a:xfrm>
          <a:prstGeom prst="rect">
            <a:avLst/>
          </a:prstGeom>
          <a:noFill/>
          <a:ln/>
        </p:spPr>
        <p:txBody>
          <a:bodyPr wrap="square" lIns="0" tIns="0" rIns="0" bIns="0" rtlCol="0" anchor="t"/>
          <a:lstStyle/>
          <a:p>
            <a:pPr indent="0" marL="0">
              <a:lnSpc>
                <a:spcPct val="110000"/>
              </a:lnSpc>
              <a:buNone/>
            </a:pPr>
            <a:r>
              <a:rPr lang="en-US" sz="1050" dirty="0">
                <a:solidFill>
                  <a:srgbClr val="16283E"/>
                </a:solidFill>
                <a:latin typeface="Calibri" pitchFamily="34" charset="0"/>
                <a:ea typeface="Calibri" pitchFamily="34" charset="-122"/>
                <a:cs typeface="Calibri" pitchFamily="34" charset="-120"/>
              </a:rPr>
              <a:t>"Ghi log bảo mật" trở thành Service Task tự động (API), đồng bộ ngay sau cấp quyền — hết điểm chờ tại cổng gom luồng.</a:t>
            </a:r>
            <a:endParaRPr lang="en-US" sz="1050" dirty="0"/>
          </a:p>
        </p:txBody>
      </p:sp>
      <p:sp>
        <p:nvSpPr>
          <p:cNvPr id="17" name="Text 14"/>
          <p:cNvSpPr/>
          <p:nvPr/>
        </p:nvSpPr>
        <p:spPr>
          <a:xfrm>
            <a:off x="11411712" y="6473952"/>
            <a:ext cx="457200" cy="274320"/>
          </a:xfrm>
          <a:prstGeom prst="rect">
            <a:avLst/>
          </a:prstGeom>
          <a:noFill/>
          <a:ln/>
        </p:spPr>
        <p:txBody>
          <a:bodyPr wrap="square" rtlCol="0" anchor="ctr"/>
          <a:lstStyle/>
          <a:p>
            <a:pPr algn="r" indent="0" marL="0">
              <a:buNone/>
            </a:pPr>
            <a:r>
              <a:rPr lang="en-US" sz="900" dirty="0">
                <a:solidFill>
                  <a:srgbClr val="5A6B80"/>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lIns="0" tIns="0" rIns="0" bIns="0" rtlCol="0" anchor="ctr"/>
          <a:lstStyle/>
          <a:p>
            <a:pPr indent="0" marL="0">
              <a:buNone/>
            </a:pPr>
            <a:r>
              <a:rPr lang="en-US" sz="1050" b="1" spc="240" kern="0" dirty="0">
                <a:solidFill>
                  <a:srgbClr val="2160A6"/>
                </a:solidFill>
                <a:latin typeface="Calibri" pitchFamily="34" charset="0"/>
                <a:ea typeface="Calibri" pitchFamily="34" charset="-122"/>
                <a:cs typeface="Calibri" pitchFamily="34" charset="-120"/>
              </a:rPr>
              <a:t>CHƯƠNG 5 · MÔ HÌNH TƯƠNG LAI</a:t>
            </a:r>
            <a:endParaRPr lang="en-US" sz="1050" dirty="0"/>
          </a:p>
        </p:txBody>
      </p:sp>
      <p:sp>
        <p:nvSpPr>
          <p:cNvPr id="3" name="Text 1"/>
          <p:cNvSpPr/>
          <p:nvPr/>
        </p:nvSpPr>
        <p:spPr>
          <a:xfrm>
            <a:off x="548640" y="566928"/>
            <a:ext cx="11064240" cy="566928"/>
          </a:xfrm>
          <a:prstGeom prst="rect">
            <a:avLst/>
          </a:prstGeom>
          <a:noFill/>
          <a:ln/>
        </p:spPr>
        <p:txBody>
          <a:bodyPr wrap="square" lIns="0" tIns="0" rIns="0" bIns="0" rtlCol="0" anchor="ctr"/>
          <a:lstStyle/>
          <a:p>
            <a:pPr indent="0" marL="0">
              <a:buNone/>
            </a:pPr>
            <a:r>
              <a:rPr lang="en-US" sz="2900" b="1" dirty="0">
                <a:solidFill>
                  <a:srgbClr val="0A2E5C"/>
                </a:solidFill>
                <a:latin typeface="Cambria" pitchFamily="34" charset="0"/>
                <a:ea typeface="Cambria" pitchFamily="34" charset="-122"/>
                <a:cs typeface="Cambria" pitchFamily="34" charset="-120"/>
              </a:rPr>
              <a:t>So sánh vận hành: AS-IS và TO-BE</a:t>
            </a:r>
            <a:endParaRPr lang="en-US" sz="29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1417320"/>
          <a:ext cx="11045952" cy="914400"/>
        </p:xfrm>
        <a:graphic>
          <a:graphicData uri="http://schemas.openxmlformats.org/drawingml/2006/table">
            <a:tbl>
              <a:tblPr/>
              <a:tblGrid>
                <a:gridCol w="2514600"/>
                <a:gridCol w="4206240"/>
                <a:gridCol w="4325112"/>
              </a:tblGrid>
              <a:tr h="45720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Tiêu chí</a:t>
                      </a:r>
                      <a:endParaRPr lang="en-US" sz="1200" dirty="0">
                        <a:latin typeface="Calibri" charset="0"/>
                        <a:ea typeface="Calibri" charset="0"/>
                        <a:cs typeface="Calibri" charset="0"/>
                      </a:endParaRPr>
                    </a:p>
                  </a:txBody>
                  <a:tcPr marL="73152" marR="73152" marT="73152" marB="73152" anchor="ctr">
                    <a:lnL w="9525" cap="flat" cmpd="sng" algn="ctr">
                      <a:solidFill>
                        <a:srgbClr val="D3DFEE"/>
                      </a:solidFill>
                      <a:prstDash val="solid"/>
                      <a:round/>
                      <a:headEnd type="none" w="med" len="med"/>
                      <a:tailEnd type="none" w="med" len="med"/>
                    </a:lnL>
                    <a:lnR w="9525" cap="flat" cmpd="sng" algn="ctr">
                      <a:solidFill>
                        <a:srgbClr val="D3DFEE"/>
                      </a:solidFill>
                      <a:prstDash val="solid"/>
                      <a:round/>
                      <a:headEnd type="none" w="med" len="med"/>
                      <a:tailEnd type="none" w="med" len="med"/>
                    </a:lnR>
                    <a:lnT w="9525" cap="flat" cmpd="sng" algn="ctr">
                      <a:solidFill>
                        <a:srgbClr val="D3DFEE"/>
                      </a:solidFill>
                      <a:prstDash val="solid"/>
                      <a:round/>
                      <a:headEnd type="none" w="med" len="med"/>
                      <a:tailEnd type="none" w="med" len="med"/>
                    </a:lnT>
                    <a:lnB w="9525" cap="flat" cmpd="sng" algn="ctr">
                      <a:solidFill>
                        <a:srgbClr val="D3DFEE"/>
                      </a:solidFill>
                      <a:prstDash val="solid"/>
                      <a:round/>
                      <a:headEnd type="none" w="med" len="med"/>
                      <a:tailEnd type="none" w="med" len="med"/>
                    </a:lnB>
                    <a:solidFill>
                      <a:srgbClr val="0A2E5C"/>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Mô hình AS-IS</a:t>
                      </a:r>
                      <a:endParaRPr lang="en-US" sz="1200" dirty="0">
                        <a:latin typeface="Calibri" charset="0"/>
                        <a:ea typeface="Calibri" charset="0"/>
                        <a:cs typeface="Calibri" charset="0"/>
                      </a:endParaRPr>
                    </a:p>
                  </a:txBody>
                  <a:tcPr marL="73152" marR="73152" marT="73152" marB="73152" anchor="ctr">
                    <a:lnL w="9525" cap="flat" cmpd="sng" algn="ctr">
                      <a:solidFill>
                        <a:srgbClr val="D3DFEE"/>
                      </a:solidFill>
                      <a:prstDash val="solid"/>
                      <a:round/>
                      <a:headEnd type="none" w="med" len="med"/>
                      <a:tailEnd type="none" w="med" len="med"/>
                    </a:lnL>
                    <a:lnR w="9525" cap="flat" cmpd="sng" algn="ctr">
                      <a:solidFill>
                        <a:srgbClr val="D3DFEE"/>
                      </a:solidFill>
                      <a:prstDash val="solid"/>
                      <a:round/>
                      <a:headEnd type="none" w="med" len="med"/>
                      <a:tailEnd type="none" w="med" len="med"/>
                    </a:lnR>
                    <a:lnT w="9525" cap="flat" cmpd="sng" algn="ctr">
                      <a:solidFill>
                        <a:srgbClr val="D3DFEE"/>
                      </a:solidFill>
                      <a:prstDash val="solid"/>
                      <a:round/>
                      <a:headEnd type="none" w="med" len="med"/>
                      <a:tailEnd type="none" w="med" len="med"/>
                    </a:lnT>
                    <a:lnB w="9525" cap="flat" cmpd="sng" algn="ctr">
                      <a:solidFill>
                        <a:srgbClr val="D3DFEE"/>
                      </a:solidFill>
                      <a:prstDash val="solid"/>
                      <a:round/>
                      <a:headEnd type="none" w="med" len="med"/>
                      <a:tailEnd type="none" w="med" len="med"/>
                    </a:lnB>
                    <a:solidFill>
                      <a:srgbClr val="0A2E5C"/>
                    </a:solidFill>
                  </a:tcPr>
                </a:tc>
                <a:tc>
                  <a:txBody>
                    <a:bodyPr/>
                    <a:lstStyle/>
                    <a:p>
                      <a:pPr algn="l" indent="0" marL="0">
                        <a:buNone/>
                      </a:pPr>
                      <a:r>
                        <a:rPr lang="en-US" sz="1200" b="1" dirty="0">
                          <a:solidFill>
                            <a:srgbClr val="F2A900"/>
                          </a:solidFill>
                          <a:latin typeface="Calibri" pitchFamily="34" charset="0"/>
                          <a:ea typeface="Calibri" pitchFamily="34" charset="-122"/>
                          <a:cs typeface="Calibri" pitchFamily="34" charset="-120"/>
                        </a:rPr>
                        <a:t>Mô hình TO-BE (kỳ vọng)</a:t>
                      </a:r>
                      <a:endParaRPr lang="en-US" sz="1200" dirty="0">
                        <a:latin typeface="Calibri" charset="0"/>
                        <a:ea typeface="Calibri" charset="0"/>
                        <a:cs typeface="Calibri" charset="0"/>
                      </a:endParaRPr>
                    </a:p>
                  </a:txBody>
                  <a:tcPr marL="73152" marR="73152" marT="73152" marB="73152" anchor="ctr">
                    <a:lnL w="9525" cap="flat" cmpd="sng" algn="ctr">
                      <a:solidFill>
                        <a:srgbClr val="D3DFEE"/>
                      </a:solidFill>
                      <a:prstDash val="solid"/>
                      <a:round/>
                      <a:headEnd type="none" w="med" len="med"/>
                      <a:tailEnd type="none" w="med" len="med"/>
                    </a:lnL>
                    <a:lnR w="9525" cap="flat" cmpd="sng" algn="ctr">
                      <a:solidFill>
                        <a:srgbClr val="D3DFEE"/>
                      </a:solidFill>
                      <a:prstDash val="solid"/>
                      <a:round/>
                      <a:headEnd type="none" w="med" len="med"/>
                      <a:tailEnd type="none" w="med" len="med"/>
                    </a:lnR>
                    <a:lnT w="9525" cap="flat" cmpd="sng" algn="ctr">
                      <a:solidFill>
                        <a:srgbClr val="D3DFEE"/>
                      </a:solidFill>
                      <a:prstDash val="solid"/>
                      <a:round/>
                      <a:headEnd type="none" w="med" len="med"/>
                      <a:tailEnd type="none" w="med" len="med"/>
                    </a:lnT>
                    <a:lnB w="9525" cap="flat" cmpd="sng" algn="ctr">
                      <a:solidFill>
                        <a:srgbClr val="D3DFEE"/>
                      </a:solidFill>
                      <a:prstDash val="solid"/>
                      <a:round/>
                      <a:headEnd type="none" w="med" len="med"/>
                      <a:tailEnd type="none" w="med" len="med"/>
                    </a:lnB>
                    <a:solidFill>
                      <a:srgbClr val="0A2E5C"/>
                    </a:solidFill>
                  </a:tcPr>
                </a:tc>
              </a:tr>
              <a:tr h="749808">
                <a:tc>
                  <a:txBody>
                    <a:bodyPr/>
                    <a:lstStyle/>
                    <a:p>
                      <a:pPr indent="0" marL="0">
                        <a:buNone/>
                      </a:pPr>
                      <a:r>
                        <a:rPr lang="en-US" sz="1100" b="1" dirty="0">
                          <a:solidFill>
                            <a:srgbClr val="16283E"/>
                          </a:solidFill>
                          <a:latin typeface="Calibri" pitchFamily="34" charset="0"/>
                          <a:ea typeface="Calibri" pitchFamily="34" charset="-122"/>
                          <a:cs typeface="Calibri" pitchFamily="34" charset="-120"/>
                        </a:rPr>
                        <a:t>Bước phê duyệt thủ công</a:t>
                      </a:r>
                      <a:endParaRPr lang="en-US" sz="1100" dirty="0">
                        <a:latin typeface="Calibri" charset="0"/>
                        <a:ea typeface="Calibri" charset="0"/>
                        <a:cs typeface="Calibri" charset="0"/>
                      </a:endParaRPr>
                    </a:p>
                  </a:txBody>
                  <a:tcPr marL="73152" marR="73152" marT="73152" marB="73152" anchor="ctr">
                    <a:lnL w="9525" cap="flat" cmpd="sng" algn="ctr">
                      <a:solidFill>
                        <a:srgbClr val="D3DFEE"/>
                      </a:solidFill>
                      <a:prstDash val="solid"/>
                      <a:round/>
                      <a:headEnd type="none" w="med" len="med"/>
                      <a:tailEnd type="none" w="med" len="med"/>
                    </a:lnL>
                    <a:lnR w="9525" cap="flat" cmpd="sng" algn="ctr">
                      <a:solidFill>
                        <a:srgbClr val="D3DFEE"/>
                      </a:solidFill>
                      <a:prstDash val="solid"/>
                      <a:round/>
                      <a:headEnd type="none" w="med" len="med"/>
                      <a:tailEnd type="none" w="med" len="med"/>
                    </a:lnR>
                    <a:lnT w="9525" cap="flat" cmpd="sng" algn="ctr">
                      <a:solidFill>
                        <a:srgbClr val="D3DFEE"/>
                      </a:solidFill>
                      <a:prstDash val="solid"/>
                      <a:round/>
                      <a:headEnd type="none" w="med" len="med"/>
                      <a:tailEnd type="none" w="med" len="med"/>
                    </a:lnT>
                    <a:lnB w="9525" cap="flat" cmpd="sng" algn="ctr">
                      <a:solidFill>
                        <a:srgbClr val="D3DFEE"/>
                      </a:solidFill>
                      <a:prstDash val="solid"/>
                      <a:round/>
                      <a:headEnd type="none" w="med" len="med"/>
                      <a:tailEnd type="none" w="med" len="med"/>
                    </a:lnB>
                    <a:solidFill>
                      <a:srgbClr val="F4F8FC"/>
                    </a:solidFill>
                  </a:tcPr>
                </a:tc>
                <a:tc>
                  <a:txBody>
                    <a:bodyPr/>
                    <a:lstStyle/>
                    <a:p>
                      <a:pPr indent="0" marL="0">
                        <a:buNone/>
                      </a:pPr>
                      <a:r>
                        <a:rPr lang="en-US" sz="1100" dirty="0">
                          <a:solidFill>
                            <a:srgbClr val="16283E"/>
                          </a:solidFill>
                          <a:latin typeface="Calibri" pitchFamily="34" charset="0"/>
                          <a:ea typeface="Calibri" pitchFamily="34" charset="-122"/>
                          <a:cs typeface="Calibri" pitchFamily="34" charset="-120"/>
                        </a:rPr>
                        <a:t>Áp dụng cho 100% PYC, không phân biệt mức độ rủi ro</a:t>
                      </a:r>
                      <a:endParaRPr lang="en-US" sz="1100" dirty="0">
                        <a:latin typeface="Calibri" charset="0"/>
                        <a:ea typeface="Calibri" charset="0"/>
                        <a:cs typeface="Calibri" charset="0"/>
                      </a:endParaRPr>
                    </a:p>
                  </a:txBody>
                  <a:tcPr marL="73152" marR="73152" marT="73152" marB="73152" anchor="ctr">
                    <a:lnL w="9525" cap="flat" cmpd="sng" algn="ctr">
                      <a:solidFill>
                        <a:srgbClr val="D3DFEE"/>
                      </a:solidFill>
                      <a:prstDash val="solid"/>
                      <a:round/>
                      <a:headEnd type="none" w="med" len="med"/>
                      <a:tailEnd type="none" w="med" len="med"/>
                    </a:lnL>
                    <a:lnR w="9525" cap="flat" cmpd="sng" algn="ctr">
                      <a:solidFill>
                        <a:srgbClr val="D3DFEE"/>
                      </a:solidFill>
                      <a:prstDash val="solid"/>
                      <a:round/>
                      <a:headEnd type="none" w="med" len="med"/>
                      <a:tailEnd type="none" w="med" len="med"/>
                    </a:lnR>
                    <a:lnT w="9525" cap="flat" cmpd="sng" algn="ctr">
                      <a:solidFill>
                        <a:srgbClr val="D3DFEE"/>
                      </a:solidFill>
                      <a:prstDash val="solid"/>
                      <a:round/>
                      <a:headEnd type="none" w="med" len="med"/>
                      <a:tailEnd type="none" w="med" len="med"/>
                    </a:lnT>
                    <a:lnB w="9525" cap="flat" cmpd="sng" algn="ctr">
                      <a:solidFill>
                        <a:srgbClr val="D3DFEE"/>
                      </a:solidFill>
                      <a:prstDash val="solid"/>
                      <a:round/>
                      <a:headEnd type="none" w="med" len="med"/>
                      <a:tailEnd type="none" w="med" len="med"/>
                    </a:lnB>
                    <a:solidFill>
                      <a:srgbClr val="F4F8FC"/>
                    </a:solidFill>
                  </a:tcPr>
                </a:tc>
                <a:tc>
                  <a:txBody>
                    <a:bodyPr/>
                    <a:lstStyle/>
                    <a:p>
                      <a:pPr indent="0" marL="0">
                        <a:buNone/>
                      </a:pPr>
                      <a:r>
                        <a:rPr lang="en-US" sz="1100" dirty="0">
                          <a:solidFill>
                            <a:srgbClr val="0A2E5C"/>
                          </a:solidFill>
                          <a:latin typeface="Calibri" pitchFamily="34" charset="0"/>
                          <a:ea typeface="Calibri" pitchFamily="34" charset="-122"/>
                          <a:cs typeface="Calibri" pitchFamily="34" charset="-120"/>
                        </a:rPr>
                        <a:t>Chỉ nhóm "Rủi ro cao"; nhóm "Rủi ro thấp" tự động bypass</a:t>
                      </a:r>
                      <a:endParaRPr lang="en-US" sz="1100" dirty="0">
                        <a:latin typeface="Calibri" charset="0"/>
                        <a:ea typeface="Calibri" charset="0"/>
                        <a:cs typeface="Calibri" charset="0"/>
                      </a:endParaRPr>
                    </a:p>
                  </a:txBody>
                  <a:tcPr marL="73152" marR="73152" marT="73152" marB="73152" anchor="ctr">
                    <a:lnL w="9525" cap="flat" cmpd="sng" algn="ctr">
                      <a:solidFill>
                        <a:srgbClr val="D3DFEE"/>
                      </a:solidFill>
                      <a:prstDash val="solid"/>
                      <a:round/>
                      <a:headEnd type="none" w="med" len="med"/>
                      <a:tailEnd type="none" w="med" len="med"/>
                    </a:lnL>
                    <a:lnR w="9525" cap="flat" cmpd="sng" algn="ctr">
                      <a:solidFill>
                        <a:srgbClr val="D3DFEE"/>
                      </a:solidFill>
                      <a:prstDash val="solid"/>
                      <a:round/>
                      <a:headEnd type="none" w="med" len="med"/>
                      <a:tailEnd type="none" w="med" len="med"/>
                    </a:lnR>
                    <a:lnT w="9525" cap="flat" cmpd="sng" algn="ctr">
                      <a:solidFill>
                        <a:srgbClr val="D3DFEE"/>
                      </a:solidFill>
                      <a:prstDash val="solid"/>
                      <a:round/>
                      <a:headEnd type="none" w="med" len="med"/>
                      <a:tailEnd type="none" w="med" len="med"/>
                    </a:lnT>
                    <a:lnB w="9525" cap="flat" cmpd="sng" algn="ctr">
                      <a:solidFill>
                        <a:srgbClr val="D3DFEE"/>
                      </a:solidFill>
                      <a:prstDash val="solid"/>
                      <a:round/>
                      <a:headEnd type="none" w="med" len="med"/>
                      <a:tailEnd type="none" w="med" len="med"/>
                    </a:lnB>
                    <a:solidFill>
                      <a:srgbClr val="F4F8FC"/>
                    </a:solidFill>
                  </a:tcPr>
                </a:tc>
              </a:tr>
              <a:tr h="749808">
                <a:tc>
                  <a:txBody>
                    <a:bodyPr/>
                    <a:lstStyle/>
                    <a:p>
                      <a:pPr indent="0" marL="0">
                        <a:buNone/>
                      </a:pPr>
                      <a:r>
                        <a:rPr lang="en-US" sz="1100" b="1" dirty="0">
                          <a:solidFill>
                            <a:srgbClr val="16283E"/>
                          </a:solidFill>
                          <a:latin typeface="Calibri" pitchFamily="34" charset="0"/>
                          <a:ea typeface="Calibri" pitchFamily="34" charset="-122"/>
                          <a:cs typeface="Calibri" pitchFamily="34" charset="-120"/>
                        </a:rPr>
                        <a:t>Lãng phí Hold (chờ duyệt)</a:t>
                      </a:r>
                      <a:endParaRPr lang="en-US" sz="1100" dirty="0">
                        <a:latin typeface="Calibri" charset="0"/>
                        <a:ea typeface="Calibri" charset="0"/>
                        <a:cs typeface="Calibri" charset="0"/>
                      </a:endParaRPr>
                    </a:p>
                  </a:txBody>
                  <a:tcPr marL="73152" marR="73152" marT="73152" marB="73152" anchor="ctr">
                    <a:lnL w="9525" cap="flat" cmpd="sng" algn="ctr">
                      <a:solidFill>
                        <a:srgbClr val="D3DFEE"/>
                      </a:solidFill>
                      <a:prstDash val="solid"/>
                      <a:round/>
                      <a:headEnd type="none" w="med" len="med"/>
                      <a:tailEnd type="none" w="med" len="med"/>
                    </a:lnL>
                    <a:lnR w="9525" cap="flat" cmpd="sng" algn="ctr">
                      <a:solidFill>
                        <a:srgbClr val="D3DFEE"/>
                      </a:solidFill>
                      <a:prstDash val="solid"/>
                      <a:round/>
                      <a:headEnd type="none" w="med" len="med"/>
                      <a:tailEnd type="none" w="med" len="med"/>
                    </a:lnR>
                    <a:lnT w="9525" cap="flat" cmpd="sng" algn="ctr">
                      <a:solidFill>
                        <a:srgbClr val="D3DFEE"/>
                      </a:solidFill>
                      <a:prstDash val="solid"/>
                      <a:round/>
                      <a:headEnd type="none" w="med" len="med"/>
                      <a:tailEnd type="none" w="med" len="med"/>
                    </a:lnT>
                    <a:lnB w="9525" cap="flat" cmpd="sng" algn="ctr">
                      <a:solidFill>
                        <a:srgbClr val="D3DFEE"/>
                      </a:solidFill>
                      <a:prstDash val="solid"/>
                      <a:round/>
                      <a:headEnd type="none" w="med" len="med"/>
                      <a:tailEnd type="none" w="med" len="med"/>
                    </a:lnB>
                    <a:solidFill>
                      <a:srgbClr val="FFFFFF"/>
                    </a:solidFill>
                  </a:tcPr>
                </a:tc>
                <a:tc>
                  <a:txBody>
                    <a:bodyPr/>
                    <a:lstStyle/>
                    <a:p>
                      <a:pPr indent="0" marL="0">
                        <a:buNone/>
                      </a:pPr>
                      <a:r>
                        <a:rPr lang="en-US" sz="1100" dirty="0">
                          <a:solidFill>
                            <a:srgbClr val="16283E"/>
                          </a:solidFill>
                          <a:latin typeface="Calibri" pitchFamily="34" charset="0"/>
                          <a:ea typeface="Calibri" pitchFamily="34" charset="-122"/>
                          <a:cs typeface="Calibri" pitchFamily="34" charset="-120"/>
                        </a:rPr>
                        <a:t>Chiếm tỷ trọng lớn trong Lead Time, phụ thuộc thời gian phản hồi của quản lý</a:t>
                      </a:r>
                      <a:endParaRPr lang="en-US" sz="1100" dirty="0">
                        <a:latin typeface="Calibri" charset="0"/>
                        <a:ea typeface="Calibri" charset="0"/>
                        <a:cs typeface="Calibri" charset="0"/>
                      </a:endParaRPr>
                    </a:p>
                  </a:txBody>
                  <a:tcPr marL="73152" marR="73152" marT="73152" marB="73152" anchor="ctr">
                    <a:lnL w="9525" cap="flat" cmpd="sng" algn="ctr">
                      <a:solidFill>
                        <a:srgbClr val="D3DFEE"/>
                      </a:solidFill>
                      <a:prstDash val="solid"/>
                      <a:round/>
                      <a:headEnd type="none" w="med" len="med"/>
                      <a:tailEnd type="none" w="med" len="med"/>
                    </a:lnL>
                    <a:lnR w="9525" cap="flat" cmpd="sng" algn="ctr">
                      <a:solidFill>
                        <a:srgbClr val="D3DFEE"/>
                      </a:solidFill>
                      <a:prstDash val="solid"/>
                      <a:round/>
                      <a:headEnd type="none" w="med" len="med"/>
                      <a:tailEnd type="none" w="med" len="med"/>
                    </a:lnR>
                    <a:lnT w="9525" cap="flat" cmpd="sng" algn="ctr">
                      <a:solidFill>
                        <a:srgbClr val="D3DFEE"/>
                      </a:solidFill>
                      <a:prstDash val="solid"/>
                      <a:round/>
                      <a:headEnd type="none" w="med" len="med"/>
                      <a:tailEnd type="none" w="med" len="med"/>
                    </a:lnT>
                    <a:lnB w="9525" cap="flat" cmpd="sng" algn="ctr">
                      <a:solidFill>
                        <a:srgbClr val="D3DFEE"/>
                      </a:solidFill>
                      <a:prstDash val="solid"/>
                      <a:round/>
                      <a:headEnd type="none" w="med" len="med"/>
                      <a:tailEnd type="none" w="med" len="med"/>
                    </a:lnB>
                    <a:solidFill>
                      <a:srgbClr val="FFFFFF"/>
                    </a:solidFill>
                  </a:tcPr>
                </a:tc>
                <a:tc>
                  <a:txBody>
                    <a:bodyPr/>
                    <a:lstStyle/>
                    <a:p>
                      <a:pPr indent="0" marL="0">
                        <a:buNone/>
                      </a:pPr>
                      <a:r>
                        <a:rPr lang="en-US" sz="1100" dirty="0">
                          <a:solidFill>
                            <a:srgbClr val="0A2E5C"/>
                          </a:solidFill>
                          <a:latin typeface="Calibri" pitchFamily="34" charset="0"/>
                          <a:ea typeface="Calibri" pitchFamily="34" charset="-122"/>
                          <a:cs typeface="Calibri" pitchFamily="34" charset="-120"/>
                        </a:rPr>
                        <a:t>Giảm đáng kể nhờ auto-approval cho yêu cầu rủi ro thấp</a:t>
                      </a:r>
                      <a:endParaRPr lang="en-US" sz="1100" dirty="0">
                        <a:latin typeface="Calibri" charset="0"/>
                        <a:ea typeface="Calibri" charset="0"/>
                        <a:cs typeface="Calibri" charset="0"/>
                      </a:endParaRPr>
                    </a:p>
                  </a:txBody>
                  <a:tcPr marL="73152" marR="73152" marT="73152" marB="73152" anchor="ctr">
                    <a:lnL w="9525" cap="flat" cmpd="sng" algn="ctr">
                      <a:solidFill>
                        <a:srgbClr val="D3DFEE"/>
                      </a:solidFill>
                      <a:prstDash val="solid"/>
                      <a:round/>
                      <a:headEnd type="none" w="med" len="med"/>
                      <a:tailEnd type="none" w="med" len="med"/>
                    </a:lnL>
                    <a:lnR w="9525" cap="flat" cmpd="sng" algn="ctr">
                      <a:solidFill>
                        <a:srgbClr val="D3DFEE"/>
                      </a:solidFill>
                      <a:prstDash val="solid"/>
                      <a:round/>
                      <a:headEnd type="none" w="med" len="med"/>
                      <a:tailEnd type="none" w="med" len="med"/>
                    </a:lnR>
                    <a:lnT w="9525" cap="flat" cmpd="sng" algn="ctr">
                      <a:solidFill>
                        <a:srgbClr val="D3DFEE"/>
                      </a:solidFill>
                      <a:prstDash val="solid"/>
                      <a:round/>
                      <a:headEnd type="none" w="med" len="med"/>
                      <a:tailEnd type="none" w="med" len="med"/>
                    </a:lnT>
                    <a:lnB w="9525" cap="flat" cmpd="sng" algn="ctr">
                      <a:solidFill>
                        <a:srgbClr val="D3DFEE"/>
                      </a:solidFill>
                      <a:prstDash val="solid"/>
                      <a:round/>
                      <a:headEnd type="none" w="med" len="med"/>
                      <a:tailEnd type="none" w="med" len="med"/>
                    </a:lnB>
                    <a:solidFill>
                      <a:srgbClr val="FFFFFF"/>
                    </a:solidFill>
                  </a:tcPr>
                </a:tc>
              </a:tr>
              <a:tr h="749808">
                <a:tc>
                  <a:txBody>
                    <a:bodyPr/>
                    <a:lstStyle/>
                    <a:p>
                      <a:pPr indent="0" marL="0">
                        <a:buNone/>
                      </a:pPr>
                      <a:r>
                        <a:rPr lang="en-US" sz="1100" b="1" dirty="0">
                          <a:solidFill>
                            <a:srgbClr val="16283E"/>
                          </a:solidFill>
                          <a:latin typeface="Calibri" pitchFamily="34" charset="0"/>
                          <a:ea typeface="Calibri" pitchFamily="34" charset="-122"/>
                          <a:cs typeface="Calibri" pitchFamily="34" charset="-120"/>
                        </a:rPr>
                        <a:t>Lãng phí Move (rework)</a:t>
                      </a:r>
                      <a:endParaRPr lang="en-US" sz="1100" dirty="0">
                        <a:latin typeface="Calibri" charset="0"/>
                        <a:ea typeface="Calibri" charset="0"/>
                        <a:cs typeface="Calibri" charset="0"/>
                      </a:endParaRPr>
                    </a:p>
                  </a:txBody>
                  <a:tcPr marL="73152" marR="73152" marT="73152" marB="73152" anchor="ctr">
                    <a:lnL w="9525" cap="flat" cmpd="sng" algn="ctr">
                      <a:solidFill>
                        <a:srgbClr val="D3DFEE"/>
                      </a:solidFill>
                      <a:prstDash val="solid"/>
                      <a:round/>
                      <a:headEnd type="none" w="med" len="med"/>
                      <a:tailEnd type="none" w="med" len="med"/>
                    </a:lnL>
                    <a:lnR w="9525" cap="flat" cmpd="sng" algn="ctr">
                      <a:solidFill>
                        <a:srgbClr val="D3DFEE"/>
                      </a:solidFill>
                      <a:prstDash val="solid"/>
                      <a:round/>
                      <a:headEnd type="none" w="med" len="med"/>
                      <a:tailEnd type="none" w="med" len="med"/>
                    </a:lnR>
                    <a:lnT w="9525" cap="flat" cmpd="sng" algn="ctr">
                      <a:solidFill>
                        <a:srgbClr val="D3DFEE"/>
                      </a:solidFill>
                      <a:prstDash val="solid"/>
                      <a:round/>
                      <a:headEnd type="none" w="med" len="med"/>
                      <a:tailEnd type="none" w="med" len="med"/>
                    </a:lnT>
                    <a:lnB w="9525" cap="flat" cmpd="sng" algn="ctr">
                      <a:solidFill>
                        <a:srgbClr val="D3DFEE"/>
                      </a:solidFill>
                      <a:prstDash val="solid"/>
                      <a:round/>
                      <a:headEnd type="none" w="med" len="med"/>
                      <a:tailEnd type="none" w="med" len="med"/>
                    </a:lnB>
                    <a:solidFill>
                      <a:srgbClr val="F4F8FC"/>
                    </a:solidFill>
                  </a:tcPr>
                </a:tc>
                <a:tc>
                  <a:txBody>
                    <a:bodyPr/>
                    <a:lstStyle/>
                    <a:p>
                      <a:pPr indent="0" marL="0">
                        <a:buNone/>
                      </a:pPr>
                      <a:r>
                        <a:rPr lang="en-US" sz="1100" dirty="0">
                          <a:solidFill>
                            <a:srgbClr val="16283E"/>
                          </a:solidFill>
                          <a:latin typeface="Calibri" pitchFamily="34" charset="0"/>
                          <a:ea typeface="Calibri" pitchFamily="34" charset="-122"/>
                          <a:cs typeface="Calibri" pitchFamily="34" charset="-120"/>
                        </a:rPr>
                        <a:t>Vòng lặp "Bổ sung thông tin" do biểu mẫu free-text</a:t>
                      </a:r>
                      <a:endParaRPr lang="en-US" sz="1100" dirty="0">
                        <a:latin typeface="Calibri" charset="0"/>
                        <a:ea typeface="Calibri" charset="0"/>
                        <a:cs typeface="Calibri" charset="0"/>
                      </a:endParaRPr>
                    </a:p>
                  </a:txBody>
                  <a:tcPr marL="73152" marR="73152" marT="73152" marB="73152" anchor="ctr">
                    <a:lnL w="9525" cap="flat" cmpd="sng" algn="ctr">
                      <a:solidFill>
                        <a:srgbClr val="D3DFEE"/>
                      </a:solidFill>
                      <a:prstDash val="solid"/>
                      <a:round/>
                      <a:headEnd type="none" w="med" len="med"/>
                      <a:tailEnd type="none" w="med" len="med"/>
                    </a:lnL>
                    <a:lnR w="9525" cap="flat" cmpd="sng" algn="ctr">
                      <a:solidFill>
                        <a:srgbClr val="D3DFEE"/>
                      </a:solidFill>
                      <a:prstDash val="solid"/>
                      <a:round/>
                      <a:headEnd type="none" w="med" len="med"/>
                      <a:tailEnd type="none" w="med" len="med"/>
                    </a:lnR>
                    <a:lnT w="9525" cap="flat" cmpd="sng" algn="ctr">
                      <a:solidFill>
                        <a:srgbClr val="D3DFEE"/>
                      </a:solidFill>
                      <a:prstDash val="solid"/>
                      <a:round/>
                      <a:headEnd type="none" w="med" len="med"/>
                      <a:tailEnd type="none" w="med" len="med"/>
                    </a:lnT>
                    <a:lnB w="9525" cap="flat" cmpd="sng" algn="ctr">
                      <a:solidFill>
                        <a:srgbClr val="D3DFEE"/>
                      </a:solidFill>
                      <a:prstDash val="solid"/>
                      <a:round/>
                      <a:headEnd type="none" w="med" len="med"/>
                      <a:tailEnd type="none" w="med" len="med"/>
                    </a:lnB>
                    <a:solidFill>
                      <a:srgbClr val="F4F8FC"/>
                    </a:solidFill>
                  </a:tcPr>
                </a:tc>
                <a:tc>
                  <a:txBody>
                    <a:bodyPr/>
                    <a:lstStyle/>
                    <a:p>
                      <a:pPr indent="0" marL="0">
                        <a:buNone/>
                      </a:pPr>
                      <a:r>
                        <a:rPr lang="en-US" sz="1100" dirty="0">
                          <a:solidFill>
                            <a:srgbClr val="0A2E5C"/>
                          </a:solidFill>
                          <a:latin typeface="Calibri" pitchFamily="34" charset="0"/>
                          <a:ea typeface="Calibri" pitchFamily="34" charset="-122"/>
                          <a:cs typeface="Calibri" pitchFamily="34" charset="-120"/>
                        </a:rPr>
                        <a:t>Kiểm soát ngay từ đầu vào nhờ Smart-Form bắt buộc &amp; dropdown</a:t>
                      </a:r>
                      <a:endParaRPr lang="en-US" sz="1100" dirty="0">
                        <a:latin typeface="Calibri" charset="0"/>
                        <a:ea typeface="Calibri" charset="0"/>
                        <a:cs typeface="Calibri" charset="0"/>
                      </a:endParaRPr>
                    </a:p>
                  </a:txBody>
                  <a:tcPr marL="73152" marR="73152" marT="73152" marB="73152" anchor="ctr">
                    <a:lnL w="9525" cap="flat" cmpd="sng" algn="ctr">
                      <a:solidFill>
                        <a:srgbClr val="D3DFEE"/>
                      </a:solidFill>
                      <a:prstDash val="solid"/>
                      <a:round/>
                      <a:headEnd type="none" w="med" len="med"/>
                      <a:tailEnd type="none" w="med" len="med"/>
                    </a:lnL>
                    <a:lnR w="9525" cap="flat" cmpd="sng" algn="ctr">
                      <a:solidFill>
                        <a:srgbClr val="D3DFEE"/>
                      </a:solidFill>
                      <a:prstDash val="solid"/>
                      <a:round/>
                      <a:headEnd type="none" w="med" len="med"/>
                      <a:tailEnd type="none" w="med" len="med"/>
                    </a:lnR>
                    <a:lnT w="9525" cap="flat" cmpd="sng" algn="ctr">
                      <a:solidFill>
                        <a:srgbClr val="D3DFEE"/>
                      </a:solidFill>
                      <a:prstDash val="solid"/>
                      <a:round/>
                      <a:headEnd type="none" w="med" len="med"/>
                      <a:tailEnd type="none" w="med" len="med"/>
                    </a:lnT>
                    <a:lnB w="9525" cap="flat" cmpd="sng" algn="ctr">
                      <a:solidFill>
                        <a:srgbClr val="D3DFEE"/>
                      </a:solidFill>
                      <a:prstDash val="solid"/>
                      <a:round/>
                      <a:headEnd type="none" w="med" len="med"/>
                      <a:tailEnd type="none" w="med" len="med"/>
                    </a:lnB>
                    <a:solidFill>
                      <a:srgbClr val="F4F8FC"/>
                    </a:solidFill>
                  </a:tcPr>
                </a:tc>
              </a:tr>
              <a:tr h="749808">
                <a:tc>
                  <a:txBody>
                    <a:bodyPr/>
                    <a:lstStyle/>
                    <a:p>
                      <a:pPr indent="0" marL="0">
                        <a:buNone/>
                      </a:pPr>
                      <a:r>
                        <a:rPr lang="en-US" sz="1100" b="1" dirty="0">
                          <a:solidFill>
                            <a:srgbClr val="16283E"/>
                          </a:solidFill>
                          <a:latin typeface="Calibri" pitchFamily="34" charset="0"/>
                          <a:ea typeface="Calibri" pitchFamily="34" charset="-122"/>
                          <a:cs typeface="Calibri" pitchFamily="34" charset="-120"/>
                        </a:rPr>
                        <a:t>Ghi log bảo mật</a:t>
                      </a:r>
                      <a:endParaRPr lang="en-US" sz="1100" dirty="0">
                        <a:latin typeface="Calibri" charset="0"/>
                        <a:ea typeface="Calibri" charset="0"/>
                        <a:cs typeface="Calibri" charset="0"/>
                      </a:endParaRPr>
                    </a:p>
                  </a:txBody>
                  <a:tcPr marL="73152" marR="73152" marT="73152" marB="73152" anchor="ctr">
                    <a:lnL w="9525" cap="flat" cmpd="sng" algn="ctr">
                      <a:solidFill>
                        <a:srgbClr val="D3DFEE"/>
                      </a:solidFill>
                      <a:prstDash val="solid"/>
                      <a:round/>
                      <a:headEnd type="none" w="med" len="med"/>
                      <a:tailEnd type="none" w="med" len="med"/>
                    </a:lnL>
                    <a:lnR w="9525" cap="flat" cmpd="sng" algn="ctr">
                      <a:solidFill>
                        <a:srgbClr val="D3DFEE"/>
                      </a:solidFill>
                      <a:prstDash val="solid"/>
                      <a:round/>
                      <a:headEnd type="none" w="med" len="med"/>
                      <a:tailEnd type="none" w="med" len="med"/>
                    </a:lnR>
                    <a:lnT w="9525" cap="flat" cmpd="sng" algn="ctr">
                      <a:solidFill>
                        <a:srgbClr val="D3DFEE"/>
                      </a:solidFill>
                      <a:prstDash val="solid"/>
                      <a:round/>
                      <a:headEnd type="none" w="med" len="med"/>
                      <a:tailEnd type="none" w="med" len="med"/>
                    </a:lnT>
                    <a:lnB w="9525" cap="flat" cmpd="sng" algn="ctr">
                      <a:solidFill>
                        <a:srgbClr val="D3DFEE"/>
                      </a:solidFill>
                      <a:prstDash val="solid"/>
                      <a:round/>
                      <a:headEnd type="none" w="med" len="med"/>
                      <a:tailEnd type="none" w="med" len="med"/>
                    </a:lnB>
                    <a:solidFill>
                      <a:srgbClr val="FFFFFF"/>
                    </a:solidFill>
                  </a:tcPr>
                </a:tc>
                <a:tc>
                  <a:txBody>
                    <a:bodyPr/>
                    <a:lstStyle/>
                    <a:p>
                      <a:pPr indent="0" marL="0">
                        <a:buNone/>
                      </a:pPr>
                      <a:r>
                        <a:rPr lang="en-US" sz="1100" dirty="0">
                          <a:solidFill>
                            <a:srgbClr val="16283E"/>
                          </a:solidFill>
                          <a:latin typeface="Calibri" pitchFamily="34" charset="0"/>
                          <a:ea typeface="Calibri" pitchFamily="34" charset="-122"/>
                          <a:cs typeface="Calibri" pitchFamily="34" charset="-120"/>
                        </a:rPr>
                        <a:t>Thao tác thủ công, tạo điểm chờ tại cổng Gom luồng (Join)</a:t>
                      </a:r>
                      <a:endParaRPr lang="en-US" sz="1100" dirty="0">
                        <a:latin typeface="Calibri" charset="0"/>
                        <a:ea typeface="Calibri" charset="0"/>
                        <a:cs typeface="Calibri" charset="0"/>
                      </a:endParaRPr>
                    </a:p>
                  </a:txBody>
                  <a:tcPr marL="73152" marR="73152" marT="73152" marB="73152" anchor="ctr">
                    <a:lnL w="9525" cap="flat" cmpd="sng" algn="ctr">
                      <a:solidFill>
                        <a:srgbClr val="D3DFEE"/>
                      </a:solidFill>
                      <a:prstDash val="solid"/>
                      <a:round/>
                      <a:headEnd type="none" w="med" len="med"/>
                      <a:tailEnd type="none" w="med" len="med"/>
                    </a:lnL>
                    <a:lnR w="9525" cap="flat" cmpd="sng" algn="ctr">
                      <a:solidFill>
                        <a:srgbClr val="D3DFEE"/>
                      </a:solidFill>
                      <a:prstDash val="solid"/>
                      <a:round/>
                      <a:headEnd type="none" w="med" len="med"/>
                      <a:tailEnd type="none" w="med" len="med"/>
                    </a:lnR>
                    <a:lnT w="9525" cap="flat" cmpd="sng" algn="ctr">
                      <a:solidFill>
                        <a:srgbClr val="D3DFEE"/>
                      </a:solidFill>
                      <a:prstDash val="solid"/>
                      <a:round/>
                      <a:headEnd type="none" w="med" len="med"/>
                      <a:tailEnd type="none" w="med" len="med"/>
                    </a:lnT>
                    <a:lnB w="9525" cap="flat" cmpd="sng" algn="ctr">
                      <a:solidFill>
                        <a:srgbClr val="D3DFEE"/>
                      </a:solidFill>
                      <a:prstDash val="solid"/>
                      <a:round/>
                      <a:headEnd type="none" w="med" len="med"/>
                      <a:tailEnd type="none" w="med" len="med"/>
                    </a:lnB>
                    <a:solidFill>
                      <a:srgbClr val="FFFFFF"/>
                    </a:solidFill>
                  </a:tcPr>
                </a:tc>
                <a:tc>
                  <a:txBody>
                    <a:bodyPr/>
                    <a:lstStyle/>
                    <a:p>
                      <a:pPr indent="0" marL="0">
                        <a:buNone/>
                      </a:pPr>
                      <a:r>
                        <a:rPr lang="en-US" sz="1100" dirty="0">
                          <a:solidFill>
                            <a:srgbClr val="0A2E5C"/>
                          </a:solidFill>
                          <a:latin typeface="Calibri" pitchFamily="34" charset="0"/>
                          <a:ea typeface="Calibri" pitchFamily="34" charset="-122"/>
                          <a:cs typeface="Calibri" pitchFamily="34" charset="-120"/>
                        </a:rPr>
                        <a:t>Tự động qua API (Service Task), không tạo điểm chờ</a:t>
                      </a:r>
                      <a:endParaRPr lang="en-US" sz="1100" dirty="0">
                        <a:latin typeface="Calibri" charset="0"/>
                        <a:ea typeface="Calibri" charset="0"/>
                        <a:cs typeface="Calibri" charset="0"/>
                      </a:endParaRPr>
                    </a:p>
                  </a:txBody>
                  <a:tcPr marL="73152" marR="73152" marT="73152" marB="73152" anchor="ctr">
                    <a:lnL w="9525" cap="flat" cmpd="sng" algn="ctr">
                      <a:solidFill>
                        <a:srgbClr val="D3DFEE"/>
                      </a:solidFill>
                      <a:prstDash val="solid"/>
                      <a:round/>
                      <a:headEnd type="none" w="med" len="med"/>
                      <a:tailEnd type="none" w="med" len="med"/>
                    </a:lnL>
                    <a:lnR w="9525" cap="flat" cmpd="sng" algn="ctr">
                      <a:solidFill>
                        <a:srgbClr val="D3DFEE"/>
                      </a:solidFill>
                      <a:prstDash val="solid"/>
                      <a:round/>
                      <a:headEnd type="none" w="med" len="med"/>
                      <a:tailEnd type="none" w="med" len="med"/>
                    </a:lnR>
                    <a:lnT w="9525" cap="flat" cmpd="sng" algn="ctr">
                      <a:solidFill>
                        <a:srgbClr val="D3DFEE"/>
                      </a:solidFill>
                      <a:prstDash val="solid"/>
                      <a:round/>
                      <a:headEnd type="none" w="med" len="med"/>
                      <a:tailEnd type="none" w="med" len="med"/>
                    </a:lnT>
                    <a:lnB w="9525" cap="flat" cmpd="sng" algn="ctr">
                      <a:solidFill>
                        <a:srgbClr val="D3DFEE"/>
                      </a:solidFill>
                      <a:prstDash val="solid"/>
                      <a:round/>
                      <a:headEnd type="none" w="med" len="med"/>
                      <a:tailEnd type="none" w="med" len="med"/>
                    </a:lnB>
                    <a:solidFill>
                      <a:srgbClr val="FFFFFF"/>
                    </a:solidFill>
                  </a:tcPr>
                </a:tc>
              </a:tr>
              <a:tr h="749808">
                <a:tc>
                  <a:txBody>
                    <a:bodyPr/>
                    <a:lstStyle/>
                    <a:p>
                      <a:pPr indent="0" marL="0">
                        <a:buNone/>
                      </a:pPr>
                      <a:r>
                        <a:rPr lang="en-US" sz="1100" b="1" dirty="0">
                          <a:solidFill>
                            <a:srgbClr val="16283E"/>
                          </a:solidFill>
                          <a:latin typeface="Calibri" pitchFamily="34" charset="0"/>
                          <a:ea typeface="Calibri" pitchFamily="34" charset="-122"/>
                          <a:cs typeface="Calibri" pitchFamily="34" charset="-120"/>
                        </a:rPr>
                        <a:t>Vai trò cấp quản lý</a:t>
                      </a:r>
                      <a:endParaRPr lang="en-US" sz="1100" dirty="0">
                        <a:latin typeface="Calibri" charset="0"/>
                        <a:ea typeface="Calibri" charset="0"/>
                        <a:cs typeface="Calibri" charset="0"/>
                      </a:endParaRPr>
                    </a:p>
                  </a:txBody>
                  <a:tcPr marL="73152" marR="73152" marT="73152" marB="73152" anchor="ctr">
                    <a:lnL w="9525" cap="flat" cmpd="sng" algn="ctr">
                      <a:solidFill>
                        <a:srgbClr val="D3DFEE"/>
                      </a:solidFill>
                      <a:prstDash val="solid"/>
                      <a:round/>
                      <a:headEnd type="none" w="med" len="med"/>
                      <a:tailEnd type="none" w="med" len="med"/>
                    </a:lnL>
                    <a:lnR w="9525" cap="flat" cmpd="sng" algn="ctr">
                      <a:solidFill>
                        <a:srgbClr val="D3DFEE"/>
                      </a:solidFill>
                      <a:prstDash val="solid"/>
                      <a:round/>
                      <a:headEnd type="none" w="med" len="med"/>
                      <a:tailEnd type="none" w="med" len="med"/>
                    </a:lnR>
                    <a:lnT w="9525" cap="flat" cmpd="sng" algn="ctr">
                      <a:solidFill>
                        <a:srgbClr val="D3DFEE"/>
                      </a:solidFill>
                      <a:prstDash val="solid"/>
                      <a:round/>
                      <a:headEnd type="none" w="med" len="med"/>
                      <a:tailEnd type="none" w="med" len="med"/>
                    </a:lnT>
                    <a:lnB w="9525" cap="flat" cmpd="sng" algn="ctr">
                      <a:solidFill>
                        <a:srgbClr val="D3DFEE"/>
                      </a:solidFill>
                      <a:prstDash val="solid"/>
                      <a:round/>
                      <a:headEnd type="none" w="med" len="med"/>
                      <a:tailEnd type="none" w="med" len="med"/>
                    </a:lnB>
                    <a:solidFill>
                      <a:srgbClr val="F4F8FC"/>
                    </a:solidFill>
                  </a:tcPr>
                </a:tc>
                <a:tc>
                  <a:txBody>
                    <a:bodyPr/>
                    <a:lstStyle/>
                    <a:p>
                      <a:pPr indent="0" marL="0">
                        <a:buNone/>
                      </a:pPr>
                      <a:r>
                        <a:rPr lang="en-US" sz="1100" dirty="0">
                          <a:solidFill>
                            <a:srgbClr val="16283E"/>
                          </a:solidFill>
                          <a:latin typeface="Calibri" pitchFamily="34" charset="0"/>
                          <a:ea typeface="Calibri" pitchFamily="34" charset="-122"/>
                          <a:cs typeface="Calibri" pitchFamily="34" charset="-120"/>
                        </a:rPr>
                        <a:t>Xử lý cả yêu cầu rủi ro thấp lẫn rủi ro cao</a:t>
                      </a:r>
                      <a:endParaRPr lang="en-US" sz="1100" dirty="0">
                        <a:latin typeface="Calibri" charset="0"/>
                        <a:ea typeface="Calibri" charset="0"/>
                        <a:cs typeface="Calibri" charset="0"/>
                      </a:endParaRPr>
                    </a:p>
                  </a:txBody>
                  <a:tcPr marL="73152" marR="73152" marT="73152" marB="73152" anchor="ctr">
                    <a:lnL w="9525" cap="flat" cmpd="sng" algn="ctr">
                      <a:solidFill>
                        <a:srgbClr val="D3DFEE"/>
                      </a:solidFill>
                      <a:prstDash val="solid"/>
                      <a:round/>
                      <a:headEnd type="none" w="med" len="med"/>
                      <a:tailEnd type="none" w="med" len="med"/>
                    </a:lnL>
                    <a:lnR w="9525" cap="flat" cmpd="sng" algn="ctr">
                      <a:solidFill>
                        <a:srgbClr val="D3DFEE"/>
                      </a:solidFill>
                      <a:prstDash val="solid"/>
                      <a:round/>
                      <a:headEnd type="none" w="med" len="med"/>
                      <a:tailEnd type="none" w="med" len="med"/>
                    </a:lnR>
                    <a:lnT w="9525" cap="flat" cmpd="sng" algn="ctr">
                      <a:solidFill>
                        <a:srgbClr val="D3DFEE"/>
                      </a:solidFill>
                      <a:prstDash val="solid"/>
                      <a:round/>
                      <a:headEnd type="none" w="med" len="med"/>
                      <a:tailEnd type="none" w="med" len="med"/>
                    </a:lnT>
                    <a:lnB w="9525" cap="flat" cmpd="sng" algn="ctr">
                      <a:solidFill>
                        <a:srgbClr val="D3DFEE"/>
                      </a:solidFill>
                      <a:prstDash val="solid"/>
                      <a:round/>
                      <a:headEnd type="none" w="med" len="med"/>
                      <a:tailEnd type="none" w="med" len="med"/>
                    </a:lnB>
                    <a:solidFill>
                      <a:srgbClr val="F4F8FC"/>
                    </a:solidFill>
                  </a:tcPr>
                </a:tc>
                <a:tc>
                  <a:txBody>
                    <a:bodyPr/>
                    <a:lstStyle/>
                    <a:p>
                      <a:pPr indent="0" marL="0">
                        <a:buNone/>
                      </a:pPr>
                      <a:r>
                        <a:rPr lang="en-US" sz="1100" dirty="0">
                          <a:solidFill>
                            <a:srgbClr val="0A2E5C"/>
                          </a:solidFill>
                          <a:latin typeface="Calibri" pitchFamily="34" charset="0"/>
                          <a:ea typeface="Calibri" pitchFamily="34" charset="-122"/>
                          <a:cs typeface="Calibri" pitchFamily="34" charset="-120"/>
                        </a:rPr>
                        <a:t>Tập trung nguồn lực (VBA) vào quyết định rủi ro cao, có giá trị kiểm soát thực sự</a:t>
                      </a:r>
                      <a:endParaRPr lang="en-US" sz="1100" dirty="0">
                        <a:latin typeface="Calibri" charset="0"/>
                        <a:ea typeface="Calibri" charset="0"/>
                        <a:cs typeface="Calibri" charset="0"/>
                      </a:endParaRPr>
                    </a:p>
                  </a:txBody>
                  <a:tcPr marL="73152" marR="73152" marT="73152" marB="73152" anchor="ctr">
                    <a:lnL w="9525" cap="flat" cmpd="sng" algn="ctr">
                      <a:solidFill>
                        <a:srgbClr val="D3DFEE"/>
                      </a:solidFill>
                      <a:prstDash val="solid"/>
                      <a:round/>
                      <a:headEnd type="none" w="med" len="med"/>
                      <a:tailEnd type="none" w="med" len="med"/>
                    </a:lnL>
                    <a:lnR w="9525" cap="flat" cmpd="sng" algn="ctr">
                      <a:solidFill>
                        <a:srgbClr val="D3DFEE"/>
                      </a:solidFill>
                      <a:prstDash val="solid"/>
                      <a:round/>
                      <a:headEnd type="none" w="med" len="med"/>
                      <a:tailEnd type="none" w="med" len="med"/>
                    </a:lnR>
                    <a:lnT w="9525" cap="flat" cmpd="sng" algn="ctr">
                      <a:solidFill>
                        <a:srgbClr val="D3DFEE"/>
                      </a:solidFill>
                      <a:prstDash val="solid"/>
                      <a:round/>
                      <a:headEnd type="none" w="med" len="med"/>
                      <a:tailEnd type="none" w="med" len="med"/>
                    </a:lnT>
                    <a:lnB w="9525" cap="flat" cmpd="sng" algn="ctr">
                      <a:solidFill>
                        <a:srgbClr val="D3DFEE"/>
                      </a:solidFill>
                      <a:prstDash val="solid"/>
                      <a:round/>
                      <a:headEnd type="none" w="med" len="med"/>
                      <a:tailEnd type="none" w="med" len="med"/>
                    </a:lnB>
                    <a:solidFill>
                      <a:srgbClr val="F4F8FC"/>
                    </a:solidFill>
                  </a:tcPr>
                </a:tc>
              </a:tr>
            </a:tbl>
          </a:graphicData>
        </a:graphic>
      </p:graphicFrame>
      <p:sp>
        <p:nvSpPr>
          <p:cNvPr id="5" name="Text 2"/>
          <p:cNvSpPr/>
          <p:nvPr/>
        </p:nvSpPr>
        <p:spPr>
          <a:xfrm>
            <a:off x="566928" y="6144768"/>
            <a:ext cx="11045952" cy="292608"/>
          </a:xfrm>
          <a:prstGeom prst="rect">
            <a:avLst/>
          </a:prstGeom>
          <a:noFill/>
          <a:ln/>
        </p:spPr>
        <p:txBody>
          <a:bodyPr wrap="square" lIns="0" tIns="0" rIns="0" bIns="0" rtlCol="0" anchor="ctr"/>
          <a:lstStyle/>
          <a:p>
            <a:pPr indent="0" marL="0">
              <a:buNone/>
            </a:pPr>
            <a:r>
              <a:rPr lang="en-US" sz="1050" i="1" dirty="0">
                <a:solidFill>
                  <a:srgbClr val="5A6B80"/>
                </a:solidFill>
                <a:latin typeface="Calibri" pitchFamily="34" charset="0"/>
                <a:ea typeface="Calibri" pitchFamily="34" charset="-122"/>
                <a:cs typeface="Calibri" pitchFamily="34" charset="-120"/>
              </a:rPr>
              <a:t>Mức độ cải thiện (%) cần được kiểm chứng qua triển khai thí điểm (pilot) trên hệ thống thực tế — xem hướng phát triển.</a:t>
            </a:r>
            <a:endParaRPr lang="en-US" sz="1050" dirty="0"/>
          </a:p>
        </p:txBody>
      </p:sp>
      <p:sp>
        <p:nvSpPr>
          <p:cNvPr id="6" name="Text 3"/>
          <p:cNvSpPr/>
          <p:nvPr/>
        </p:nvSpPr>
        <p:spPr>
          <a:xfrm>
            <a:off x="11411712" y="6473952"/>
            <a:ext cx="457200" cy="274320"/>
          </a:xfrm>
          <a:prstGeom prst="rect">
            <a:avLst/>
          </a:prstGeom>
          <a:noFill/>
          <a:ln/>
        </p:spPr>
        <p:txBody>
          <a:bodyPr wrap="square" rtlCol="0" anchor="ctr"/>
          <a:lstStyle/>
          <a:p>
            <a:pPr algn="r" indent="0" marL="0">
              <a:buNone/>
            </a:pPr>
            <a:r>
              <a:rPr lang="en-US" sz="900" dirty="0">
                <a:solidFill>
                  <a:srgbClr val="5A6B80"/>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lIns="0" tIns="0" rIns="0" bIns="0" rtlCol="0" anchor="ctr"/>
          <a:lstStyle/>
          <a:p>
            <a:pPr indent="0" marL="0">
              <a:buNone/>
            </a:pPr>
            <a:r>
              <a:rPr lang="en-US" sz="1050" b="1" spc="240" kern="0" dirty="0">
                <a:solidFill>
                  <a:srgbClr val="2160A6"/>
                </a:solidFill>
                <a:latin typeface="Calibri" pitchFamily="34" charset="0"/>
                <a:ea typeface="Calibri" pitchFamily="34" charset="-122"/>
                <a:cs typeface="Calibri" pitchFamily="34" charset="-120"/>
              </a:rPr>
              <a:t>CHƯƠNG 6 · KẾT LUẬN</a:t>
            </a:r>
            <a:endParaRPr lang="en-US" sz="1050" dirty="0"/>
          </a:p>
        </p:txBody>
      </p:sp>
      <p:sp>
        <p:nvSpPr>
          <p:cNvPr id="3" name="Text 1"/>
          <p:cNvSpPr/>
          <p:nvPr/>
        </p:nvSpPr>
        <p:spPr>
          <a:xfrm>
            <a:off x="548640" y="566928"/>
            <a:ext cx="11064240" cy="566928"/>
          </a:xfrm>
          <a:prstGeom prst="rect">
            <a:avLst/>
          </a:prstGeom>
          <a:noFill/>
          <a:ln/>
        </p:spPr>
        <p:txBody>
          <a:bodyPr wrap="square" lIns="0" tIns="0" rIns="0" bIns="0" rtlCol="0" anchor="ctr"/>
          <a:lstStyle/>
          <a:p>
            <a:pPr indent="0" marL="0">
              <a:buNone/>
            </a:pPr>
            <a:r>
              <a:rPr lang="en-US" sz="2900" b="1" dirty="0">
                <a:solidFill>
                  <a:srgbClr val="0A2E5C"/>
                </a:solidFill>
                <a:latin typeface="Cambria" pitchFamily="34" charset="0"/>
                <a:ea typeface="Cambria" pitchFamily="34" charset="-122"/>
                <a:cs typeface="Cambria" pitchFamily="34" charset="-120"/>
              </a:rPr>
              <a:t>Đồ án đã hoàn thành trọn vẹn các mục tiêu</a:t>
            </a:r>
            <a:endParaRPr lang="en-US" sz="2900" dirty="0"/>
          </a:p>
        </p:txBody>
      </p:sp>
      <p:sp>
        <p:nvSpPr>
          <p:cNvPr id="4" name="Shape 2"/>
          <p:cNvSpPr/>
          <p:nvPr/>
        </p:nvSpPr>
        <p:spPr>
          <a:xfrm>
            <a:off x="566928" y="1481328"/>
            <a:ext cx="566928" cy="566928"/>
          </a:xfrm>
          <a:prstGeom prst="ellipse">
            <a:avLst/>
          </a:prstGeom>
          <a:solidFill>
            <a:srgbClr val="0A2E5C"/>
          </a:solidFill>
          <a:ln/>
        </p:spPr>
      </p:sp>
      <p:pic>
        <p:nvPicPr>
          <p:cNvPr id="5" name="Image 0" descr="icons/check_gold.png">    </p:cNvPr>
          <p:cNvPicPr>
            <a:picLocks noChangeAspect="1"/>
          </p:cNvPicPr>
          <p:nvPr/>
        </p:nvPicPr>
        <p:blipFill>
          <a:blip r:embed="rId1"/>
          <a:stretch>
            <a:fillRect/>
          </a:stretch>
        </p:blipFill>
        <p:spPr>
          <a:xfrm>
            <a:off x="691652" y="1606052"/>
            <a:ext cx="317480" cy="317480"/>
          </a:xfrm>
          <a:prstGeom prst="rect">
            <a:avLst/>
          </a:prstGeom>
        </p:spPr>
      </p:pic>
      <p:sp>
        <p:nvSpPr>
          <p:cNvPr id="6" name="Text 3"/>
          <p:cNvSpPr/>
          <p:nvPr/>
        </p:nvSpPr>
        <p:spPr>
          <a:xfrm>
            <a:off x="1353312" y="1463040"/>
            <a:ext cx="5120640" cy="329184"/>
          </a:xfrm>
          <a:prstGeom prst="rect">
            <a:avLst/>
          </a:prstGeom>
          <a:noFill/>
          <a:ln/>
        </p:spPr>
        <p:txBody>
          <a:bodyPr wrap="square" lIns="0" tIns="0" rIns="0" bIns="0" rtlCol="0" anchor="ctr"/>
          <a:lstStyle/>
          <a:p>
            <a:pPr indent="0" marL="0">
              <a:buNone/>
            </a:pPr>
            <a:r>
              <a:rPr lang="en-US" sz="1500" b="1" dirty="0">
                <a:solidFill>
                  <a:srgbClr val="16283E"/>
                </a:solidFill>
                <a:latin typeface="Calibri" pitchFamily="34" charset="0"/>
                <a:ea typeface="Calibri" pitchFamily="34" charset="-122"/>
                <a:cs typeface="Calibri" pitchFamily="34" charset="-120"/>
              </a:rPr>
              <a:t>Khắc họa toàn cảnh AS-IS</a:t>
            </a:r>
            <a:endParaRPr lang="en-US" sz="1500" dirty="0"/>
          </a:p>
        </p:txBody>
      </p:sp>
      <p:sp>
        <p:nvSpPr>
          <p:cNvPr id="7" name="Text 4"/>
          <p:cNvSpPr/>
          <p:nvPr/>
        </p:nvSpPr>
        <p:spPr>
          <a:xfrm>
            <a:off x="1353312" y="1828800"/>
            <a:ext cx="5212080" cy="1005840"/>
          </a:xfrm>
          <a:prstGeom prst="rect">
            <a:avLst/>
          </a:prstGeom>
          <a:noFill/>
          <a:ln/>
        </p:spPr>
        <p:txBody>
          <a:bodyPr wrap="square" lIns="0" tIns="0" rIns="0" bIns="0" rtlCol="0" anchor="ctr"/>
          <a:lstStyle/>
          <a:p>
            <a:pPr indent="0" marL="0">
              <a:lnSpc>
                <a:spcPct val="112000"/>
              </a:lnSpc>
              <a:buNone/>
            </a:pPr>
            <a:r>
              <a:rPr lang="en-US" sz="1150" dirty="0">
                <a:solidFill>
                  <a:srgbClr val="5A6B80"/>
                </a:solidFill>
                <a:latin typeface="Calibri" pitchFamily="34" charset="0"/>
                <a:ea typeface="Calibri" pitchFamily="34" charset="-122"/>
                <a:cs typeface="Calibri" pitchFamily="34" charset="-120"/>
              </a:rPr>
              <a:t>Mô hình hóa quy trình PYC bằng BPMN 2.0 (Camunda) trên nền khảo sát bằng chứng &amp; phỏng vấn chuyên sâu.</a:t>
            </a:r>
            <a:endParaRPr lang="en-US" sz="1150" dirty="0"/>
          </a:p>
        </p:txBody>
      </p:sp>
      <p:sp>
        <p:nvSpPr>
          <p:cNvPr id="8" name="Shape 5"/>
          <p:cNvSpPr/>
          <p:nvPr/>
        </p:nvSpPr>
        <p:spPr>
          <a:xfrm>
            <a:off x="566928" y="3017520"/>
            <a:ext cx="566928" cy="566928"/>
          </a:xfrm>
          <a:prstGeom prst="ellipse">
            <a:avLst/>
          </a:prstGeom>
          <a:solidFill>
            <a:srgbClr val="0A2E5C"/>
          </a:solidFill>
          <a:ln/>
        </p:spPr>
      </p:sp>
      <p:pic>
        <p:nvPicPr>
          <p:cNvPr id="9" name="Image 1" descr="icons/check_gold.png">    </p:cNvPr>
          <p:cNvPicPr>
            <a:picLocks noChangeAspect="1"/>
          </p:cNvPicPr>
          <p:nvPr/>
        </p:nvPicPr>
        <p:blipFill>
          <a:blip r:embed="rId2"/>
          <a:stretch>
            <a:fillRect/>
          </a:stretch>
        </p:blipFill>
        <p:spPr>
          <a:xfrm>
            <a:off x="691652" y="3142244"/>
            <a:ext cx="317480" cy="317480"/>
          </a:xfrm>
          <a:prstGeom prst="rect">
            <a:avLst/>
          </a:prstGeom>
        </p:spPr>
      </p:pic>
      <p:sp>
        <p:nvSpPr>
          <p:cNvPr id="10" name="Text 6"/>
          <p:cNvSpPr/>
          <p:nvPr/>
        </p:nvSpPr>
        <p:spPr>
          <a:xfrm>
            <a:off x="1353312" y="2999232"/>
            <a:ext cx="5120640" cy="329184"/>
          </a:xfrm>
          <a:prstGeom prst="rect">
            <a:avLst/>
          </a:prstGeom>
          <a:noFill/>
          <a:ln/>
        </p:spPr>
        <p:txBody>
          <a:bodyPr wrap="square" lIns="0" tIns="0" rIns="0" bIns="0" rtlCol="0" anchor="ctr"/>
          <a:lstStyle/>
          <a:p>
            <a:pPr indent="0" marL="0">
              <a:buNone/>
            </a:pPr>
            <a:r>
              <a:rPr lang="en-US" sz="1500" b="1" dirty="0">
                <a:solidFill>
                  <a:srgbClr val="16283E"/>
                </a:solidFill>
                <a:latin typeface="Calibri" pitchFamily="34" charset="0"/>
                <a:ea typeface="Calibri" pitchFamily="34" charset="-122"/>
                <a:cs typeface="Calibri" pitchFamily="34" charset="-120"/>
              </a:rPr>
              <a:t>Chỉ ra điểm nghẽn cốt lõi</a:t>
            </a:r>
            <a:endParaRPr lang="en-US" sz="1500" dirty="0"/>
          </a:p>
        </p:txBody>
      </p:sp>
      <p:sp>
        <p:nvSpPr>
          <p:cNvPr id="11" name="Text 7"/>
          <p:cNvSpPr/>
          <p:nvPr/>
        </p:nvSpPr>
        <p:spPr>
          <a:xfrm>
            <a:off x="1353312" y="3364992"/>
            <a:ext cx="5212080" cy="1005840"/>
          </a:xfrm>
          <a:prstGeom prst="rect">
            <a:avLst/>
          </a:prstGeom>
          <a:noFill/>
          <a:ln/>
        </p:spPr>
        <p:txBody>
          <a:bodyPr wrap="square" lIns="0" tIns="0" rIns="0" bIns="0" rtlCol="0" anchor="ctr"/>
          <a:lstStyle/>
          <a:p>
            <a:pPr indent="0" marL="0">
              <a:lnSpc>
                <a:spcPct val="112000"/>
              </a:lnSpc>
              <a:buNone/>
            </a:pPr>
            <a:r>
              <a:rPr lang="en-US" sz="1150" dirty="0">
                <a:solidFill>
                  <a:srgbClr val="5A6B80"/>
                </a:solidFill>
                <a:latin typeface="Calibri" pitchFamily="34" charset="0"/>
                <a:ea typeface="Calibri" pitchFamily="34" charset="-122"/>
                <a:cs typeface="Calibri" pitchFamily="34" charset="-120"/>
              </a:rPr>
              <a:t>Khung VA/NVA/VBA + ba lãng phí Move · Hold · Overdo, truy về nguyên nhân gốc rễ theo Xương cá &amp; Pareto.</a:t>
            </a:r>
            <a:endParaRPr lang="en-US" sz="1150" dirty="0"/>
          </a:p>
        </p:txBody>
      </p:sp>
      <p:sp>
        <p:nvSpPr>
          <p:cNvPr id="12" name="Shape 8"/>
          <p:cNvSpPr/>
          <p:nvPr/>
        </p:nvSpPr>
        <p:spPr>
          <a:xfrm>
            <a:off x="566928" y="4553712"/>
            <a:ext cx="566928" cy="566928"/>
          </a:xfrm>
          <a:prstGeom prst="ellipse">
            <a:avLst/>
          </a:prstGeom>
          <a:solidFill>
            <a:srgbClr val="0A2E5C"/>
          </a:solidFill>
          <a:ln/>
        </p:spPr>
      </p:sp>
      <p:pic>
        <p:nvPicPr>
          <p:cNvPr id="13" name="Image 2" descr="icons/check_gold.png">    </p:cNvPr>
          <p:cNvPicPr>
            <a:picLocks noChangeAspect="1"/>
          </p:cNvPicPr>
          <p:nvPr/>
        </p:nvPicPr>
        <p:blipFill>
          <a:blip r:embed="rId3"/>
          <a:stretch>
            <a:fillRect/>
          </a:stretch>
        </p:blipFill>
        <p:spPr>
          <a:xfrm>
            <a:off x="691652" y="4678436"/>
            <a:ext cx="317480" cy="317480"/>
          </a:xfrm>
          <a:prstGeom prst="rect">
            <a:avLst/>
          </a:prstGeom>
        </p:spPr>
      </p:pic>
      <p:sp>
        <p:nvSpPr>
          <p:cNvPr id="14" name="Text 9"/>
          <p:cNvSpPr/>
          <p:nvPr/>
        </p:nvSpPr>
        <p:spPr>
          <a:xfrm>
            <a:off x="1353312" y="4535424"/>
            <a:ext cx="5120640" cy="329184"/>
          </a:xfrm>
          <a:prstGeom prst="rect">
            <a:avLst/>
          </a:prstGeom>
          <a:noFill/>
          <a:ln/>
        </p:spPr>
        <p:txBody>
          <a:bodyPr wrap="square" lIns="0" tIns="0" rIns="0" bIns="0" rtlCol="0" anchor="ctr"/>
          <a:lstStyle/>
          <a:p>
            <a:pPr indent="0" marL="0">
              <a:buNone/>
            </a:pPr>
            <a:r>
              <a:rPr lang="en-US" sz="1500" b="1" dirty="0">
                <a:solidFill>
                  <a:srgbClr val="16283E"/>
                </a:solidFill>
                <a:latin typeface="Calibri" pitchFamily="34" charset="0"/>
                <a:ea typeface="Calibri" pitchFamily="34" charset="-122"/>
                <a:cs typeface="Calibri" pitchFamily="34" charset="-120"/>
              </a:rPr>
              <a:t>Xây dựng mô hình TO-BE</a:t>
            </a:r>
            <a:endParaRPr lang="en-US" sz="1500" dirty="0"/>
          </a:p>
        </p:txBody>
      </p:sp>
      <p:sp>
        <p:nvSpPr>
          <p:cNvPr id="15" name="Text 10"/>
          <p:cNvSpPr/>
          <p:nvPr/>
        </p:nvSpPr>
        <p:spPr>
          <a:xfrm>
            <a:off x="1353312" y="4901184"/>
            <a:ext cx="5212080" cy="1005840"/>
          </a:xfrm>
          <a:prstGeom prst="rect">
            <a:avLst/>
          </a:prstGeom>
          <a:noFill/>
          <a:ln/>
        </p:spPr>
        <p:txBody>
          <a:bodyPr wrap="square" lIns="0" tIns="0" rIns="0" bIns="0" rtlCol="0" anchor="ctr"/>
          <a:lstStyle/>
          <a:p>
            <a:pPr indent="0" marL="0">
              <a:lnSpc>
                <a:spcPct val="112000"/>
              </a:lnSpc>
              <a:buNone/>
            </a:pPr>
            <a:r>
              <a:rPr lang="en-US" sz="1150" dirty="0">
                <a:solidFill>
                  <a:srgbClr val="5A6B80"/>
                </a:solidFill>
                <a:latin typeface="Calibri" pitchFamily="34" charset="0"/>
                <a:ea typeface="Calibri" pitchFamily="34" charset="-122"/>
                <a:cs typeface="Calibri" pitchFamily="34" charset="-120"/>
              </a:rPr>
              <a:t>Ba giải pháp đột phá: Smart-Form, ma trận Auto-Approval và API tự động ghi log bảo mật.</a:t>
            </a:r>
            <a:endParaRPr lang="en-US" sz="1150" dirty="0"/>
          </a:p>
        </p:txBody>
      </p:sp>
      <p:sp>
        <p:nvSpPr>
          <p:cNvPr id="16" name="Shape 11"/>
          <p:cNvSpPr/>
          <p:nvPr/>
        </p:nvSpPr>
        <p:spPr>
          <a:xfrm>
            <a:off x="6903720" y="1417320"/>
            <a:ext cx="4709160" cy="4754880"/>
          </a:xfrm>
          <a:prstGeom prst="roundRect">
            <a:avLst>
              <a:gd name="adj" fmla="val 1748"/>
            </a:avLst>
          </a:prstGeom>
          <a:solidFill>
            <a:srgbClr val="0A2E5C"/>
          </a:solidFill>
          <a:ln/>
          <a:effectLst>
            <a:outerShdw sx="100000" sy="100000" kx="0" ky="0" algn="bl" rotWithShape="0" blurRad="88900" dist="25400" dir="5400000">
              <a:srgbClr val="0A2E5C">
                <a:alpha val="14000"/>
              </a:srgbClr>
            </a:outerShdw>
          </a:effectLst>
        </p:spPr>
      </p:sp>
      <p:sp>
        <p:nvSpPr>
          <p:cNvPr id="17" name="Text 12"/>
          <p:cNvSpPr/>
          <p:nvPr/>
        </p:nvSpPr>
        <p:spPr>
          <a:xfrm>
            <a:off x="7223760" y="1664208"/>
            <a:ext cx="4114800" cy="292608"/>
          </a:xfrm>
          <a:prstGeom prst="rect">
            <a:avLst/>
          </a:prstGeom>
          <a:noFill/>
          <a:ln/>
        </p:spPr>
        <p:txBody>
          <a:bodyPr wrap="square" lIns="0" tIns="0" rIns="0" bIns="0" rtlCol="0" anchor="ctr"/>
          <a:lstStyle/>
          <a:p>
            <a:pPr indent="0" marL="0">
              <a:buNone/>
            </a:pPr>
            <a:r>
              <a:rPr lang="en-US" sz="1050" b="1" spc="200" kern="0" dirty="0">
                <a:solidFill>
                  <a:srgbClr val="F2A900"/>
                </a:solidFill>
                <a:latin typeface="Calibri" pitchFamily="34" charset="0"/>
                <a:ea typeface="Calibri" pitchFamily="34" charset="-122"/>
                <a:cs typeface="Calibri" pitchFamily="34" charset="-120"/>
              </a:rPr>
              <a:t>GIÁ TRỊ ỨNG DỤNG THỰC TIỄN</a:t>
            </a:r>
            <a:endParaRPr lang="en-US" sz="1050" dirty="0"/>
          </a:p>
        </p:txBody>
      </p:sp>
      <p:sp>
        <p:nvSpPr>
          <p:cNvPr id="18" name="Text 13"/>
          <p:cNvSpPr/>
          <p:nvPr/>
        </p:nvSpPr>
        <p:spPr>
          <a:xfrm>
            <a:off x="7242048" y="2121408"/>
            <a:ext cx="4069080" cy="3840480"/>
          </a:xfrm>
          <a:prstGeom prst="rect">
            <a:avLst/>
          </a:prstGeom>
          <a:noFill/>
          <a:ln/>
        </p:spPr>
        <p:txBody>
          <a:bodyPr wrap="square" lIns="0" tIns="0" rIns="0" bIns="0" rtlCol="0" anchor="t"/>
          <a:lstStyle/>
          <a:p>
            <a:pPr marL="342900" indent="-342900">
              <a:lnSpc>
                <a:spcPct val="115000"/>
              </a:lnSpc>
              <a:spcAft>
                <a:spcPts val="1400"/>
              </a:spcAft>
              <a:buSzPct val="100000"/>
              <a:buChar char="•"/>
            </a:pPr>
            <a:r>
              <a:rPr lang="en-US" sz="1250" dirty="0">
                <a:solidFill>
                  <a:srgbClr val="FFFFFF"/>
                </a:solidFill>
                <a:latin typeface="Calibri" pitchFamily="34" charset="0"/>
                <a:ea typeface="Calibri" pitchFamily="34" charset="-122"/>
                <a:cs typeface="Calibri" pitchFamily="34" charset="-120"/>
              </a:rPr>
              <a:t>Rút ngắn đáng kể thời gian chờ đợi (Lead Time) cho người dùng nội bộ.</a:t>
            </a:r>
            <a:endParaRPr lang="en-US" sz="1250" dirty="0"/>
          </a:p>
          <a:p>
            <a:pPr marL="342900" indent="-342900">
              <a:lnSpc>
                <a:spcPct val="115000"/>
              </a:lnSpc>
              <a:spcAft>
                <a:spcPts val="1400"/>
              </a:spcAft>
              <a:buSzPct val="100000"/>
              <a:buChar char="•"/>
            </a:pPr>
            <a:r>
              <a:rPr lang="en-US" sz="1250" dirty="0">
                <a:solidFill>
                  <a:srgbClr val="FFFFFF"/>
                </a:solidFill>
                <a:latin typeface="Calibri" pitchFamily="34" charset="0"/>
                <a:ea typeface="Calibri" pitchFamily="34" charset="-122"/>
                <a:cs typeface="Calibri" pitchFamily="34" charset="-120"/>
              </a:rPr>
              <a:t>Tối ưu nguồn lực quản lý (VBA) — tập trung vào các quyết định rủi ro cao.</a:t>
            </a:r>
            <a:endParaRPr lang="en-US" sz="1250" dirty="0"/>
          </a:p>
          <a:p>
            <a:pPr marL="342900" indent="-342900">
              <a:lnSpc>
                <a:spcPct val="115000"/>
              </a:lnSpc>
              <a:spcAft>
                <a:spcPts val="1400"/>
              </a:spcAft>
              <a:buSzPct val="100000"/>
              <a:buChar char="•"/>
            </a:pPr>
            <a:r>
              <a:rPr lang="en-US" sz="1250" dirty="0">
                <a:solidFill>
                  <a:srgbClr val="FFFFFF"/>
                </a:solidFill>
                <a:latin typeface="Calibri" pitchFamily="34" charset="0"/>
                <a:ea typeface="Calibri" pitchFamily="34" charset="-122"/>
                <a:cs typeface="Calibri" pitchFamily="34" charset="-120"/>
              </a:rPr>
              <a:t>Nâng cao trải nghiệm &amp; mức hài lòng (CSAT) của toàn bộ CBNV.</a:t>
            </a:r>
            <a:endParaRPr lang="en-US" sz="1250" dirty="0"/>
          </a:p>
          <a:p>
            <a:pPr marL="342900" indent="-342900">
              <a:lnSpc>
                <a:spcPct val="115000"/>
              </a:lnSpc>
              <a:spcAft>
                <a:spcPts val="1400"/>
              </a:spcAft>
              <a:buSzPct val="100000"/>
              <a:buChar char="•"/>
            </a:pPr>
            <a:r>
              <a:rPr lang="en-US" sz="1250" dirty="0">
                <a:solidFill>
                  <a:srgbClr val="FFFFFF"/>
                </a:solidFill>
                <a:latin typeface="Calibri" pitchFamily="34" charset="0"/>
                <a:ea typeface="Calibri" pitchFamily="34" charset="-122"/>
                <a:cs typeface="Calibri" pitchFamily="34" charset="-120"/>
              </a:rPr>
              <a:t>Bước đệm vững chắc cho chiến lược Chuyển đổi số toàn diện của Khối CNTT Sacombank.</a:t>
            </a:r>
            <a:endParaRPr lang="en-US" sz="1250" dirty="0"/>
          </a:p>
        </p:txBody>
      </p:sp>
      <p:sp>
        <p:nvSpPr>
          <p:cNvPr id="19" name="Text 14"/>
          <p:cNvSpPr/>
          <p:nvPr/>
        </p:nvSpPr>
        <p:spPr>
          <a:xfrm>
            <a:off x="11411712" y="6473952"/>
            <a:ext cx="457200" cy="274320"/>
          </a:xfrm>
          <a:prstGeom prst="rect">
            <a:avLst/>
          </a:prstGeom>
          <a:noFill/>
          <a:ln/>
        </p:spPr>
        <p:txBody>
          <a:bodyPr wrap="square" rtlCol="0" anchor="ctr"/>
          <a:lstStyle/>
          <a:p>
            <a:pPr algn="r" indent="0" marL="0">
              <a:buNone/>
            </a:pPr>
            <a:r>
              <a:rPr lang="en-US" sz="900" dirty="0">
                <a:solidFill>
                  <a:srgbClr val="5A6B80"/>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lIns="0" tIns="0" rIns="0" bIns="0" rtlCol="0" anchor="ctr"/>
          <a:lstStyle/>
          <a:p>
            <a:pPr indent="0" marL="0">
              <a:buNone/>
            </a:pPr>
            <a:r>
              <a:rPr lang="en-US" sz="1050" b="1" spc="240" kern="0" dirty="0">
                <a:solidFill>
                  <a:srgbClr val="2160A6"/>
                </a:solidFill>
                <a:latin typeface="Calibri" pitchFamily="34" charset="0"/>
                <a:ea typeface="Calibri" pitchFamily="34" charset="-122"/>
                <a:cs typeface="Calibri" pitchFamily="34" charset="-120"/>
              </a:rPr>
              <a:t>CHƯƠNG 6 · KẾT LUẬN</a:t>
            </a:r>
            <a:endParaRPr lang="en-US" sz="1050" dirty="0"/>
          </a:p>
        </p:txBody>
      </p:sp>
      <p:sp>
        <p:nvSpPr>
          <p:cNvPr id="3" name="Text 1"/>
          <p:cNvSpPr/>
          <p:nvPr/>
        </p:nvSpPr>
        <p:spPr>
          <a:xfrm>
            <a:off x="548640" y="566928"/>
            <a:ext cx="11064240" cy="566928"/>
          </a:xfrm>
          <a:prstGeom prst="rect">
            <a:avLst/>
          </a:prstGeom>
          <a:noFill/>
          <a:ln/>
        </p:spPr>
        <p:txBody>
          <a:bodyPr wrap="square" lIns="0" tIns="0" rIns="0" bIns="0" rtlCol="0" anchor="ctr"/>
          <a:lstStyle/>
          <a:p>
            <a:pPr indent="0" marL="0">
              <a:buNone/>
            </a:pPr>
            <a:r>
              <a:rPr lang="en-US" sz="2900" b="1" dirty="0">
                <a:solidFill>
                  <a:srgbClr val="0A2E5C"/>
                </a:solidFill>
                <a:latin typeface="Cambria" pitchFamily="34" charset="0"/>
                <a:ea typeface="Cambria" pitchFamily="34" charset="-122"/>
                <a:cs typeface="Cambria" pitchFamily="34" charset="-120"/>
              </a:rPr>
              <a:t>Hạn chế của đề tài &amp; hướng phát triển</a:t>
            </a:r>
            <a:endParaRPr lang="en-US" sz="2900" dirty="0"/>
          </a:p>
        </p:txBody>
      </p:sp>
      <p:sp>
        <p:nvSpPr>
          <p:cNvPr id="4" name="Shape 2"/>
          <p:cNvSpPr/>
          <p:nvPr/>
        </p:nvSpPr>
        <p:spPr>
          <a:xfrm>
            <a:off x="566928" y="1417320"/>
            <a:ext cx="5440680" cy="4754880"/>
          </a:xfrm>
          <a:prstGeom prst="roundRect">
            <a:avLst>
              <a:gd name="adj" fmla="val 1731"/>
            </a:avLst>
          </a:prstGeom>
          <a:solidFill>
            <a:srgbClr val="FFFFFF"/>
          </a:solidFill>
          <a:ln w="12700">
            <a:solidFill>
              <a:srgbClr val="D3DFEE"/>
            </a:solidFill>
            <a:prstDash val="solid"/>
          </a:ln>
          <a:effectLst>
            <a:outerShdw sx="100000" sy="100000" kx="0" ky="0" algn="bl" rotWithShape="0" blurRad="88900" dist="25400" dir="5400000">
              <a:srgbClr val="0A2E5C">
                <a:alpha val="14000"/>
              </a:srgbClr>
            </a:outerShdw>
          </a:effectLst>
        </p:spPr>
      </p:sp>
      <p:sp>
        <p:nvSpPr>
          <p:cNvPr id="5" name="Shape 3"/>
          <p:cNvSpPr/>
          <p:nvPr/>
        </p:nvSpPr>
        <p:spPr>
          <a:xfrm>
            <a:off x="868680" y="1691640"/>
            <a:ext cx="548640" cy="548640"/>
          </a:xfrm>
          <a:prstGeom prst="ellipse">
            <a:avLst/>
          </a:prstGeom>
          <a:solidFill>
            <a:srgbClr val="B3402A"/>
          </a:solidFill>
          <a:ln/>
        </p:spPr>
      </p:sp>
      <p:pic>
        <p:nvPicPr>
          <p:cNvPr id="6" name="Image 0" descr="icons/excircle_white.png">    </p:cNvPr>
          <p:cNvPicPr>
            <a:picLocks noChangeAspect="1"/>
          </p:cNvPicPr>
          <p:nvPr/>
        </p:nvPicPr>
        <p:blipFill>
          <a:blip r:embed="rId1"/>
          <a:stretch>
            <a:fillRect/>
          </a:stretch>
        </p:blipFill>
        <p:spPr>
          <a:xfrm>
            <a:off x="1016813" y="1839773"/>
            <a:ext cx="252374" cy="252374"/>
          </a:xfrm>
          <a:prstGeom prst="rect">
            <a:avLst/>
          </a:prstGeom>
        </p:spPr>
      </p:pic>
      <p:sp>
        <p:nvSpPr>
          <p:cNvPr id="7" name="Text 4"/>
          <p:cNvSpPr/>
          <p:nvPr/>
        </p:nvSpPr>
        <p:spPr>
          <a:xfrm>
            <a:off x="1572768" y="1755648"/>
            <a:ext cx="3200400" cy="365760"/>
          </a:xfrm>
          <a:prstGeom prst="rect">
            <a:avLst/>
          </a:prstGeom>
          <a:noFill/>
          <a:ln/>
        </p:spPr>
        <p:txBody>
          <a:bodyPr wrap="square" lIns="0" tIns="0" rIns="0" bIns="0" rtlCol="0" anchor="ctr"/>
          <a:lstStyle/>
          <a:p>
            <a:pPr indent="0" marL="0">
              <a:buNone/>
            </a:pPr>
            <a:r>
              <a:rPr lang="en-US" sz="1700" b="1" dirty="0">
                <a:solidFill>
                  <a:srgbClr val="16283E"/>
                </a:solidFill>
                <a:latin typeface="Cambria" pitchFamily="34" charset="0"/>
                <a:ea typeface="Cambria" pitchFamily="34" charset="-122"/>
                <a:cs typeface="Cambria" pitchFamily="34" charset="-120"/>
              </a:rPr>
              <a:t>Hạn chế</a:t>
            </a:r>
            <a:endParaRPr lang="en-US" sz="1700" dirty="0"/>
          </a:p>
        </p:txBody>
      </p:sp>
      <p:sp>
        <p:nvSpPr>
          <p:cNvPr id="8" name="Text 5"/>
          <p:cNvSpPr/>
          <p:nvPr/>
        </p:nvSpPr>
        <p:spPr>
          <a:xfrm>
            <a:off x="896112" y="2450592"/>
            <a:ext cx="4846320" cy="3566160"/>
          </a:xfrm>
          <a:prstGeom prst="rect">
            <a:avLst/>
          </a:prstGeom>
          <a:noFill/>
          <a:ln/>
        </p:spPr>
        <p:txBody>
          <a:bodyPr wrap="square" lIns="0" tIns="0" rIns="0" bIns="0" rtlCol="0" anchor="t"/>
          <a:lstStyle/>
          <a:p>
            <a:pPr marL="342900" indent="-342900">
              <a:lnSpc>
                <a:spcPct val="112000"/>
              </a:lnSpc>
              <a:spcAft>
                <a:spcPts val="1300"/>
              </a:spcAft>
              <a:buSzPct val="100000"/>
              <a:buChar char="•"/>
            </a:pPr>
            <a:r>
              <a:rPr lang="en-US" sz="1200" dirty="0">
                <a:solidFill>
                  <a:srgbClr val="16283E"/>
                </a:solidFill>
                <a:latin typeface="Calibri" pitchFamily="34" charset="0"/>
                <a:ea typeface="Calibri" pitchFamily="34" charset="-122"/>
                <a:cs typeface="Calibri" pitchFamily="34" charset="-120"/>
              </a:rPr>
              <a:t>Mới mô hình hóa chi tiết quy trình PYC; 9 quy trình còn lại dừng ở mức mô tả tổng quan.</a:t>
            </a:r>
            <a:endParaRPr lang="en-US" sz="1200" dirty="0"/>
          </a:p>
          <a:p>
            <a:pPr marL="342900" indent="-342900">
              <a:lnSpc>
                <a:spcPct val="112000"/>
              </a:lnSpc>
              <a:spcAft>
                <a:spcPts val="1300"/>
              </a:spcAft>
              <a:buSzPct val="100000"/>
              <a:buChar char="•"/>
            </a:pPr>
            <a:r>
              <a:rPr lang="en-US" sz="1200" dirty="0">
                <a:solidFill>
                  <a:srgbClr val="16283E"/>
                </a:solidFill>
                <a:latin typeface="Calibri" pitchFamily="34" charset="0"/>
                <a:ea typeface="Calibri" pitchFamily="34" charset="-122"/>
                <a:cs typeface="Calibri" pitchFamily="34" charset="-120"/>
              </a:rPr>
              <a:t>Số liệu định lượng chủ yếu từ khảo sát &amp; phỏng vấn, chưa đối chiếu dài hạn với dữ liệu xuất từ hệ thống ITSM.</a:t>
            </a:r>
            <a:endParaRPr lang="en-US" sz="1200" dirty="0"/>
          </a:p>
          <a:p>
            <a:pPr marL="342900" indent="-342900">
              <a:lnSpc>
                <a:spcPct val="112000"/>
              </a:lnSpc>
              <a:spcAft>
                <a:spcPts val="1300"/>
              </a:spcAft>
              <a:buSzPct val="100000"/>
              <a:buChar char="•"/>
            </a:pPr>
            <a:r>
              <a:rPr lang="en-US" sz="1200" dirty="0">
                <a:solidFill>
                  <a:srgbClr val="16283E"/>
                </a:solidFill>
                <a:latin typeface="Calibri" pitchFamily="34" charset="0"/>
                <a:ea typeface="Calibri" pitchFamily="34" charset="-122"/>
                <a:cs typeface="Calibri" pitchFamily="34" charset="-120"/>
              </a:rPr>
              <a:t>Mô hình TO-BE dừng ở mức thiết kế &amp; mô phỏng trên sơ đồ, chưa triển khai thí điểm để đo hiệu quả bằng số liệu thực.</a:t>
            </a:r>
            <a:endParaRPr lang="en-US" sz="1200" dirty="0"/>
          </a:p>
        </p:txBody>
      </p:sp>
      <p:sp>
        <p:nvSpPr>
          <p:cNvPr id="9" name="Shape 6"/>
          <p:cNvSpPr/>
          <p:nvPr/>
        </p:nvSpPr>
        <p:spPr>
          <a:xfrm>
            <a:off x="6199632" y="1417320"/>
            <a:ext cx="5440680" cy="4754880"/>
          </a:xfrm>
          <a:prstGeom prst="roundRect">
            <a:avLst>
              <a:gd name="adj" fmla="val 1731"/>
            </a:avLst>
          </a:prstGeom>
          <a:solidFill>
            <a:srgbClr val="F4F8FC"/>
          </a:solidFill>
          <a:ln w="12700">
            <a:solidFill>
              <a:srgbClr val="D3DFEE"/>
            </a:solidFill>
            <a:prstDash val="solid"/>
          </a:ln>
          <a:effectLst>
            <a:outerShdw sx="100000" sy="100000" kx="0" ky="0" algn="bl" rotWithShape="0" blurRad="88900" dist="25400" dir="5400000">
              <a:srgbClr val="0A2E5C">
                <a:alpha val="14000"/>
              </a:srgbClr>
            </a:outerShdw>
          </a:effectLst>
        </p:spPr>
      </p:sp>
      <p:sp>
        <p:nvSpPr>
          <p:cNvPr id="10" name="Shape 7"/>
          <p:cNvSpPr/>
          <p:nvPr/>
        </p:nvSpPr>
        <p:spPr>
          <a:xfrm>
            <a:off x="6501384" y="1691640"/>
            <a:ext cx="548640" cy="548640"/>
          </a:xfrm>
          <a:prstGeom prst="ellipse">
            <a:avLst/>
          </a:prstGeom>
          <a:solidFill>
            <a:srgbClr val="F2A900"/>
          </a:solidFill>
          <a:ln/>
        </p:spPr>
      </p:sp>
      <p:pic>
        <p:nvPicPr>
          <p:cNvPr id="11" name="Image 1" descr="icons/bulb_navy.png">    </p:cNvPr>
          <p:cNvPicPr>
            <a:picLocks noChangeAspect="1"/>
          </p:cNvPicPr>
          <p:nvPr/>
        </p:nvPicPr>
        <p:blipFill>
          <a:blip r:embed="rId2"/>
          <a:stretch>
            <a:fillRect/>
          </a:stretch>
        </p:blipFill>
        <p:spPr>
          <a:xfrm>
            <a:off x="6649517" y="1839773"/>
            <a:ext cx="252374" cy="252374"/>
          </a:xfrm>
          <a:prstGeom prst="rect">
            <a:avLst/>
          </a:prstGeom>
        </p:spPr>
      </p:pic>
      <p:sp>
        <p:nvSpPr>
          <p:cNvPr id="12" name="Text 8"/>
          <p:cNvSpPr/>
          <p:nvPr/>
        </p:nvSpPr>
        <p:spPr>
          <a:xfrm>
            <a:off x="7205472" y="1755648"/>
            <a:ext cx="3657600" cy="365760"/>
          </a:xfrm>
          <a:prstGeom prst="rect">
            <a:avLst/>
          </a:prstGeom>
          <a:noFill/>
          <a:ln/>
        </p:spPr>
        <p:txBody>
          <a:bodyPr wrap="square" lIns="0" tIns="0" rIns="0" bIns="0" rtlCol="0" anchor="ctr"/>
          <a:lstStyle/>
          <a:p>
            <a:pPr indent="0" marL="0">
              <a:buNone/>
            </a:pPr>
            <a:r>
              <a:rPr lang="en-US" sz="1700" b="1" dirty="0">
                <a:solidFill>
                  <a:srgbClr val="0A2E5C"/>
                </a:solidFill>
                <a:latin typeface="Cambria" pitchFamily="34" charset="0"/>
                <a:ea typeface="Cambria" pitchFamily="34" charset="-122"/>
                <a:cs typeface="Cambria" pitchFamily="34" charset="-120"/>
              </a:rPr>
              <a:t>Hướng phát triển</a:t>
            </a:r>
            <a:endParaRPr lang="en-US" sz="1700" dirty="0"/>
          </a:p>
        </p:txBody>
      </p:sp>
      <p:sp>
        <p:nvSpPr>
          <p:cNvPr id="13" name="Text 9"/>
          <p:cNvSpPr/>
          <p:nvPr/>
        </p:nvSpPr>
        <p:spPr>
          <a:xfrm>
            <a:off x="6528816" y="2450592"/>
            <a:ext cx="4846320" cy="3566160"/>
          </a:xfrm>
          <a:prstGeom prst="rect">
            <a:avLst/>
          </a:prstGeom>
          <a:noFill/>
          <a:ln/>
        </p:spPr>
        <p:txBody>
          <a:bodyPr wrap="square" lIns="0" tIns="0" rIns="0" bIns="0" rtlCol="0" anchor="t"/>
          <a:lstStyle/>
          <a:p>
            <a:pPr marL="342900" indent="-342900">
              <a:lnSpc>
                <a:spcPct val="112000"/>
              </a:lnSpc>
              <a:spcAft>
                <a:spcPts val="1300"/>
              </a:spcAft>
              <a:buSzPct val="100000"/>
              <a:buChar char="•"/>
            </a:pPr>
            <a:r>
              <a:rPr lang="en-US" sz="1200" dirty="0">
                <a:solidFill>
                  <a:srgbClr val="16283E"/>
                </a:solidFill>
                <a:latin typeface="Calibri" pitchFamily="34" charset="0"/>
                <a:ea typeface="Calibri" pitchFamily="34" charset="-122"/>
                <a:cs typeface="Calibri" pitchFamily="34" charset="-120"/>
              </a:rPr>
              <a:t>Mở rộng mô hình hóa BPMN 2.0 cho 9 quy trình còn lại — ưu tiên Quản lý Sự cố (Incident) do tương đồng cao với PYC.</a:t>
            </a:r>
            <a:endParaRPr lang="en-US" sz="1200" dirty="0"/>
          </a:p>
          <a:p>
            <a:pPr marL="342900" indent="-342900">
              <a:lnSpc>
                <a:spcPct val="112000"/>
              </a:lnSpc>
              <a:spcAft>
                <a:spcPts val="1300"/>
              </a:spcAft>
              <a:buSzPct val="100000"/>
              <a:buChar char="•"/>
            </a:pPr>
            <a:r>
              <a:rPr lang="en-US" sz="1200" dirty="0">
                <a:solidFill>
                  <a:srgbClr val="16283E"/>
                </a:solidFill>
                <a:latin typeface="Calibri" pitchFamily="34" charset="0"/>
                <a:ea typeface="Calibri" pitchFamily="34" charset="-122"/>
                <a:cs typeface="Calibri" pitchFamily="34" charset="-120"/>
              </a:rPr>
              <a:t>Triển khai pilot Smart-Form &amp; ma trận Auto-Approval trên phạm vi phòng ban giới hạn để kiểm chứng, tinh chỉnh TO-BE.</a:t>
            </a:r>
            <a:endParaRPr lang="en-US" sz="1200" dirty="0"/>
          </a:p>
          <a:p>
            <a:pPr marL="342900" indent="-342900">
              <a:lnSpc>
                <a:spcPct val="112000"/>
              </a:lnSpc>
              <a:spcAft>
                <a:spcPts val="1300"/>
              </a:spcAft>
              <a:buSzPct val="100000"/>
              <a:buChar char="•"/>
            </a:pPr>
            <a:r>
              <a:rPr lang="en-US" sz="1200" dirty="0">
                <a:solidFill>
                  <a:srgbClr val="16283E"/>
                </a:solidFill>
                <a:latin typeface="Calibri" pitchFamily="34" charset="0"/>
                <a:ea typeface="Calibri" pitchFamily="34" charset="-122"/>
                <a:cs typeface="Calibri" pitchFamily="34" charset="-120"/>
              </a:rPr>
              <a:t>Xây dashboard giám sát thời gian thực (Lead Time · SLA · Rework Rate) phục vụ trực tiếp quy trình Quản lý Mức Dịch vụ.</a:t>
            </a:r>
            <a:endParaRPr lang="en-US" sz="1200" dirty="0"/>
          </a:p>
        </p:txBody>
      </p:sp>
      <p:sp>
        <p:nvSpPr>
          <p:cNvPr id="14" name="Text 10"/>
          <p:cNvSpPr/>
          <p:nvPr/>
        </p:nvSpPr>
        <p:spPr>
          <a:xfrm>
            <a:off x="11411712" y="6473952"/>
            <a:ext cx="457200" cy="274320"/>
          </a:xfrm>
          <a:prstGeom prst="rect">
            <a:avLst/>
          </a:prstGeom>
          <a:noFill/>
          <a:ln/>
        </p:spPr>
        <p:txBody>
          <a:bodyPr wrap="square" rtlCol="0" anchor="ctr"/>
          <a:lstStyle/>
          <a:p>
            <a:pPr algn="r" indent="0" marL="0">
              <a:buNone/>
            </a:pPr>
            <a:r>
              <a:rPr lang="en-US" sz="900" dirty="0">
                <a:solidFill>
                  <a:srgbClr val="5A6B80"/>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A2E5C"/>
        </a:solidFill>
      </p:bgPr>
    </p:bg>
    <p:spTree>
      <p:nvGrpSpPr>
        <p:cNvPr id="1" name=""/>
        <p:cNvGrpSpPr/>
        <p:nvPr/>
      </p:nvGrpSpPr>
      <p:grpSpPr>
        <a:xfrm>
          <a:off x="0" y="0"/>
          <a:ext cx="0" cy="0"/>
          <a:chOff x="0" y="0"/>
          <a:chExt cx="0" cy="0"/>
        </a:xfrm>
      </p:grpSpPr>
      <p:sp>
        <p:nvSpPr>
          <p:cNvPr id="2" name="Shape 0"/>
          <p:cNvSpPr/>
          <p:nvPr/>
        </p:nvSpPr>
        <p:spPr>
          <a:xfrm>
            <a:off x="-1828800" y="-2011680"/>
            <a:ext cx="4937760" cy="4937760"/>
          </a:xfrm>
          <a:prstGeom prst="ellipse">
            <a:avLst/>
          </a:prstGeom>
          <a:solidFill>
            <a:srgbClr val="2160A6">
              <a:alpha val="22000"/>
            </a:srgbClr>
          </a:solidFill>
          <a:ln/>
        </p:spPr>
      </p:sp>
      <p:sp>
        <p:nvSpPr>
          <p:cNvPr id="3" name="Shape 1"/>
          <p:cNvSpPr/>
          <p:nvPr/>
        </p:nvSpPr>
        <p:spPr>
          <a:xfrm>
            <a:off x="9875520" y="4480560"/>
            <a:ext cx="4206240" cy="4206240"/>
          </a:xfrm>
          <a:prstGeom prst="ellipse">
            <a:avLst/>
          </a:prstGeom>
          <a:solidFill>
            <a:srgbClr val="F2A900">
              <a:alpha val="16000"/>
            </a:srgbClr>
          </a:solidFill>
          <a:ln/>
        </p:spPr>
      </p:sp>
      <p:sp>
        <p:nvSpPr>
          <p:cNvPr id="4" name="Shape 2"/>
          <p:cNvSpPr/>
          <p:nvPr/>
        </p:nvSpPr>
        <p:spPr>
          <a:xfrm>
            <a:off x="640080" y="5394960"/>
            <a:ext cx="1554480" cy="1554480"/>
          </a:xfrm>
          <a:prstGeom prst="ellipse">
            <a:avLst/>
          </a:prstGeom>
          <a:ln w="19050">
            <a:solidFill>
              <a:srgbClr val="F2A900">
                <a:alpha val="55000"/>
              </a:srgbClr>
            </a:solidFill>
            <a:prstDash val="solid"/>
          </a:ln>
        </p:spPr>
      </p:sp>
      <p:sp>
        <p:nvSpPr>
          <p:cNvPr id="5" name="Text 3"/>
          <p:cNvSpPr/>
          <p:nvPr/>
        </p:nvSpPr>
        <p:spPr>
          <a:xfrm>
            <a:off x="822960" y="2148840"/>
            <a:ext cx="10543032" cy="777240"/>
          </a:xfrm>
          <a:prstGeom prst="rect">
            <a:avLst/>
          </a:prstGeom>
          <a:noFill/>
          <a:ln/>
        </p:spPr>
        <p:txBody>
          <a:bodyPr wrap="square" rtlCol="0" anchor="ctr"/>
          <a:lstStyle/>
          <a:p>
            <a:pPr algn="ctr" indent="0" marL="0">
              <a:buNone/>
            </a:pPr>
            <a:r>
              <a:rPr lang="en-US" sz="3800" b="1" dirty="0">
                <a:solidFill>
                  <a:srgbClr val="FFFFFF"/>
                </a:solidFill>
                <a:latin typeface="Cambria" pitchFamily="34" charset="0"/>
                <a:ea typeface="Cambria" pitchFamily="34" charset="-122"/>
                <a:cs typeface="Cambria" pitchFamily="34" charset="-120"/>
              </a:rPr>
              <a:t>CẢM ƠN THẦY VÀ CÁC BẠN ĐÃ LẮNG NGHE!</a:t>
            </a:r>
            <a:endParaRPr lang="en-US" sz="3800" dirty="0"/>
          </a:p>
        </p:txBody>
      </p:sp>
      <p:sp>
        <p:nvSpPr>
          <p:cNvPr id="6" name="Text 4"/>
          <p:cNvSpPr/>
          <p:nvPr/>
        </p:nvSpPr>
        <p:spPr>
          <a:xfrm>
            <a:off x="822960" y="3017520"/>
            <a:ext cx="10543032" cy="365760"/>
          </a:xfrm>
          <a:prstGeom prst="rect">
            <a:avLst/>
          </a:prstGeom>
          <a:noFill/>
          <a:ln/>
        </p:spPr>
        <p:txBody>
          <a:bodyPr wrap="square" rtlCol="0" anchor="ctr"/>
          <a:lstStyle/>
          <a:p>
            <a:pPr algn="ctr" indent="0" marL="0">
              <a:buNone/>
            </a:pPr>
            <a:r>
              <a:rPr lang="en-US" sz="1400" i="1" dirty="0">
                <a:solidFill>
                  <a:srgbClr val="C9DAF2"/>
                </a:solidFill>
                <a:latin typeface="Calibri" pitchFamily="34" charset="0"/>
                <a:ea typeface="Calibri" pitchFamily="34" charset="-122"/>
                <a:cs typeface="Calibri" pitchFamily="34" charset="-120"/>
              </a:rPr>
              <a:t>Nhóm rất mong nhận được nhận xét và góp ý để hoàn thiện đồ án.</a:t>
            </a:r>
            <a:endParaRPr lang="en-US" sz="1400" dirty="0"/>
          </a:p>
        </p:txBody>
      </p:sp>
      <p:sp>
        <p:nvSpPr>
          <p:cNvPr id="7" name="Shape 5"/>
          <p:cNvSpPr/>
          <p:nvPr/>
        </p:nvSpPr>
        <p:spPr>
          <a:xfrm>
            <a:off x="4956048" y="3794760"/>
            <a:ext cx="2286000" cy="0"/>
          </a:xfrm>
          <a:prstGeom prst="line">
            <a:avLst/>
          </a:prstGeom>
          <a:noFill/>
          <a:ln w="19050">
            <a:solidFill>
              <a:srgbClr val="F2A900"/>
            </a:solidFill>
            <a:prstDash val="solid"/>
          </a:ln>
        </p:spPr>
      </p:sp>
      <p:sp>
        <p:nvSpPr>
          <p:cNvPr id="8" name="Text 6"/>
          <p:cNvSpPr/>
          <p:nvPr/>
        </p:nvSpPr>
        <p:spPr>
          <a:xfrm>
            <a:off x="822960" y="4041648"/>
            <a:ext cx="10543032" cy="320040"/>
          </a:xfrm>
          <a:prstGeom prst="rect">
            <a:avLst/>
          </a:prstGeom>
          <a:noFill/>
          <a:ln/>
        </p:spPr>
        <p:txBody>
          <a:bodyPr wrap="square" rtlCol="0" anchor="ctr"/>
          <a:lstStyle/>
          <a:p>
            <a:pPr algn="ctr" indent="0" marL="0">
              <a:buNone/>
            </a:pPr>
            <a:r>
              <a:rPr lang="en-US" sz="1250" b="1" dirty="0">
                <a:solidFill>
                  <a:srgbClr val="F2A900"/>
                </a:solidFill>
                <a:latin typeface="Calibri" pitchFamily="34" charset="0"/>
                <a:ea typeface="Calibri" pitchFamily="34" charset="-122"/>
                <a:cs typeface="Calibri" pitchFamily="34" charset="-120"/>
              </a:rPr>
              <a:t>Phân tích &amp; tái thiết kế quy trình tiếp nhận và xử lý PYC CNTT tại Sacombank</a:t>
            </a:r>
            <a:endParaRPr lang="en-US" sz="1250" dirty="0"/>
          </a:p>
        </p:txBody>
      </p:sp>
      <p:sp>
        <p:nvSpPr>
          <p:cNvPr id="9" name="Text 7"/>
          <p:cNvSpPr/>
          <p:nvPr/>
        </p:nvSpPr>
        <p:spPr>
          <a:xfrm>
            <a:off x="822960" y="4407408"/>
            <a:ext cx="10543032" cy="320040"/>
          </a:xfrm>
          <a:prstGeom prst="rect">
            <a:avLst/>
          </a:prstGeom>
          <a:noFill/>
          <a:ln/>
        </p:spPr>
        <p:txBody>
          <a:bodyPr wrap="square"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Lê Minh Trí  ·  Mai Thị Anh Đào  ·  Tăng Vĩ Thái  ·  Nguyễn Đăng Huy      |      GVHD: Hà Lê Hoài Trung</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2026-08-14T14:55:06Z</dcterms:created>
  <dcterms:modified xsi:type="dcterms:W3CDTF">2026-08-14T14:55:06Z</dcterms:modified>
</cp:coreProperties>
</file>