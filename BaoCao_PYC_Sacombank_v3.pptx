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256" r:id="rId2"/>
    <p:sldId id="257" r:id="rId3"/>
    <p:sldId id="258" r:id="rId4"/>
    <p:sldId id="259" r:id="rId5"/>
    <p:sldId id="260" r:id="rId6"/>
    <p:sldId id="317"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7" r:id="rId23"/>
    <p:sldId id="278" r:id="rId24"/>
    <p:sldId id="279" r:id="rId25"/>
    <p:sldId id="304" r:id="rId26"/>
    <p:sldId id="281" r:id="rId27"/>
    <p:sldId id="305" r:id="rId28"/>
    <p:sldId id="283" r:id="rId29"/>
    <p:sldId id="285" r:id="rId30"/>
    <p:sldId id="286" r:id="rId31"/>
    <p:sldId id="287" r:id="rId32"/>
    <p:sldId id="288" r:id="rId33"/>
    <p:sldId id="306" r:id="rId34"/>
    <p:sldId id="289" r:id="rId35"/>
    <p:sldId id="312" r:id="rId36"/>
    <p:sldId id="290" r:id="rId37"/>
    <p:sldId id="313" r:id="rId38"/>
    <p:sldId id="307" r:id="rId39"/>
    <p:sldId id="291" r:id="rId40"/>
    <p:sldId id="314" r:id="rId41"/>
    <p:sldId id="308" r:id="rId42"/>
    <p:sldId id="292" r:id="rId43"/>
    <p:sldId id="309" r:id="rId44"/>
    <p:sldId id="316" r:id="rId45"/>
    <p:sldId id="293" r:id="rId46"/>
    <p:sldId id="310" r:id="rId47"/>
    <p:sldId id="294" r:id="rId48"/>
    <p:sldId id="295" r:id="rId49"/>
    <p:sldId id="296" r:id="rId50"/>
    <p:sldId id="297" r:id="rId51"/>
    <p:sldId id="315" r:id="rId52"/>
    <p:sldId id="311" r:id="rId53"/>
    <p:sldId id="298" r:id="rId54"/>
    <p:sldId id="299" r:id="rId55"/>
    <p:sldId id="300" r:id="rId56"/>
    <p:sldId id="301" r:id="rId57"/>
    <p:sldId id="302" r:id="rId5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7A5F"/>
    <a:srgbClr val="A5741A"/>
    <a:srgbClr val="1660BF"/>
    <a:srgbClr val="EFF4FB"/>
    <a:srgbClr val="C039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352" autoAdjust="0"/>
    <p:restoredTop sz="94610"/>
  </p:normalViewPr>
  <p:slideViewPr>
    <p:cSldViewPr snapToGrid="0" snapToObjects="1">
      <p:cViewPr>
        <p:scale>
          <a:sx n="125" d="100"/>
          <a:sy n="125" d="100"/>
        </p:scale>
        <p:origin x="354" y="-53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6673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6BB10-FAC7-8345-C8CD-7656D6C86D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CE3F76-D7C1-E9F4-07FE-72B16A449E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95A6A6-04C6-2CDD-B039-3EFBD4106A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E47792-C195-A782-FE33-E6A1B1E14B2F}"/>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9849220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5E172-4068-DD57-477E-0C6898B70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59A94F-058A-06B8-AC3D-B0C6B932E7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C48ADB-616D-AA52-015E-CAEEB6345E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CD990B-FF6A-3D63-8EBC-FD87E3BBA60D}"/>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8592347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F8EB2-49ED-5BAE-C93B-26F981715F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425418-87E0-F53B-8F82-24483862DB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A592F8-7202-2366-69FB-A6B90A9BD9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EEF452-A00A-E8D3-D1D7-ACCD53053716}"/>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40806492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777240"/>
            <a:ext cx="11094415" cy="274320"/>
          </a:xfrm>
          <a:prstGeom prst="rect">
            <a:avLst/>
          </a:prstGeom>
          <a:noFill/>
          <a:ln/>
        </p:spPr>
        <p:txBody>
          <a:bodyPr wrap="square" lIns="0" tIns="0" rIns="0" bIns="0" rtlCol="0" anchor="t"/>
          <a:lstStyle/>
          <a:p>
            <a:pPr marL="0" indent="0">
              <a:buNone/>
            </a:pPr>
            <a:r>
              <a:rPr lang="en-US" sz="1100" b="1" kern="0" spc="140" dirty="0">
                <a:solidFill>
                  <a:srgbClr val="D9A227"/>
                </a:solidFill>
                <a:latin typeface="Calibri" pitchFamily="34" charset="0"/>
                <a:ea typeface="Calibri" pitchFamily="34" charset="-122"/>
                <a:cs typeface="Calibri" pitchFamily="34" charset="-120"/>
              </a:rPr>
              <a:t>ĐỒ ÁN CUỐI KỲ  ·  HỆ THỐNG QUẢN TRỊ QUY TRÌNH NGHIỆP VỤ</a:t>
            </a:r>
            <a:endParaRPr lang="en-US" sz="1100" dirty="0"/>
          </a:p>
        </p:txBody>
      </p:sp>
      <p:sp>
        <p:nvSpPr>
          <p:cNvPr id="3" name="Text 1"/>
          <p:cNvSpPr txBox="1"/>
          <p:nvPr/>
        </p:nvSpPr>
        <p:spPr>
          <a:xfrm>
            <a:off x="548640" y="1371600"/>
            <a:ext cx="10545775" cy="1828800"/>
          </a:xfrm>
          <a:prstGeom prst="rect">
            <a:avLst/>
          </a:prstGeom>
          <a:noFill/>
          <a:ln/>
        </p:spPr>
        <p:txBody>
          <a:bodyPr wrap="square" lIns="0" tIns="0" rIns="0" bIns="0" rtlCol="0" anchor="t"/>
          <a:lstStyle/>
          <a:p>
            <a:pPr marL="0" indent="0">
              <a:lnSpc>
                <a:spcPts val="3800"/>
              </a:lnSpc>
              <a:buNone/>
            </a:pPr>
            <a:r>
              <a:rPr lang="en-US" sz="3000" b="1" dirty="0">
                <a:solidFill>
                  <a:srgbClr val="FFFFFF"/>
                </a:solidFill>
                <a:latin typeface="Calibri" pitchFamily="34" charset="0"/>
                <a:ea typeface="Calibri" pitchFamily="34" charset="-122"/>
                <a:cs typeface="Calibri" pitchFamily="34" charset="-120"/>
              </a:rPr>
              <a:t>PHÂN TÍCH VÀ TÁI THIẾT KẾ</a:t>
            </a:r>
            <a:endParaRPr lang="en-US" sz="3000" dirty="0"/>
          </a:p>
          <a:p>
            <a:pPr marL="0" indent="0">
              <a:lnSpc>
                <a:spcPts val="3800"/>
              </a:lnSpc>
              <a:buNone/>
            </a:pPr>
            <a:r>
              <a:rPr lang="en-US" sz="3000" b="1" dirty="0">
                <a:solidFill>
                  <a:srgbClr val="FFFFFF"/>
                </a:solidFill>
                <a:latin typeface="Calibri" pitchFamily="34" charset="0"/>
                <a:ea typeface="Calibri" pitchFamily="34" charset="-122"/>
                <a:cs typeface="Calibri" pitchFamily="34" charset="-120"/>
              </a:rPr>
              <a:t>QUY TRÌNH TIẾP NHẬN &amp; XỬ LÝ PHIẾU YÊU CẦU (PYC) CNTT</a:t>
            </a:r>
            <a:endParaRPr lang="en-US" sz="3000" dirty="0"/>
          </a:p>
          <a:p>
            <a:pPr marL="0" indent="0">
              <a:lnSpc>
                <a:spcPts val="3800"/>
              </a:lnSpc>
              <a:buNone/>
            </a:pPr>
            <a:r>
              <a:rPr lang="en-US" sz="3000" b="1" dirty="0">
                <a:solidFill>
                  <a:srgbClr val="FFFFFF"/>
                </a:solidFill>
                <a:latin typeface="Calibri" pitchFamily="34" charset="0"/>
                <a:ea typeface="Calibri" pitchFamily="34" charset="-122"/>
                <a:cs typeface="Calibri" pitchFamily="34" charset="-120"/>
              </a:rPr>
              <a:t>TẠI SACOMBANK</a:t>
            </a:r>
            <a:endParaRPr lang="en-US" sz="3000" dirty="0"/>
          </a:p>
        </p:txBody>
      </p:sp>
      <p:sp>
        <p:nvSpPr>
          <p:cNvPr id="4" name="Text 2"/>
          <p:cNvSpPr txBox="1"/>
          <p:nvPr/>
        </p:nvSpPr>
        <p:spPr>
          <a:xfrm>
            <a:off x="548640" y="3639312"/>
            <a:ext cx="4572000" cy="256032"/>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GVHD:  ThS. Hà Lê Hoài Trung</a:t>
            </a:r>
            <a:endParaRPr lang="en-US" sz="1300" dirty="0"/>
          </a:p>
        </p:txBody>
      </p:sp>
      <p:sp>
        <p:nvSpPr>
          <p:cNvPr id="5" name="Text 3"/>
          <p:cNvSpPr txBox="1"/>
          <p:nvPr/>
        </p:nvSpPr>
        <p:spPr>
          <a:xfrm>
            <a:off x="548640" y="3931920"/>
            <a:ext cx="4572000" cy="256032"/>
          </a:xfrm>
          <a:prstGeom prst="rect">
            <a:avLst/>
          </a:prstGeom>
          <a:noFill/>
          <a:ln/>
        </p:spPr>
        <p:txBody>
          <a:bodyPr wrap="square" lIns="0" tIns="0" rIns="0" bIns="0" rtlCol="0" anchor="t"/>
          <a:lstStyle/>
          <a:p>
            <a:pPr marL="0" indent="0">
              <a:buNone/>
            </a:pPr>
            <a:r>
              <a:rPr lang="en-US" sz="1100" dirty="0">
                <a:solidFill>
                  <a:srgbClr val="9BB2D2"/>
                </a:solidFill>
                <a:latin typeface="Calibri" pitchFamily="34" charset="0"/>
                <a:ea typeface="Calibri" pitchFamily="34" charset="-122"/>
                <a:cs typeface="Calibri" pitchFamily="34" charset="-120"/>
              </a:rPr>
              <a:t>TP. Hồ Chí Minh,  tháng 08/2026</a:t>
            </a:r>
            <a:endParaRPr lang="en-US" sz="1100" dirty="0"/>
          </a:p>
        </p:txBody>
      </p:sp>
      <p:sp>
        <p:nvSpPr>
          <p:cNvPr id="6" name="Text 4"/>
          <p:cNvSpPr txBox="1"/>
          <p:nvPr/>
        </p:nvSpPr>
        <p:spPr>
          <a:xfrm>
            <a:off x="6858000" y="3639312"/>
            <a:ext cx="4754880" cy="237744"/>
          </a:xfrm>
          <a:prstGeom prst="rect">
            <a:avLst/>
          </a:prstGeom>
          <a:noFill/>
          <a:ln/>
        </p:spPr>
        <p:txBody>
          <a:bodyPr wrap="square" lIns="0" tIns="0" rIns="0" bIns="0" rtlCol="0" anchor="t"/>
          <a:lstStyle/>
          <a:p>
            <a:pPr marL="0" indent="0">
              <a:buNone/>
            </a:pPr>
            <a:r>
              <a:rPr lang="en-US" sz="1000" b="1" kern="0" spc="120" dirty="0">
                <a:solidFill>
                  <a:srgbClr val="D9A227"/>
                </a:solidFill>
                <a:latin typeface="Calibri" pitchFamily="34" charset="0"/>
                <a:ea typeface="Calibri" pitchFamily="34" charset="-122"/>
                <a:cs typeface="Calibri" pitchFamily="34" charset="-120"/>
              </a:rPr>
              <a:t>NHÓM THỰC HIỆN</a:t>
            </a:r>
            <a:endParaRPr lang="en-US" sz="1000" dirty="0"/>
          </a:p>
        </p:txBody>
      </p:sp>
      <p:sp>
        <p:nvSpPr>
          <p:cNvPr id="7" name="Text 5"/>
          <p:cNvSpPr txBox="1"/>
          <p:nvPr/>
        </p:nvSpPr>
        <p:spPr>
          <a:xfrm>
            <a:off x="6858000" y="3950208"/>
            <a:ext cx="2377440" cy="237744"/>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Lê Minh Trí</a:t>
            </a:r>
            <a:endParaRPr lang="en-US" sz="1200" dirty="0"/>
          </a:p>
        </p:txBody>
      </p:sp>
      <p:sp>
        <p:nvSpPr>
          <p:cNvPr id="8" name="Text 6"/>
          <p:cNvSpPr txBox="1"/>
          <p:nvPr/>
        </p:nvSpPr>
        <p:spPr>
          <a:xfrm>
            <a:off x="9281160" y="3968496"/>
            <a:ext cx="2377440" cy="219456"/>
          </a:xfrm>
          <a:prstGeom prst="rect">
            <a:avLst/>
          </a:prstGeom>
          <a:noFill/>
          <a:ln/>
        </p:spPr>
        <p:txBody>
          <a:bodyPr wrap="square" lIns="0" tIns="0" rIns="0" bIns="0" rtlCol="0" anchor="t"/>
          <a:lstStyle/>
          <a:p>
            <a:pPr marL="0" indent="0">
              <a:buNone/>
            </a:pPr>
            <a:r>
              <a:rPr lang="en-US" sz="1000" dirty="0">
                <a:solidFill>
                  <a:srgbClr val="D9A227"/>
                </a:solidFill>
                <a:latin typeface="Calibri" pitchFamily="34" charset="0"/>
                <a:ea typeface="Calibri" pitchFamily="34" charset="-122"/>
                <a:cs typeface="Calibri" pitchFamily="34" charset="-120"/>
              </a:rPr>
              <a:t>25210225  ·  Nhóm trưởng</a:t>
            </a:r>
            <a:endParaRPr lang="en-US" sz="1000" dirty="0"/>
          </a:p>
        </p:txBody>
      </p:sp>
      <p:sp>
        <p:nvSpPr>
          <p:cNvPr id="9" name="Text 7"/>
          <p:cNvSpPr txBox="1"/>
          <p:nvPr/>
        </p:nvSpPr>
        <p:spPr>
          <a:xfrm>
            <a:off x="6858000" y="4352544"/>
            <a:ext cx="2377440" cy="237744"/>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Mai Thị Anh Đào</a:t>
            </a:r>
            <a:endParaRPr lang="en-US" sz="1200" dirty="0"/>
          </a:p>
        </p:txBody>
      </p:sp>
      <p:sp>
        <p:nvSpPr>
          <p:cNvPr id="10" name="Text 8"/>
          <p:cNvSpPr txBox="1"/>
          <p:nvPr/>
        </p:nvSpPr>
        <p:spPr>
          <a:xfrm>
            <a:off x="9281160" y="4370832"/>
            <a:ext cx="2377440" cy="219456"/>
          </a:xfrm>
          <a:prstGeom prst="rect">
            <a:avLst/>
          </a:prstGeom>
          <a:noFill/>
          <a:ln/>
        </p:spPr>
        <p:txBody>
          <a:bodyPr wrap="square" lIns="0" tIns="0" rIns="0" bIns="0" rtlCol="0" anchor="t"/>
          <a:lstStyle/>
          <a:p>
            <a:pPr marL="0" indent="0">
              <a:buNone/>
            </a:pPr>
            <a:r>
              <a:rPr lang="en-US" sz="1000" dirty="0">
                <a:solidFill>
                  <a:srgbClr val="D9A227"/>
                </a:solidFill>
                <a:latin typeface="Calibri" pitchFamily="34" charset="0"/>
                <a:ea typeface="Calibri" pitchFamily="34" charset="-122"/>
                <a:cs typeface="Calibri" pitchFamily="34" charset="-120"/>
              </a:rPr>
              <a:t>25210078</a:t>
            </a:r>
            <a:endParaRPr lang="en-US" sz="1000" dirty="0"/>
          </a:p>
        </p:txBody>
      </p:sp>
      <p:sp>
        <p:nvSpPr>
          <p:cNvPr id="11" name="Text 9"/>
          <p:cNvSpPr txBox="1"/>
          <p:nvPr/>
        </p:nvSpPr>
        <p:spPr>
          <a:xfrm>
            <a:off x="6858000" y="4754880"/>
            <a:ext cx="2377440" cy="237744"/>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Tăng Vĩ Thái</a:t>
            </a:r>
            <a:endParaRPr lang="en-US" sz="1200" dirty="0"/>
          </a:p>
        </p:txBody>
      </p:sp>
      <p:sp>
        <p:nvSpPr>
          <p:cNvPr id="12" name="Text 10"/>
          <p:cNvSpPr txBox="1"/>
          <p:nvPr/>
        </p:nvSpPr>
        <p:spPr>
          <a:xfrm>
            <a:off x="9281160" y="4773168"/>
            <a:ext cx="2377440" cy="219456"/>
          </a:xfrm>
          <a:prstGeom prst="rect">
            <a:avLst/>
          </a:prstGeom>
          <a:noFill/>
          <a:ln/>
        </p:spPr>
        <p:txBody>
          <a:bodyPr wrap="square" lIns="0" tIns="0" rIns="0" bIns="0" rtlCol="0" anchor="t"/>
          <a:lstStyle/>
          <a:p>
            <a:pPr marL="0" indent="0">
              <a:buNone/>
            </a:pPr>
            <a:r>
              <a:rPr lang="en-US" sz="1000" dirty="0">
                <a:solidFill>
                  <a:srgbClr val="D9A227"/>
                </a:solidFill>
                <a:latin typeface="Calibri" pitchFamily="34" charset="0"/>
                <a:ea typeface="Calibri" pitchFamily="34" charset="-122"/>
                <a:cs typeface="Calibri" pitchFamily="34" charset="-120"/>
              </a:rPr>
              <a:t>25210191</a:t>
            </a:r>
            <a:endParaRPr lang="en-US" sz="1000" dirty="0"/>
          </a:p>
        </p:txBody>
      </p:sp>
      <p:sp>
        <p:nvSpPr>
          <p:cNvPr id="13" name="Text 11"/>
          <p:cNvSpPr txBox="1"/>
          <p:nvPr/>
        </p:nvSpPr>
        <p:spPr>
          <a:xfrm>
            <a:off x="6858000" y="5157216"/>
            <a:ext cx="2377440" cy="237744"/>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Nguyễn Đăng Huy</a:t>
            </a:r>
            <a:endParaRPr lang="en-US" sz="1200" dirty="0"/>
          </a:p>
        </p:txBody>
      </p:sp>
      <p:sp>
        <p:nvSpPr>
          <p:cNvPr id="14" name="Text 12"/>
          <p:cNvSpPr txBox="1"/>
          <p:nvPr/>
        </p:nvSpPr>
        <p:spPr>
          <a:xfrm>
            <a:off x="9281160" y="5175504"/>
            <a:ext cx="2377440" cy="219456"/>
          </a:xfrm>
          <a:prstGeom prst="rect">
            <a:avLst/>
          </a:prstGeom>
          <a:noFill/>
          <a:ln/>
        </p:spPr>
        <p:txBody>
          <a:bodyPr wrap="square" lIns="0" tIns="0" rIns="0" bIns="0" rtlCol="0" anchor="t"/>
          <a:lstStyle/>
          <a:p>
            <a:pPr marL="0" indent="0">
              <a:buNone/>
            </a:pPr>
            <a:r>
              <a:rPr lang="en-US" sz="1000" dirty="0">
                <a:solidFill>
                  <a:srgbClr val="D9A227"/>
                </a:solidFill>
                <a:latin typeface="Calibri" pitchFamily="34" charset="0"/>
                <a:ea typeface="Calibri" pitchFamily="34" charset="-122"/>
                <a:cs typeface="Calibri" pitchFamily="34" charset="-120"/>
              </a:rPr>
              <a:t>25210111</a:t>
            </a:r>
            <a:endParaRPr lang="en-US" sz="1000" dirty="0"/>
          </a:p>
        </p:txBody>
      </p:sp>
      <p:sp>
        <p:nvSpPr>
          <p:cNvPr id="15" name="Text 1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16" name="Text 14"/>
          <p:cNvSpPr txBox="1"/>
          <p:nvPr/>
        </p:nvSpPr>
        <p:spPr>
          <a:xfrm>
            <a:off x="11247120" y="6419088"/>
            <a:ext cx="393192" cy="237744"/>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AGENDA</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NỘI DUNG TRÌNH BÀY</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Sáu chương theo cấu trúc báo cáo — trọng tâm là quy trình PYC thuộc nhóm Cốt lõi</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a:t>
            </a:r>
            <a:endParaRPr lang="en-US" sz="1100" dirty="0"/>
          </a:p>
        </p:txBody>
      </p:sp>
      <p:sp>
        <p:nvSpPr>
          <p:cNvPr id="8" name="Shape 6"/>
          <p:cNvSpPr/>
          <p:nvPr/>
        </p:nvSpPr>
        <p:spPr>
          <a:xfrm>
            <a:off x="548640" y="1572768"/>
            <a:ext cx="5410048" cy="1371600"/>
          </a:xfrm>
          <a:prstGeom prst="roundRect">
            <a:avLst>
              <a:gd name="adj" fmla="val 4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49808" y="1737360"/>
            <a:ext cx="640080" cy="384048"/>
          </a:xfrm>
          <a:prstGeom prst="rect">
            <a:avLst/>
          </a:prstGeom>
          <a:noFill/>
          <a:ln/>
        </p:spPr>
        <p:txBody>
          <a:bodyPr wrap="square" lIns="0" tIns="0" rIns="0" bIns="0" rtlCol="0" anchor="t"/>
          <a:lstStyle/>
          <a:p>
            <a:pPr marL="0" indent="0">
              <a:buNone/>
            </a:pPr>
            <a:r>
              <a:rPr lang="en-US" sz="2400" b="1" dirty="0">
                <a:solidFill>
                  <a:srgbClr val="1660BF"/>
                </a:solidFill>
                <a:latin typeface="Calibri" pitchFamily="34" charset="0"/>
                <a:ea typeface="Calibri" pitchFamily="34" charset="-122"/>
                <a:cs typeface="Calibri" pitchFamily="34" charset="-120"/>
              </a:rPr>
              <a:t>01</a:t>
            </a:r>
            <a:endParaRPr lang="en-US" sz="2400" dirty="0"/>
          </a:p>
        </p:txBody>
      </p:sp>
      <p:sp>
        <p:nvSpPr>
          <p:cNvPr id="10" name="Text 8"/>
          <p:cNvSpPr txBox="1"/>
          <p:nvPr/>
        </p:nvSpPr>
        <p:spPr>
          <a:xfrm>
            <a:off x="4769968" y="1773936"/>
            <a:ext cx="1005840" cy="219456"/>
          </a:xfrm>
          <a:prstGeom prst="rect">
            <a:avLst/>
          </a:prstGeom>
          <a:noFill/>
          <a:ln/>
        </p:spPr>
        <p:txBody>
          <a:bodyPr wrap="square" lIns="0" tIns="0" rIns="0" bIns="0" rtlCol="0" anchor="t"/>
          <a:lstStyle/>
          <a:p>
            <a:pPr marL="0" indent="0" algn="r">
              <a:buNone/>
            </a:pPr>
            <a:r>
              <a:rPr lang="en-US" sz="950" b="1" dirty="0">
                <a:solidFill>
                  <a:srgbClr val="6E7A88"/>
                </a:solidFill>
                <a:latin typeface="Calibri" pitchFamily="34" charset="0"/>
                <a:ea typeface="Calibri" pitchFamily="34" charset="-122"/>
                <a:cs typeface="Calibri" pitchFamily="34" charset="-120"/>
              </a:rPr>
              <a:t>Chương 1</a:t>
            </a:r>
            <a:endParaRPr lang="en-US" sz="950" dirty="0"/>
          </a:p>
        </p:txBody>
      </p:sp>
      <p:sp>
        <p:nvSpPr>
          <p:cNvPr id="11" name="Text 9"/>
          <p:cNvSpPr txBox="1"/>
          <p:nvPr/>
        </p:nvSpPr>
        <p:spPr>
          <a:xfrm>
            <a:off x="1417320" y="1773936"/>
            <a:ext cx="3306928"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TỔNG QUAN &amp; KIẾN TRÚC QUY TRÌNH</a:t>
            </a:r>
            <a:endParaRPr lang="en-US" sz="1200" dirty="0"/>
          </a:p>
        </p:txBody>
      </p:sp>
      <p:sp>
        <p:nvSpPr>
          <p:cNvPr id="12" name="Text 10"/>
          <p:cNvSpPr txBox="1"/>
          <p:nvPr/>
        </p:nvSpPr>
        <p:spPr>
          <a:xfrm>
            <a:off x="1417320" y="2121408"/>
            <a:ext cx="4312768" cy="658368"/>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Khối CNTT Sacombank, danh mục 10 quy trình và kiến trúc ba tầng.</a:t>
            </a:r>
            <a:endParaRPr lang="en-US" sz="1000" dirty="0"/>
          </a:p>
        </p:txBody>
      </p:sp>
      <p:sp>
        <p:nvSpPr>
          <p:cNvPr id="13" name="Shape 11"/>
          <p:cNvSpPr/>
          <p:nvPr/>
        </p:nvSpPr>
        <p:spPr>
          <a:xfrm>
            <a:off x="6233008" y="1572768"/>
            <a:ext cx="5410048" cy="1371600"/>
          </a:xfrm>
          <a:prstGeom prst="roundRect">
            <a:avLst>
              <a:gd name="adj" fmla="val 4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4" name="Text 12"/>
          <p:cNvSpPr txBox="1"/>
          <p:nvPr/>
        </p:nvSpPr>
        <p:spPr>
          <a:xfrm>
            <a:off x="6434176" y="1737360"/>
            <a:ext cx="640080" cy="384048"/>
          </a:xfrm>
          <a:prstGeom prst="rect">
            <a:avLst/>
          </a:prstGeom>
          <a:noFill/>
          <a:ln/>
        </p:spPr>
        <p:txBody>
          <a:bodyPr wrap="square" lIns="0" tIns="0" rIns="0" bIns="0" rtlCol="0" anchor="t"/>
          <a:lstStyle/>
          <a:p>
            <a:pPr marL="0" indent="0">
              <a:buNone/>
            </a:pPr>
            <a:r>
              <a:rPr lang="en-US" sz="2400" b="1" dirty="0">
                <a:solidFill>
                  <a:srgbClr val="1660BF"/>
                </a:solidFill>
                <a:latin typeface="Calibri" pitchFamily="34" charset="0"/>
                <a:ea typeface="Calibri" pitchFamily="34" charset="-122"/>
                <a:cs typeface="Calibri" pitchFamily="34" charset="-120"/>
              </a:rPr>
              <a:t>02</a:t>
            </a:r>
            <a:endParaRPr lang="en-US" sz="2400" dirty="0"/>
          </a:p>
        </p:txBody>
      </p:sp>
      <p:sp>
        <p:nvSpPr>
          <p:cNvPr id="15" name="Text 13"/>
          <p:cNvSpPr txBox="1"/>
          <p:nvPr/>
        </p:nvSpPr>
        <p:spPr>
          <a:xfrm>
            <a:off x="10454335" y="1773936"/>
            <a:ext cx="1005840" cy="219456"/>
          </a:xfrm>
          <a:prstGeom prst="rect">
            <a:avLst/>
          </a:prstGeom>
          <a:noFill/>
          <a:ln/>
        </p:spPr>
        <p:txBody>
          <a:bodyPr wrap="square" lIns="0" tIns="0" rIns="0" bIns="0" rtlCol="0" anchor="t"/>
          <a:lstStyle/>
          <a:p>
            <a:pPr marL="0" indent="0" algn="r">
              <a:buNone/>
            </a:pPr>
            <a:r>
              <a:rPr lang="en-US" sz="950" b="1" dirty="0">
                <a:solidFill>
                  <a:srgbClr val="6E7A88"/>
                </a:solidFill>
                <a:latin typeface="Calibri" pitchFamily="34" charset="0"/>
                <a:ea typeface="Calibri" pitchFamily="34" charset="-122"/>
                <a:cs typeface="Calibri" pitchFamily="34" charset="-120"/>
              </a:rPr>
              <a:t>Chương 2</a:t>
            </a:r>
            <a:endParaRPr lang="en-US" sz="950" dirty="0"/>
          </a:p>
        </p:txBody>
      </p:sp>
      <p:sp>
        <p:nvSpPr>
          <p:cNvPr id="16" name="Text 14"/>
          <p:cNvSpPr txBox="1"/>
          <p:nvPr/>
        </p:nvSpPr>
        <p:spPr>
          <a:xfrm>
            <a:off x="7101688" y="1773936"/>
            <a:ext cx="3306928"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PHƯƠNG PHÁP THỰC HIỆN</a:t>
            </a:r>
            <a:endParaRPr lang="en-US" sz="1200" dirty="0"/>
          </a:p>
        </p:txBody>
      </p:sp>
      <p:sp>
        <p:nvSpPr>
          <p:cNvPr id="17" name="Text 15"/>
          <p:cNvSpPr txBox="1"/>
          <p:nvPr/>
        </p:nvSpPr>
        <p:spPr>
          <a:xfrm>
            <a:off x="7101688" y="2121408"/>
            <a:ext cx="4312768" cy="658368"/>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Khám phá quy trình dựa trên bằng chứng và bộ 20 câu hỏi phỏng vấn.</a:t>
            </a:r>
            <a:endParaRPr lang="en-US" sz="1000" dirty="0"/>
          </a:p>
        </p:txBody>
      </p:sp>
      <p:sp>
        <p:nvSpPr>
          <p:cNvPr id="18" name="Shape 16"/>
          <p:cNvSpPr/>
          <p:nvPr/>
        </p:nvSpPr>
        <p:spPr>
          <a:xfrm>
            <a:off x="548640" y="3145536"/>
            <a:ext cx="5410048" cy="1371600"/>
          </a:xfrm>
          <a:prstGeom prst="roundRect">
            <a:avLst>
              <a:gd name="adj" fmla="val 4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9" name="Text 17"/>
          <p:cNvSpPr txBox="1"/>
          <p:nvPr/>
        </p:nvSpPr>
        <p:spPr>
          <a:xfrm>
            <a:off x="749808" y="3310128"/>
            <a:ext cx="640080" cy="384048"/>
          </a:xfrm>
          <a:prstGeom prst="rect">
            <a:avLst/>
          </a:prstGeom>
          <a:noFill/>
          <a:ln/>
        </p:spPr>
        <p:txBody>
          <a:bodyPr wrap="square" lIns="0" tIns="0" rIns="0" bIns="0" rtlCol="0" anchor="t"/>
          <a:lstStyle/>
          <a:p>
            <a:pPr marL="0" indent="0">
              <a:buNone/>
            </a:pPr>
            <a:r>
              <a:rPr lang="en-US" sz="2400" b="1" dirty="0">
                <a:solidFill>
                  <a:srgbClr val="1660BF"/>
                </a:solidFill>
                <a:latin typeface="Calibri" pitchFamily="34" charset="0"/>
                <a:ea typeface="Calibri" pitchFamily="34" charset="-122"/>
                <a:cs typeface="Calibri" pitchFamily="34" charset="-120"/>
              </a:rPr>
              <a:t>03</a:t>
            </a:r>
            <a:endParaRPr lang="en-US" sz="2400" dirty="0"/>
          </a:p>
        </p:txBody>
      </p:sp>
      <p:sp>
        <p:nvSpPr>
          <p:cNvPr id="20" name="Text 18"/>
          <p:cNvSpPr txBox="1"/>
          <p:nvPr/>
        </p:nvSpPr>
        <p:spPr>
          <a:xfrm>
            <a:off x="4769968" y="3346704"/>
            <a:ext cx="1005840" cy="219456"/>
          </a:xfrm>
          <a:prstGeom prst="rect">
            <a:avLst/>
          </a:prstGeom>
          <a:noFill/>
          <a:ln/>
        </p:spPr>
        <p:txBody>
          <a:bodyPr wrap="square" lIns="0" tIns="0" rIns="0" bIns="0" rtlCol="0" anchor="t"/>
          <a:lstStyle/>
          <a:p>
            <a:pPr marL="0" indent="0" algn="r">
              <a:buNone/>
            </a:pPr>
            <a:r>
              <a:rPr lang="en-US" sz="950" b="1" dirty="0">
                <a:solidFill>
                  <a:srgbClr val="6E7A88"/>
                </a:solidFill>
                <a:latin typeface="Calibri" pitchFamily="34" charset="0"/>
                <a:ea typeface="Calibri" pitchFamily="34" charset="-122"/>
                <a:cs typeface="Calibri" pitchFamily="34" charset="-120"/>
              </a:rPr>
              <a:t>Chương 3</a:t>
            </a:r>
            <a:endParaRPr lang="en-US" sz="950" dirty="0"/>
          </a:p>
        </p:txBody>
      </p:sp>
      <p:sp>
        <p:nvSpPr>
          <p:cNvPr id="21" name="Text 19"/>
          <p:cNvSpPr txBox="1"/>
          <p:nvPr/>
        </p:nvSpPr>
        <p:spPr>
          <a:xfrm>
            <a:off x="1417320" y="3346704"/>
            <a:ext cx="3306928"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MÔ HÌNH HÓA AS-IS BẰNG BPMN 2.0</a:t>
            </a:r>
            <a:endParaRPr lang="en-US" sz="1200" dirty="0"/>
          </a:p>
        </p:txBody>
      </p:sp>
      <p:sp>
        <p:nvSpPr>
          <p:cNvPr id="22" name="Text 20"/>
          <p:cNvSpPr txBox="1"/>
          <p:nvPr/>
        </p:nvSpPr>
        <p:spPr>
          <a:xfrm>
            <a:off x="1417320" y="3694176"/>
            <a:ext cx="4312768" cy="658368"/>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Sáu mô hình BPMN hiện trạng và bảng đánh giá độ phức tạp.</a:t>
            </a:r>
            <a:endParaRPr lang="en-US" sz="1000" dirty="0"/>
          </a:p>
        </p:txBody>
      </p:sp>
      <p:sp>
        <p:nvSpPr>
          <p:cNvPr id="23" name="Shape 21"/>
          <p:cNvSpPr/>
          <p:nvPr/>
        </p:nvSpPr>
        <p:spPr>
          <a:xfrm>
            <a:off x="6233008" y="3145536"/>
            <a:ext cx="5410048" cy="1371600"/>
          </a:xfrm>
          <a:prstGeom prst="roundRect">
            <a:avLst>
              <a:gd name="adj" fmla="val 4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4" name="Text 22"/>
          <p:cNvSpPr txBox="1"/>
          <p:nvPr/>
        </p:nvSpPr>
        <p:spPr>
          <a:xfrm>
            <a:off x="6434176" y="3310128"/>
            <a:ext cx="640080" cy="384048"/>
          </a:xfrm>
          <a:prstGeom prst="rect">
            <a:avLst/>
          </a:prstGeom>
          <a:noFill/>
          <a:ln/>
        </p:spPr>
        <p:txBody>
          <a:bodyPr wrap="square" lIns="0" tIns="0" rIns="0" bIns="0" rtlCol="0" anchor="t"/>
          <a:lstStyle/>
          <a:p>
            <a:pPr marL="0" indent="0">
              <a:buNone/>
            </a:pPr>
            <a:r>
              <a:rPr lang="en-US" sz="2400" b="1" dirty="0">
                <a:solidFill>
                  <a:srgbClr val="1660BF"/>
                </a:solidFill>
                <a:latin typeface="Calibri" pitchFamily="34" charset="0"/>
                <a:ea typeface="Calibri" pitchFamily="34" charset="-122"/>
                <a:cs typeface="Calibri" pitchFamily="34" charset="-120"/>
              </a:rPr>
              <a:t>04</a:t>
            </a:r>
            <a:endParaRPr lang="en-US" sz="2400" dirty="0"/>
          </a:p>
        </p:txBody>
      </p:sp>
      <p:sp>
        <p:nvSpPr>
          <p:cNvPr id="25" name="Text 23"/>
          <p:cNvSpPr txBox="1"/>
          <p:nvPr/>
        </p:nvSpPr>
        <p:spPr>
          <a:xfrm>
            <a:off x="10454335" y="3346704"/>
            <a:ext cx="1005840" cy="219456"/>
          </a:xfrm>
          <a:prstGeom prst="rect">
            <a:avLst/>
          </a:prstGeom>
          <a:noFill/>
          <a:ln/>
        </p:spPr>
        <p:txBody>
          <a:bodyPr wrap="square" lIns="0" tIns="0" rIns="0" bIns="0" rtlCol="0" anchor="t"/>
          <a:lstStyle/>
          <a:p>
            <a:pPr marL="0" indent="0" algn="r">
              <a:buNone/>
            </a:pPr>
            <a:r>
              <a:rPr lang="en-US" sz="950" b="1" dirty="0">
                <a:solidFill>
                  <a:srgbClr val="6E7A88"/>
                </a:solidFill>
                <a:latin typeface="Calibri" pitchFamily="34" charset="0"/>
                <a:ea typeface="Calibri" pitchFamily="34" charset="-122"/>
                <a:cs typeface="Calibri" pitchFamily="34" charset="-120"/>
              </a:rPr>
              <a:t>Chương 4</a:t>
            </a:r>
            <a:endParaRPr lang="en-US" sz="950" dirty="0"/>
          </a:p>
        </p:txBody>
      </p:sp>
      <p:sp>
        <p:nvSpPr>
          <p:cNvPr id="26" name="Text 24"/>
          <p:cNvSpPr txBox="1"/>
          <p:nvPr/>
        </p:nvSpPr>
        <p:spPr>
          <a:xfrm>
            <a:off x="7101688" y="3346704"/>
            <a:ext cx="3306928"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PHÂN TÍCH HIỆU SUẤT QUY TRÌNH</a:t>
            </a:r>
            <a:endParaRPr lang="en-US" sz="1200" dirty="0"/>
          </a:p>
        </p:txBody>
      </p:sp>
      <p:sp>
        <p:nvSpPr>
          <p:cNvPr id="27" name="Text 25"/>
          <p:cNvSpPr txBox="1"/>
          <p:nvPr/>
        </p:nvSpPr>
        <p:spPr>
          <a:xfrm>
            <a:off x="7101688" y="3694176"/>
            <a:ext cx="4312768" cy="658368"/>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Định tính VA–NVA–VBA, lãng phí Move–Hold–Overdo và định lượng thời gian.</a:t>
            </a:r>
            <a:endParaRPr lang="en-US" sz="1000" dirty="0"/>
          </a:p>
        </p:txBody>
      </p:sp>
      <p:sp>
        <p:nvSpPr>
          <p:cNvPr id="28" name="Shape 26"/>
          <p:cNvSpPr/>
          <p:nvPr/>
        </p:nvSpPr>
        <p:spPr>
          <a:xfrm>
            <a:off x="548640" y="4718304"/>
            <a:ext cx="5410048" cy="1371600"/>
          </a:xfrm>
          <a:prstGeom prst="roundRect">
            <a:avLst>
              <a:gd name="adj" fmla="val 4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9" name="Text 27"/>
          <p:cNvSpPr txBox="1"/>
          <p:nvPr/>
        </p:nvSpPr>
        <p:spPr>
          <a:xfrm>
            <a:off x="749808" y="4882896"/>
            <a:ext cx="640080" cy="384048"/>
          </a:xfrm>
          <a:prstGeom prst="rect">
            <a:avLst/>
          </a:prstGeom>
          <a:noFill/>
          <a:ln/>
        </p:spPr>
        <p:txBody>
          <a:bodyPr wrap="square" lIns="0" tIns="0" rIns="0" bIns="0" rtlCol="0" anchor="t"/>
          <a:lstStyle/>
          <a:p>
            <a:pPr marL="0" indent="0">
              <a:buNone/>
            </a:pPr>
            <a:r>
              <a:rPr lang="en-US" sz="2400" b="1" dirty="0">
                <a:solidFill>
                  <a:srgbClr val="1660BF"/>
                </a:solidFill>
                <a:latin typeface="Calibri" pitchFamily="34" charset="0"/>
                <a:ea typeface="Calibri" pitchFamily="34" charset="-122"/>
                <a:cs typeface="Calibri" pitchFamily="34" charset="-120"/>
              </a:rPr>
              <a:t>05</a:t>
            </a:r>
            <a:endParaRPr lang="en-US" sz="2400" dirty="0"/>
          </a:p>
        </p:txBody>
      </p:sp>
      <p:sp>
        <p:nvSpPr>
          <p:cNvPr id="30" name="Text 28"/>
          <p:cNvSpPr txBox="1"/>
          <p:nvPr/>
        </p:nvSpPr>
        <p:spPr>
          <a:xfrm>
            <a:off x="4769968" y="4919472"/>
            <a:ext cx="1005840" cy="219456"/>
          </a:xfrm>
          <a:prstGeom prst="rect">
            <a:avLst/>
          </a:prstGeom>
          <a:noFill/>
          <a:ln/>
        </p:spPr>
        <p:txBody>
          <a:bodyPr wrap="square" lIns="0" tIns="0" rIns="0" bIns="0" rtlCol="0" anchor="t"/>
          <a:lstStyle/>
          <a:p>
            <a:pPr marL="0" indent="0" algn="r">
              <a:buNone/>
            </a:pPr>
            <a:r>
              <a:rPr lang="en-US" sz="950" b="1" dirty="0">
                <a:solidFill>
                  <a:srgbClr val="6E7A88"/>
                </a:solidFill>
                <a:latin typeface="Calibri" pitchFamily="34" charset="0"/>
                <a:ea typeface="Calibri" pitchFamily="34" charset="-122"/>
                <a:cs typeface="Calibri" pitchFamily="34" charset="-120"/>
              </a:rPr>
              <a:t>Chương 5</a:t>
            </a:r>
            <a:endParaRPr lang="en-US" sz="950" dirty="0"/>
          </a:p>
        </p:txBody>
      </p:sp>
      <p:sp>
        <p:nvSpPr>
          <p:cNvPr id="31" name="Text 29"/>
          <p:cNvSpPr txBox="1"/>
          <p:nvPr/>
        </p:nvSpPr>
        <p:spPr>
          <a:xfrm>
            <a:off x="1417320" y="4919472"/>
            <a:ext cx="3306928"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GIẢI PHÁP CẢI TIẾN &amp; MÔ HÌNH TO-BE</a:t>
            </a:r>
            <a:endParaRPr lang="en-US" sz="1200" dirty="0"/>
          </a:p>
        </p:txBody>
      </p:sp>
      <p:sp>
        <p:nvSpPr>
          <p:cNvPr id="32" name="Text 30"/>
          <p:cNvSpPr txBox="1"/>
          <p:nvPr/>
        </p:nvSpPr>
        <p:spPr>
          <a:xfrm>
            <a:off x="1417320" y="5266944"/>
            <a:ext cx="4312768" cy="658368"/>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Ba giải pháp cải tiến và so sánh chỉ số vận hành AS-IS – TO-BE.</a:t>
            </a:r>
            <a:endParaRPr lang="en-US" sz="1000" dirty="0"/>
          </a:p>
        </p:txBody>
      </p:sp>
      <p:sp>
        <p:nvSpPr>
          <p:cNvPr id="33" name="Shape 31"/>
          <p:cNvSpPr/>
          <p:nvPr/>
        </p:nvSpPr>
        <p:spPr>
          <a:xfrm>
            <a:off x="6233008" y="4718304"/>
            <a:ext cx="5410048" cy="1371600"/>
          </a:xfrm>
          <a:prstGeom prst="roundRect">
            <a:avLst>
              <a:gd name="adj" fmla="val 4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4" name="Text 32"/>
          <p:cNvSpPr txBox="1"/>
          <p:nvPr/>
        </p:nvSpPr>
        <p:spPr>
          <a:xfrm>
            <a:off x="6434176" y="4882896"/>
            <a:ext cx="640080" cy="384048"/>
          </a:xfrm>
          <a:prstGeom prst="rect">
            <a:avLst/>
          </a:prstGeom>
          <a:noFill/>
          <a:ln/>
        </p:spPr>
        <p:txBody>
          <a:bodyPr wrap="square" lIns="0" tIns="0" rIns="0" bIns="0" rtlCol="0" anchor="t"/>
          <a:lstStyle/>
          <a:p>
            <a:pPr marL="0" indent="0">
              <a:buNone/>
            </a:pPr>
            <a:r>
              <a:rPr lang="en-US" sz="2400" b="1" dirty="0">
                <a:solidFill>
                  <a:srgbClr val="1660BF"/>
                </a:solidFill>
                <a:latin typeface="Calibri" pitchFamily="34" charset="0"/>
                <a:ea typeface="Calibri" pitchFamily="34" charset="-122"/>
                <a:cs typeface="Calibri" pitchFamily="34" charset="-120"/>
              </a:rPr>
              <a:t>06</a:t>
            </a:r>
            <a:endParaRPr lang="en-US" sz="2400" dirty="0"/>
          </a:p>
        </p:txBody>
      </p:sp>
      <p:sp>
        <p:nvSpPr>
          <p:cNvPr id="35" name="Text 33"/>
          <p:cNvSpPr txBox="1"/>
          <p:nvPr/>
        </p:nvSpPr>
        <p:spPr>
          <a:xfrm>
            <a:off x="10454335" y="4919472"/>
            <a:ext cx="1005840" cy="219456"/>
          </a:xfrm>
          <a:prstGeom prst="rect">
            <a:avLst/>
          </a:prstGeom>
          <a:noFill/>
          <a:ln/>
        </p:spPr>
        <p:txBody>
          <a:bodyPr wrap="square" lIns="0" tIns="0" rIns="0" bIns="0" rtlCol="0" anchor="t"/>
          <a:lstStyle/>
          <a:p>
            <a:pPr marL="0" indent="0" algn="r">
              <a:buNone/>
            </a:pPr>
            <a:r>
              <a:rPr lang="en-US" sz="950" b="1" dirty="0">
                <a:solidFill>
                  <a:srgbClr val="6E7A88"/>
                </a:solidFill>
                <a:latin typeface="Calibri" pitchFamily="34" charset="0"/>
                <a:ea typeface="Calibri" pitchFamily="34" charset="-122"/>
                <a:cs typeface="Calibri" pitchFamily="34" charset="-120"/>
              </a:rPr>
              <a:t>Chương 6</a:t>
            </a:r>
            <a:endParaRPr lang="en-US" sz="950" dirty="0"/>
          </a:p>
        </p:txBody>
      </p:sp>
      <p:sp>
        <p:nvSpPr>
          <p:cNvPr id="36" name="Text 34"/>
          <p:cNvSpPr txBox="1"/>
          <p:nvPr/>
        </p:nvSpPr>
        <p:spPr>
          <a:xfrm>
            <a:off x="7101688" y="4919472"/>
            <a:ext cx="3306928"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KẾT LUẬN &amp; HƯỚNG PHÁT TRIỂN</a:t>
            </a:r>
            <a:endParaRPr lang="en-US" sz="1200" dirty="0"/>
          </a:p>
        </p:txBody>
      </p:sp>
      <p:sp>
        <p:nvSpPr>
          <p:cNvPr id="37" name="Text 35"/>
          <p:cNvSpPr txBox="1"/>
          <p:nvPr/>
        </p:nvSpPr>
        <p:spPr>
          <a:xfrm>
            <a:off x="7101688" y="5266944"/>
            <a:ext cx="4312768" cy="658368"/>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Kết quả đạt được, ba hạn chế và ba hướng phát triển tiếp theo.</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marL="0" indent="0">
              <a:buNone/>
            </a:pPr>
            <a:r>
              <a:rPr lang="en-US" sz="6600" b="1" dirty="0">
                <a:solidFill>
                  <a:srgbClr val="D9A227"/>
                </a:solidFill>
                <a:latin typeface="Calibri" pitchFamily="34" charset="0"/>
                <a:ea typeface="Calibri" pitchFamily="34" charset="-122"/>
                <a:cs typeface="Calibri" pitchFamily="34" charset="-120"/>
              </a:rPr>
              <a:t>01</a:t>
            </a:r>
            <a:endParaRPr lang="en-US" sz="6600" dirty="0"/>
          </a:p>
        </p:txBody>
      </p:sp>
      <p:sp>
        <p:nvSpPr>
          <p:cNvPr id="3" name="Text 1"/>
          <p:cNvSpPr txBox="1"/>
          <p:nvPr/>
        </p:nvSpPr>
        <p:spPr>
          <a:xfrm>
            <a:off x="548640" y="3072384"/>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PHẦN 1 · COMPANY &amp; PROCESS LANDSCAPE</a:t>
            </a:r>
            <a:endParaRPr lang="en-US" sz="1100" dirty="0"/>
          </a:p>
        </p:txBody>
      </p:sp>
      <p:sp>
        <p:nvSpPr>
          <p:cNvPr id="4" name="Text 2"/>
          <p:cNvSpPr txBox="1"/>
          <p:nvPr/>
        </p:nvSpPr>
        <p:spPr>
          <a:xfrm>
            <a:off x="548640" y="3383280"/>
            <a:ext cx="11094415" cy="6400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Tổng quan doanh nghiệp và kiến trúc quy trình</a:t>
            </a:r>
            <a:endParaRPr lang="en-US" sz="3200" dirty="0"/>
          </a:p>
        </p:txBody>
      </p:sp>
      <p:sp>
        <p:nvSpPr>
          <p:cNvPr id="5" name="Text 3"/>
          <p:cNvSpPr txBox="1"/>
          <p:nvPr/>
        </p:nvSpPr>
        <p:spPr>
          <a:xfrm>
            <a:off x="548640" y="4114800"/>
            <a:ext cx="9722815" cy="365760"/>
          </a:xfrm>
          <a:prstGeom prst="rect">
            <a:avLst/>
          </a:prstGeom>
          <a:noFill/>
          <a:ln/>
        </p:spPr>
        <p:txBody>
          <a:bodyPr wrap="square" lIns="0" tIns="0" rIns="0" bIns="0" rtlCol="0" anchor="t"/>
          <a:lstStyle/>
          <a:p>
            <a:pPr marL="0" indent="0">
              <a:buNone/>
            </a:pPr>
            <a:r>
              <a:rPr lang="en-US" sz="1200" dirty="0">
                <a:solidFill>
                  <a:srgbClr val="9BB2D2"/>
                </a:solidFill>
                <a:latin typeface="Calibri" pitchFamily="34" charset="0"/>
                <a:ea typeface="Calibri" pitchFamily="34" charset="-122"/>
                <a:cs typeface="Calibri" pitchFamily="34" charset="-120"/>
              </a:rPr>
              <a:t>Bối cảnh đề tài  ·  Mục tiêu và phạm vi  ·  Danh mục 10 quy trình CNTT  ·  Kiến trúc ba tầng</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MỞ ĐẦU · LÝ DO CHỌN ĐỀ TÀI</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BA ĐIỂM NGHẼN THỰC TẾ CỦA QUY TRÌNH PYC</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Khối CNTT vận hành như một đơn vị cung cấp dịch vụ nội bộ — PYC là điểm chạm thường xuyên nhất với hàng nghìn CBNV</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a:t>
            </a:r>
            <a:endParaRPr lang="en-US" sz="1100" dirty="0"/>
          </a:p>
        </p:txBody>
      </p:sp>
      <p:sp>
        <p:nvSpPr>
          <p:cNvPr id="8" name="Shape 6"/>
          <p:cNvSpPr/>
          <p:nvPr/>
        </p:nvSpPr>
        <p:spPr>
          <a:xfrm>
            <a:off x="548640" y="1481328"/>
            <a:ext cx="3515258" cy="1481328"/>
          </a:xfrm>
          <a:prstGeom prst="roundRect">
            <a:avLst>
              <a:gd name="adj" fmla="val 370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31520" y="1609344"/>
            <a:ext cx="3149498" cy="475488"/>
          </a:xfrm>
          <a:prstGeom prst="rect">
            <a:avLst/>
          </a:prstGeom>
          <a:noFill/>
          <a:ln/>
        </p:spPr>
        <p:txBody>
          <a:bodyPr wrap="square" lIns="0" tIns="0" rIns="0" bIns="0" rtlCol="0" anchor="t"/>
          <a:lstStyle/>
          <a:p>
            <a:pPr marL="0" indent="0">
              <a:buNone/>
            </a:pPr>
            <a:r>
              <a:rPr lang="en-US" sz="3000" b="1" dirty="0">
                <a:solidFill>
                  <a:srgbClr val="1660BF"/>
                </a:solidFill>
                <a:latin typeface="Calibri" pitchFamily="34" charset="0"/>
                <a:ea typeface="Calibri" pitchFamily="34" charset="-122"/>
                <a:cs typeface="Calibri" pitchFamily="34" charset="-120"/>
              </a:rPr>
              <a:t>&gt; 8 giờ</a:t>
            </a:r>
            <a:endParaRPr lang="en-US" sz="3000" dirty="0"/>
          </a:p>
        </p:txBody>
      </p:sp>
      <p:sp>
        <p:nvSpPr>
          <p:cNvPr id="10" name="Text 8"/>
          <p:cNvSpPr txBox="1"/>
          <p:nvPr/>
        </p:nvSpPr>
        <p:spPr>
          <a:xfrm>
            <a:off x="731520" y="2084832"/>
            <a:ext cx="3149498" cy="237744"/>
          </a:xfrm>
          <a:prstGeom prst="rect">
            <a:avLst/>
          </a:prstGeom>
          <a:noFill/>
          <a:ln/>
        </p:spPr>
        <p:txBody>
          <a:bodyPr wrap="square" lIns="0" tIns="0" rIns="0" bIns="0" rtlCol="0" anchor="t"/>
          <a:lstStyle/>
          <a:p>
            <a:pPr marL="0" indent="0">
              <a:buNone/>
            </a:pPr>
            <a:r>
              <a:rPr lang="en-US" sz="950" b="1" kern="0" spc="80" dirty="0">
                <a:solidFill>
                  <a:srgbClr val="0B3B75"/>
                </a:solidFill>
                <a:latin typeface="Calibri" pitchFamily="34" charset="0"/>
                <a:ea typeface="Calibri" pitchFamily="34" charset="-122"/>
                <a:cs typeface="Calibri" pitchFamily="34" charset="-120"/>
              </a:rPr>
              <a:t>CHỜ PHÊ DUYỆT</a:t>
            </a:r>
            <a:endParaRPr lang="en-US" sz="950" dirty="0"/>
          </a:p>
        </p:txBody>
      </p:sp>
      <p:sp>
        <p:nvSpPr>
          <p:cNvPr id="11" name="Text 9"/>
          <p:cNvSpPr txBox="1"/>
          <p:nvPr/>
        </p:nvSpPr>
        <p:spPr>
          <a:xfrm>
            <a:off x="731520" y="2340864"/>
            <a:ext cx="3149498" cy="548640"/>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Yêu cầu thông thường; riêng yêu cầu liên quan hệ thống lõi T24 có thể kéo dài cả tuần.</a:t>
            </a:r>
            <a:endParaRPr lang="en-US" sz="950" dirty="0"/>
          </a:p>
        </p:txBody>
      </p:sp>
      <p:sp>
        <p:nvSpPr>
          <p:cNvPr id="12" name="Shape 10"/>
          <p:cNvSpPr/>
          <p:nvPr/>
        </p:nvSpPr>
        <p:spPr>
          <a:xfrm>
            <a:off x="4338218" y="1481328"/>
            <a:ext cx="3515258" cy="1481328"/>
          </a:xfrm>
          <a:prstGeom prst="roundRect">
            <a:avLst>
              <a:gd name="adj" fmla="val 370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3" name="Text 11"/>
          <p:cNvSpPr txBox="1"/>
          <p:nvPr/>
        </p:nvSpPr>
        <p:spPr>
          <a:xfrm>
            <a:off x="4521098" y="1609344"/>
            <a:ext cx="3149498" cy="475488"/>
          </a:xfrm>
          <a:prstGeom prst="rect">
            <a:avLst/>
          </a:prstGeom>
          <a:noFill/>
          <a:ln/>
        </p:spPr>
        <p:txBody>
          <a:bodyPr wrap="square" lIns="0" tIns="0" rIns="0" bIns="0" rtlCol="0" anchor="t"/>
          <a:lstStyle/>
          <a:p>
            <a:pPr marL="0" indent="0">
              <a:buNone/>
            </a:pPr>
            <a:r>
              <a:rPr lang="en-US" sz="3000" b="1" dirty="0">
                <a:solidFill>
                  <a:srgbClr val="C0392B"/>
                </a:solidFill>
                <a:latin typeface="Calibri" pitchFamily="34" charset="0"/>
                <a:ea typeface="Calibri" pitchFamily="34" charset="-122"/>
                <a:cs typeface="Calibri" pitchFamily="34" charset="-120"/>
              </a:rPr>
              <a:t>5 – 10%</a:t>
            </a:r>
            <a:endParaRPr lang="en-US" sz="3000" dirty="0"/>
          </a:p>
        </p:txBody>
      </p:sp>
      <p:sp>
        <p:nvSpPr>
          <p:cNvPr id="14" name="Text 12"/>
          <p:cNvSpPr txBox="1"/>
          <p:nvPr/>
        </p:nvSpPr>
        <p:spPr>
          <a:xfrm>
            <a:off x="4521098" y="2084832"/>
            <a:ext cx="3149498" cy="237744"/>
          </a:xfrm>
          <a:prstGeom prst="rect">
            <a:avLst/>
          </a:prstGeom>
          <a:noFill/>
          <a:ln/>
        </p:spPr>
        <p:txBody>
          <a:bodyPr wrap="square" lIns="0" tIns="0" rIns="0" bIns="0" rtlCol="0" anchor="t"/>
          <a:lstStyle/>
          <a:p>
            <a:pPr marL="0" indent="0">
              <a:buNone/>
            </a:pPr>
            <a:r>
              <a:rPr lang="en-US" sz="950" b="1" kern="0" spc="80" dirty="0">
                <a:solidFill>
                  <a:srgbClr val="0B3B75"/>
                </a:solidFill>
                <a:latin typeface="Calibri" pitchFamily="34" charset="0"/>
                <a:ea typeface="Calibri" pitchFamily="34" charset="-122"/>
                <a:cs typeface="Calibri" pitchFamily="34" charset="-120"/>
              </a:rPr>
              <a:t>PYC VI PHẠM SLA</a:t>
            </a:r>
            <a:endParaRPr lang="en-US" sz="950" dirty="0"/>
          </a:p>
        </p:txBody>
      </p:sp>
      <p:sp>
        <p:nvSpPr>
          <p:cNvPr id="15" name="Text 13"/>
          <p:cNvSpPr txBox="1"/>
          <p:nvPr/>
        </p:nvSpPr>
        <p:spPr>
          <a:xfrm>
            <a:off x="4521098" y="2340864"/>
            <a:ext cx="3149498" cy="548640"/>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Tỷ lệ trễ hạn cam kết, tăng cao vào mùa cao điểm triển khai dự án hoặc quyết toán hệ thống.</a:t>
            </a:r>
            <a:endParaRPr lang="en-US" sz="950" dirty="0"/>
          </a:p>
        </p:txBody>
      </p:sp>
      <p:sp>
        <p:nvSpPr>
          <p:cNvPr id="16" name="Shape 14"/>
          <p:cNvSpPr/>
          <p:nvPr/>
        </p:nvSpPr>
        <p:spPr>
          <a:xfrm>
            <a:off x="8127797" y="1481328"/>
            <a:ext cx="3515258" cy="1481328"/>
          </a:xfrm>
          <a:prstGeom prst="roundRect">
            <a:avLst>
              <a:gd name="adj" fmla="val 370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7" name="Text 15"/>
          <p:cNvSpPr txBox="1"/>
          <p:nvPr/>
        </p:nvSpPr>
        <p:spPr>
          <a:xfrm>
            <a:off x="8310677" y="1609344"/>
            <a:ext cx="3149498" cy="475488"/>
          </a:xfrm>
          <a:prstGeom prst="rect">
            <a:avLst/>
          </a:prstGeom>
          <a:noFill/>
          <a:ln/>
        </p:spPr>
        <p:txBody>
          <a:bodyPr wrap="square" lIns="0" tIns="0" rIns="0" bIns="0" rtlCol="0" anchor="t"/>
          <a:lstStyle/>
          <a:p>
            <a:pPr marL="0" indent="0">
              <a:buNone/>
            </a:pPr>
            <a:r>
              <a:rPr lang="en-US" sz="3000" b="1" dirty="0">
                <a:solidFill>
                  <a:srgbClr val="A5741A"/>
                </a:solidFill>
                <a:latin typeface="Calibri" pitchFamily="34" charset="0"/>
                <a:ea typeface="Calibri" pitchFamily="34" charset="-122"/>
                <a:cs typeface="Calibri" pitchFamily="34" charset="-120"/>
              </a:rPr>
              <a:t>20 – 50%</a:t>
            </a:r>
            <a:endParaRPr lang="en-US" sz="3000" dirty="0"/>
          </a:p>
        </p:txBody>
      </p:sp>
      <p:sp>
        <p:nvSpPr>
          <p:cNvPr id="18" name="Text 16"/>
          <p:cNvSpPr txBox="1"/>
          <p:nvPr/>
        </p:nvSpPr>
        <p:spPr>
          <a:xfrm>
            <a:off x="8310677" y="2084832"/>
            <a:ext cx="3149498" cy="237744"/>
          </a:xfrm>
          <a:prstGeom prst="rect">
            <a:avLst/>
          </a:prstGeom>
          <a:noFill/>
          <a:ln/>
        </p:spPr>
        <p:txBody>
          <a:bodyPr wrap="square" lIns="0" tIns="0" rIns="0" bIns="0" rtlCol="0" anchor="t"/>
          <a:lstStyle/>
          <a:p>
            <a:pPr marL="0" indent="0">
              <a:buNone/>
            </a:pPr>
            <a:r>
              <a:rPr lang="en-US" sz="950" b="1" kern="0" spc="80" dirty="0">
                <a:solidFill>
                  <a:srgbClr val="0B3B75"/>
                </a:solidFill>
                <a:latin typeface="Calibri" pitchFamily="34" charset="0"/>
                <a:ea typeface="Calibri" pitchFamily="34" charset="-122"/>
                <a:cs typeface="Calibri" pitchFamily="34" charset="-120"/>
              </a:rPr>
              <a:t>HỒ SƠ BỊ TRẢ VỀ</a:t>
            </a:r>
            <a:endParaRPr lang="en-US" sz="950" dirty="0"/>
          </a:p>
        </p:txBody>
      </p:sp>
      <p:sp>
        <p:nvSpPr>
          <p:cNvPr id="19" name="Text 17"/>
          <p:cNvSpPr txBox="1"/>
          <p:nvPr/>
        </p:nvSpPr>
        <p:spPr>
          <a:xfrm>
            <a:off x="8310677" y="2340864"/>
            <a:ext cx="3149498" cy="548640"/>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PYC phải quay lại người dùng để bổ sung thông tin — vòng lặp rework tốn thời gian nhất.</a:t>
            </a:r>
            <a:endParaRPr lang="en-US" sz="950" dirty="0"/>
          </a:p>
        </p:txBody>
      </p:sp>
      <p:sp>
        <p:nvSpPr>
          <p:cNvPr id="20" name="Shape 18"/>
          <p:cNvSpPr/>
          <p:nvPr/>
        </p:nvSpPr>
        <p:spPr>
          <a:xfrm>
            <a:off x="548640" y="3218688"/>
            <a:ext cx="11094415" cy="1207008"/>
          </a:xfrm>
          <a:prstGeom prst="roundRect">
            <a:avLst>
              <a:gd name="adj" fmla="val 454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1" name="Text 19"/>
          <p:cNvSpPr txBox="1"/>
          <p:nvPr/>
        </p:nvSpPr>
        <p:spPr>
          <a:xfrm>
            <a:off x="768096" y="3364992"/>
            <a:ext cx="3657600" cy="237744"/>
          </a:xfrm>
          <a:prstGeom prst="rect">
            <a:avLst/>
          </a:prstGeom>
          <a:noFill/>
          <a:ln/>
        </p:spPr>
        <p:txBody>
          <a:bodyPr wrap="square" lIns="0" tIns="0" rIns="0" bIns="0" rtlCol="0" anchor="t"/>
          <a:lstStyle/>
          <a:p>
            <a:pPr marL="0" indent="0">
              <a:buNone/>
            </a:pPr>
            <a:r>
              <a:rPr lang="en-US" sz="1000" b="1" kern="0" spc="100" dirty="0">
                <a:solidFill>
                  <a:srgbClr val="1660BF"/>
                </a:solidFill>
                <a:latin typeface="Calibri" pitchFamily="34" charset="0"/>
                <a:ea typeface="Calibri" pitchFamily="34" charset="-122"/>
                <a:cs typeface="Calibri" pitchFamily="34" charset="-120"/>
              </a:rPr>
              <a:t>NGUỒN GỐC VẤN ĐỀ</a:t>
            </a:r>
            <a:endParaRPr lang="en-US" sz="1000" dirty="0"/>
          </a:p>
        </p:txBody>
      </p:sp>
      <p:sp>
        <p:nvSpPr>
          <p:cNvPr id="22" name="Text 20"/>
          <p:cNvSpPr txBox="1"/>
          <p:nvPr/>
        </p:nvSpPr>
        <p:spPr>
          <a:xfrm>
            <a:off x="768096" y="3639312"/>
            <a:ext cx="10655503" cy="676656"/>
          </a:xfrm>
          <a:prstGeom prst="rect">
            <a:avLst/>
          </a:prstGeom>
          <a:noFill/>
          <a:ln/>
        </p:spPr>
        <p:txBody>
          <a:bodyPr wrap="square" lIns="0" tIns="0" rIns="0" bIns="0" rtlCol="0" anchor="t"/>
          <a:lstStyle/>
          <a:p>
            <a:pPr marL="0" indent="0">
              <a:buNone/>
            </a:pPr>
            <a:r>
              <a:rPr lang="en-US" sz="1150" dirty="0">
                <a:solidFill>
                  <a:srgbClr val="2A3442"/>
                </a:solidFill>
                <a:latin typeface="Calibri" pitchFamily="34" charset="0"/>
                <a:ea typeface="Calibri" pitchFamily="34" charset="-122"/>
                <a:cs typeface="Calibri" pitchFamily="34" charset="-120"/>
              </a:rPr>
              <a:t>Một quy trình còn nặng tính thủ công, thiếu chuẩn hóa và chưa được mô hình hóa bài bản. Đề tài vận dụng chuẩn BPMN 2.0 kết hợp tư duy quản lý tinh gọn (Lean Management) để phân tích căn nguyên lãng phí và đề xuất mô hình cải tiến TO-BE khả thi cho Khối CNTT Sacombank.</a:t>
            </a:r>
            <a:endParaRPr lang="en-US" sz="1150" dirty="0"/>
          </a:p>
        </p:txBody>
      </p:sp>
      <p:sp>
        <p:nvSpPr>
          <p:cNvPr id="23" name="Text 21"/>
          <p:cNvSpPr txBox="1"/>
          <p:nvPr/>
        </p:nvSpPr>
        <p:spPr>
          <a:xfrm>
            <a:off x="548640" y="4626864"/>
            <a:ext cx="4572000" cy="237744"/>
          </a:xfrm>
          <a:prstGeom prst="rect">
            <a:avLst/>
          </a:prstGeom>
          <a:noFill/>
          <a:ln/>
        </p:spPr>
        <p:txBody>
          <a:bodyPr wrap="square" lIns="0" tIns="0" rIns="0" bIns="0" rtlCol="0" anchor="t"/>
          <a:lstStyle/>
          <a:p>
            <a:pPr marL="0" indent="0">
              <a:buNone/>
            </a:pPr>
            <a:r>
              <a:rPr lang="en-US" sz="1000" b="1" kern="0" spc="100" dirty="0">
                <a:solidFill>
                  <a:srgbClr val="1660BF"/>
                </a:solidFill>
                <a:latin typeface="Calibri" pitchFamily="34" charset="0"/>
                <a:ea typeface="Calibri" pitchFamily="34" charset="-122"/>
                <a:cs typeface="Calibri" pitchFamily="34" charset="-120"/>
              </a:rPr>
              <a:t>ĐỐI TƯỢNG NGHIÊN CỨU</a:t>
            </a:r>
            <a:endParaRPr lang="en-US" sz="1000" dirty="0"/>
          </a:p>
        </p:txBody>
      </p:sp>
      <p:sp>
        <p:nvSpPr>
          <p:cNvPr id="24" name="Text 22"/>
          <p:cNvSpPr txBox="1"/>
          <p:nvPr/>
        </p:nvSpPr>
        <p:spPr>
          <a:xfrm>
            <a:off x="548640" y="4882896"/>
            <a:ext cx="5364328" cy="548640"/>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Quy trình Quản lý Yêu cầu Dịch vụ (PYC) — quy trình cốt lõi trong hệ thống 10 quy trình nghiệp vụ của Khối CNTT Sacombank.</a:t>
            </a:r>
            <a:endParaRPr lang="en-US" sz="1100" dirty="0"/>
          </a:p>
        </p:txBody>
      </p:sp>
      <p:sp>
        <p:nvSpPr>
          <p:cNvPr id="25" name="Text 23"/>
          <p:cNvSpPr txBox="1"/>
          <p:nvPr/>
        </p:nvSpPr>
        <p:spPr>
          <a:xfrm>
            <a:off x="6278728" y="4626864"/>
            <a:ext cx="4572000" cy="237744"/>
          </a:xfrm>
          <a:prstGeom prst="rect">
            <a:avLst/>
          </a:prstGeom>
          <a:noFill/>
          <a:ln/>
        </p:spPr>
        <p:txBody>
          <a:bodyPr wrap="square" lIns="0" tIns="0" rIns="0" bIns="0" rtlCol="0" anchor="t"/>
          <a:lstStyle/>
          <a:p>
            <a:pPr marL="0" indent="0">
              <a:buNone/>
            </a:pPr>
            <a:r>
              <a:rPr lang="en-US" sz="1000" b="1" kern="0" spc="100" dirty="0">
                <a:solidFill>
                  <a:srgbClr val="1660BF"/>
                </a:solidFill>
                <a:latin typeface="Calibri" pitchFamily="34" charset="0"/>
                <a:ea typeface="Calibri" pitchFamily="34" charset="-122"/>
                <a:cs typeface="Calibri" pitchFamily="34" charset="-120"/>
              </a:rPr>
              <a:t>BỐN BÊN LIÊN QUAN TRONG PHẠM VI</a:t>
            </a:r>
            <a:endParaRPr lang="en-US" sz="1000" dirty="0"/>
          </a:p>
        </p:txBody>
      </p:sp>
      <p:sp>
        <p:nvSpPr>
          <p:cNvPr id="26" name="Text 24"/>
          <p:cNvSpPr txBox="1"/>
          <p:nvPr/>
        </p:nvSpPr>
        <p:spPr>
          <a:xfrm>
            <a:off x="6278728" y="4882896"/>
            <a:ext cx="5364328" cy="548640"/>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Người dùng cuối (End-user)  ·  Quản lý trực tiếp  ·  Service Desk Level 1  ·  Đội ngũ kỹ thuật Level 2 — từ khi khởi tạo yêu cầu đến khi phiếu được đóng và xác nhận hoàn thành.</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MỞ ĐẦU · MỤC TIÊU VÀ PHẠM VI</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MỤC TIÊU NGHIÊN CỨU VÀ RANH GIỚI ĐỀ TÀI</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5</a:t>
            </a:r>
            <a:endParaRPr lang="en-US" sz="1100" dirty="0"/>
          </a:p>
        </p:txBody>
      </p:sp>
      <p:sp>
        <p:nvSpPr>
          <p:cNvPr id="7" name="Text 5"/>
          <p:cNvSpPr txBox="1"/>
          <p:nvPr/>
        </p:nvSpPr>
        <p:spPr>
          <a:xfrm>
            <a:off x="548640" y="1371600"/>
            <a:ext cx="5486400" cy="256032"/>
          </a:xfrm>
          <a:prstGeom prst="rect">
            <a:avLst/>
          </a:prstGeom>
          <a:noFill/>
          <a:ln/>
        </p:spPr>
        <p:txBody>
          <a:bodyPr wrap="square" lIns="0" tIns="0" rIns="0" bIns="0" rtlCol="0" anchor="t"/>
          <a:lstStyle/>
          <a:p>
            <a:pPr marL="0" indent="0">
              <a:buNone/>
            </a:pPr>
            <a:r>
              <a:rPr lang="en-US" sz="1100" b="1" kern="0" spc="100" dirty="0">
                <a:solidFill>
                  <a:srgbClr val="1660BF"/>
                </a:solidFill>
                <a:latin typeface="Calibri" pitchFamily="34" charset="0"/>
                <a:ea typeface="Calibri" pitchFamily="34" charset="-122"/>
                <a:cs typeface="Calibri" pitchFamily="34" charset="-120"/>
              </a:rPr>
              <a:t>BỐN MỤC TIÊU NGHIÊN CỨU</a:t>
            </a:r>
            <a:endParaRPr lang="en-US" sz="1100" dirty="0"/>
          </a:p>
        </p:txBody>
      </p:sp>
      <p:sp>
        <p:nvSpPr>
          <p:cNvPr id="8" name="Shape 6"/>
          <p:cNvSpPr/>
          <p:nvPr/>
        </p:nvSpPr>
        <p:spPr>
          <a:xfrm>
            <a:off x="548640" y="1737360"/>
            <a:ext cx="384048" cy="384048"/>
          </a:xfrm>
          <a:prstGeom prst="ellipse">
            <a:avLst/>
          </a:prstGeom>
          <a:solidFill>
            <a:srgbClr val="D9A227"/>
          </a:solidFill>
          <a:ln w="12700">
            <a:solidFill>
              <a:srgbClr val="D9A227"/>
            </a:solidFill>
            <a:prstDash val="solid"/>
          </a:ln>
        </p:spPr>
        <p:txBody>
          <a:bodyPr/>
          <a:lstStyle/>
          <a:p>
            <a:endParaRPr lang="en-US"/>
          </a:p>
        </p:txBody>
      </p:sp>
      <p:sp>
        <p:nvSpPr>
          <p:cNvPr id="9" name="Text 7"/>
          <p:cNvSpPr txBox="1"/>
          <p:nvPr/>
        </p:nvSpPr>
        <p:spPr>
          <a:xfrm>
            <a:off x="548640" y="1773936"/>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78992" y="1719072"/>
            <a:ext cx="55046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Hệ thống hóa kiến trúc quy trình</a:t>
            </a:r>
            <a:endParaRPr lang="en-US" sz="1250" dirty="0"/>
          </a:p>
        </p:txBody>
      </p:sp>
      <p:sp>
        <p:nvSpPr>
          <p:cNvPr id="11" name="Text 9"/>
          <p:cNvSpPr txBox="1"/>
          <p:nvPr/>
        </p:nvSpPr>
        <p:spPr>
          <a:xfrm>
            <a:off x="1078992" y="1975104"/>
            <a:ext cx="55046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Xác định vị trí và quan hệ tương hỗ của PYC trong tổng thể 10 quy trình thuộc ba nhóm Quản lý – Cốt lõi – Hỗ trợ.</a:t>
            </a:r>
            <a:endParaRPr lang="en-US" sz="1000" dirty="0"/>
          </a:p>
        </p:txBody>
      </p:sp>
      <p:sp>
        <p:nvSpPr>
          <p:cNvPr id="12" name="Shape 10"/>
          <p:cNvSpPr/>
          <p:nvPr/>
        </p:nvSpPr>
        <p:spPr>
          <a:xfrm>
            <a:off x="548640" y="2523744"/>
            <a:ext cx="384048" cy="384048"/>
          </a:xfrm>
          <a:prstGeom prst="ellipse">
            <a:avLst/>
          </a:prstGeom>
          <a:solidFill>
            <a:srgbClr val="D9A227"/>
          </a:solidFill>
          <a:ln w="12700">
            <a:solidFill>
              <a:srgbClr val="D9A227"/>
            </a:solidFill>
            <a:prstDash val="solid"/>
          </a:ln>
        </p:spPr>
        <p:txBody>
          <a:bodyPr/>
          <a:lstStyle/>
          <a:p>
            <a:endParaRPr lang="en-US"/>
          </a:p>
        </p:txBody>
      </p:sp>
      <p:sp>
        <p:nvSpPr>
          <p:cNvPr id="13" name="Text 11"/>
          <p:cNvSpPr txBox="1"/>
          <p:nvPr/>
        </p:nvSpPr>
        <p:spPr>
          <a:xfrm>
            <a:off x="548640" y="2560320"/>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1078992" y="2505456"/>
            <a:ext cx="55046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Mô hình hóa hiện trạng AS-IS</a:t>
            </a:r>
            <a:endParaRPr lang="en-US" sz="1250" dirty="0"/>
          </a:p>
        </p:txBody>
      </p:sp>
      <p:sp>
        <p:nvSpPr>
          <p:cNvPr id="15" name="Text 13"/>
          <p:cNvSpPr txBox="1"/>
          <p:nvPr/>
        </p:nvSpPr>
        <p:spPr>
          <a:xfrm>
            <a:off x="1078992" y="2761488"/>
            <a:ext cx="55046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Phản ánh trung thực luồng nghiệp vụ đang vận hành theo chuẩn BPMN 2.0 (công cụ Camunda).</a:t>
            </a:r>
            <a:endParaRPr lang="en-US" sz="1000" dirty="0"/>
          </a:p>
        </p:txBody>
      </p:sp>
      <p:sp>
        <p:nvSpPr>
          <p:cNvPr id="16" name="Shape 14"/>
          <p:cNvSpPr/>
          <p:nvPr/>
        </p:nvSpPr>
        <p:spPr>
          <a:xfrm>
            <a:off x="548640" y="3310128"/>
            <a:ext cx="384048" cy="384048"/>
          </a:xfrm>
          <a:prstGeom prst="ellipse">
            <a:avLst/>
          </a:prstGeom>
          <a:solidFill>
            <a:srgbClr val="D9A227"/>
          </a:solidFill>
          <a:ln w="12700">
            <a:solidFill>
              <a:srgbClr val="D9A227"/>
            </a:solidFill>
            <a:prstDash val="solid"/>
          </a:ln>
        </p:spPr>
        <p:txBody>
          <a:bodyPr/>
          <a:lstStyle/>
          <a:p>
            <a:endParaRPr lang="en-US"/>
          </a:p>
        </p:txBody>
      </p:sp>
      <p:sp>
        <p:nvSpPr>
          <p:cNvPr id="17" name="Text 15"/>
          <p:cNvSpPr txBox="1"/>
          <p:nvPr/>
        </p:nvSpPr>
        <p:spPr>
          <a:xfrm>
            <a:off x="548640" y="3346704"/>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078992" y="3291840"/>
            <a:ext cx="55046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Phân tích và định lượng hiệu suất</a:t>
            </a:r>
            <a:endParaRPr lang="en-US" sz="1250" dirty="0"/>
          </a:p>
        </p:txBody>
      </p:sp>
      <p:sp>
        <p:nvSpPr>
          <p:cNvPr id="19" name="Text 17"/>
          <p:cNvSpPr txBox="1"/>
          <p:nvPr/>
        </p:nvSpPr>
        <p:spPr>
          <a:xfrm>
            <a:off x="1078992" y="3547872"/>
            <a:ext cx="55046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Khung giá trị gia tăng VA/NVA/VBA và nhận diện lãng phí Move – Hold – Overdo theo tư duy Lean.</a:t>
            </a:r>
            <a:endParaRPr lang="en-US" sz="1000" dirty="0"/>
          </a:p>
        </p:txBody>
      </p:sp>
      <p:sp>
        <p:nvSpPr>
          <p:cNvPr id="20" name="Shape 18"/>
          <p:cNvSpPr/>
          <p:nvPr/>
        </p:nvSpPr>
        <p:spPr>
          <a:xfrm>
            <a:off x="548640" y="4096512"/>
            <a:ext cx="384048" cy="384048"/>
          </a:xfrm>
          <a:prstGeom prst="ellipse">
            <a:avLst/>
          </a:prstGeom>
          <a:solidFill>
            <a:srgbClr val="D9A227"/>
          </a:solidFill>
          <a:ln w="12700">
            <a:solidFill>
              <a:srgbClr val="D9A227"/>
            </a:solidFill>
            <a:prstDash val="solid"/>
          </a:ln>
        </p:spPr>
        <p:txBody>
          <a:bodyPr/>
          <a:lstStyle/>
          <a:p>
            <a:endParaRPr lang="en-US"/>
          </a:p>
        </p:txBody>
      </p:sp>
      <p:sp>
        <p:nvSpPr>
          <p:cNvPr id="21" name="Text 19"/>
          <p:cNvSpPr txBox="1"/>
          <p:nvPr/>
        </p:nvSpPr>
        <p:spPr>
          <a:xfrm>
            <a:off x="548640" y="4133088"/>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1078992" y="4078224"/>
            <a:ext cx="55046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Đề xuất mô hình cải tiến TO-BE</a:t>
            </a:r>
            <a:endParaRPr lang="en-US" sz="1250" dirty="0"/>
          </a:p>
        </p:txBody>
      </p:sp>
      <p:sp>
        <p:nvSpPr>
          <p:cNvPr id="23" name="Text 21"/>
          <p:cNvSpPr txBox="1"/>
          <p:nvPr/>
        </p:nvSpPr>
        <p:spPr>
          <a:xfrm>
            <a:off x="1078992" y="4334256"/>
            <a:ext cx="55046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Chuẩn hóa biểu mẫu, tự động hóa phê duyệt, tích hợp API ghi log nhằm rút ngắn Lead Time và nâng tỷ lệ tuân thủ SLA.</a:t>
            </a:r>
            <a:endParaRPr lang="en-US" sz="1000" dirty="0"/>
          </a:p>
        </p:txBody>
      </p:sp>
      <p:sp>
        <p:nvSpPr>
          <p:cNvPr id="24" name="Shape 22"/>
          <p:cNvSpPr/>
          <p:nvPr/>
        </p:nvSpPr>
        <p:spPr>
          <a:xfrm>
            <a:off x="6903720" y="1371600"/>
            <a:ext cx="4739335" cy="1920240"/>
          </a:xfrm>
          <a:prstGeom prst="roundRect">
            <a:avLst>
              <a:gd name="adj" fmla="val 2857"/>
            </a:avLst>
          </a:prstGeom>
          <a:solidFill>
            <a:srgbClr val="F0F8F4"/>
          </a:solidFill>
          <a:ln w="9525">
            <a:solidFill>
              <a:srgbClr val="0E7A5F"/>
            </a:solidFill>
            <a:prstDash val="solid"/>
          </a:ln>
          <a:effectLst>
            <a:outerShdw blurRad="101600" dist="19050" dir="5400000" algn="bl" rotWithShape="0">
              <a:srgbClr val="9AAFC6">
                <a:alpha val="16000"/>
              </a:srgbClr>
            </a:outerShdw>
          </a:effectLst>
        </p:spPr>
        <p:txBody>
          <a:bodyPr/>
          <a:lstStyle/>
          <a:p>
            <a:endParaRPr lang="en-US"/>
          </a:p>
        </p:txBody>
      </p:sp>
      <p:sp>
        <p:nvSpPr>
          <p:cNvPr id="25" name="Text 23"/>
          <p:cNvSpPr txBox="1"/>
          <p:nvPr/>
        </p:nvSpPr>
        <p:spPr>
          <a:xfrm>
            <a:off x="7104888" y="1517904"/>
            <a:ext cx="4114800" cy="256032"/>
          </a:xfrm>
          <a:prstGeom prst="rect">
            <a:avLst/>
          </a:prstGeom>
          <a:noFill/>
          <a:ln/>
        </p:spPr>
        <p:txBody>
          <a:bodyPr wrap="square" lIns="0" tIns="0" rIns="0" bIns="0" rtlCol="0" anchor="t"/>
          <a:lstStyle/>
          <a:p>
            <a:pPr marL="0" indent="0">
              <a:buNone/>
            </a:pPr>
            <a:r>
              <a:rPr lang="en-US" sz="1100" b="1" kern="0" spc="80" dirty="0">
                <a:solidFill>
                  <a:srgbClr val="0E7A5F"/>
                </a:solidFill>
                <a:latin typeface="Calibri" pitchFamily="34" charset="0"/>
                <a:ea typeface="Calibri" pitchFamily="34" charset="-122"/>
                <a:cs typeface="Calibri" pitchFamily="34" charset="-120"/>
              </a:rPr>
              <a:t>✓   TRONG PHẠM VI</a:t>
            </a:r>
            <a:endParaRPr lang="en-US" sz="1100" dirty="0"/>
          </a:p>
        </p:txBody>
      </p:sp>
      <p:sp>
        <p:nvSpPr>
          <p:cNvPr id="26" name="Text 24"/>
          <p:cNvSpPr txBox="1"/>
          <p:nvPr/>
        </p:nvSpPr>
        <p:spPr>
          <a:xfrm>
            <a:off x="7104888" y="1810512"/>
            <a:ext cx="4327855" cy="137160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Nội bộ Khối Công nghệ thông tin Sacombank.</a:t>
            </a:r>
            <a:endParaRPr lang="en-US" sz="1050" dirty="0"/>
          </a:p>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Luồng từ khi người dùng khởi tạo yêu cầu đến khi phiếu được đóng và xác nhận.</a:t>
            </a:r>
            <a:endParaRPr lang="en-US" sz="1050" dirty="0"/>
          </a:p>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Khảo sát bằng chứng (mô tả quy trình, sơ đồ tổ chức, sổ tay, biểu mẫu) và phỏng vấn.</a:t>
            </a:r>
            <a:endParaRPr lang="en-US" sz="1050" dirty="0"/>
          </a:p>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Mô hình hóa BPMN 2.0, phân tích định tính – định lượng và thiết kế TO-BE.</a:t>
            </a:r>
            <a:endParaRPr lang="en-US" sz="1050" dirty="0"/>
          </a:p>
        </p:txBody>
      </p:sp>
      <p:sp>
        <p:nvSpPr>
          <p:cNvPr id="27" name="Shape 25"/>
          <p:cNvSpPr/>
          <p:nvPr/>
        </p:nvSpPr>
        <p:spPr>
          <a:xfrm>
            <a:off x="6903720" y="3419856"/>
            <a:ext cx="4739335" cy="1572768"/>
          </a:xfrm>
          <a:prstGeom prst="roundRect">
            <a:avLst>
              <a:gd name="adj" fmla="val 3488"/>
            </a:avLst>
          </a:prstGeom>
          <a:solidFill>
            <a:srgbClr val="FEF3F2"/>
          </a:solidFill>
          <a:ln w="9525">
            <a:solidFill>
              <a:srgbClr val="C0392B"/>
            </a:solidFill>
            <a:prstDash val="solid"/>
          </a:ln>
          <a:effectLst>
            <a:outerShdw blurRad="101600" dist="19050" dir="5400000" algn="bl" rotWithShape="0">
              <a:srgbClr val="9AAFC6">
                <a:alpha val="16000"/>
              </a:srgbClr>
            </a:outerShdw>
          </a:effectLst>
        </p:spPr>
        <p:txBody>
          <a:bodyPr/>
          <a:lstStyle/>
          <a:p>
            <a:endParaRPr lang="en-US"/>
          </a:p>
        </p:txBody>
      </p:sp>
      <p:sp>
        <p:nvSpPr>
          <p:cNvPr id="28" name="Text 26"/>
          <p:cNvSpPr txBox="1"/>
          <p:nvPr/>
        </p:nvSpPr>
        <p:spPr>
          <a:xfrm>
            <a:off x="7104888" y="3566160"/>
            <a:ext cx="4114800" cy="256032"/>
          </a:xfrm>
          <a:prstGeom prst="rect">
            <a:avLst/>
          </a:prstGeom>
          <a:noFill/>
          <a:ln/>
        </p:spPr>
        <p:txBody>
          <a:bodyPr wrap="square" lIns="0" tIns="0" rIns="0" bIns="0" rtlCol="0" anchor="t"/>
          <a:lstStyle/>
          <a:p>
            <a:pPr marL="0" indent="0">
              <a:buNone/>
            </a:pPr>
            <a:r>
              <a:rPr lang="en-US" sz="1100" b="1" kern="0" spc="80" dirty="0">
                <a:solidFill>
                  <a:srgbClr val="C0392B"/>
                </a:solidFill>
                <a:latin typeface="Calibri" pitchFamily="34" charset="0"/>
                <a:ea typeface="Calibri" pitchFamily="34" charset="-122"/>
                <a:cs typeface="Calibri" pitchFamily="34" charset="-120"/>
              </a:rPr>
              <a:t>✕   NGOÀI PHẠM VI</a:t>
            </a:r>
            <a:endParaRPr lang="en-US" sz="1100" dirty="0"/>
          </a:p>
        </p:txBody>
      </p:sp>
      <p:sp>
        <p:nvSpPr>
          <p:cNvPr id="29" name="Text 27"/>
          <p:cNvSpPr txBox="1"/>
          <p:nvPr/>
        </p:nvSpPr>
        <p:spPr>
          <a:xfrm>
            <a:off x="7104888" y="3858768"/>
            <a:ext cx="4327855" cy="10058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Mô hình hóa chi tiết 04 quy trình còn lại ngoài 06 quy trình đã chọn.</a:t>
            </a:r>
            <a:endParaRPr lang="en-US" sz="1050" dirty="0"/>
          </a:p>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Xây dựng và lập trình hệ thống ITSM.</a:t>
            </a:r>
            <a:endParaRPr lang="en-US" sz="1050" dirty="0"/>
          </a:p>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Triển khai thí điểm (pilot) mô hình TO-BE trên môi trường thật.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1 · 1.1 TỔNG QUAN DOANH NGHIỆP</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TỔNG QUAN DOANH NGHIỆP — SACOMBANK</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Vị thế hàng đầu và định hướng chuyển đổi số trong ngành tài chính – ngân hàng</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6</a:t>
            </a:r>
          </a:p>
          <a:p>
            <a:pPr marL="0" indent="0" algn="r">
              <a:buNone/>
            </a:pPr>
            <a:endParaRPr lang="en-US" sz="1100" dirty="0"/>
          </a:p>
        </p:txBody>
      </p:sp>
      <p:sp>
        <p:nvSpPr>
          <p:cNvPr id="8" name="Shape 6"/>
          <p:cNvSpPr/>
          <p:nvPr/>
        </p:nvSpPr>
        <p:spPr>
          <a:xfrm>
            <a:off x="548640" y="1517904"/>
            <a:ext cx="3515258" cy="2651760"/>
          </a:xfrm>
          <a:prstGeom prst="roundRect">
            <a:avLst>
              <a:gd name="adj" fmla="val 2098"/>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Shape 7"/>
          <p:cNvSpPr/>
          <p:nvPr/>
        </p:nvSpPr>
        <p:spPr>
          <a:xfrm>
            <a:off x="548640" y="1517904"/>
            <a:ext cx="3515258" cy="713232"/>
          </a:xfrm>
          <a:prstGeom prst="rect">
            <a:avLst/>
          </a:prstGeom>
          <a:solidFill>
            <a:srgbClr val="0B3B75"/>
          </a:solidFill>
          <a:ln w="12700">
            <a:solidFill>
              <a:srgbClr val="0B3B75"/>
            </a:solidFill>
            <a:prstDash val="solid"/>
          </a:ln>
        </p:spPr>
        <p:txBody>
          <a:bodyPr/>
          <a:lstStyle/>
          <a:p>
            <a:endParaRPr lang="en-US" dirty="0"/>
          </a:p>
        </p:txBody>
      </p:sp>
      <p:sp>
        <p:nvSpPr>
          <p:cNvPr id="10" name="Text 8"/>
          <p:cNvSpPr txBox="1"/>
          <p:nvPr/>
        </p:nvSpPr>
        <p:spPr>
          <a:xfrm>
            <a:off x="731520" y="1591056"/>
            <a:ext cx="3149498" cy="310896"/>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VỊ THẾ CHIẾN LƯỢC</a:t>
            </a:r>
            <a:endParaRPr lang="en-US" sz="1700" dirty="0"/>
          </a:p>
        </p:txBody>
      </p:sp>
      <p:sp>
        <p:nvSpPr>
          <p:cNvPr id="11" name="Text 9"/>
          <p:cNvSpPr txBox="1"/>
          <p:nvPr/>
        </p:nvSpPr>
        <p:spPr>
          <a:xfrm>
            <a:off x="731520" y="1901952"/>
            <a:ext cx="3149498" cy="237744"/>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Ngân hàng Thương mại Cổ phần hàng đầu Việt Nam</a:t>
            </a:r>
            <a:endParaRPr lang="en-US" sz="950" dirty="0"/>
          </a:p>
        </p:txBody>
      </p:sp>
      <p:sp>
        <p:nvSpPr>
          <p:cNvPr id="12" name="Text 10"/>
          <p:cNvSpPr txBox="1"/>
          <p:nvPr/>
        </p:nvSpPr>
        <p:spPr>
          <a:xfrm>
            <a:off x="731520" y="2377440"/>
            <a:ext cx="3149498" cy="173736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Một trong những ngân hàng thương mại cổ phần hàng đầu Việt Nam, với mạng lưới điểm giao dịch rộng khắp cả nước.</a:t>
            </a:r>
            <a:endParaRPr lang="en-US" sz="1000" dirty="0"/>
          </a:p>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Phục vụ hàng triệu khách hàng cá nhân và khách hàng doanh nghiệp trên toàn hệ thống.</a:t>
            </a:r>
            <a:endParaRPr lang="en-US" sz="1000" dirty="0"/>
          </a:p>
        </p:txBody>
      </p:sp>
      <p:sp>
        <p:nvSpPr>
          <p:cNvPr id="13" name="Shape 11"/>
          <p:cNvSpPr/>
          <p:nvPr/>
        </p:nvSpPr>
        <p:spPr>
          <a:xfrm>
            <a:off x="4338218" y="1517904"/>
            <a:ext cx="3515258" cy="2651760"/>
          </a:xfrm>
          <a:prstGeom prst="roundRect">
            <a:avLst>
              <a:gd name="adj" fmla="val 2098"/>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4" name="Shape 12"/>
          <p:cNvSpPr/>
          <p:nvPr/>
        </p:nvSpPr>
        <p:spPr>
          <a:xfrm>
            <a:off x="4338218" y="1517904"/>
            <a:ext cx="3515258" cy="713232"/>
          </a:xfrm>
          <a:prstGeom prst="rect">
            <a:avLst/>
          </a:prstGeom>
          <a:solidFill>
            <a:srgbClr val="1660BF"/>
          </a:solidFill>
          <a:ln w="12700">
            <a:solidFill>
              <a:srgbClr val="1660BF"/>
            </a:solidFill>
            <a:prstDash val="solid"/>
          </a:ln>
        </p:spPr>
        <p:txBody>
          <a:bodyPr/>
          <a:lstStyle/>
          <a:p>
            <a:endParaRPr lang="en-US" dirty="0"/>
          </a:p>
        </p:txBody>
      </p:sp>
      <p:sp>
        <p:nvSpPr>
          <p:cNvPr id="15" name="Text 13"/>
          <p:cNvSpPr txBox="1"/>
          <p:nvPr/>
        </p:nvSpPr>
        <p:spPr>
          <a:xfrm>
            <a:off x="4521098" y="1591056"/>
            <a:ext cx="3149498" cy="310896"/>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ĐỊNH HƯỚNG CHUYỂN ĐỔI SỐ</a:t>
            </a:r>
            <a:endParaRPr lang="en-US" sz="1700" dirty="0"/>
          </a:p>
        </p:txBody>
      </p:sp>
      <p:sp>
        <p:nvSpPr>
          <p:cNvPr id="16" name="Text 14"/>
          <p:cNvSpPr txBox="1"/>
          <p:nvPr/>
        </p:nvSpPr>
        <p:spPr>
          <a:xfrm>
            <a:off x="4521098" y="1901952"/>
            <a:ext cx="3149498" cy="237744"/>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Công nghệ là nền tảng cốt lõi</a:t>
            </a:r>
            <a:endParaRPr lang="en-US" sz="950" dirty="0"/>
          </a:p>
        </p:txBody>
      </p:sp>
      <p:sp>
        <p:nvSpPr>
          <p:cNvPr id="17" name="Text 15"/>
          <p:cNvSpPr txBox="1"/>
          <p:nvPr/>
        </p:nvSpPr>
        <p:spPr>
          <a:xfrm>
            <a:off x="4521098" y="2377440"/>
            <a:ext cx="3149498" cy="173736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Tiên phong hiện đại hóa dịch vụ ngân hàng, lấy công nghệ làm nền tảng cốt lõi cho mọi hoạt động.</a:t>
            </a:r>
            <a:endParaRPr lang="en-US" sz="1000" dirty="0"/>
          </a:p>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Hướng tới tối ưu hóa năng suất vận hành nội bộ và nâng cao trải nghiệm khách hàng.</a:t>
            </a:r>
            <a:endParaRPr lang="en-US" sz="1000" dirty="0"/>
          </a:p>
        </p:txBody>
      </p:sp>
      <p:sp>
        <p:nvSpPr>
          <p:cNvPr id="18" name="Shape 16"/>
          <p:cNvSpPr/>
          <p:nvPr/>
        </p:nvSpPr>
        <p:spPr>
          <a:xfrm>
            <a:off x="8127797" y="1517904"/>
            <a:ext cx="3515258" cy="2651760"/>
          </a:xfrm>
          <a:prstGeom prst="roundRect">
            <a:avLst>
              <a:gd name="adj" fmla="val 2098"/>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9" name="Shape 17"/>
          <p:cNvSpPr/>
          <p:nvPr/>
        </p:nvSpPr>
        <p:spPr>
          <a:xfrm>
            <a:off x="8127797" y="1517904"/>
            <a:ext cx="3515258" cy="713232"/>
          </a:xfrm>
          <a:prstGeom prst="rect">
            <a:avLst/>
          </a:prstGeom>
          <a:solidFill>
            <a:srgbClr val="A5741A"/>
          </a:solidFill>
          <a:ln w="12700">
            <a:solidFill>
              <a:srgbClr val="A5741A"/>
            </a:solidFill>
            <a:prstDash val="solid"/>
          </a:ln>
        </p:spPr>
        <p:txBody>
          <a:bodyPr/>
          <a:lstStyle/>
          <a:p>
            <a:endParaRPr lang="en-US"/>
          </a:p>
        </p:txBody>
      </p:sp>
      <p:sp>
        <p:nvSpPr>
          <p:cNvPr id="20" name="Text 18"/>
          <p:cNvSpPr txBox="1"/>
          <p:nvPr/>
        </p:nvSpPr>
        <p:spPr>
          <a:xfrm>
            <a:off x="8310677" y="1591056"/>
            <a:ext cx="3149498" cy="310896"/>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VAI TRÒ CỦA KHỐI CNTT</a:t>
            </a:r>
            <a:endParaRPr lang="en-US" sz="1700" dirty="0"/>
          </a:p>
        </p:txBody>
      </p:sp>
      <p:sp>
        <p:nvSpPr>
          <p:cNvPr id="21" name="Text 19"/>
          <p:cNvSpPr txBox="1"/>
          <p:nvPr/>
        </p:nvSpPr>
        <p:spPr>
          <a:xfrm>
            <a:off x="8310677" y="1901952"/>
            <a:ext cx="3149498" cy="237744"/>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Trái tim vận hành công nghệ của ngân hàng</a:t>
            </a:r>
            <a:endParaRPr lang="en-US" sz="950" dirty="0"/>
          </a:p>
        </p:txBody>
      </p:sp>
      <p:sp>
        <p:nvSpPr>
          <p:cNvPr id="22" name="Text 20"/>
          <p:cNvSpPr txBox="1"/>
          <p:nvPr/>
        </p:nvSpPr>
        <p:spPr>
          <a:xfrm>
            <a:off x="8310677" y="2377440"/>
            <a:ext cx="3149498" cy="173736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Cung cấp hạ tầng và quản lý hệ thống ngân hàng lõi Corebanking T24.</a:t>
            </a:r>
            <a:endParaRPr lang="en-US" sz="1000" dirty="0"/>
          </a:p>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Bảo đảm các dịch vụ nội bộ vận hành thông suốt cho toàn hệ thống.</a:t>
            </a:r>
            <a:endParaRPr lang="en-US" sz="1000" dirty="0"/>
          </a:p>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Là nơi quy trình PYC — đối tượng nghiên cứu của đề tài — diễn ra hằng ngày.</a:t>
            </a:r>
            <a:endParaRPr lang="en-US" sz="1000" dirty="0"/>
          </a:p>
        </p:txBody>
      </p:sp>
      <p:sp>
        <p:nvSpPr>
          <p:cNvPr id="90" name="Shape 90"/>
          <p:cNvSpPr/>
          <p:nvPr/>
        </p:nvSpPr>
        <p:spPr>
          <a:xfrm>
            <a:off x="548640" y="4443984"/>
            <a:ext cx="11091672" cy="1005840"/>
          </a:xfrm>
          <a:prstGeom prst="roundRect">
            <a:avLst>
              <a:gd name="adj" fmla="val 6000"/>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91" name="Text 91"/>
          <p:cNvSpPr txBox="1"/>
          <p:nvPr/>
        </p:nvSpPr>
        <p:spPr>
          <a:xfrm>
            <a:off x="768096" y="4608576"/>
            <a:ext cx="10652760" cy="713232"/>
          </a:xfrm>
          <a:prstGeom prst="rect">
            <a:avLst/>
          </a:prstGeom>
          <a:noFill/>
          <a:ln/>
        </p:spPr>
        <p:txBody>
          <a:bodyPr wrap="square" lIns="0" tIns="0" rIns="0" bIns="0" rtlCol="0" anchor="t"/>
          <a:lstStyle/>
          <a:p>
            <a:pPr marL="0" indent="0">
              <a:buNone/>
            </a:pPr>
            <a:r>
              <a:rPr lang="en-US" sz="1100" b="1" dirty="0">
                <a:solidFill>
                  <a:srgbClr val="1660BF"/>
                </a:solidFill>
                <a:latin typeface="Calibri" pitchFamily="34" charset="0"/>
                <a:ea typeface="Calibri" pitchFamily="34" charset="-122"/>
                <a:cs typeface="Calibri" pitchFamily="34" charset="-120"/>
              </a:rPr>
              <a:t>TỪ CHIẾN LƯỢC ĐẾN QUY TRÌNH   </a:t>
            </a:r>
            <a:r>
              <a:rPr lang="en-US" sz="1100" dirty="0">
                <a:solidFill>
                  <a:srgbClr val="2A3442"/>
                </a:solidFill>
                <a:latin typeface="Calibri" pitchFamily="34" charset="0"/>
                <a:ea typeface="Calibri" pitchFamily="34" charset="-122"/>
                <a:cs typeface="Calibri" pitchFamily="34" charset="-120"/>
              </a:rPr>
              <a:t>Định hướng chuyển đổi số đặt Khối CNTT vào vị trí trung tâm của toàn hệ thống. Trong đó, PYC là quy trình tiếp xúc thường xuyên nhất giữa Khối CNTT và hàng nghìn cán bộ nhân viên — cũng là nơi các điểm nghẽn vận hành bộc lộ rõ nhất, và là lý do đề tài chọn quy trình này làm đối tượng nghiên cứu.</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1 · 1.1 TỔNG QUAN DOANH NGHIỆP</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KHỐI CNTT SACOMBANK — MÔ HÌNH NHÀ CUNG CẤP DỊCH VỤ NỘI BỘ</a:t>
            </a:r>
            <a:endParaRPr lang="en-US" sz="2500" dirty="0"/>
          </a:p>
        </p:txBody>
      </p:sp>
      <p:sp>
        <p:nvSpPr>
          <p:cNvPr id="5" name="Text 3"/>
          <p:cNvSpPr txBox="1"/>
          <p:nvPr/>
        </p:nvSpPr>
        <p:spPr>
          <a:xfrm>
            <a:off x="548640" y="6011720"/>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Shape 5"/>
          <p:cNvSpPr/>
          <p:nvPr/>
        </p:nvSpPr>
        <p:spPr>
          <a:xfrm>
            <a:off x="548640" y="1081810"/>
            <a:ext cx="2567864" cy="2048256"/>
          </a:xfrm>
          <a:prstGeom prst="roundRect">
            <a:avLst>
              <a:gd name="adj" fmla="val 267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dirty="0"/>
          </a:p>
        </p:txBody>
      </p:sp>
      <p:sp>
        <p:nvSpPr>
          <p:cNvPr id="8" name="Shape 6"/>
          <p:cNvSpPr/>
          <p:nvPr/>
        </p:nvSpPr>
        <p:spPr>
          <a:xfrm>
            <a:off x="749808" y="1275128"/>
            <a:ext cx="310896" cy="310896"/>
          </a:xfrm>
          <a:prstGeom prst="ellipse">
            <a:avLst/>
          </a:prstGeom>
          <a:solidFill>
            <a:srgbClr val="1660BF"/>
          </a:solidFill>
          <a:ln/>
        </p:spPr>
        <p:txBody>
          <a:bodyPr/>
          <a:lstStyle/>
          <a:p>
            <a:endParaRPr lang="en-US"/>
          </a:p>
        </p:txBody>
      </p:sp>
      <p:sp>
        <p:nvSpPr>
          <p:cNvPr id="9" name="Text 7"/>
          <p:cNvSpPr txBox="1"/>
          <p:nvPr/>
        </p:nvSpPr>
        <p:spPr>
          <a:xfrm>
            <a:off x="768096" y="1335120"/>
            <a:ext cx="274320" cy="27432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749808" y="1695752"/>
            <a:ext cx="2165528" cy="603504"/>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Internal</a:t>
            </a:r>
            <a:endParaRPr lang="en-US" sz="1400" dirty="0"/>
          </a:p>
          <a:p>
            <a:pPr marL="0" indent="0">
              <a:buNone/>
            </a:pPr>
            <a:r>
              <a:rPr lang="en-US" sz="1400" b="1" dirty="0">
                <a:solidFill>
                  <a:srgbClr val="0B3B75"/>
                </a:solidFill>
                <a:latin typeface="Calibri" pitchFamily="34" charset="0"/>
                <a:ea typeface="Calibri" pitchFamily="34" charset="-122"/>
                <a:cs typeface="Calibri" pitchFamily="34" charset="-120"/>
              </a:rPr>
              <a:t>Service Provider</a:t>
            </a:r>
            <a:endParaRPr lang="en-US" sz="1400" dirty="0"/>
          </a:p>
        </p:txBody>
      </p:sp>
      <p:sp>
        <p:nvSpPr>
          <p:cNvPr id="11" name="Text 9"/>
          <p:cNvSpPr txBox="1"/>
          <p:nvPr/>
        </p:nvSpPr>
        <p:spPr>
          <a:xfrm>
            <a:off x="749808" y="2335832"/>
            <a:ext cx="2165528" cy="69494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Vận hành như một đơn vị “bán dịch vụ” cho chính các phòng ban khác trong ngân hàng.</a:t>
            </a:r>
            <a:endParaRPr lang="en-US" sz="1000" dirty="0"/>
          </a:p>
        </p:txBody>
      </p:sp>
      <p:sp>
        <p:nvSpPr>
          <p:cNvPr id="12" name="Shape 10"/>
          <p:cNvSpPr/>
          <p:nvPr/>
        </p:nvSpPr>
        <p:spPr>
          <a:xfrm>
            <a:off x="3390824" y="1073960"/>
            <a:ext cx="2567864" cy="2048256"/>
          </a:xfrm>
          <a:prstGeom prst="roundRect">
            <a:avLst>
              <a:gd name="adj" fmla="val 267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3" name="Shape 11"/>
          <p:cNvSpPr/>
          <p:nvPr/>
        </p:nvSpPr>
        <p:spPr>
          <a:xfrm>
            <a:off x="3591992" y="1275128"/>
            <a:ext cx="310896" cy="310896"/>
          </a:xfrm>
          <a:prstGeom prst="ellipse">
            <a:avLst/>
          </a:prstGeom>
          <a:solidFill>
            <a:srgbClr val="1660BF"/>
          </a:solidFill>
          <a:ln/>
        </p:spPr>
        <p:txBody>
          <a:bodyPr/>
          <a:lstStyle/>
          <a:p>
            <a:endParaRPr lang="en-US"/>
          </a:p>
        </p:txBody>
      </p:sp>
      <p:sp>
        <p:nvSpPr>
          <p:cNvPr id="14" name="Text 12"/>
          <p:cNvSpPr txBox="1"/>
          <p:nvPr/>
        </p:nvSpPr>
        <p:spPr>
          <a:xfrm>
            <a:off x="3591992" y="1348280"/>
            <a:ext cx="310896" cy="256032"/>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txBox="1"/>
          <p:nvPr/>
        </p:nvSpPr>
        <p:spPr>
          <a:xfrm>
            <a:off x="3591992" y="1695752"/>
            <a:ext cx="2165528" cy="603504"/>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Sản phẩm</a:t>
            </a:r>
            <a:endParaRPr lang="en-US" sz="1400" dirty="0"/>
          </a:p>
          <a:p>
            <a:pPr marL="0" indent="0">
              <a:buNone/>
            </a:pPr>
            <a:r>
              <a:rPr lang="en-US" sz="1400" b="1" dirty="0">
                <a:solidFill>
                  <a:srgbClr val="0B3B75"/>
                </a:solidFill>
                <a:latin typeface="Calibri" pitchFamily="34" charset="0"/>
                <a:ea typeface="Calibri" pitchFamily="34" charset="-122"/>
                <a:cs typeface="Calibri" pitchFamily="34" charset="-120"/>
              </a:rPr>
              <a:t>dịch vụ</a:t>
            </a:r>
            <a:endParaRPr lang="en-US" sz="1400" dirty="0"/>
          </a:p>
        </p:txBody>
      </p:sp>
      <p:sp>
        <p:nvSpPr>
          <p:cNvPr id="16" name="Text 14"/>
          <p:cNvSpPr txBox="1"/>
          <p:nvPr/>
        </p:nvSpPr>
        <p:spPr>
          <a:xfrm>
            <a:off x="3591992" y="2335832"/>
            <a:ext cx="2165528" cy="69494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Cung cấp, duy trì và hỗ trợ vận hành các hệ thống CNTT phục vụ hoạt động kinh doanh.</a:t>
            </a:r>
            <a:endParaRPr lang="en-US" sz="1000" dirty="0"/>
          </a:p>
        </p:txBody>
      </p:sp>
      <p:sp>
        <p:nvSpPr>
          <p:cNvPr id="17" name="Shape 15"/>
          <p:cNvSpPr/>
          <p:nvPr/>
        </p:nvSpPr>
        <p:spPr>
          <a:xfrm>
            <a:off x="6233008" y="1073960"/>
            <a:ext cx="2567864" cy="2048256"/>
          </a:xfrm>
          <a:prstGeom prst="roundRect">
            <a:avLst>
              <a:gd name="adj" fmla="val 267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Shape 16"/>
          <p:cNvSpPr/>
          <p:nvPr/>
        </p:nvSpPr>
        <p:spPr>
          <a:xfrm>
            <a:off x="6434176" y="1275128"/>
            <a:ext cx="310896" cy="310896"/>
          </a:xfrm>
          <a:prstGeom prst="ellipse">
            <a:avLst/>
          </a:prstGeom>
          <a:solidFill>
            <a:srgbClr val="1660BF"/>
          </a:solidFill>
          <a:ln/>
        </p:spPr>
        <p:txBody>
          <a:bodyPr/>
          <a:lstStyle/>
          <a:p>
            <a:endParaRPr lang="en-US"/>
          </a:p>
        </p:txBody>
      </p:sp>
      <p:sp>
        <p:nvSpPr>
          <p:cNvPr id="19" name="Text 17"/>
          <p:cNvSpPr txBox="1"/>
          <p:nvPr/>
        </p:nvSpPr>
        <p:spPr>
          <a:xfrm>
            <a:off x="6434176" y="1352205"/>
            <a:ext cx="310896" cy="256032"/>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8"/>
          <p:cNvSpPr txBox="1"/>
          <p:nvPr/>
        </p:nvSpPr>
        <p:spPr>
          <a:xfrm>
            <a:off x="6434176" y="1695752"/>
            <a:ext cx="2165528" cy="603504"/>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Khách hàng</a:t>
            </a:r>
            <a:endParaRPr lang="en-US" sz="1400" dirty="0"/>
          </a:p>
          <a:p>
            <a:pPr marL="0" indent="0">
              <a:buNone/>
            </a:pPr>
            <a:r>
              <a:rPr lang="en-US" sz="1400" b="1" dirty="0">
                <a:solidFill>
                  <a:srgbClr val="0B3B75"/>
                </a:solidFill>
                <a:latin typeface="Calibri" pitchFamily="34" charset="0"/>
                <a:ea typeface="Calibri" pitchFamily="34" charset="-122"/>
                <a:cs typeface="Calibri" pitchFamily="34" charset="-120"/>
              </a:rPr>
              <a:t>nội bộ</a:t>
            </a:r>
            <a:endParaRPr lang="en-US" sz="1400" dirty="0"/>
          </a:p>
        </p:txBody>
      </p:sp>
      <p:sp>
        <p:nvSpPr>
          <p:cNvPr id="21" name="Text 19"/>
          <p:cNvSpPr txBox="1"/>
          <p:nvPr/>
        </p:nvSpPr>
        <p:spPr>
          <a:xfrm>
            <a:off x="6434176" y="2335832"/>
            <a:ext cx="2165528" cy="69494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Toàn thể CBNV và các phòng ban — nhân viên giao dịch chi nhánh, nhân viên hội sở, cán bộ quản lý các cấp.</a:t>
            </a:r>
            <a:endParaRPr lang="en-US" sz="1000" dirty="0"/>
          </a:p>
        </p:txBody>
      </p:sp>
      <p:sp>
        <p:nvSpPr>
          <p:cNvPr id="22" name="Shape 20"/>
          <p:cNvSpPr/>
          <p:nvPr/>
        </p:nvSpPr>
        <p:spPr>
          <a:xfrm>
            <a:off x="9075191" y="1073960"/>
            <a:ext cx="2567864" cy="2048256"/>
          </a:xfrm>
          <a:prstGeom prst="roundRect">
            <a:avLst>
              <a:gd name="adj" fmla="val 267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3" name="Shape 21"/>
          <p:cNvSpPr/>
          <p:nvPr/>
        </p:nvSpPr>
        <p:spPr>
          <a:xfrm>
            <a:off x="9276359" y="1275128"/>
            <a:ext cx="310896" cy="310896"/>
          </a:xfrm>
          <a:prstGeom prst="ellipse">
            <a:avLst/>
          </a:prstGeom>
          <a:solidFill>
            <a:srgbClr val="1660BF"/>
          </a:solidFill>
          <a:ln/>
        </p:spPr>
        <p:txBody>
          <a:bodyPr/>
          <a:lstStyle/>
          <a:p>
            <a:endParaRPr lang="en-US"/>
          </a:p>
        </p:txBody>
      </p:sp>
      <p:sp>
        <p:nvSpPr>
          <p:cNvPr id="24" name="Text 22"/>
          <p:cNvSpPr txBox="1"/>
          <p:nvPr/>
        </p:nvSpPr>
        <p:spPr>
          <a:xfrm>
            <a:off x="9276359" y="1348280"/>
            <a:ext cx="310896" cy="256032"/>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3"/>
          <p:cNvSpPr txBox="1"/>
          <p:nvPr/>
        </p:nvSpPr>
        <p:spPr>
          <a:xfrm>
            <a:off x="9276359" y="1695752"/>
            <a:ext cx="2165528" cy="603504"/>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Cam kết</a:t>
            </a:r>
            <a:endParaRPr lang="en-US" sz="1400" dirty="0"/>
          </a:p>
          <a:p>
            <a:pPr marL="0" indent="0">
              <a:buNone/>
            </a:pPr>
            <a:r>
              <a:rPr lang="en-US" sz="1400" b="1" dirty="0">
                <a:solidFill>
                  <a:srgbClr val="0B3B75"/>
                </a:solidFill>
                <a:latin typeface="Calibri" pitchFamily="34" charset="0"/>
                <a:ea typeface="Calibri" pitchFamily="34" charset="-122"/>
                <a:cs typeface="Calibri" pitchFamily="34" charset="-120"/>
              </a:rPr>
              <a:t>SLA</a:t>
            </a:r>
            <a:endParaRPr lang="en-US" sz="1400" dirty="0"/>
          </a:p>
        </p:txBody>
      </p:sp>
      <p:sp>
        <p:nvSpPr>
          <p:cNvPr id="26" name="Text 24"/>
          <p:cNvSpPr txBox="1"/>
          <p:nvPr/>
        </p:nvSpPr>
        <p:spPr>
          <a:xfrm>
            <a:off x="9276359" y="2335832"/>
            <a:ext cx="2165528" cy="69494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Mỗi dịch vụ đi kèm cam kết chất lượng và thời gian xử lý giữa Khối IT và các phòng ban nghiệp vụ.</a:t>
            </a:r>
            <a:endParaRPr lang="en-US" sz="1000" dirty="0"/>
          </a:p>
        </p:txBody>
      </p:sp>
      <p:sp>
        <p:nvSpPr>
          <p:cNvPr id="27" name="Shape 25"/>
          <p:cNvSpPr/>
          <p:nvPr/>
        </p:nvSpPr>
        <p:spPr>
          <a:xfrm>
            <a:off x="548640" y="3305096"/>
            <a:ext cx="11094415" cy="914400"/>
          </a:xfrm>
          <a:prstGeom prst="roundRect">
            <a:avLst>
              <a:gd name="adj" fmla="val 6000"/>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28" name="Text 26"/>
          <p:cNvSpPr txBox="1"/>
          <p:nvPr/>
        </p:nvSpPr>
        <p:spPr>
          <a:xfrm>
            <a:off x="768096" y="3469688"/>
            <a:ext cx="10655503" cy="621792"/>
          </a:xfrm>
          <a:prstGeom prst="rect">
            <a:avLst/>
          </a:prstGeom>
          <a:noFill/>
          <a:ln/>
        </p:spPr>
        <p:txBody>
          <a:bodyPr wrap="square" lIns="0" tIns="0" rIns="0" bIns="0" rtlCol="0" anchor="t"/>
          <a:lstStyle/>
          <a:p>
            <a:pPr marL="0" indent="0">
              <a:buNone/>
            </a:pPr>
            <a:r>
              <a:rPr lang="en-US" sz="1100" b="1" dirty="0">
                <a:solidFill>
                  <a:srgbClr val="1660BF"/>
                </a:solidFill>
                <a:latin typeface="Calibri" pitchFamily="34" charset="0"/>
                <a:ea typeface="Calibri" pitchFamily="34" charset="-122"/>
                <a:cs typeface="Calibri" pitchFamily="34" charset="-120"/>
              </a:rPr>
              <a:t>CHUỖI CUNG ỨNG DỊCH VỤ CNTT   </a:t>
            </a:r>
            <a:r>
              <a:rPr lang="en-US" sz="1100" dirty="0">
                <a:solidFill>
                  <a:srgbClr val="2A3442"/>
                </a:solidFill>
                <a:latin typeface="Calibri" pitchFamily="34" charset="0"/>
                <a:ea typeface="Calibri" pitchFamily="34" charset="-122"/>
                <a:cs typeface="Calibri" pitchFamily="34" charset="-120"/>
              </a:rPr>
              <a:t>Sản phẩm/dịch vụ đầu ra  →  Khách hàng nội bộ  →  Cam kết chất lượng dịch vụ (SLA) — ba yếu tố đầy đủ của một đơn vị cung cấp dịch vụ độc lập trong lòng ngân hàng.</a:t>
            </a:r>
            <a:endParaRPr lang="en-US" sz="1100" dirty="0"/>
          </a:p>
        </p:txBody>
      </p:sp>
      <p:grpSp>
        <p:nvGrpSpPr>
          <p:cNvPr id="35" name="Group 34">
            <a:extLst>
              <a:ext uri="{FF2B5EF4-FFF2-40B4-BE49-F238E27FC236}">
                <a16:creationId xmlns:a16="http://schemas.microsoft.com/office/drawing/2014/main" id="{FFD37304-274E-273C-A08A-82D1FBEB5563}"/>
              </a:ext>
            </a:extLst>
          </p:cNvPr>
          <p:cNvGrpSpPr/>
          <p:nvPr/>
        </p:nvGrpSpPr>
        <p:grpSpPr>
          <a:xfrm>
            <a:off x="358325" y="4368388"/>
            <a:ext cx="11475043" cy="1755648"/>
            <a:chOff x="358478" y="4809744"/>
            <a:chExt cx="11475043" cy="1755648"/>
          </a:xfrm>
        </p:grpSpPr>
        <p:sp>
          <p:nvSpPr>
            <p:cNvPr id="29" name="Shape 27"/>
            <p:cNvSpPr/>
            <p:nvPr/>
          </p:nvSpPr>
          <p:spPr>
            <a:xfrm>
              <a:off x="358478" y="4809744"/>
              <a:ext cx="11475043" cy="1755648"/>
            </a:xfrm>
            <a:prstGeom prst="roundRect">
              <a:avLst>
                <a:gd name="adj" fmla="val 4225"/>
              </a:avLst>
            </a:prstGeom>
            <a:solidFill>
              <a:srgbClr val="FCF7EA"/>
            </a:solidFill>
            <a:ln w="15875">
              <a:solidFill>
                <a:srgbClr val="D9A227"/>
              </a:solidFill>
              <a:prstDash val="dash"/>
            </a:ln>
          </p:spPr>
          <p:txBody>
            <a:bodyPr/>
            <a:lstStyle/>
            <a:p>
              <a:endParaRPr lang="en-US"/>
            </a:p>
          </p:txBody>
        </p:sp>
        <p:pic>
          <p:nvPicPr>
            <p:cNvPr id="34" name="Picture 33">
              <a:extLst>
                <a:ext uri="{FF2B5EF4-FFF2-40B4-BE49-F238E27FC236}">
                  <a16:creationId xmlns:a16="http://schemas.microsoft.com/office/drawing/2014/main" id="{6F8AE5E8-0891-D552-F0EE-0AE1AD58A932}"/>
                </a:ext>
              </a:extLst>
            </p:cNvPr>
            <p:cNvPicPr>
              <a:picLocks noChangeAspect="1"/>
            </p:cNvPicPr>
            <p:nvPr/>
          </p:nvPicPr>
          <p:blipFill>
            <a:blip r:embed="rId3"/>
            <a:stretch>
              <a:fillRect/>
            </a:stretch>
          </p:blipFill>
          <p:spPr>
            <a:xfrm>
              <a:off x="427487" y="4896698"/>
              <a:ext cx="11333459" cy="1563797"/>
            </a:xfrm>
            <a:prstGeom prst="rect">
              <a:avLst/>
            </a:prstGeom>
          </p:spPr>
        </p:pic>
      </p:grpSp>
      <p:sp>
        <p:nvSpPr>
          <p:cNvPr id="33" name="Text 4">
            <a:extLst>
              <a:ext uri="{FF2B5EF4-FFF2-40B4-BE49-F238E27FC236}">
                <a16:creationId xmlns:a16="http://schemas.microsoft.com/office/drawing/2014/main" id="{C01BE82F-97BA-419D-62DB-D82B98F1B2CC}"/>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1 · 1.3 KIẾN TRÚC QUY TRÌNH</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KIẾN TRÚC QUY TRÌNH BA TẦNG CỦA KHỐI CNTT</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“Ba nhóm quy trình không tồn tại độc lập mà vận hành theo một cấu trúc phân tầng chặt chẽ.”</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8</a:t>
            </a:r>
            <a:endParaRPr lang="en-US" sz="1100" dirty="0"/>
          </a:p>
        </p:txBody>
      </p:sp>
      <p:sp>
        <p:nvSpPr>
          <p:cNvPr id="8" name="Shape 6"/>
          <p:cNvSpPr/>
          <p:nvPr/>
        </p:nvSpPr>
        <p:spPr>
          <a:xfrm>
            <a:off x="548640" y="1517904"/>
            <a:ext cx="5943600" cy="841248"/>
          </a:xfrm>
          <a:prstGeom prst="roundRect">
            <a:avLst>
              <a:gd name="adj" fmla="val 6522"/>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Shape 7"/>
          <p:cNvSpPr/>
          <p:nvPr/>
        </p:nvSpPr>
        <p:spPr>
          <a:xfrm>
            <a:off x="768096" y="1819656"/>
            <a:ext cx="237744" cy="237744"/>
          </a:xfrm>
          <a:prstGeom prst="ellipse">
            <a:avLst/>
          </a:prstGeom>
          <a:solidFill>
            <a:srgbClr val="1660BF"/>
          </a:solidFill>
          <a:ln w="12700">
            <a:solidFill>
              <a:srgbClr val="1660BF"/>
            </a:solidFill>
            <a:prstDash val="solid"/>
          </a:ln>
        </p:spPr>
        <p:txBody>
          <a:bodyPr/>
          <a:lstStyle/>
          <a:p>
            <a:endParaRPr lang="en-US" dirty="0">
              <a:solidFill>
                <a:srgbClr val="1660BF"/>
              </a:solidFill>
              <a:highlight>
                <a:srgbClr val="FFFF00"/>
              </a:highlight>
            </a:endParaRPr>
          </a:p>
        </p:txBody>
      </p:sp>
      <p:sp>
        <p:nvSpPr>
          <p:cNvPr id="10" name="Text 8"/>
          <p:cNvSpPr txBox="1"/>
          <p:nvPr/>
        </p:nvSpPr>
        <p:spPr>
          <a:xfrm>
            <a:off x="1133856" y="1609344"/>
            <a:ext cx="1920240"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NHÓM QUẢN LÝ</a:t>
            </a:r>
            <a:endParaRPr lang="en-US" sz="1300" dirty="0"/>
          </a:p>
        </p:txBody>
      </p:sp>
      <p:sp>
        <p:nvSpPr>
          <p:cNvPr id="11" name="Text 9"/>
          <p:cNvSpPr txBox="1"/>
          <p:nvPr/>
        </p:nvSpPr>
        <p:spPr>
          <a:xfrm>
            <a:off x="1133856" y="1901952"/>
            <a:ext cx="1920240" cy="237744"/>
          </a:xfrm>
          <a:prstGeom prst="rect">
            <a:avLst/>
          </a:prstGeom>
          <a:noFill/>
          <a:ln/>
        </p:spPr>
        <p:txBody>
          <a:bodyPr wrap="square" lIns="0" tIns="0" rIns="0" bIns="0" rtlCol="0" anchor="t"/>
          <a:lstStyle/>
          <a:p>
            <a:pPr marL="0" indent="0">
              <a:buNone/>
            </a:pPr>
            <a:r>
              <a:rPr lang="en-US" sz="950" b="1" dirty="0">
                <a:solidFill>
                  <a:srgbClr val="1660BF"/>
                </a:solidFill>
                <a:latin typeface="Calibri" pitchFamily="34" charset="0"/>
                <a:ea typeface="Calibri" pitchFamily="34" charset="-122"/>
                <a:cs typeface="Calibri" pitchFamily="34" charset="-120"/>
              </a:rPr>
              <a:t>Management  ·  03 quy trình</a:t>
            </a:r>
            <a:endParaRPr lang="en-US" sz="950" dirty="0"/>
          </a:p>
        </p:txBody>
      </p:sp>
      <p:sp>
        <p:nvSpPr>
          <p:cNvPr id="12" name="Text 10"/>
          <p:cNvSpPr txBox="1"/>
          <p:nvPr/>
        </p:nvSpPr>
        <p:spPr>
          <a:xfrm>
            <a:off x="3200400" y="1645920"/>
            <a:ext cx="3154680" cy="621792"/>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Giám sát, đo lường rủi ro và đánh giá hiệu suất (SLA) — đảm bảo hoạt động của Khối bám sát chiến lược Ngân hàng.</a:t>
            </a:r>
            <a:endParaRPr lang="en-US" sz="1000" dirty="0"/>
          </a:p>
        </p:txBody>
      </p:sp>
      <p:sp>
        <p:nvSpPr>
          <p:cNvPr id="13" name="Shape 11"/>
          <p:cNvSpPr/>
          <p:nvPr/>
        </p:nvSpPr>
        <p:spPr>
          <a:xfrm>
            <a:off x="548640" y="2487168"/>
            <a:ext cx="5943600" cy="841248"/>
          </a:xfrm>
          <a:prstGeom prst="roundRect">
            <a:avLst>
              <a:gd name="adj" fmla="val 6522"/>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4" name="Shape 12"/>
          <p:cNvSpPr/>
          <p:nvPr/>
        </p:nvSpPr>
        <p:spPr>
          <a:xfrm>
            <a:off x="768096" y="2788920"/>
            <a:ext cx="237744" cy="237744"/>
          </a:xfrm>
          <a:prstGeom prst="ellipse">
            <a:avLst/>
          </a:prstGeom>
          <a:solidFill>
            <a:srgbClr val="A5741A"/>
          </a:solidFill>
          <a:ln w="12700">
            <a:solidFill>
              <a:srgbClr val="A5741A"/>
            </a:solidFill>
            <a:prstDash val="solid"/>
          </a:ln>
        </p:spPr>
        <p:txBody>
          <a:bodyPr/>
          <a:lstStyle/>
          <a:p>
            <a:endParaRPr lang="en-US">
              <a:solidFill>
                <a:srgbClr val="0E7A5F"/>
              </a:solidFill>
            </a:endParaRPr>
          </a:p>
        </p:txBody>
      </p:sp>
      <p:sp>
        <p:nvSpPr>
          <p:cNvPr id="15" name="Text 13"/>
          <p:cNvSpPr txBox="1"/>
          <p:nvPr/>
        </p:nvSpPr>
        <p:spPr>
          <a:xfrm>
            <a:off x="1133856" y="2578608"/>
            <a:ext cx="1920240"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NHÓM CỐT LÕI</a:t>
            </a:r>
            <a:endParaRPr lang="en-US" sz="1300" dirty="0"/>
          </a:p>
        </p:txBody>
      </p:sp>
      <p:sp>
        <p:nvSpPr>
          <p:cNvPr id="16" name="Text 14"/>
          <p:cNvSpPr txBox="1"/>
          <p:nvPr/>
        </p:nvSpPr>
        <p:spPr>
          <a:xfrm>
            <a:off x="1133856" y="2871216"/>
            <a:ext cx="1920240" cy="237744"/>
          </a:xfrm>
          <a:prstGeom prst="rect">
            <a:avLst/>
          </a:prstGeom>
          <a:noFill/>
          <a:ln/>
        </p:spPr>
        <p:txBody>
          <a:bodyPr wrap="square" lIns="0" tIns="0" rIns="0" bIns="0" rtlCol="0" anchor="t"/>
          <a:lstStyle/>
          <a:p>
            <a:pPr marL="0" indent="0">
              <a:buNone/>
            </a:pPr>
            <a:r>
              <a:rPr lang="en-US" sz="950" b="1" dirty="0">
                <a:solidFill>
                  <a:srgbClr val="A5741A"/>
                </a:solidFill>
                <a:latin typeface="Calibri" pitchFamily="34" charset="0"/>
                <a:ea typeface="Calibri" pitchFamily="34" charset="-122"/>
                <a:cs typeface="Calibri" pitchFamily="34" charset="-120"/>
              </a:rPr>
              <a:t>Core  ·  03 quy trình</a:t>
            </a:r>
            <a:endParaRPr lang="en-US" sz="950" dirty="0"/>
          </a:p>
        </p:txBody>
      </p:sp>
      <p:sp>
        <p:nvSpPr>
          <p:cNvPr id="17" name="Text 15"/>
          <p:cNvSpPr txBox="1"/>
          <p:nvPr/>
        </p:nvSpPr>
        <p:spPr>
          <a:xfrm>
            <a:off x="3200400" y="2615184"/>
            <a:ext cx="3154680" cy="621792"/>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“Nhà máy” trực tiếp tiếp nhận và xử lý yêu cầu nghiệp vụ (tạo PYC, báo lỗi) từ người dùng nội bộ Sacombank.</a:t>
            </a:r>
            <a:endParaRPr lang="en-US" sz="1000" dirty="0"/>
          </a:p>
        </p:txBody>
      </p:sp>
      <p:sp>
        <p:nvSpPr>
          <p:cNvPr id="18" name="Shape 16"/>
          <p:cNvSpPr/>
          <p:nvPr/>
        </p:nvSpPr>
        <p:spPr>
          <a:xfrm>
            <a:off x="548640" y="3456432"/>
            <a:ext cx="5943600" cy="841248"/>
          </a:xfrm>
          <a:prstGeom prst="roundRect">
            <a:avLst>
              <a:gd name="adj" fmla="val 6522"/>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9" name="Shape 17"/>
          <p:cNvSpPr/>
          <p:nvPr/>
        </p:nvSpPr>
        <p:spPr>
          <a:xfrm>
            <a:off x="768096" y="3758184"/>
            <a:ext cx="237744" cy="237744"/>
          </a:xfrm>
          <a:prstGeom prst="ellipse">
            <a:avLst/>
          </a:prstGeom>
          <a:solidFill>
            <a:srgbClr val="0E7A5F"/>
          </a:solidFill>
          <a:ln w="12700">
            <a:solidFill>
              <a:srgbClr val="0E7A5F"/>
            </a:solidFill>
            <a:prstDash val="solid"/>
          </a:ln>
        </p:spPr>
        <p:txBody>
          <a:bodyPr/>
          <a:lstStyle/>
          <a:p>
            <a:endParaRPr lang="en-US"/>
          </a:p>
        </p:txBody>
      </p:sp>
      <p:sp>
        <p:nvSpPr>
          <p:cNvPr id="20" name="Text 18"/>
          <p:cNvSpPr txBox="1"/>
          <p:nvPr/>
        </p:nvSpPr>
        <p:spPr>
          <a:xfrm>
            <a:off x="1133856" y="3547872"/>
            <a:ext cx="1920240"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NHÓM HỖ TRỢ</a:t>
            </a:r>
            <a:endParaRPr lang="en-US" sz="1300" dirty="0"/>
          </a:p>
        </p:txBody>
      </p:sp>
      <p:sp>
        <p:nvSpPr>
          <p:cNvPr id="21" name="Text 19"/>
          <p:cNvSpPr txBox="1"/>
          <p:nvPr/>
        </p:nvSpPr>
        <p:spPr>
          <a:xfrm>
            <a:off x="1133856" y="3840480"/>
            <a:ext cx="1920240" cy="237744"/>
          </a:xfrm>
          <a:prstGeom prst="rect">
            <a:avLst/>
          </a:prstGeom>
          <a:noFill/>
          <a:ln/>
        </p:spPr>
        <p:txBody>
          <a:bodyPr wrap="square" lIns="0" tIns="0" rIns="0" bIns="0" rtlCol="0" anchor="t"/>
          <a:lstStyle/>
          <a:p>
            <a:pPr marL="0" indent="0">
              <a:buNone/>
            </a:pPr>
            <a:r>
              <a:rPr lang="en-US" sz="950" b="1" dirty="0">
                <a:solidFill>
                  <a:srgbClr val="0E7A5F"/>
                </a:solidFill>
                <a:latin typeface="Calibri" pitchFamily="34" charset="0"/>
                <a:ea typeface="Calibri" pitchFamily="34" charset="-122"/>
                <a:cs typeface="Calibri" pitchFamily="34" charset="-120"/>
              </a:rPr>
              <a:t>Support  ·  04 quy trình</a:t>
            </a:r>
            <a:endParaRPr lang="en-US" sz="950" dirty="0"/>
          </a:p>
        </p:txBody>
      </p:sp>
      <p:sp>
        <p:nvSpPr>
          <p:cNvPr id="22" name="Text 20"/>
          <p:cNvSpPr txBox="1"/>
          <p:nvPr/>
        </p:nvSpPr>
        <p:spPr>
          <a:xfrm>
            <a:off x="3200400" y="3584448"/>
            <a:ext cx="3154680" cy="621792"/>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Cung cấp tài sản, nền tảng tri thức và kiểm soát thay đổi hạ tầng để nhóm Cốt lõi vận hành hiệu quả.</a:t>
            </a:r>
            <a:endParaRPr lang="en-US" sz="1000" dirty="0"/>
          </a:p>
        </p:txBody>
      </p:sp>
      <p:sp>
        <p:nvSpPr>
          <p:cNvPr id="23" name="Shape 21"/>
          <p:cNvSpPr/>
          <p:nvPr/>
        </p:nvSpPr>
        <p:spPr>
          <a:xfrm>
            <a:off x="548640" y="4517136"/>
            <a:ext cx="5943600" cy="1371600"/>
          </a:xfrm>
          <a:prstGeom prst="roundRect">
            <a:avLst>
              <a:gd name="adj" fmla="val 4000"/>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24" name="Text 22"/>
          <p:cNvSpPr txBox="1"/>
          <p:nvPr/>
        </p:nvSpPr>
        <p:spPr>
          <a:xfrm>
            <a:off x="768096" y="4645152"/>
            <a:ext cx="4572000" cy="237744"/>
          </a:xfrm>
          <a:prstGeom prst="rect">
            <a:avLst/>
          </a:prstGeom>
          <a:noFill/>
          <a:ln/>
        </p:spPr>
        <p:txBody>
          <a:bodyPr wrap="square" lIns="0" tIns="0" rIns="0" bIns="0" rtlCol="0" anchor="t"/>
          <a:lstStyle/>
          <a:p>
            <a:pPr marL="0" indent="0">
              <a:buNone/>
            </a:pPr>
            <a:r>
              <a:rPr lang="en-US" sz="1000" b="1" kern="0" spc="100" dirty="0">
                <a:solidFill>
                  <a:srgbClr val="1660BF"/>
                </a:solidFill>
                <a:latin typeface="Calibri" pitchFamily="34" charset="0"/>
                <a:ea typeface="Calibri" pitchFamily="34" charset="-122"/>
                <a:cs typeface="Calibri" pitchFamily="34" charset="-120"/>
              </a:rPr>
              <a:t>Ý NGHĨA VỚI ĐỀ TÀI</a:t>
            </a:r>
            <a:endParaRPr lang="en-US" sz="1000" dirty="0"/>
          </a:p>
        </p:txBody>
      </p:sp>
      <p:sp>
        <p:nvSpPr>
          <p:cNvPr id="25" name="Text 23"/>
          <p:cNvSpPr txBox="1"/>
          <p:nvPr/>
        </p:nvSpPr>
        <p:spPr>
          <a:xfrm>
            <a:off x="768096" y="4901184"/>
            <a:ext cx="5486400" cy="859536"/>
          </a:xfrm>
          <a:prstGeom prst="rect">
            <a:avLst/>
          </a:prstGeom>
          <a:noFill/>
          <a:ln/>
        </p:spPr>
        <p:txBody>
          <a:bodyPr wrap="square" lIns="0" tIns="0" rIns="0" bIns="0" rtlCol="0" anchor="t"/>
          <a:lstStyle/>
          <a:p>
            <a:pPr marL="0" indent="0">
              <a:buNone/>
            </a:pPr>
            <a:r>
              <a:rPr lang="en-US" sz="1050" dirty="0">
                <a:solidFill>
                  <a:srgbClr val="2A3442"/>
                </a:solidFill>
                <a:latin typeface="Calibri" pitchFamily="34" charset="0"/>
                <a:ea typeface="Calibri" pitchFamily="34" charset="-122"/>
                <a:cs typeface="Calibri" pitchFamily="34" charset="-120"/>
              </a:rPr>
              <a:t>Mọi cải tiến với PYC (nhóm Cốt lõi) đều phải xem xét trong tương quan với cơ chế giám sát SLA (nhóm Quản lý) và nền tảng tri thức – tài sản hỗ trợ (nhóm Hỗ trợ). Đây là định hướng xuyên suốt các chương phân tích.</a:t>
            </a:r>
            <a:endParaRPr lang="en-US" sz="1050" dirty="0"/>
          </a:p>
        </p:txBody>
      </p:sp>
      <p:sp>
        <p:nvSpPr>
          <p:cNvPr id="26" name="Shape 24"/>
          <p:cNvSpPr/>
          <p:nvPr/>
        </p:nvSpPr>
        <p:spPr>
          <a:xfrm>
            <a:off x="6893051" y="937641"/>
            <a:ext cx="4355650" cy="5375687"/>
          </a:xfrm>
          <a:prstGeom prst="roundRect">
            <a:avLst>
              <a:gd name="adj" fmla="val 1667"/>
            </a:avLst>
          </a:prstGeom>
          <a:solidFill>
            <a:srgbClr val="FCF7EA"/>
          </a:solidFill>
          <a:ln w="15875">
            <a:solidFill>
              <a:srgbClr val="D9A227"/>
            </a:solidFill>
            <a:prstDash val="dash"/>
          </a:ln>
        </p:spPr>
        <p:txBody>
          <a:bodyPr/>
          <a:lstStyle/>
          <a:p>
            <a:endParaRPr lang="en-US"/>
          </a:p>
        </p:txBody>
      </p:sp>
      <p:pic>
        <p:nvPicPr>
          <p:cNvPr id="33" name="Picture 32">
            <a:extLst>
              <a:ext uri="{FF2B5EF4-FFF2-40B4-BE49-F238E27FC236}">
                <a16:creationId xmlns:a16="http://schemas.microsoft.com/office/drawing/2014/main" id="{D23F6742-5714-E1FF-1711-CEA24107B9F0}"/>
              </a:ext>
            </a:extLst>
          </p:cNvPr>
          <p:cNvPicPr>
            <a:picLocks noChangeAspect="1"/>
          </p:cNvPicPr>
          <p:nvPr/>
        </p:nvPicPr>
        <p:blipFill>
          <a:blip r:embed="rId3"/>
          <a:stretch>
            <a:fillRect/>
          </a:stretch>
        </p:blipFill>
        <p:spPr>
          <a:xfrm>
            <a:off x="6976269" y="1007364"/>
            <a:ext cx="4257239" cy="53766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1 · 1.2 KHẢO SÁT QUY TRÌNH</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DANH MỤC 10 QUY TRÌNH NGHIỆP VỤ CNTT</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1.1 — Danh mục quy trình tại Khối CNTT Sacombank  ·  Mã quy trình do nhóm đặt để tiện tham chiếu</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9</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3699974898"/>
              </p:ext>
            </p:extLst>
          </p:nvPr>
        </p:nvGraphicFramePr>
        <p:xfrm>
          <a:off x="548640" y="1426464"/>
          <a:ext cx="11091672" cy="4319909"/>
        </p:xfrm>
        <a:graphic>
          <a:graphicData uri="http://schemas.openxmlformats.org/drawingml/2006/table">
            <a:tbl>
              <a:tblPr/>
              <a:tblGrid>
                <a:gridCol w="6858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gridCol w="2587752">
                  <a:extLst>
                    <a:ext uri="{9D8B030D-6E8A-4147-A177-3AD203B41FA5}">
                      <a16:colId xmlns:a16="http://schemas.microsoft.com/office/drawing/2014/main" val="20004"/>
                    </a:ext>
                  </a:extLst>
                </a:gridCol>
              </a:tblGrid>
              <a:tr h="392719">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MÃ</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NHÓM</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QUY TRÌNH NGHIỆP VỤ</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THUẬT NGỮ TIẾNG ANH</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Process Owner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M01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Mức Dịch vụ</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Level Management (SLA)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Level Manager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M02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Rủi ro &amp; An toàn Thông tin</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Risk &amp; Information Security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Trung tâm ATTT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M03</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Ngân sách &amp; Nguồn lực CNTT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IT Budget &amp; Resource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Phòng Kế hoạch – Tài chính IT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C01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Core</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Yêu cầu Dịch vụ (PYC)</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Request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 / L2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C02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Core</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Sự cố</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Incident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 / Major Incident Manager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C03</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Core</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Phát hành Phần mềm</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Release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Release Coordinator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S01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Support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Vấn đề</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Problem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Problem Manager / SME</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7"/>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S02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Support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Thay đổi</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Change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Change Manager / Ban CAB</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8"/>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S03</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Support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Tài sản CNTT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IT Asset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Asset Administrator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9"/>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S04</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Support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Tri thức</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Knowledge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Knowledge Manager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1 · NHÓM QUY TRÌNH QUẢN LÝ</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M01 – M02 – M03  ·  TÁC NHÂN, KHÁCH HÀNG VÀ KẾT QUẢ ĐẦU RA</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Phản ánh cách Ban Giám đốc Khối IT quản trị và điều hành hoạt động chung của toàn Khối</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10</a:t>
            </a:r>
            <a:endParaRPr lang="en-US" sz="1100" dirty="0"/>
          </a:p>
        </p:txBody>
      </p:sp>
      <p:sp>
        <p:nvSpPr>
          <p:cNvPr id="8" name="Shape 6"/>
          <p:cNvSpPr/>
          <p:nvPr/>
        </p:nvSpPr>
        <p:spPr>
          <a:xfrm>
            <a:off x="548640" y="1463040"/>
            <a:ext cx="3515258" cy="434340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Shape 7"/>
          <p:cNvSpPr/>
          <p:nvPr/>
        </p:nvSpPr>
        <p:spPr>
          <a:xfrm>
            <a:off x="548640" y="1463040"/>
            <a:ext cx="3515258" cy="475488"/>
          </a:xfrm>
          <a:prstGeom prst="rect">
            <a:avLst/>
          </a:prstGeom>
          <a:solidFill>
            <a:srgbClr val="0B3B75"/>
          </a:solidFill>
          <a:ln w="12700">
            <a:solidFill>
              <a:srgbClr val="0B3B75"/>
            </a:solidFill>
            <a:prstDash val="solid"/>
          </a:ln>
        </p:spPr>
        <p:txBody>
          <a:bodyPr/>
          <a:lstStyle/>
          <a:p>
            <a:endParaRPr lang="en-US"/>
          </a:p>
        </p:txBody>
      </p:sp>
      <p:sp>
        <p:nvSpPr>
          <p:cNvPr id="10" name="Text 8"/>
          <p:cNvSpPr txBox="1"/>
          <p:nvPr/>
        </p:nvSpPr>
        <p:spPr>
          <a:xfrm>
            <a:off x="713232" y="1536192"/>
            <a:ext cx="318607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M01   Quản lý Mức Dịch vụ (SLA)</a:t>
            </a:r>
            <a:endParaRPr lang="en-US" sz="1150" dirty="0"/>
          </a:p>
        </p:txBody>
      </p:sp>
      <p:sp>
        <p:nvSpPr>
          <p:cNvPr id="11" name="Text 9"/>
          <p:cNvSpPr txBox="1"/>
          <p:nvPr/>
        </p:nvSpPr>
        <p:spPr>
          <a:xfrm>
            <a:off x="713232" y="204825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12" name="Text 10"/>
          <p:cNvSpPr txBox="1"/>
          <p:nvPr/>
        </p:nvSpPr>
        <p:spPr>
          <a:xfrm>
            <a:off x="713232"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Level Manager</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Nhân viên phân tích dữ liệu vận hành</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Ban Giám đốc Khối IT (phê duyệt)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Hệ thống ITSM (nguồn dữ liệu tự động)</a:t>
            </a:r>
            <a:endParaRPr lang="en-US" sz="950" dirty="0"/>
          </a:p>
        </p:txBody>
      </p:sp>
      <p:sp>
        <p:nvSpPr>
          <p:cNvPr id="13" name="Text 11"/>
          <p:cNvSpPr txBox="1"/>
          <p:nvPr/>
        </p:nvSpPr>
        <p:spPr>
          <a:xfrm>
            <a:off x="713232" y="3401568"/>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14" name="Text 12"/>
          <p:cNvSpPr txBox="1"/>
          <p:nvPr/>
        </p:nvSpPr>
        <p:spPr>
          <a:xfrm>
            <a:off x="713232"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Trưởng phòng ban IT — nhận kết quả đánh giá KPI</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Ban Giám đốc Khối CNTT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Gián tiếp: toàn thể CBNV end-user</a:t>
            </a:r>
            <a:endParaRPr lang="en-US" sz="950" dirty="0"/>
          </a:p>
        </p:txBody>
      </p:sp>
      <p:sp>
        <p:nvSpPr>
          <p:cNvPr id="15" name="Text 13"/>
          <p:cNvSpPr txBox="1"/>
          <p:nvPr/>
        </p:nvSpPr>
        <p:spPr>
          <a:xfrm>
            <a:off x="713232" y="451713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16" name="Text 14"/>
          <p:cNvSpPr txBox="1"/>
          <p:nvPr/>
        </p:nvSpPr>
        <p:spPr>
          <a:xfrm>
            <a:off x="713232" y="4736592"/>
            <a:ext cx="3186074"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Báo cáo SLA được phê duyệt, chỉ số đạt ngưỡng cam kết; giải pháp cải tiến được duyệt triển khai.</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Đề xuất cải tiến bị từ chối do thiếu nguồn lực; dữ liệu bất thường khiến kỳ đánh giá bị gia hạn.</a:t>
            </a:r>
            <a:endParaRPr lang="en-US" sz="900" dirty="0"/>
          </a:p>
        </p:txBody>
      </p:sp>
      <p:sp>
        <p:nvSpPr>
          <p:cNvPr id="17" name="Shape 15"/>
          <p:cNvSpPr/>
          <p:nvPr/>
        </p:nvSpPr>
        <p:spPr>
          <a:xfrm>
            <a:off x="4338218" y="1463040"/>
            <a:ext cx="3515258" cy="434340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Shape 16"/>
          <p:cNvSpPr/>
          <p:nvPr/>
        </p:nvSpPr>
        <p:spPr>
          <a:xfrm>
            <a:off x="4338218" y="1463040"/>
            <a:ext cx="3515258" cy="475488"/>
          </a:xfrm>
          <a:prstGeom prst="rect">
            <a:avLst/>
          </a:prstGeom>
          <a:solidFill>
            <a:srgbClr val="0B3B75"/>
          </a:solidFill>
          <a:ln w="12700">
            <a:solidFill>
              <a:srgbClr val="0B3B75"/>
            </a:solidFill>
            <a:prstDash val="solid"/>
          </a:ln>
        </p:spPr>
        <p:txBody>
          <a:bodyPr/>
          <a:lstStyle/>
          <a:p>
            <a:endParaRPr lang="en-US"/>
          </a:p>
        </p:txBody>
      </p:sp>
      <p:sp>
        <p:nvSpPr>
          <p:cNvPr id="19" name="Text 17"/>
          <p:cNvSpPr txBox="1"/>
          <p:nvPr/>
        </p:nvSpPr>
        <p:spPr>
          <a:xfrm>
            <a:off x="4502810" y="1536192"/>
            <a:ext cx="318607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M02   Quản lý Rủi ro &amp; ATTT</a:t>
            </a:r>
            <a:endParaRPr lang="en-US" sz="1150" dirty="0"/>
          </a:p>
        </p:txBody>
      </p:sp>
      <p:sp>
        <p:nvSpPr>
          <p:cNvPr id="20" name="Text 18"/>
          <p:cNvSpPr txBox="1"/>
          <p:nvPr/>
        </p:nvSpPr>
        <p:spPr>
          <a:xfrm>
            <a:off x="4502810" y="204825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21" name="Text 19"/>
          <p:cNvSpPr txBox="1"/>
          <p:nvPr/>
        </p:nvSpPr>
        <p:spPr>
          <a:xfrm>
            <a:off x="4502810"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Chuyên viên An toàn Thông tin</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Desk L1 (nguồn log bảo mật từ PYC)</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Hệ thống SIEM (giám sát tự động)</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Trưởng TT.ATTT và Ban Giám đốc Khối IT</a:t>
            </a:r>
            <a:endParaRPr lang="en-US" sz="950" dirty="0"/>
          </a:p>
        </p:txBody>
      </p:sp>
      <p:sp>
        <p:nvSpPr>
          <p:cNvPr id="22" name="Text 20"/>
          <p:cNvSpPr txBox="1"/>
          <p:nvPr/>
        </p:nvSpPr>
        <p:spPr>
          <a:xfrm>
            <a:off x="4502810" y="3401568"/>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23" name="Text 21"/>
          <p:cNvSpPr txBox="1"/>
          <p:nvPr/>
        </p:nvSpPr>
        <p:spPr>
          <a:xfrm>
            <a:off x="4502810"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Bộ phận vận hành hệ thống (Ops Team)</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Kiểm soát nội bộ và Phòng QLRR Ngân hàng</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Gián tiếp: toàn thể CBNV</a:t>
            </a:r>
            <a:endParaRPr lang="en-US" sz="950" dirty="0"/>
          </a:p>
        </p:txBody>
      </p:sp>
      <p:sp>
        <p:nvSpPr>
          <p:cNvPr id="24" name="Text 22"/>
          <p:cNvSpPr txBox="1"/>
          <p:nvPr/>
        </p:nvSpPr>
        <p:spPr>
          <a:xfrm>
            <a:off x="4502810" y="451713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25" name="Text 23"/>
          <p:cNvSpPr txBox="1"/>
          <p:nvPr/>
        </p:nvSpPr>
        <p:spPr>
          <a:xfrm>
            <a:off x="4502810" y="4736592"/>
            <a:ext cx="3186074"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Hệ thống được vá lỗi, lỗ hổng bị loại bỏ và Risk Register được cập nhật; hoặc rủi ro được chấp nhận và theo dõi.</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Phương án bị từ chối do downtime quá lớn; sau khi vá phát sinh lỗi mới, kích hoạt rollback và mở Incident.</a:t>
            </a:r>
            <a:endParaRPr lang="en-US" sz="900" dirty="0"/>
          </a:p>
        </p:txBody>
      </p:sp>
      <p:sp>
        <p:nvSpPr>
          <p:cNvPr id="26" name="Shape 24"/>
          <p:cNvSpPr/>
          <p:nvPr/>
        </p:nvSpPr>
        <p:spPr>
          <a:xfrm>
            <a:off x="8127797" y="1463040"/>
            <a:ext cx="3515258" cy="434340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7" name="Shape 25"/>
          <p:cNvSpPr/>
          <p:nvPr/>
        </p:nvSpPr>
        <p:spPr>
          <a:xfrm>
            <a:off x="8127797" y="1463040"/>
            <a:ext cx="3515258" cy="475488"/>
          </a:xfrm>
          <a:prstGeom prst="rect">
            <a:avLst/>
          </a:prstGeom>
          <a:solidFill>
            <a:srgbClr val="0B3B75"/>
          </a:solidFill>
          <a:ln w="12700">
            <a:solidFill>
              <a:srgbClr val="0B3B75"/>
            </a:solidFill>
            <a:prstDash val="solid"/>
          </a:ln>
        </p:spPr>
        <p:txBody>
          <a:bodyPr/>
          <a:lstStyle/>
          <a:p>
            <a:endParaRPr lang="en-US"/>
          </a:p>
        </p:txBody>
      </p:sp>
      <p:sp>
        <p:nvSpPr>
          <p:cNvPr id="28" name="Text 26"/>
          <p:cNvSpPr txBox="1"/>
          <p:nvPr/>
        </p:nvSpPr>
        <p:spPr>
          <a:xfrm>
            <a:off x="8292389" y="1536192"/>
            <a:ext cx="318607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M03   Quản lý Ngân sách &amp; Nguồn lực</a:t>
            </a:r>
            <a:endParaRPr lang="en-US" sz="1150" dirty="0"/>
          </a:p>
        </p:txBody>
      </p:sp>
      <p:sp>
        <p:nvSpPr>
          <p:cNvPr id="29" name="Text 27"/>
          <p:cNvSpPr txBox="1"/>
          <p:nvPr/>
        </p:nvSpPr>
        <p:spPr>
          <a:xfrm>
            <a:off x="8292389" y="204825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30" name="Text 28"/>
          <p:cNvSpPr txBox="1"/>
          <p:nvPr/>
        </p:nvSpPr>
        <p:spPr>
          <a:xfrm>
            <a:off x="8292389"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Trưởng các phòng ban Khối IT (đề xuất)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Phòng Kế hoạch – Tài chính IT (thẩm định)</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Giám đốc Khối IT (phê duyệt cuối)</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Phòng Tài chính Ngân hàng (cấp ngân sách)</a:t>
            </a:r>
            <a:endParaRPr lang="en-US" sz="950" dirty="0"/>
          </a:p>
        </p:txBody>
      </p:sp>
      <p:sp>
        <p:nvSpPr>
          <p:cNvPr id="31" name="Text 29"/>
          <p:cNvSpPr txBox="1"/>
          <p:nvPr/>
        </p:nvSpPr>
        <p:spPr>
          <a:xfrm>
            <a:off x="8292389" y="3401568"/>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32" name="Text 30"/>
          <p:cNvSpPr txBox="1"/>
          <p:nvPr/>
        </p:nvSpPr>
        <p:spPr>
          <a:xfrm>
            <a:off x="8292389"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Trưởng phòng ban IT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Ban Giám đốc Khối IT (phân bổ nguồn lực)</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Phòng Tài chính Ngân hàng</a:t>
            </a:r>
            <a:endParaRPr lang="en-US" sz="950" dirty="0"/>
          </a:p>
        </p:txBody>
      </p:sp>
      <p:sp>
        <p:nvSpPr>
          <p:cNvPr id="33" name="Text 31"/>
          <p:cNvSpPr txBox="1"/>
          <p:nvPr/>
        </p:nvSpPr>
        <p:spPr>
          <a:xfrm>
            <a:off x="8292389" y="451713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34" name="Text 32"/>
          <p:cNvSpPr txBox="1"/>
          <p:nvPr/>
        </p:nvSpPr>
        <p:spPr>
          <a:xfrm>
            <a:off x="8292389" y="4736592"/>
            <a:ext cx="3186074"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Kế hoạch ngân sách được phê duyệt đầy đủ; yêu cầu mua sắm đột xuất được duyệt bổ sung.</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Kế hoạch bị cắt giảm một phần; yêu cầu bị từ chối do vượt trần ngân sách hoặc lệch chiến lược.</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1 · NHÓM QUY TRÌNH CỐT LÕI</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C01 – C02 – C03  ·  TÁC NHÂN, KHÁCH HÀNG VÀ KẾT QUẢ ĐẦU RA</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Nhóm tạo ra giá trị trực tiếp cho người dùng nội bộ — C01 (PYC) là đối tượng nghiên cứu chính của đề tài</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11</a:t>
            </a:r>
            <a:endParaRPr lang="en-US" sz="1100" dirty="0"/>
          </a:p>
        </p:txBody>
      </p:sp>
      <p:sp>
        <p:nvSpPr>
          <p:cNvPr id="8" name="Shape 6"/>
          <p:cNvSpPr/>
          <p:nvPr/>
        </p:nvSpPr>
        <p:spPr>
          <a:xfrm>
            <a:off x="548640" y="1463040"/>
            <a:ext cx="3515258" cy="434340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Shape 7"/>
          <p:cNvSpPr/>
          <p:nvPr/>
        </p:nvSpPr>
        <p:spPr>
          <a:xfrm>
            <a:off x="548640" y="1463040"/>
            <a:ext cx="3515258" cy="475488"/>
          </a:xfrm>
          <a:prstGeom prst="rect">
            <a:avLst/>
          </a:prstGeom>
          <a:solidFill>
            <a:srgbClr val="0B3B75"/>
          </a:solidFill>
          <a:ln w="12700">
            <a:solidFill>
              <a:srgbClr val="0B3B75"/>
            </a:solidFill>
            <a:prstDash val="solid"/>
          </a:ln>
        </p:spPr>
        <p:txBody>
          <a:bodyPr/>
          <a:lstStyle/>
          <a:p>
            <a:endParaRPr lang="en-US"/>
          </a:p>
        </p:txBody>
      </p:sp>
      <p:sp>
        <p:nvSpPr>
          <p:cNvPr id="10" name="Text 8"/>
          <p:cNvSpPr txBox="1"/>
          <p:nvPr/>
        </p:nvSpPr>
        <p:spPr>
          <a:xfrm>
            <a:off x="713232" y="1536192"/>
            <a:ext cx="318607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C01   Quản lý Yêu cầu Dịch vụ (PYC)</a:t>
            </a:r>
            <a:endParaRPr lang="en-US" sz="1150" dirty="0"/>
          </a:p>
        </p:txBody>
      </p:sp>
      <p:sp>
        <p:nvSpPr>
          <p:cNvPr id="11" name="Text 9"/>
          <p:cNvSpPr txBox="1"/>
          <p:nvPr/>
        </p:nvSpPr>
        <p:spPr>
          <a:xfrm>
            <a:off x="713232" y="204825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12" name="Text 10"/>
          <p:cNvSpPr txBox="1"/>
          <p:nvPr/>
        </p:nvSpPr>
        <p:spPr>
          <a:xfrm>
            <a:off x="713232"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Người dùng nội bộ (End-user)</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Quản lý trực tiếp (Trưởng/Phó đơn vị)</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IT Helpdesk — Service Desk Level 1</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Chuyên viên kỹ thuật — Level 2</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Hệ thống ITSM (xử lý tự động)</a:t>
            </a:r>
            <a:endParaRPr lang="en-US" sz="950" dirty="0"/>
          </a:p>
        </p:txBody>
      </p:sp>
      <p:sp>
        <p:nvSpPr>
          <p:cNvPr id="13" name="Text 11"/>
          <p:cNvSpPr txBox="1"/>
          <p:nvPr/>
        </p:nvSpPr>
        <p:spPr>
          <a:xfrm>
            <a:off x="713232" y="3401568"/>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14" name="Text 12"/>
          <p:cNvSpPr txBox="1"/>
          <p:nvPr/>
        </p:nvSpPr>
        <p:spPr>
          <a:xfrm>
            <a:off x="713232"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Toàn thể CBNV phòng ban nghiệp vụ — nhân viên giao dịch chi nhánh, nhân viên hội sở</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Cán bộ quản lý các cấp</a:t>
            </a:r>
            <a:endParaRPr lang="en-US" sz="950" dirty="0"/>
          </a:p>
        </p:txBody>
      </p:sp>
      <p:sp>
        <p:nvSpPr>
          <p:cNvPr id="15" name="Text 13"/>
          <p:cNvSpPr txBox="1"/>
          <p:nvPr/>
        </p:nvSpPr>
        <p:spPr>
          <a:xfrm>
            <a:off x="713232" y="451713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16" name="Text 14"/>
          <p:cNvSpPr txBox="1"/>
          <p:nvPr/>
        </p:nvSpPr>
        <p:spPr>
          <a:xfrm>
            <a:off x="713232" y="4736592"/>
            <a:ext cx="3186074"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PYC được xử lý thành công, người dùng xác nhận đạt yêu cầu; quyền truy cập/thiết bị được cấp đúng hạn SLA.</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Bị từ chối do vi phạm chính sách bảo mật; bị trả về bổ sung thông tin; vi phạm SLA do chờ phê duyệt kéo dài.</a:t>
            </a:r>
            <a:endParaRPr lang="en-US" sz="900" dirty="0"/>
          </a:p>
        </p:txBody>
      </p:sp>
      <p:sp>
        <p:nvSpPr>
          <p:cNvPr id="17" name="Shape 15"/>
          <p:cNvSpPr/>
          <p:nvPr/>
        </p:nvSpPr>
        <p:spPr>
          <a:xfrm>
            <a:off x="4338218" y="1463040"/>
            <a:ext cx="3515258" cy="434340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Shape 16"/>
          <p:cNvSpPr/>
          <p:nvPr/>
        </p:nvSpPr>
        <p:spPr>
          <a:xfrm>
            <a:off x="4338218" y="1463040"/>
            <a:ext cx="3515258" cy="475488"/>
          </a:xfrm>
          <a:prstGeom prst="rect">
            <a:avLst/>
          </a:prstGeom>
          <a:solidFill>
            <a:srgbClr val="0B3B75"/>
          </a:solidFill>
          <a:ln w="12700">
            <a:solidFill>
              <a:srgbClr val="0B3B75"/>
            </a:solidFill>
            <a:prstDash val="solid"/>
          </a:ln>
        </p:spPr>
        <p:txBody>
          <a:bodyPr/>
          <a:lstStyle/>
          <a:p>
            <a:endParaRPr lang="en-US"/>
          </a:p>
        </p:txBody>
      </p:sp>
      <p:sp>
        <p:nvSpPr>
          <p:cNvPr id="19" name="Text 17"/>
          <p:cNvSpPr txBox="1"/>
          <p:nvPr/>
        </p:nvSpPr>
        <p:spPr>
          <a:xfrm>
            <a:off x="4502810" y="1536192"/>
            <a:ext cx="318607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C02   Quản lý Sự cố (Incident)</a:t>
            </a:r>
            <a:endParaRPr lang="en-US" sz="1150" dirty="0"/>
          </a:p>
        </p:txBody>
      </p:sp>
      <p:sp>
        <p:nvSpPr>
          <p:cNvPr id="20" name="Text 18"/>
          <p:cNvSpPr txBox="1"/>
          <p:nvPr/>
        </p:nvSpPr>
        <p:spPr>
          <a:xfrm>
            <a:off x="4502810" y="204825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21" name="Text 19"/>
          <p:cNvSpPr txBox="1"/>
          <p:nvPr/>
        </p:nvSpPr>
        <p:spPr>
          <a:xfrm>
            <a:off x="4502810"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Người dùng nội bộ (End-user)</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Hệ thống ITSM — SmartIT (đối chiếu trùng lặp real-time)</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IT Helpdesk — Service Desk Level 1</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Chuyên viên kỹ thuật Level 2</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Major Incident Manager</a:t>
            </a:r>
            <a:endParaRPr lang="en-US" sz="950" dirty="0"/>
          </a:p>
        </p:txBody>
      </p:sp>
      <p:sp>
        <p:nvSpPr>
          <p:cNvPr id="22" name="Text 20"/>
          <p:cNvSpPr txBox="1"/>
          <p:nvPr/>
        </p:nvSpPr>
        <p:spPr>
          <a:xfrm>
            <a:off x="4502810" y="3401568"/>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23" name="Text 21"/>
          <p:cNvSpPr txBox="1"/>
          <p:nvPr/>
        </p:nvSpPr>
        <p:spPr>
          <a:xfrm>
            <a:off x="4502810"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CBNV nội bộ đang bị ảnh hưởng trực tiếp bởi sự cố</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Ban Giám đốc Khối CNTT và Ban Giám đốc Ngân hàng khi xảy ra Major Incident</a:t>
            </a:r>
            <a:endParaRPr lang="en-US" sz="950" dirty="0"/>
          </a:p>
        </p:txBody>
      </p:sp>
      <p:sp>
        <p:nvSpPr>
          <p:cNvPr id="24" name="Text 22"/>
          <p:cNvSpPr txBox="1"/>
          <p:nvPr/>
        </p:nvSpPr>
        <p:spPr>
          <a:xfrm>
            <a:off x="4502810" y="451713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25" name="Text 23"/>
          <p:cNvSpPr txBox="1"/>
          <p:nvPr/>
        </p:nvSpPr>
        <p:spPr>
          <a:xfrm>
            <a:off x="4502810" y="4736592"/>
            <a:ext cx="3186074"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Sự cố được khắc phục, dịch vụ khôi phục bình thường; sự cố trùng lặp được tự động liên kết vào Incident gốc.</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Vượt khả năng L1 phải leo thang L2/L3; nâng cấp thành Major Incident; sau đóng phiếu phát sinh Problem hoặc Change.</a:t>
            </a:r>
            <a:endParaRPr lang="en-US" sz="900" dirty="0"/>
          </a:p>
        </p:txBody>
      </p:sp>
      <p:sp>
        <p:nvSpPr>
          <p:cNvPr id="26" name="Shape 24"/>
          <p:cNvSpPr/>
          <p:nvPr/>
        </p:nvSpPr>
        <p:spPr>
          <a:xfrm>
            <a:off x="8127797" y="1463040"/>
            <a:ext cx="3515258" cy="434340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7" name="Shape 25"/>
          <p:cNvSpPr/>
          <p:nvPr/>
        </p:nvSpPr>
        <p:spPr>
          <a:xfrm>
            <a:off x="8127797" y="1463040"/>
            <a:ext cx="3515258" cy="475488"/>
          </a:xfrm>
          <a:prstGeom prst="rect">
            <a:avLst/>
          </a:prstGeom>
          <a:solidFill>
            <a:srgbClr val="0B3B75"/>
          </a:solidFill>
          <a:ln w="12700">
            <a:solidFill>
              <a:srgbClr val="0B3B75"/>
            </a:solidFill>
            <a:prstDash val="solid"/>
          </a:ln>
        </p:spPr>
        <p:txBody>
          <a:bodyPr/>
          <a:lstStyle/>
          <a:p>
            <a:endParaRPr lang="en-US"/>
          </a:p>
        </p:txBody>
      </p:sp>
      <p:sp>
        <p:nvSpPr>
          <p:cNvPr id="28" name="Text 26"/>
          <p:cNvSpPr txBox="1"/>
          <p:nvPr/>
        </p:nvSpPr>
        <p:spPr>
          <a:xfrm>
            <a:off x="8292389" y="1536192"/>
            <a:ext cx="318607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C03   Quản lý Phát hành Phần mềm</a:t>
            </a:r>
            <a:endParaRPr lang="en-US" sz="1150" dirty="0"/>
          </a:p>
        </p:txBody>
      </p:sp>
      <p:sp>
        <p:nvSpPr>
          <p:cNvPr id="29" name="Text 27"/>
          <p:cNvSpPr txBox="1"/>
          <p:nvPr/>
        </p:nvSpPr>
        <p:spPr>
          <a:xfrm>
            <a:off x="8292389" y="204825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30" name="Text 28"/>
          <p:cNvSpPr txBox="1"/>
          <p:nvPr/>
        </p:nvSpPr>
        <p:spPr>
          <a:xfrm>
            <a:off x="8292389"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Release Coordinator (điều phối phát hành)</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Phát triển phần mềm (Dev Team)</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Kiểm thử chất lượng (QA/Test)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Quản lý dự án hoặc Product Owner</a:t>
            </a:r>
            <a:endParaRPr lang="en-US" sz="950" dirty="0"/>
          </a:p>
        </p:txBody>
      </p:sp>
      <p:sp>
        <p:nvSpPr>
          <p:cNvPr id="31" name="Text 29"/>
          <p:cNvSpPr txBox="1"/>
          <p:nvPr/>
        </p:nvSpPr>
        <p:spPr>
          <a:xfrm>
            <a:off x="8292389" y="3401568"/>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32" name="Text 30"/>
          <p:cNvSpPr txBox="1"/>
          <p:nvPr/>
        </p:nvSpPr>
        <p:spPr>
          <a:xfrm>
            <a:off x="8292389"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dự án phần mềm nội bộ (Dev, QA, BA)</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Phòng ban nghiệp vụ đặt hàng tính năng mới</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vận hành hệ thống (Ops)</a:t>
            </a:r>
            <a:endParaRPr lang="en-US" sz="950" dirty="0"/>
          </a:p>
        </p:txBody>
      </p:sp>
      <p:sp>
        <p:nvSpPr>
          <p:cNvPr id="33" name="Text 31"/>
          <p:cNvSpPr txBox="1"/>
          <p:nvPr/>
        </p:nvSpPr>
        <p:spPr>
          <a:xfrm>
            <a:off x="8292389" y="451713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34" name="Text 32"/>
          <p:cNvSpPr txBox="1"/>
          <p:nvPr/>
        </p:nvSpPr>
        <p:spPr>
          <a:xfrm>
            <a:off x="8292389" y="4736592"/>
            <a:ext cx="3186074"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Phần mềm được phát hành thành công lên Production và hoạt động ổn định.</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Hoãn do kiểm thử phát hiện lỗi nghiêm trọng; phát sinh lỗi phải Rollback và mở Incident; hủy do phạm vi thay đổi.</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1 · NHÓM QUY TRÌNH HỖ TRỢ</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S01 – S02 – S03 – S04  ·  TÁC NHÂN, KHÁCH HÀNG VÀ KẾT QUẢ ĐẦU RA</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Giúp Khối IT duy trì nguồn lực và công cụ để thực hiện các quy trình cốt lõi</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12</a:t>
            </a:r>
            <a:endParaRPr lang="en-US" sz="1100" dirty="0"/>
          </a:p>
        </p:txBody>
      </p:sp>
      <p:sp>
        <p:nvSpPr>
          <p:cNvPr id="8" name="Shape 6"/>
          <p:cNvSpPr/>
          <p:nvPr/>
        </p:nvSpPr>
        <p:spPr>
          <a:xfrm>
            <a:off x="548640" y="1463040"/>
            <a:ext cx="2567864" cy="4343400"/>
          </a:xfrm>
          <a:prstGeom prst="roundRect">
            <a:avLst>
              <a:gd name="adj" fmla="val 2137"/>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Shape 7"/>
          <p:cNvSpPr/>
          <p:nvPr/>
        </p:nvSpPr>
        <p:spPr>
          <a:xfrm>
            <a:off x="548640" y="1463040"/>
            <a:ext cx="2567864" cy="475488"/>
          </a:xfrm>
          <a:prstGeom prst="rect">
            <a:avLst/>
          </a:prstGeom>
          <a:solidFill>
            <a:srgbClr val="0B3B75"/>
          </a:solidFill>
          <a:ln w="12700">
            <a:solidFill>
              <a:srgbClr val="0B3B75"/>
            </a:solidFill>
            <a:prstDash val="solid"/>
          </a:ln>
        </p:spPr>
        <p:txBody>
          <a:bodyPr/>
          <a:lstStyle/>
          <a:p>
            <a:endParaRPr lang="en-US"/>
          </a:p>
        </p:txBody>
      </p:sp>
      <p:sp>
        <p:nvSpPr>
          <p:cNvPr id="10" name="Text 8"/>
          <p:cNvSpPr txBox="1"/>
          <p:nvPr/>
        </p:nvSpPr>
        <p:spPr>
          <a:xfrm>
            <a:off x="713232" y="1536192"/>
            <a:ext cx="223868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S01   Quản lý Vấn đề</a:t>
            </a:r>
            <a:endParaRPr lang="en-US" sz="1150" dirty="0"/>
          </a:p>
        </p:txBody>
      </p:sp>
      <p:sp>
        <p:nvSpPr>
          <p:cNvPr id="11" name="Text 9"/>
          <p:cNvSpPr txBox="1"/>
          <p:nvPr/>
        </p:nvSpPr>
        <p:spPr>
          <a:xfrm>
            <a:off x="713232" y="204825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12" name="Text 10"/>
          <p:cNvSpPr txBox="1"/>
          <p:nvPr/>
        </p:nvSpPr>
        <p:spPr>
          <a:xfrm>
            <a:off x="713232" y="2267712"/>
            <a:ext cx="2238680"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Subject Matter Expert (SME)</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kỹ thuật Level 2 / Level 3</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Desk L1 (nguồn dữ liệu Incident)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Problem Manager</a:t>
            </a:r>
            <a:endParaRPr lang="en-US" sz="950" dirty="0"/>
          </a:p>
        </p:txBody>
      </p:sp>
      <p:sp>
        <p:nvSpPr>
          <p:cNvPr id="13" name="Text 11"/>
          <p:cNvSpPr txBox="1"/>
          <p:nvPr/>
        </p:nvSpPr>
        <p:spPr>
          <a:xfrm>
            <a:off x="713232" y="3401568"/>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14" name="Text 12"/>
          <p:cNvSpPr txBox="1"/>
          <p:nvPr/>
        </p:nvSpPr>
        <p:spPr>
          <a:xfrm>
            <a:off x="713232" y="3621024"/>
            <a:ext cx="2238680"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kỹ thuật L2/L3 phân tích RCA</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Desk L1 — hưởng lợi từ Known Error DB</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Gián tiếp: toàn thể CBNV</a:t>
            </a:r>
            <a:endParaRPr lang="en-US" sz="950" dirty="0"/>
          </a:p>
        </p:txBody>
      </p:sp>
      <p:sp>
        <p:nvSpPr>
          <p:cNvPr id="15" name="Text 13"/>
          <p:cNvSpPr txBox="1"/>
          <p:nvPr/>
        </p:nvSpPr>
        <p:spPr>
          <a:xfrm>
            <a:off x="713232" y="451713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16" name="Text 14"/>
          <p:cNvSpPr txBox="1"/>
          <p:nvPr/>
        </p:nvSpPr>
        <p:spPr>
          <a:xfrm>
            <a:off x="713232" y="4736592"/>
            <a:ext cx="2238680"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Root Cause được xác định, giải pháp triệt để triển khai qua phiếu Change; Known Error mới lên Knowledge Base.</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Giải pháp triệt để chưa khả thi, chỉ ghi Workaround; không xác định được Root Cause, chuyển theo dõi dài hạn.</a:t>
            </a:r>
            <a:endParaRPr lang="en-US" sz="900" dirty="0"/>
          </a:p>
        </p:txBody>
      </p:sp>
      <p:sp>
        <p:nvSpPr>
          <p:cNvPr id="17" name="Shape 15"/>
          <p:cNvSpPr/>
          <p:nvPr/>
        </p:nvSpPr>
        <p:spPr>
          <a:xfrm>
            <a:off x="3390824" y="1463040"/>
            <a:ext cx="2567864" cy="4343400"/>
          </a:xfrm>
          <a:prstGeom prst="roundRect">
            <a:avLst>
              <a:gd name="adj" fmla="val 2137"/>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Shape 16"/>
          <p:cNvSpPr/>
          <p:nvPr/>
        </p:nvSpPr>
        <p:spPr>
          <a:xfrm>
            <a:off x="3390824" y="1463040"/>
            <a:ext cx="2567864" cy="475488"/>
          </a:xfrm>
          <a:prstGeom prst="rect">
            <a:avLst/>
          </a:prstGeom>
          <a:solidFill>
            <a:srgbClr val="0B3B75"/>
          </a:solidFill>
          <a:ln w="12700">
            <a:solidFill>
              <a:srgbClr val="0B3B75"/>
            </a:solidFill>
            <a:prstDash val="solid"/>
          </a:ln>
        </p:spPr>
        <p:txBody>
          <a:bodyPr/>
          <a:lstStyle/>
          <a:p>
            <a:endParaRPr lang="en-US"/>
          </a:p>
        </p:txBody>
      </p:sp>
      <p:sp>
        <p:nvSpPr>
          <p:cNvPr id="19" name="Text 17"/>
          <p:cNvSpPr txBox="1"/>
          <p:nvPr/>
        </p:nvSpPr>
        <p:spPr>
          <a:xfrm>
            <a:off x="3555416" y="1536192"/>
            <a:ext cx="223868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S02   Quản lý Thay đổi</a:t>
            </a:r>
            <a:endParaRPr lang="en-US" sz="1150" dirty="0"/>
          </a:p>
        </p:txBody>
      </p:sp>
      <p:sp>
        <p:nvSpPr>
          <p:cNvPr id="20" name="Text 18"/>
          <p:cNvSpPr txBox="1"/>
          <p:nvPr/>
        </p:nvSpPr>
        <p:spPr>
          <a:xfrm>
            <a:off x="3555416" y="204825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21" name="Text 19"/>
          <p:cNvSpPr txBox="1"/>
          <p:nvPr/>
        </p:nvSpPr>
        <p:spPr>
          <a:xfrm>
            <a:off x="3555416" y="2267712"/>
            <a:ext cx="2238680"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Người đề xuất thay đổi (nhân sự IT)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Change Manager (điều phối, đánh giá rủi ro)</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Quản lý Cấp 1 (đánh giá sơ bộ)</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Ban Cố vấn Thay đổi (CAB)</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Bộ phận Triển khai IT</a:t>
            </a:r>
            <a:endParaRPr lang="en-US" sz="950" dirty="0"/>
          </a:p>
        </p:txBody>
      </p:sp>
      <p:sp>
        <p:nvSpPr>
          <p:cNvPr id="22" name="Text 20"/>
          <p:cNvSpPr txBox="1"/>
          <p:nvPr/>
        </p:nvSpPr>
        <p:spPr>
          <a:xfrm>
            <a:off x="3555416" y="3401568"/>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23" name="Text 21"/>
          <p:cNvSpPr txBox="1"/>
          <p:nvPr/>
        </p:nvSpPr>
        <p:spPr>
          <a:xfrm>
            <a:off x="3555416" y="3621024"/>
            <a:ext cx="2238680"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hạ tầng và vận hành hệ thống</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phát triển ứng dụng</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Desk L1</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Gián tiếp: toàn thể CBNV</a:t>
            </a:r>
            <a:endParaRPr lang="en-US" sz="950" dirty="0"/>
          </a:p>
        </p:txBody>
      </p:sp>
      <p:sp>
        <p:nvSpPr>
          <p:cNvPr id="24" name="Text 22"/>
          <p:cNvSpPr txBox="1"/>
          <p:nvPr/>
        </p:nvSpPr>
        <p:spPr>
          <a:xfrm>
            <a:off x="3555416" y="451713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25" name="Text 23"/>
          <p:cNvSpPr txBox="1"/>
          <p:nvPr/>
        </p:nvSpPr>
        <p:spPr>
          <a:xfrm>
            <a:off x="3555416" y="4736592"/>
            <a:ext cx="2238680"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Thay đổi triển khai thành công, hệ thống ổn định, CMDB cập nhật; Standard Change được tự động phê duyệt.</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Bị CAB từ chối do rủi ro cao; phát sinh lỗi phải rollback và mở Incident; Emergency Change không được ratify.</a:t>
            </a:r>
            <a:endParaRPr lang="en-US" sz="900" dirty="0"/>
          </a:p>
        </p:txBody>
      </p:sp>
      <p:sp>
        <p:nvSpPr>
          <p:cNvPr id="26" name="Shape 24"/>
          <p:cNvSpPr/>
          <p:nvPr/>
        </p:nvSpPr>
        <p:spPr>
          <a:xfrm>
            <a:off x="6233008" y="1463040"/>
            <a:ext cx="2567864" cy="4343400"/>
          </a:xfrm>
          <a:prstGeom prst="roundRect">
            <a:avLst>
              <a:gd name="adj" fmla="val 2137"/>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7" name="Shape 25"/>
          <p:cNvSpPr/>
          <p:nvPr/>
        </p:nvSpPr>
        <p:spPr>
          <a:xfrm>
            <a:off x="6233008" y="1463040"/>
            <a:ext cx="2567864" cy="475488"/>
          </a:xfrm>
          <a:prstGeom prst="rect">
            <a:avLst/>
          </a:prstGeom>
          <a:solidFill>
            <a:srgbClr val="0B3B75"/>
          </a:solidFill>
          <a:ln w="12700">
            <a:solidFill>
              <a:srgbClr val="0B3B75"/>
            </a:solidFill>
            <a:prstDash val="solid"/>
          </a:ln>
        </p:spPr>
        <p:txBody>
          <a:bodyPr/>
          <a:lstStyle/>
          <a:p>
            <a:endParaRPr lang="en-US"/>
          </a:p>
        </p:txBody>
      </p:sp>
      <p:sp>
        <p:nvSpPr>
          <p:cNvPr id="28" name="Text 26"/>
          <p:cNvSpPr txBox="1"/>
          <p:nvPr/>
        </p:nvSpPr>
        <p:spPr>
          <a:xfrm>
            <a:off x="6397600" y="1536192"/>
            <a:ext cx="223868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S03   Quản lý Tài sản CNTT</a:t>
            </a:r>
            <a:endParaRPr lang="en-US" sz="1150" dirty="0"/>
          </a:p>
        </p:txBody>
      </p:sp>
      <p:sp>
        <p:nvSpPr>
          <p:cNvPr id="29" name="Text 27"/>
          <p:cNvSpPr txBox="1"/>
          <p:nvPr/>
        </p:nvSpPr>
        <p:spPr>
          <a:xfrm>
            <a:off x="6397600" y="204825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30" name="Text 28"/>
          <p:cNvSpPr txBox="1"/>
          <p:nvPr/>
        </p:nvSpPr>
        <p:spPr>
          <a:xfrm>
            <a:off x="6397600" y="2267712"/>
            <a:ext cx="2238680"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Nhân viên quản lý tài sản (Asset Administrator)</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Kế toán IT (theo dõi giá trị, khấu hao)</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Desk L1 (nhận yêu cầu cấp phát từ PYC)</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Trưởng phòng quản lý hạ tầng</a:t>
            </a:r>
            <a:endParaRPr lang="en-US" sz="950" dirty="0"/>
          </a:p>
        </p:txBody>
      </p:sp>
      <p:sp>
        <p:nvSpPr>
          <p:cNvPr id="31" name="Text 29"/>
          <p:cNvSpPr txBox="1"/>
          <p:nvPr/>
        </p:nvSpPr>
        <p:spPr>
          <a:xfrm>
            <a:off x="6397600" y="3401568"/>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32" name="Text 30"/>
          <p:cNvSpPr txBox="1"/>
          <p:nvPr/>
        </p:nvSpPr>
        <p:spPr>
          <a:xfrm>
            <a:off x="6397600" y="3621024"/>
            <a:ext cx="2238680"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CBNV được cấp phát/thu hồi thiết bị (laptop, màn hình, token)</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Kế toán IT và Phòng Tài chính NH</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Desk L1</a:t>
            </a:r>
            <a:endParaRPr lang="en-US" sz="950" dirty="0"/>
          </a:p>
        </p:txBody>
      </p:sp>
      <p:sp>
        <p:nvSpPr>
          <p:cNvPr id="33" name="Text 31"/>
          <p:cNvSpPr txBox="1"/>
          <p:nvPr/>
        </p:nvSpPr>
        <p:spPr>
          <a:xfrm>
            <a:off x="6397600" y="451713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34" name="Text 32"/>
          <p:cNvSpPr txBox="1"/>
          <p:nvPr/>
        </p:nvSpPr>
        <p:spPr>
          <a:xfrm>
            <a:off x="6397600" y="4736592"/>
            <a:ext cx="2238680"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Tài sản nhập kho, cấp phát, thu hồi tái sử dụng hoặc thanh lý thành công đúng quy trình.</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Yêu cầu cấp phát bị từ chối do hết tồn kho, phải chờ mua sắm bổ sung.</a:t>
            </a:r>
            <a:endParaRPr lang="en-US" sz="900" dirty="0"/>
          </a:p>
        </p:txBody>
      </p:sp>
      <p:sp>
        <p:nvSpPr>
          <p:cNvPr id="35" name="Shape 33"/>
          <p:cNvSpPr/>
          <p:nvPr/>
        </p:nvSpPr>
        <p:spPr>
          <a:xfrm>
            <a:off x="9075191" y="1463040"/>
            <a:ext cx="2567864" cy="4343400"/>
          </a:xfrm>
          <a:prstGeom prst="roundRect">
            <a:avLst>
              <a:gd name="adj" fmla="val 2137"/>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6" name="Shape 34"/>
          <p:cNvSpPr/>
          <p:nvPr/>
        </p:nvSpPr>
        <p:spPr>
          <a:xfrm>
            <a:off x="9075191" y="1463040"/>
            <a:ext cx="2567864" cy="475488"/>
          </a:xfrm>
          <a:prstGeom prst="rect">
            <a:avLst/>
          </a:prstGeom>
          <a:solidFill>
            <a:srgbClr val="0B3B75"/>
          </a:solidFill>
          <a:ln w="12700">
            <a:solidFill>
              <a:srgbClr val="0B3B75"/>
            </a:solidFill>
            <a:prstDash val="solid"/>
          </a:ln>
        </p:spPr>
        <p:txBody>
          <a:bodyPr/>
          <a:lstStyle/>
          <a:p>
            <a:endParaRPr lang="en-US"/>
          </a:p>
        </p:txBody>
      </p:sp>
      <p:sp>
        <p:nvSpPr>
          <p:cNvPr id="37" name="Text 35"/>
          <p:cNvSpPr txBox="1"/>
          <p:nvPr/>
        </p:nvSpPr>
        <p:spPr>
          <a:xfrm>
            <a:off x="9239783" y="1536192"/>
            <a:ext cx="223868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S04   Quản lý Tri thức</a:t>
            </a:r>
            <a:endParaRPr lang="en-US" sz="1150" dirty="0"/>
          </a:p>
        </p:txBody>
      </p:sp>
      <p:sp>
        <p:nvSpPr>
          <p:cNvPr id="38" name="Text 36"/>
          <p:cNvSpPr txBox="1"/>
          <p:nvPr/>
        </p:nvSpPr>
        <p:spPr>
          <a:xfrm>
            <a:off x="9239783" y="204825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39" name="Text 37"/>
          <p:cNvSpPr txBox="1"/>
          <p:nvPr/>
        </p:nvSpPr>
        <p:spPr>
          <a:xfrm>
            <a:off x="9239783" y="2267712"/>
            <a:ext cx="2238680"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IT Helpdesk L1 (tạo bài viết từ kinh nghiệm)</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Chuyên viên hệ thống L2 (bài kỹ thuật chuyên sâu)</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Knowledge Manager / Trưởng nhóm Service Desk</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Hệ thống SmartIT Knowledge Base</a:t>
            </a:r>
            <a:endParaRPr lang="en-US" sz="950" dirty="0"/>
          </a:p>
        </p:txBody>
      </p:sp>
      <p:sp>
        <p:nvSpPr>
          <p:cNvPr id="40" name="Text 38"/>
          <p:cNvSpPr txBox="1"/>
          <p:nvPr/>
        </p:nvSpPr>
        <p:spPr>
          <a:xfrm>
            <a:off x="9239783" y="3401568"/>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41" name="Text 39"/>
          <p:cNvSpPr txBox="1"/>
          <p:nvPr/>
        </p:nvSpPr>
        <p:spPr>
          <a:xfrm>
            <a:off x="9239783" y="3621024"/>
            <a:ext cx="2238680"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IT Helpdesk L1 — đối tượng chính tra cứu hướng dẫn</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Chuyên viên kỹ thuật L2/L3</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CBNV end-user qua self-service portal</a:t>
            </a:r>
            <a:endParaRPr lang="en-US" sz="950" dirty="0"/>
          </a:p>
        </p:txBody>
      </p:sp>
      <p:sp>
        <p:nvSpPr>
          <p:cNvPr id="42" name="Text 40"/>
          <p:cNvSpPr txBox="1"/>
          <p:nvPr/>
        </p:nvSpPr>
        <p:spPr>
          <a:xfrm>
            <a:off x="9239783" y="451713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43" name="Text 41"/>
          <p:cNvSpPr txBox="1"/>
          <p:nvPr/>
        </p:nvSpPr>
        <p:spPr>
          <a:xfrm>
            <a:off x="9239783" y="4736592"/>
            <a:ext cx="2238680"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Bài viết mới được xuất bản; bài cũ được cập nhật phiên bản; nội dung KB giúp L1 tăng tỷ lệ FCR.</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Bài viết bị trả về chỉnh sửa do chưa đạt chuẩn; bài lỗi thời không được phát hiện, gây hướng dẫn sai.</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marL="0" indent="0">
              <a:buNone/>
            </a:pPr>
            <a:r>
              <a:rPr lang="en-US" sz="6600" b="1" dirty="0">
                <a:solidFill>
                  <a:srgbClr val="D9A227"/>
                </a:solidFill>
                <a:latin typeface="Calibri" pitchFamily="34" charset="0"/>
                <a:ea typeface="Calibri" pitchFamily="34" charset="-122"/>
                <a:cs typeface="Calibri" pitchFamily="34" charset="-120"/>
              </a:rPr>
              <a:t>02</a:t>
            </a:r>
            <a:endParaRPr lang="en-US" sz="6600" dirty="0"/>
          </a:p>
        </p:txBody>
      </p:sp>
      <p:sp>
        <p:nvSpPr>
          <p:cNvPr id="3" name="Text 1"/>
          <p:cNvSpPr txBox="1"/>
          <p:nvPr/>
        </p:nvSpPr>
        <p:spPr>
          <a:xfrm>
            <a:off x="548640" y="3072384"/>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PHẦN 2 · PROCESS DISCOVERY</a:t>
            </a:r>
            <a:endParaRPr lang="en-US" sz="1100" dirty="0"/>
          </a:p>
        </p:txBody>
      </p:sp>
      <p:sp>
        <p:nvSpPr>
          <p:cNvPr id="4" name="Text 2"/>
          <p:cNvSpPr txBox="1"/>
          <p:nvPr/>
        </p:nvSpPr>
        <p:spPr>
          <a:xfrm>
            <a:off x="548640" y="3383280"/>
            <a:ext cx="11094415" cy="6400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Phương pháp thực hiện</a:t>
            </a:r>
            <a:endParaRPr lang="en-US" sz="3200" dirty="0"/>
          </a:p>
        </p:txBody>
      </p:sp>
      <p:sp>
        <p:nvSpPr>
          <p:cNvPr id="5" name="Text 3"/>
          <p:cNvSpPr txBox="1"/>
          <p:nvPr/>
        </p:nvSpPr>
        <p:spPr>
          <a:xfrm>
            <a:off x="548640" y="4114800"/>
            <a:ext cx="9722815" cy="365760"/>
          </a:xfrm>
          <a:prstGeom prst="rect">
            <a:avLst/>
          </a:prstGeom>
          <a:noFill/>
          <a:ln/>
        </p:spPr>
        <p:txBody>
          <a:bodyPr wrap="square" lIns="0" tIns="0" rIns="0" bIns="0" rtlCol="0" anchor="t"/>
          <a:lstStyle/>
          <a:p>
            <a:pPr marL="0" indent="0">
              <a:buNone/>
            </a:pPr>
            <a:r>
              <a:rPr lang="en-US" sz="1200" dirty="0">
                <a:solidFill>
                  <a:srgbClr val="9BB2D2"/>
                </a:solidFill>
                <a:latin typeface="Calibri" pitchFamily="34" charset="0"/>
                <a:ea typeface="Calibri" pitchFamily="34" charset="-122"/>
                <a:cs typeface="Calibri" pitchFamily="34" charset="-120"/>
              </a:rPr>
              <a:t>Khám phá dựa trên bằng chứng  ·  Phỏng vấn đối tượng liên quan  ·  Bộ 20 câu hỏi chuẩn hóa</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PROCESS DISCOVERY</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PHƯƠNG PHÁP KHÁM PHÁ QUY TRÌNH</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Kết hợp hai hướng để đối chiếu thông tin từ tài liệu với cách quy trình thực sự được thực hiện</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14</a:t>
            </a:r>
            <a:endParaRPr lang="en-US" sz="1100" dirty="0"/>
          </a:p>
        </p:txBody>
      </p:sp>
      <p:sp>
        <p:nvSpPr>
          <p:cNvPr id="8" name="Shape 6"/>
          <p:cNvSpPr/>
          <p:nvPr/>
        </p:nvSpPr>
        <p:spPr>
          <a:xfrm>
            <a:off x="548640" y="1481328"/>
            <a:ext cx="5410048" cy="3017520"/>
          </a:xfrm>
          <a:prstGeom prst="roundRect">
            <a:avLst>
              <a:gd name="adj" fmla="val 181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68096" y="1664208"/>
            <a:ext cx="4572000" cy="274320"/>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①  DỰA TRÊN BẰNG CHỨNG</a:t>
            </a:r>
            <a:endParaRPr lang="en-US" sz="1400" dirty="0"/>
          </a:p>
        </p:txBody>
      </p:sp>
      <p:sp>
        <p:nvSpPr>
          <p:cNvPr id="10" name="Text 8"/>
          <p:cNvSpPr txBox="1"/>
          <p:nvPr/>
        </p:nvSpPr>
        <p:spPr>
          <a:xfrm>
            <a:off x="768096" y="1956816"/>
            <a:ext cx="4572000" cy="237744"/>
          </a:xfrm>
          <a:prstGeom prst="rect">
            <a:avLst/>
          </a:prstGeom>
          <a:noFill/>
          <a:ln/>
        </p:spPr>
        <p:txBody>
          <a:bodyPr wrap="square" lIns="0" tIns="0" rIns="0" bIns="0" rtlCol="0" anchor="t"/>
          <a:lstStyle/>
          <a:p>
            <a:pPr marL="0" indent="0">
              <a:buNone/>
            </a:pPr>
            <a:r>
              <a:rPr lang="en-US" sz="1000" i="1" dirty="0">
                <a:solidFill>
                  <a:srgbClr val="1660BF"/>
                </a:solidFill>
                <a:latin typeface="Calibri" pitchFamily="34" charset="0"/>
                <a:ea typeface="Calibri" pitchFamily="34" charset="-122"/>
                <a:cs typeface="Calibri" pitchFamily="34" charset="-120"/>
              </a:rPr>
              <a:t>Evidence-based Discovery  ·  nguồn thông tin chính</a:t>
            </a:r>
            <a:endParaRPr lang="en-US" sz="1000" dirty="0"/>
          </a:p>
        </p:txBody>
      </p:sp>
      <p:sp>
        <p:nvSpPr>
          <p:cNvPr id="11" name="Text 9"/>
          <p:cNvSpPr txBox="1"/>
          <p:nvPr/>
        </p:nvSpPr>
        <p:spPr>
          <a:xfrm>
            <a:off x="768096" y="2286000"/>
            <a:ext cx="4998568" cy="20116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Mô tả quy trình hiện có: các bước, điều kiện rẽ nhánh, quy tắc xử lý.</a:t>
            </a:r>
            <a:endParaRPr lang="en-US" sz="1100" dirty="0"/>
          </a:p>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Sơ đồ tổ chức và mô tả trách nhiệm của từng vai trò tham gia.</a:t>
            </a:r>
            <a:endParaRPr lang="en-US" sz="1100" dirty="0"/>
          </a:p>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Thuật ngữ và sổ tay quy trình (PYC, WO, SLA, ITSM, T24, AD…).</a:t>
            </a:r>
            <a:endParaRPr lang="en-US" sz="1100" dirty="0"/>
          </a:p>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Biểu mẫu đang sử dụng: Phiếu yêu cầu dịch vụ CNTT, Biên bản phê duyệt quyền truy cập rủi ro cao, Biên bản bàn giao thiết bị.</a:t>
            </a:r>
            <a:endParaRPr lang="en-US" sz="1100" dirty="0"/>
          </a:p>
        </p:txBody>
      </p:sp>
      <p:sp>
        <p:nvSpPr>
          <p:cNvPr id="12" name="Shape 10"/>
          <p:cNvSpPr/>
          <p:nvPr/>
        </p:nvSpPr>
        <p:spPr>
          <a:xfrm>
            <a:off x="6233008" y="1481328"/>
            <a:ext cx="5410048" cy="3017520"/>
          </a:xfrm>
          <a:prstGeom prst="roundRect">
            <a:avLst>
              <a:gd name="adj" fmla="val 181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3" name="Text 11"/>
          <p:cNvSpPr txBox="1"/>
          <p:nvPr/>
        </p:nvSpPr>
        <p:spPr>
          <a:xfrm>
            <a:off x="6452464" y="1664208"/>
            <a:ext cx="5029200" cy="274320"/>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②  PHỎNG VẤN ĐỐI TƯỢNG LIÊN QUAN</a:t>
            </a:r>
            <a:endParaRPr lang="en-US" sz="1400" dirty="0"/>
          </a:p>
        </p:txBody>
      </p:sp>
      <p:sp>
        <p:nvSpPr>
          <p:cNvPr id="14" name="Text 12"/>
          <p:cNvSpPr txBox="1"/>
          <p:nvPr/>
        </p:nvSpPr>
        <p:spPr>
          <a:xfrm>
            <a:off x="6452464" y="1956816"/>
            <a:ext cx="4572000" cy="237744"/>
          </a:xfrm>
          <a:prstGeom prst="rect">
            <a:avLst/>
          </a:prstGeom>
          <a:noFill/>
          <a:ln/>
        </p:spPr>
        <p:txBody>
          <a:bodyPr wrap="square" lIns="0" tIns="0" rIns="0" bIns="0" rtlCol="0" anchor="t"/>
          <a:lstStyle/>
          <a:p>
            <a:pPr marL="0" indent="0">
              <a:buNone/>
            </a:pPr>
            <a:r>
              <a:rPr lang="en-US" sz="1000" i="1" dirty="0">
                <a:solidFill>
                  <a:srgbClr val="1660BF"/>
                </a:solidFill>
                <a:latin typeface="Calibri" pitchFamily="34" charset="0"/>
                <a:ea typeface="Calibri" pitchFamily="34" charset="-122"/>
                <a:cs typeface="Calibri" pitchFamily="34" charset="-120"/>
              </a:rPr>
              <a:t>Interview-based Discovery  ·  phương pháp bổ sung</a:t>
            </a:r>
            <a:endParaRPr lang="en-US" sz="1000" dirty="0"/>
          </a:p>
        </p:txBody>
      </p:sp>
      <p:sp>
        <p:nvSpPr>
          <p:cNvPr id="15" name="Text 13"/>
          <p:cNvSpPr txBox="1"/>
          <p:nvPr/>
        </p:nvSpPr>
        <p:spPr>
          <a:xfrm>
            <a:off x="6452464" y="2286000"/>
            <a:ext cx="4998568" cy="20116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Bộ 20 câu hỏi chuẩn hóa: 10 câu định tính + 10 câu định lượng.</a:t>
            </a:r>
            <a:endParaRPr lang="en-US" sz="1100" dirty="0"/>
          </a:p>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Mỗi loại chia đều 5 câu có cấu trúc và 5 câu không cấu trúc.</a:t>
            </a:r>
            <a:endParaRPr lang="en-US" sz="1100" dirty="0"/>
          </a:p>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Bốn nhóm đối tượng: End-user, Quản lý trực tiếp, Service Desk L1, Chuyên viên L2.</a:t>
            </a:r>
            <a:endParaRPr lang="en-US" sz="1100" dirty="0"/>
          </a:p>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Làm rõ điểm ra quyết định, ngoại lệ và các điểm phát sinh chờ đợi trong thực tế.</a:t>
            </a:r>
            <a:endParaRPr lang="en-US" sz="1100" dirty="0"/>
          </a:p>
        </p:txBody>
      </p:sp>
      <p:sp>
        <p:nvSpPr>
          <p:cNvPr id="16" name="Shape 14"/>
          <p:cNvSpPr/>
          <p:nvPr/>
        </p:nvSpPr>
        <p:spPr>
          <a:xfrm>
            <a:off x="548640" y="4663440"/>
            <a:ext cx="11094415" cy="859536"/>
          </a:xfrm>
          <a:prstGeom prst="roundRect">
            <a:avLst>
              <a:gd name="adj" fmla="val 6383"/>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17" name="Text 15"/>
          <p:cNvSpPr txBox="1"/>
          <p:nvPr/>
        </p:nvSpPr>
        <p:spPr>
          <a:xfrm>
            <a:off x="768096" y="4809744"/>
            <a:ext cx="10655503" cy="585216"/>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Thông tin từ hai nguồn được ĐỐI CHIẾU CHÉO trước khi đưa vào mô hình BPMN — vừa xác minh các thành phần của quy trình (Actor, Pool, Lane, Activity, Event, Gateway), vừa thu thập dữ liệu phục vụ phân tích ở Chương 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PROCESS DISCOVERY</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NGUỒN BẰNG CHỨNG VÀ ĐỐI TƯỢNG PHỎNG VẤN THEO QUY TRÌNH</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Sáu quy trình được khảo sát theo cùng một khung bốn phần: mô tả quy trình – sơ đồ tổ chức – thuật ngữ, sổ tay – biểu mẫu</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15</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3328416"/>
        </p:xfrm>
        <a:graphic>
          <a:graphicData uri="http://schemas.openxmlformats.org/drawingml/2006/table">
            <a:tbl>
              <a:tblPr/>
              <a:tblGrid>
                <a:gridCol w="26517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679192">
                  <a:extLst>
                    <a:ext uri="{9D8B030D-6E8A-4147-A177-3AD203B41FA5}">
                      <a16:colId xmlns:a16="http://schemas.microsoft.com/office/drawing/2014/main" val="20003"/>
                    </a:ext>
                  </a:extLst>
                </a:gridCol>
              </a:tblGrid>
              <a:tr h="47548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QUY TRÌNH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NGUỒN BẰNG CHỨNG CHÍNH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ĐỐI TƯỢNG PHỎNG VẤN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NỘI DUNG CẦN XÁC MINH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475488">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C01  Quản lý Yêu cầu Dịch vụ (PYC)</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Mô tả 8 bước, sơ đồ tổ chức 5 vai trò, 12 thuật ngữ, 3 biểu mẫu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End-user, Quản lý trực tiếp, Service Desk L1, Chuyên viên L2</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Khởi tạo phiếu, phân loại rủi ro quyền, phê duyệt, xử lý và đóng phiếu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C02  Quản lý Sự cố</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Mô tả quy trình hiện có, sơ đồ tổ chức, thuật ngữ, biểu mẫu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End-user, Service Desk L1, Chuyên viên L2, Major Incident Manager</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Tiếp nhận, đánh giá priority, escalate và đóng phiếu sự cố</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475488">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M01  Quản lý Mức Dịch vụ (SLA)</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Mô tả quy trình hiện có, sơ đồ tổ chức, thuật ngữ, biểu mẫu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Bộ phận vận hành, Ban Giám đốc Khối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Thu thập dữ liệu, tính tỷ lệ đạt/trễ hạn, lập và duyệt báo cáo</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M02  Quản lý Rủi ro &amp; ATTT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Mô tả quy trình hiện có, sơ đồ tổ chức, thuật ngữ, biểu mẫu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Service Desk L1, Chuyên viên ATTT, Trưởng TT.ATTT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Thu thập log, quét lỗ hổng, đánh giá mức rủi ro và escalate</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475488">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S02  Quản lý Thay đổi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Mô tả quy trình hiện có, sơ đồ tổ chức, biểu mẫu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Người đề xuất, Change Manager, Quản lý Cấp 1, Ban CAB</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Phân loại Standard/Normal/Emergency, đánh giá rủi ro, phê duyệt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S03  Quản lý Tài sản CNTT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Mô tả quy trình hiện có, sơ đồ tổ chức, biểu mẫu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Phòng ban đề xuất, Asset Administrator</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Xác minh yêu cầu, kiểm tra tồn kho, xuất kho và gán tài sản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BỘ CÂU HỎI PHỎNG VẤN QUY TRÌNH PYC</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BỘ 20 CÂU HỎI PHỎNG VẤN</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Chương 2 · Bảng 2.1 — nhóm câu hỏi định tính có cấu trúc</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16</a:t>
            </a:r>
            <a:endParaRPr lang="en-US" sz="1100" dirty="0"/>
          </a:p>
        </p:txBody>
      </p:sp>
      <p:sp>
        <p:nvSpPr>
          <p:cNvPr id="8" name="Text 6"/>
          <p:cNvSpPr txBox="1"/>
          <p:nvPr/>
        </p:nvSpPr>
        <p:spPr>
          <a:xfrm>
            <a:off x="548640" y="1371600"/>
            <a:ext cx="11094415" cy="292608"/>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5 CÂU ĐỊNH TÍNH — CÓ CẤU TRÚC</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73936"/>
          <a:ext cx="11091672" cy="3401568"/>
        </p:xfrm>
        <a:graphic>
          <a:graphicData uri="http://schemas.openxmlformats.org/drawingml/2006/table">
            <a:tbl>
              <a:tblPr/>
              <a:tblGrid>
                <a:gridCol w="59436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gridCol w="2359152">
                  <a:extLst>
                    <a:ext uri="{9D8B030D-6E8A-4147-A177-3AD203B41FA5}">
                      <a16:colId xmlns:a16="http://schemas.microsoft.com/office/drawing/2014/main" val="20002"/>
                    </a:ext>
                  </a:extLst>
                </a:gridCol>
              </a:tblGrid>
              <a:tr h="56692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CÂU HỎI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ĐỐI TƯỢNG PHỎNG VẤN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đánh giá mức độ rõ ràng của danh mục dịch vụ CNTT hiện tại trên Cổng dịch vụ như thế nào? Có dễ tìm đúng loại yêu cầu cần tạo không?</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End-user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Quy trình phê duyệt PYC hiện tại có những điểm nào anh/chị thấy hiệu quả? Những điểm nào chưa hiệu quả?</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trực tiếp</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gặp khó khăn gì khi tiếp nhận và phân loại PYC từ người dùng? Thông tin nào thường bị thiếu?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Theo anh/chị, nguyên nhân chính nào khiến PYC bị trả về yêu cầu bổ sung thông tin?</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đánh giá mức độ phù hợp của hệ thống ITSM hiện tại trong việc theo dõi trạng thái PYC ra sao?</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Chuyên viên L2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BỘ CÂU HỎI PHỎNG VẤN QUY TRÌNH PYC</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BỘ 20 CÂU HỎI PHỎNG VẤN</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Chương 2 · Bảng 2.1 — nhóm câu hỏi định tính không cấu trúc</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17</a:t>
            </a:r>
            <a:endParaRPr lang="en-US" sz="1100" dirty="0"/>
          </a:p>
        </p:txBody>
      </p:sp>
      <p:sp>
        <p:nvSpPr>
          <p:cNvPr id="8" name="Text 6"/>
          <p:cNvSpPr txBox="1"/>
          <p:nvPr/>
        </p:nvSpPr>
        <p:spPr>
          <a:xfrm>
            <a:off x="548640" y="1371600"/>
            <a:ext cx="11094415" cy="292608"/>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5 CÂU ĐỊNH TÍNH — KHÔNG CẤU TRÚC</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773936"/>
          <a:ext cx="11091672" cy="3401568"/>
        </p:xfrm>
        <a:graphic>
          <a:graphicData uri="http://schemas.openxmlformats.org/drawingml/2006/table">
            <a:tbl>
              <a:tblPr/>
              <a:tblGrid>
                <a:gridCol w="59436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gridCol w="2359152">
                  <a:extLst>
                    <a:ext uri="{9D8B030D-6E8A-4147-A177-3AD203B41FA5}">
                      <a16:colId xmlns:a16="http://schemas.microsoft.com/office/drawing/2014/main" val="20002"/>
                    </a:ext>
                  </a:extLst>
                </a:gridCol>
              </a:tblGrid>
              <a:tr h="56692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CÂU HỎI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ĐỐI TƯỢNG PHỎNG VẤN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có đề xuất gì để cải thiện trải nghiệm tạo PYC trên Cổng dịch vụ?</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End-user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Nếu được thay đổi một điều duy nhất trong quy trình PYC, anh/chị sẽ thay đổi gì và tại sao?</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trực tiếp</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cảm thấy thế nào về khối lượng PYC phải xử lý hằng ngày? Có quá tải không?</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Theo anh/chị, loại PYC nào nên được tự động phê duyệt mà không cần qua Quản lý? Vì sao?</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Chuyên viên L2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có gặp tình huống nào PYC bị “kẹt” lâu bất thường không? Hãy kể lại chi tiết.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BỘ CÂU HỎI PHỎNG VẤN QUY TRÌNH PYC</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BỘ 20 CÂU HỎI PHỎNG VẤN</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Chương 2 · Bảng 2.1 — nhóm câu hỏi định lượng có cấu trúc</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18</a:t>
            </a:r>
            <a:endParaRPr lang="en-US" sz="1100" dirty="0"/>
          </a:p>
        </p:txBody>
      </p:sp>
      <p:sp>
        <p:nvSpPr>
          <p:cNvPr id="8" name="Text 6"/>
          <p:cNvSpPr txBox="1"/>
          <p:nvPr/>
        </p:nvSpPr>
        <p:spPr>
          <a:xfrm>
            <a:off x="548640" y="1371600"/>
            <a:ext cx="11094415" cy="292608"/>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5 CÂU ĐỊNH LƯỢNG — CÓ CẤU TRÚC</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73936"/>
          <a:ext cx="11091672" cy="3401568"/>
        </p:xfrm>
        <a:graphic>
          <a:graphicData uri="http://schemas.openxmlformats.org/drawingml/2006/table">
            <a:tbl>
              <a:tblPr/>
              <a:tblGrid>
                <a:gridCol w="59436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tblGrid>
              <a:tr h="56692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CÂU HỎI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ĐỐI TƯỢNG PHỎNG VẤN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ĐƠN VỊ TRẢ LỜI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Trong tháng qua, anh/chị đã tạo bao nhiêu PYC trên hệ thống?</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End-user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phiếu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Trong tháng qua, có bao nhiêu PYC bị trả về yêu cầu bổ sung thông tin?</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phiếu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Thời gian trung bình từ lúc tạo PYC đến lúc được phê duyệt là bao lâu?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trực tiếp</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giờ</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Trong tháng qua, có bao nhiêu PYC vi phạm thời hạn SLA cam kết?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phiếu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Thời gian trung bình để cấu hình cấp quyền trên hệ thống T24 là bao lâu?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Chuyên viên L2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phút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BỘ CÂU HỎI PHỎNG VẤN QUY TRÌNH PYC</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BỘ 20 CÂU HỎI PHỎNG VẤN</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Chương 2 · Bảng 2.1 — nhóm câu hỏi định lượng không cấu trúc</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19</a:t>
            </a:r>
            <a:endParaRPr lang="en-US" sz="1100" dirty="0"/>
          </a:p>
        </p:txBody>
      </p:sp>
      <p:sp>
        <p:nvSpPr>
          <p:cNvPr id="8" name="Text 6"/>
          <p:cNvSpPr txBox="1"/>
          <p:nvPr/>
        </p:nvSpPr>
        <p:spPr>
          <a:xfrm>
            <a:off x="548640" y="1371600"/>
            <a:ext cx="11094415" cy="292608"/>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5 CÂU ĐỊNH LƯỢNG — KHÔNG CẤU TRÚC</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73936"/>
          <a:ext cx="11091672" cy="3401568"/>
        </p:xfrm>
        <a:graphic>
          <a:graphicData uri="http://schemas.openxmlformats.org/drawingml/2006/table">
            <a:tbl>
              <a:tblPr/>
              <a:tblGrid>
                <a:gridCol w="59436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tblGrid>
              <a:tr h="56692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CÂU HỎI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ĐỐI TƯỢNG PHỎNG VẤN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ĐƠN VỊ TRẢ LỜI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ước tính bao nhiêu phần trăm PYC có thể xử lý hoàn toàn tự động mà không cần con người can thiệp?</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Trung bình mỗi ngày anh/chị phải chờ bao lâu để PYC được tiếp nhận xử lý?</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End-user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giờ</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Trong các PYC anh/chị phê duyệt, tỷ lệ nào thuộc quyền rủi ro thấp (Wifi, Folder chung)?</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trực tiếp</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Bao nhiêu lần trong tháng qua anh/chị phải escalate PYC lên Level 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lần</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ước tính bao nhiêu phần trăm thời gian xử lý PYC dành cho việc ghi log thủ công?</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Chuyên viên L2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2.1 MÔ TẢ QUY TRÌNH HIỆN CÓ</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QUY TRÌNH PYC HIỆN TẠI — 08 BƯỚC XỬ LÝ</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20</a:t>
            </a:r>
            <a:endParaRPr lang="en-US" sz="1100" dirty="0"/>
          </a:p>
        </p:txBody>
      </p:sp>
      <p:sp>
        <p:nvSpPr>
          <p:cNvPr id="7" name="Shape 5"/>
          <p:cNvSpPr/>
          <p:nvPr/>
        </p:nvSpPr>
        <p:spPr>
          <a:xfrm>
            <a:off x="548640" y="1371600"/>
            <a:ext cx="5364328" cy="1097280"/>
          </a:xfrm>
          <a:prstGeom prst="roundRect">
            <a:avLst>
              <a:gd name="adj" fmla="val 5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Text 6"/>
          <p:cNvSpPr txBox="1"/>
          <p:nvPr/>
        </p:nvSpPr>
        <p:spPr>
          <a:xfrm>
            <a:off x="713232" y="1481328"/>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01</a:t>
            </a:r>
            <a:endParaRPr lang="en-US" sz="1500" dirty="0"/>
          </a:p>
        </p:txBody>
      </p:sp>
      <p:sp>
        <p:nvSpPr>
          <p:cNvPr id="9" name="Text 7"/>
          <p:cNvSpPr txBox="1"/>
          <p:nvPr/>
        </p:nvSpPr>
        <p:spPr>
          <a:xfrm>
            <a:off x="1207008" y="1490472"/>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Khởi tạo Phiếu yêu cầu</a:t>
            </a:r>
            <a:endParaRPr lang="en-US" sz="1200" dirty="0"/>
          </a:p>
        </p:txBody>
      </p:sp>
      <p:sp>
        <p:nvSpPr>
          <p:cNvPr id="10" name="Text 8"/>
          <p:cNvSpPr txBox="1"/>
          <p:nvPr/>
        </p:nvSpPr>
        <p:spPr>
          <a:xfrm>
            <a:off x="1207008" y="1773936"/>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Đăng nhập Digital Workplace Portal bằng tài khoản AD, chọn danh mục dịch vụ, điền biểu mẫu PYC và đính kèm tài liệu hỗ trợ. Hệ thống tự gán mã PYC và gửi email xác nhận.</a:t>
            </a:r>
            <a:endParaRPr lang="en-US" sz="950" dirty="0"/>
          </a:p>
        </p:txBody>
      </p:sp>
      <p:sp>
        <p:nvSpPr>
          <p:cNvPr id="11" name="Shape 9"/>
          <p:cNvSpPr/>
          <p:nvPr/>
        </p:nvSpPr>
        <p:spPr>
          <a:xfrm>
            <a:off x="6278728" y="1371600"/>
            <a:ext cx="5364328" cy="1097280"/>
          </a:xfrm>
          <a:prstGeom prst="roundRect">
            <a:avLst>
              <a:gd name="adj" fmla="val 50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6443320" y="1481328"/>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02</a:t>
            </a:r>
            <a:endParaRPr lang="en-US" sz="1500" dirty="0"/>
          </a:p>
        </p:txBody>
      </p:sp>
      <p:sp>
        <p:nvSpPr>
          <p:cNvPr id="13" name="Text 11"/>
          <p:cNvSpPr txBox="1"/>
          <p:nvPr/>
        </p:nvSpPr>
        <p:spPr>
          <a:xfrm>
            <a:off x="6937096" y="1490472"/>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Phân loại mức độ rủi ro quyền</a:t>
            </a:r>
            <a:endParaRPr lang="en-US" sz="1200" dirty="0"/>
          </a:p>
        </p:txBody>
      </p:sp>
      <p:sp>
        <p:nvSpPr>
          <p:cNvPr id="14" name="Text 12"/>
          <p:cNvSpPr txBox="1"/>
          <p:nvPr/>
        </p:nvSpPr>
        <p:spPr>
          <a:xfrm>
            <a:off x="6937096" y="1773936"/>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ITSM đối chiếu loại quyền với ma trận rủi ro: rủi ro cao (T24, Database, Server Admin, VPN) → phê duyệt; rủi ro thấp (Wifi, Folder chung, reset password) → vào thẳng hàng đợi.</a:t>
            </a:r>
            <a:endParaRPr lang="en-US" sz="950" dirty="0"/>
          </a:p>
        </p:txBody>
      </p:sp>
      <p:sp>
        <p:nvSpPr>
          <p:cNvPr id="15" name="Shape 13"/>
          <p:cNvSpPr/>
          <p:nvPr/>
        </p:nvSpPr>
        <p:spPr>
          <a:xfrm>
            <a:off x="548640" y="2615184"/>
            <a:ext cx="5364328" cy="1097280"/>
          </a:xfrm>
          <a:prstGeom prst="roundRect">
            <a:avLst>
              <a:gd name="adj" fmla="val 5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6" name="Text 14"/>
          <p:cNvSpPr txBox="1"/>
          <p:nvPr/>
        </p:nvSpPr>
        <p:spPr>
          <a:xfrm>
            <a:off x="713232" y="2724912"/>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03</a:t>
            </a:r>
            <a:endParaRPr lang="en-US" sz="1500" dirty="0"/>
          </a:p>
        </p:txBody>
      </p:sp>
      <p:sp>
        <p:nvSpPr>
          <p:cNvPr id="17" name="Text 15"/>
          <p:cNvSpPr txBox="1"/>
          <p:nvPr/>
        </p:nvSpPr>
        <p:spPr>
          <a:xfrm>
            <a:off x="1207008" y="2734056"/>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Phê duyệt bởi Quản lý trực tiếp</a:t>
            </a:r>
            <a:endParaRPr lang="en-US" sz="1200" dirty="0"/>
          </a:p>
        </p:txBody>
      </p:sp>
      <p:sp>
        <p:nvSpPr>
          <p:cNvPr id="18" name="Text 16"/>
          <p:cNvSpPr txBox="1"/>
          <p:nvPr/>
        </p:nvSpPr>
        <p:spPr>
          <a:xfrm>
            <a:off x="1207008" y="3017520"/>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Quản lý xem chi tiết PYC và quyết định: Đồng ý → Bước 4; Từ chối → đóng phiếu kèm lý do; Yêu cầu bổ sung → trả về người dùng (quay lại Bước 1).</a:t>
            </a:r>
            <a:endParaRPr lang="en-US" sz="950" dirty="0"/>
          </a:p>
        </p:txBody>
      </p:sp>
      <p:sp>
        <p:nvSpPr>
          <p:cNvPr id="19" name="Shape 17"/>
          <p:cNvSpPr/>
          <p:nvPr/>
        </p:nvSpPr>
        <p:spPr>
          <a:xfrm>
            <a:off x="6278728" y="2615184"/>
            <a:ext cx="5364328" cy="1097280"/>
          </a:xfrm>
          <a:prstGeom prst="roundRect">
            <a:avLst>
              <a:gd name="adj" fmla="val 50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0" name="Text 18"/>
          <p:cNvSpPr txBox="1"/>
          <p:nvPr/>
        </p:nvSpPr>
        <p:spPr>
          <a:xfrm>
            <a:off x="6443320" y="2724912"/>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04</a:t>
            </a:r>
            <a:endParaRPr lang="en-US" sz="1500" dirty="0"/>
          </a:p>
        </p:txBody>
      </p:sp>
      <p:sp>
        <p:nvSpPr>
          <p:cNvPr id="21" name="Text 19"/>
          <p:cNvSpPr txBox="1"/>
          <p:nvPr/>
        </p:nvSpPr>
        <p:spPr>
          <a:xfrm>
            <a:off x="6937096" y="2734056"/>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Sinh Work Order và phân bổ</a:t>
            </a:r>
            <a:endParaRPr lang="en-US" sz="1200" dirty="0"/>
          </a:p>
        </p:txBody>
      </p:sp>
      <p:sp>
        <p:nvSpPr>
          <p:cNvPr id="22" name="Text 20"/>
          <p:cNvSpPr txBox="1"/>
          <p:nvPr/>
        </p:nvSpPr>
        <p:spPr>
          <a:xfrm>
            <a:off x="6937096" y="3017520"/>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ITSM tự sinh WO từ PYC đã duyệt, chuyển trạng thái “In Progress”, gán WO cho nhóm xử lý theo Category và bắt đầu đếm thời gian SLA.</a:t>
            </a:r>
            <a:endParaRPr lang="en-US" sz="950" dirty="0"/>
          </a:p>
        </p:txBody>
      </p:sp>
      <p:sp>
        <p:nvSpPr>
          <p:cNvPr id="23" name="Shape 21"/>
          <p:cNvSpPr/>
          <p:nvPr/>
        </p:nvSpPr>
        <p:spPr>
          <a:xfrm>
            <a:off x="548640" y="3858768"/>
            <a:ext cx="5364328" cy="1097280"/>
          </a:xfrm>
          <a:prstGeom prst="roundRect">
            <a:avLst>
              <a:gd name="adj" fmla="val 5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4" name="Text 22"/>
          <p:cNvSpPr txBox="1"/>
          <p:nvPr/>
        </p:nvSpPr>
        <p:spPr>
          <a:xfrm>
            <a:off x="713232" y="3968496"/>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05</a:t>
            </a:r>
            <a:endParaRPr lang="en-US" sz="1500" dirty="0"/>
          </a:p>
        </p:txBody>
      </p:sp>
      <p:sp>
        <p:nvSpPr>
          <p:cNvPr id="25" name="Text 23"/>
          <p:cNvSpPr txBox="1"/>
          <p:nvPr/>
        </p:nvSpPr>
        <p:spPr>
          <a:xfrm>
            <a:off x="1207008" y="3977640"/>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Tiếp nhận và phân loại tại L1</a:t>
            </a:r>
            <a:endParaRPr lang="en-US" sz="1200" dirty="0"/>
          </a:p>
        </p:txBody>
      </p:sp>
      <p:sp>
        <p:nvSpPr>
          <p:cNvPr id="26" name="Text 24"/>
          <p:cNvSpPr txBox="1"/>
          <p:nvPr/>
        </p:nvSpPr>
        <p:spPr>
          <a:xfrm>
            <a:off x="1207008" y="4261104"/>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Service Desk L1 xác minh tính đầy đủ, đối chiếu Service Catalog. Trong khả năng L1 → xử lý trực tiếp; vượt phạm vi (T24, cấu hình server) → escalate lên Level 2.</a:t>
            </a:r>
            <a:endParaRPr lang="en-US" sz="950" dirty="0"/>
          </a:p>
        </p:txBody>
      </p:sp>
      <p:sp>
        <p:nvSpPr>
          <p:cNvPr id="27" name="Shape 25"/>
          <p:cNvSpPr/>
          <p:nvPr/>
        </p:nvSpPr>
        <p:spPr>
          <a:xfrm>
            <a:off x="6278728" y="3858768"/>
            <a:ext cx="5364328" cy="1097280"/>
          </a:xfrm>
          <a:prstGeom prst="roundRect">
            <a:avLst>
              <a:gd name="adj" fmla="val 50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8" name="Text 26"/>
          <p:cNvSpPr txBox="1"/>
          <p:nvPr/>
        </p:nvSpPr>
        <p:spPr>
          <a:xfrm>
            <a:off x="6443320" y="3968496"/>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06</a:t>
            </a:r>
            <a:endParaRPr lang="en-US" sz="1500" dirty="0"/>
          </a:p>
        </p:txBody>
      </p:sp>
      <p:sp>
        <p:nvSpPr>
          <p:cNvPr id="29" name="Text 27"/>
          <p:cNvSpPr txBox="1"/>
          <p:nvPr/>
        </p:nvSpPr>
        <p:spPr>
          <a:xfrm>
            <a:off x="6937096" y="3977640"/>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Xử lý kỹ thuật tại Level 2</a:t>
            </a:r>
            <a:endParaRPr lang="en-US" sz="1200" dirty="0"/>
          </a:p>
        </p:txBody>
      </p:sp>
      <p:sp>
        <p:nvSpPr>
          <p:cNvPr id="30" name="Text 28"/>
          <p:cNvSpPr txBox="1"/>
          <p:nvPr/>
        </p:nvSpPr>
        <p:spPr>
          <a:xfrm>
            <a:off x="6937096" y="4261104"/>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Chuyên viên L2 thực hiện cấu hình cấp quyền trên T24, Active Directory, Database, Network và kiểm tra kết quả cấu hình.</a:t>
            </a:r>
            <a:endParaRPr lang="en-US" sz="950" dirty="0"/>
          </a:p>
        </p:txBody>
      </p:sp>
      <p:sp>
        <p:nvSpPr>
          <p:cNvPr id="31" name="Shape 29"/>
          <p:cNvSpPr/>
          <p:nvPr/>
        </p:nvSpPr>
        <p:spPr>
          <a:xfrm>
            <a:off x="548640" y="5102352"/>
            <a:ext cx="5364328" cy="1097280"/>
          </a:xfrm>
          <a:prstGeom prst="roundRect">
            <a:avLst>
              <a:gd name="adj" fmla="val 5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2" name="Text 30"/>
          <p:cNvSpPr txBox="1"/>
          <p:nvPr/>
        </p:nvSpPr>
        <p:spPr>
          <a:xfrm>
            <a:off x="713232" y="5212080"/>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07</a:t>
            </a:r>
            <a:endParaRPr lang="en-US" sz="1500" dirty="0"/>
          </a:p>
        </p:txBody>
      </p:sp>
      <p:sp>
        <p:nvSpPr>
          <p:cNvPr id="33" name="Text 31"/>
          <p:cNvSpPr txBox="1"/>
          <p:nvPr/>
        </p:nvSpPr>
        <p:spPr>
          <a:xfrm>
            <a:off x="1207008" y="5221224"/>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Ghi nhật ký an toàn bảo mật</a:t>
            </a:r>
            <a:endParaRPr lang="en-US" sz="1200" dirty="0"/>
          </a:p>
        </p:txBody>
      </p:sp>
      <p:sp>
        <p:nvSpPr>
          <p:cNvPr id="34" name="Text 32"/>
          <p:cNvSpPr txBox="1"/>
          <p:nvPr/>
        </p:nvSpPr>
        <p:spPr>
          <a:xfrm>
            <a:off x="1207008" y="5504688"/>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Song song với xử lý kỹ thuật: ghi log ai yêu cầu, quyền gì, trên hệ thống nào, thời điểm cấp, người thực hiện. Log được đẩy sang SIEM phục vụ quy trình Quản lý Rủi ro ATTT.</a:t>
            </a:r>
            <a:endParaRPr lang="en-US" sz="950" dirty="0"/>
          </a:p>
        </p:txBody>
      </p:sp>
      <p:sp>
        <p:nvSpPr>
          <p:cNvPr id="35" name="Shape 33"/>
          <p:cNvSpPr/>
          <p:nvPr/>
        </p:nvSpPr>
        <p:spPr>
          <a:xfrm>
            <a:off x="6278728" y="5102352"/>
            <a:ext cx="5364328" cy="1097280"/>
          </a:xfrm>
          <a:prstGeom prst="roundRect">
            <a:avLst>
              <a:gd name="adj" fmla="val 50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6" name="Text 34"/>
          <p:cNvSpPr txBox="1"/>
          <p:nvPr/>
        </p:nvSpPr>
        <p:spPr>
          <a:xfrm>
            <a:off x="6443320" y="5212080"/>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08</a:t>
            </a:r>
            <a:endParaRPr lang="en-US" sz="1500" dirty="0"/>
          </a:p>
        </p:txBody>
      </p:sp>
      <p:sp>
        <p:nvSpPr>
          <p:cNvPr id="37" name="Text 35"/>
          <p:cNvSpPr txBox="1"/>
          <p:nvPr/>
        </p:nvSpPr>
        <p:spPr>
          <a:xfrm>
            <a:off x="6937096" y="5221224"/>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Xác nhận và đóng phiếu</a:t>
            </a:r>
            <a:endParaRPr lang="en-US" sz="1200" dirty="0"/>
          </a:p>
        </p:txBody>
      </p:sp>
      <p:sp>
        <p:nvSpPr>
          <p:cNvPr id="38" name="Text 36"/>
          <p:cNvSpPr txBox="1"/>
          <p:nvPr/>
        </p:nvSpPr>
        <p:spPr>
          <a:xfrm>
            <a:off x="6937096" y="5504688"/>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Cập nhật trạng thái “Resolved”. Người dùng xác nhận → đóng phiếu; chưa đạt → Reopen quay về Bước 5 hoặc 6; không phản hồi trong 48 giờ → hệ thống Auto-close.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2.1 B) SƠ ĐỒ TỔ CHỨC</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NĂM VAI TRÒ THAM GIA QUY TRÌNH PYC VÀ TRÁCH NHIỆM</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21</a:t>
            </a:r>
            <a:endParaRPr lang="en-US" sz="1100" dirty="0"/>
          </a:p>
        </p:txBody>
      </p:sp>
      <p:sp>
        <p:nvSpPr>
          <p:cNvPr id="7" name="Shape 5"/>
          <p:cNvSpPr/>
          <p:nvPr/>
        </p:nvSpPr>
        <p:spPr>
          <a:xfrm>
            <a:off x="548640" y="1426464"/>
            <a:ext cx="2057949" cy="3108960"/>
          </a:xfrm>
          <a:prstGeom prst="roundRect">
            <a:avLst>
              <a:gd name="adj" fmla="val 2666"/>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Shape 6"/>
          <p:cNvSpPr/>
          <p:nvPr/>
        </p:nvSpPr>
        <p:spPr>
          <a:xfrm>
            <a:off x="548640" y="1426464"/>
            <a:ext cx="2057949" cy="676656"/>
          </a:xfrm>
          <a:prstGeom prst="rect">
            <a:avLst/>
          </a:prstGeom>
          <a:solidFill>
            <a:srgbClr val="1660BF"/>
          </a:solidFill>
          <a:ln w="12700">
            <a:solidFill>
              <a:srgbClr val="1660BF"/>
            </a:solidFill>
            <a:prstDash val="solid"/>
          </a:ln>
        </p:spPr>
        <p:txBody>
          <a:bodyPr/>
          <a:lstStyle/>
          <a:p>
            <a:endParaRPr lang="en-US"/>
          </a:p>
        </p:txBody>
      </p:sp>
      <p:sp>
        <p:nvSpPr>
          <p:cNvPr id="9" name="Text 7"/>
          <p:cNvSpPr txBox="1"/>
          <p:nvPr/>
        </p:nvSpPr>
        <p:spPr>
          <a:xfrm>
            <a:off x="694944" y="1517904"/>
            <a:ext cx="1765341"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Người dùng nội bộ</a:t>
            </a:r>
            <a:endParaRPr lang="en-US" sz="1150" dirty="0"/>
          </a:p>
        </p:txBody>
      </p:sp>
      <p:sp>
        <p:nvSpPr>
          <p:cNvPr id="10" name="Text 8"/>
          <p:cNvSpPr txBox="1"/>
          <p:nvPr/>
        </p:nvSpPr>
        <p:spPr>
          <a:xfrm>
            <a:off x="694944" y="1792224"/>
            <a:ext cx="1765341" cy="237744"/>
          </a:xfrm>
          <a:prstGeom prst="rect">
            <a:avLst/>
          </a:prstGeom>
          <a:noFill/>
          <a:ln/>
        </p:spPr>
        <p:txBody>
          <a:bodyPr wrap="square" lIns="0" tIns="0" rIns="0" bIns="0" rtlCol="0" anchor="t"/>
          <a:lstStyle/>
          <a:p>
            <a:pPr marL="0" indent="0">
              <a:buNone/>
            </a:pPr>
            <a:r>
              <a:rPr lang="en-US" sz="900" i="1" dirty="0">
                <a:solidFill>
                  <a:srgbClr val="AFC6E4"/>
                </a:solidFill>
                <a:latin typeface="Calibri" pitchFamily="34" charset="0"/>
                <a:ea typeface="Calibri" pitchFamily="34" charset="-122"/>
                <a:cs typeface="Calibri" pitchFamily="34" charset="-120"/>
              </a:rPr>
              <a:t>End-user</a:t>
            </a:r>
            <a:endParaRPr lang="en-US" sz="900" dirty="0"/>
          </a:p>
        </p:txBody>
      </p:sp>
      <p:sp>
        <p:nvSpPr>
          <p:cNvPr id="11" name="Text 9"/>
          <p:cNvSpPr txBox="1"/>
          <p:nvPr/>
        </p:nvSpPr>
        <p:spPr>
          <a:xfrm>
            <a:off x="694944" y="2231136"/>
            <a:ext cx="1765341" cy="25603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Khởi tạo PYC trên Cổng dịch vụ CNTT, mô tả chi tiết yêu cầu.</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Đính kèm tài liệu hỗ trợ (email phê duyệt, mã dự án).</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Kiểm tra và xác nhận kết quả sau khi được cấp quyền/thiết bị.</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Phản hồi đánh giá chất lượng dịch vụ (CSAT survey).</a:t>
            </a:r>
            <a:endParaRPr lang="en-US" sz="950" dirty="0"/>
          </a:p>
        </p:txBody>
      </p:sp>
      <p:sp>
        <p:nvSpPr>
          <p:cNvPr id="12" name="Shape 10"/>
          <p:cNvSpPr/>
          <p:nvPr/>
        </p:nvSpPr>
        <p:spPr>
          <a:xfrm>
            <a:off x="2807757" y="1426464"/>
            <a:ext cx="2057949" cy="3108960"/>
          </a:xfrm>
          <a:prstGeom prst="roundRect">
            <a:avLst>
              <a:gd name="adj" fmla="val 2666"/>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3" name="Shape 11"/>
          <p:cNvSpPr/>
          <p:nvPr/>
        </p:nvSpPr>
        <p:spPr>
          <a:xfrm>
            <a:off x="2807757" y="1426464"/>
            <a:ext cx="2057949" cy="676656"/>
          </a:xfrm>
          <a:prstGeom prst="rect">
            <a:avLst/>
          </a:prstGeom>
          <a:solidFill>
            <a:srgbClr val="0B3B75"/>
          </a:solidFill>
          <a:ln w="12700">
            <a:solidFill>
              <a:srgbClr val="0B3B75"/>
            </a:solidFill>
            <a:prstDash val="solid"/>
          </a:ln>
        </p:spPr>
        <p:txBody>
          <a:bodyPr/>
          <a:lstStyle/>
          <a:p>
            <a:endParaRPr lang="en-US"/>
          </a:p>
        </p:txBody>
      </p:sp>
      <p:sp>
        <p:nvSpPr>
          <p:cNvPr id="14" name="Text 12"/>
          <p:cNvSpPr txBox="1"/>
          <p:nvPr/>
        </p:nvSpPr>
        <p:spPr>
          <a:xfrm>
            <a:off x="2954061" y="1517904"/>
            <a:ext cx="1765341"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Quản lý trực tiếp</a:t>
            </a:r>
            <a:endParaRPr lang="en-US" sz="1150" dirty="0"/>
          </a:p>
        </p:txBody>
      </p:sp>
      <p:sp>
        <p:nvSpPr>
          <p:cNvPr id="15" name="Text 13"/>
          <p:cNvSpPr txBox="1"/>
          <p:nvPr/>
        </p:nvSpPr>
        <p:spPr>
          <a:xfrm>
            <a:off x="2954061" y="1792224"/>
            <a:ext cx="1765341" cy="237744"/>
          </a:xfrm>
          <a:prstGeom prst="rect">
            <a:avLst/>
          </a:prstGeom>
          <a:noFill/>
          <a:ln/>
        </p:spPr>
        <p:txBody>
          <a:bodyPr wrap="square" lIns="0" tIns="0" rIns="0" bIns="0" rtlCol="0" anchor="t"/>
          <a:lstStyle/>
          <a:p>
            <a:pPr marL="0" indent="0">
              <a:buNone/>
            </a:pPr>
            <a:r>
              <a:rPr lang="en-US" sz="900" i="1" dirty="0">
                <a:solidFill>
                  <a:srgbClr val="AFC6E4"/>
                </a:solidFill>
                <a:latin typeface="Calibri" pitchFamily="34" charset="0"/>
                <a:ea typeface="Calibri" pitchFamily="34" charset="-122"/>
                <a:cs typeface="Calibri" pitchFamily="34" charset="-120"/>
              </a:rPr>
              <a:t>Trưởng/Phó đơn vị</a:t>
            </a:r>
            <a:endParaRPr lang="en-US" sz="900" dirty="0"/>
          </a:p>
        </p:txBody>
      </p:sp>
      <p:sp>
        <p:nvSpPr>
          <p:cNvPr id="16" name="Text 14"/>
          <p:cNvSpPr txBox="1"/>
          <p:nvPr/>
        </p:nvSpPr>
        <p:spPr>
          <a:xfrm>
            <a:off x="2954061" y="2231136"/>
            <a:ext cx="1765341" cy="25603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Xem xét và phê duyệt PYC thuộc nhóm quyền rủi ro cao.</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Đánh giá tính hợp lệ: đúng thẩm quyền, phù hợp nhiệm vụ, tuân thủ chính sách ATTT.</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Từ chối PYC không đạt tiêu chí hoặc yêu cầu bổ sung thông tin.</a:t>
            </a:r>
            <a:endParaRPr lang="en-US" sz="950" dirty="0"/>
          </a:p>
        </p:txBody>
      </p:sp>
      <p:sp>
        <p:nvSpPr>
          <p:cNvPr id="17" name="Shape 15"/>
          <p:cNvSpPr/>
          <p:nvPr/>
        </p:nvSpPr>
        <p:spPr>
          <a:xfrm>
            <a:off x="5066873" y="1426464"/>
            <a:ext cx="2057949" cy="3108960"/>
          </a:xfrm>
          <a:prstGeom prst="roundRect">
            <a:avLst>
              <a:gd name="adj" fmla="val 2666"/>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Shape 16"/>
          <p:cNvSpPr/>
          <p:nvPr/>
        </p:nvSpPr>
        <p:spPr>
          <a:xfrm>
            <a:off x="5066873" y="1426464"/>
            <a:ext cx="2057949" cy="676656"/>
          </a:xfrm>
          <a:prstGeom prst="rect">
            <a:avLst/>
          </a:prstGeom>
          <a:solidFill>
            <a:srgbClr val="0B3B75"/>
          </a:solidFill>
          <a:ln w="12700">
            <a:solidFill>
              <a:srgbClr val="0B3B75"/>
            </a:solidFill>
            <a:prstDash val="solid"/>
          </a:ln>
        </p:spPr>
        <p:txBody>
          <a:bodyPr/>
          <a:lstStyle/>
          <a:p>
            <a:endParaRPr lang="en-US"/>
          </a:p>
        </p:txBody>
      </p:sp>
      <p:sp>
        <p:nvSpPr>
          <p:cNvPr id="19" name="Text 17"/>
          <p:cNvSpPr txBox="1"/>
          <p:nvPr/>
        </p:nvSpPr>
        <p:spPr>
          <a:xfrm>
            <a:off x="5213177" y="1517904"/>
            <a:ext cx="1765341"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IT Helpdesk</a:t>
            </a:r>
            <a:endParaRPr lang="en-US" sz="1150" dirty="0"/>
          </a:p>
        </p:txBody>
      </p:sp>
      <p:sp>
        <p:nvSpPr>
          <p:cNvPr id="20" name="Text 18"/>
          <p:cNvSpPr txBox="1"/>
          <p:nvPr/>
        </p:nvSpPr>
        <p:spPr>
          <a:xfrm>
            <a:off x="5213177" y="1792224"/>
            <a:ext cx="1765341" cy="237744"/>
          </a:xfrm>
          <a:prstGeom prst="rect">
            <a:avLst/>
          </a:prstGeom>
          <a:noFill/>
          <a:ln/>
        </p:spPr>
        <p:txBody>
          <a:bodyPr wrap="square" lIns="0" tIns="0" rIns="0" bIns="0" rtlCol="0" anchor="t"/>
          <a:lstStyle/>
          <a:p>
            <a:pPr marL="0" indent="0">
              <a:buNone/>
            </a:pPr>
            <a:r>
              <a:rPr lang="en-US" sz="900" i="1" dirty="0">
                <a:solidFill>
                  <a:srgbClr val="AFC6E4"/>
                </a:solidFill>
                <a:latin typeface="Calibri" pitchFamily="34" charset="0"/>
                <a:ea typeface="Calibri" pitchFamily="34" charset="-122"/>
                <a:cs typeface="Calibri" pitchFamily="34" charset="-120"/>
              </a:rPr>
              <a:t>Service Desk Level 1</a:t>
            </a:r>
            <a:endParaRPr lang="en-US" sz="900" dirty="0"/>
          </a:p>
        </p:txBody>
      </p:sp>
      <p:sp>
        <p:nvSpPr>
          <p:cNvPr id="21" name="Text 19"/>
          <p:cNvSpPr txBox="1"/>
          <p:nvPr/>
        </p:nvSpPr>
        <p:spPr>
          <a:xfrm>
            <a:off x="5213177" y="2231136"/>
            <a:ext cx="1765341" cy="25603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Tiếp nhận và phân loại Work Order trên dashboard ITSM.</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Xử lý trực tiếp yêu cầu cơ bản: reset password, cấp Wifi, unlock account.</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Escalate WO vượt phạm vi lên Level 2 kèm ghi chú phân tích.</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Cập nhật trạng thái phiếu và thông báo cho người dùng.</a:t>
            </a:r>
            <a:endParaRPr lang="en-US" sz="950" dirty="0"/>
          </a:p>
        </p:txBody>
      </p:sp>
      <p:sp>
        <p:nvSpPr>
          <p:cNvPr id="22" name="Shape 20"/>
          <p:cNvSpPr/>
          <p:nvPr/>
        </p:nvSpPr>
        <p:spPr>
          <a:xfrm>
            <a:off x="7325990" y="1426464"/>
            <a:ext cx="2057949" cy="3108960"/>
          </a:xfrm>
          <a:prstGeom prst="roundRect">
            <a:avLst>
              <a:gd name="adj" fmla="val 2666"/>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3" name="Shape 21"/>
          <p:cNvSpPr/>
          <p:nvPr/>
        </p:nvSpPr>
        <p:spPr>
          <a:xfrm>
            <a:off x="7325990" y="1426464"/>
            <a:ext cx="2057949" cy="676656"/>
          </a:xfrm>
          <a:prstGeom prst="rect">
            <a:avLst/>
          </a:prstGeom>
          <a:solidFill>
            <a:srgbClr val="0B3B75"/>
          </a:solidFill>
          <a:ln w="12700">
            <a:solidFill>
              <a:srgbClr val="0B3B75"/>
            </a:solidFill>
            <a:prstDash val="solid"/>
          </a:ln>
        </p:spPr>
        <p:txBody>
          <a:bodyPr/>
          <a:lstStyle/>
          <a:p>
            <a:endParaRPr lang="en-US"/>
          </a:p>
        </p:txBody>
      </p:sp>
      <p:sp>
        <p:nvSpPr>
          <p:cNvPr id="24" name="Text 22"/>
          <p:cNvSpPr txBox="1"/>
          <p:nvPr/>
        </p:nvSpPr>
        <p:spPr>
          <a:xfrm>
            <a:off x="7472294" y="1517904"/>
            <a:ext cx="1765341"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Chuyên viên kỹ thuật</a:t>
            </a:r>
            <a:endParaRPr lang="en-US" sz="1150" dirty="0"/>
          </a:p>
        </p:txBody>
      </p:sp>
      <p:sp>
        <p:nvSpPr>
          <p:cNvPr id="25" name="Text 23"/>
          <p:cNvSpPr txBox="1"/>
          <p:nvPr/>
        </p:nvSpPr>
        <p:spPr>
          <a:xfrm>
            <a:off x="7472294" y="1792224"/>
            <a:ext cx="1765341" cy="237744"/>
          </a:xfrm>
          <a:prstGeom prst="rect">
            <a:avLst/>
          </a:prstGeom>
          <a:noFill/>
          <a:ln/>
        </p:spPr>
        <p:txBody>
          <a:bodyPr wrap="square" lIns="0" tIns="0" rIns="0" bIns="0" rtlCol="0" anchor="t"/>
          <a:lstStyle/>
          <a:p>
            <a:pPr marL="0" indent="0">
              <a:buNone/>
            </a:pPr>
            <a:r>
              <a:rPr lang="en-US" sz="900" i="1" dirty="0">
                <a:solidFill>
                  <a:srgbClr val="AFC6E4"/>
                </a:solidFill>
                <a:latin typeface="Calibri" pitchFamily="34" charset="0"/>
                <a:ea typeface="Calibri" pitchFamily="34" charset="-122"/>
                <a:cs typeface="Calibri" pitchFamily="34" charset="-120"/>
              </a:rPr>
              <a:t>Level 2</a:t>
            </a:r>
            <a:endParaRPr lang="en-US" sz="900" dirty="0"/>
          </a:p>
        </p:txBody>
      </p:sp>
      <p:sp>
        <p:nvSpPr>
          <p:cNvPr id="26" name="Text 24"/>
          <p:cNvSpPr txBox="1"/>
          <p:nvPr/>
        </p:nvSpPr>
        <p:spPr>
          <a:xfrm>
            <a:off x="7472294" y="2231136"/>
            <a:ext cx="1765341" cy="25603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Tiếp nhận WO từ L1, cấu hình cấp quyền trên T24, Active Directory, Database.</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Ghi nhật ký an toàn bảo mật trên hệ thống ITSM.</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Kiểm tra kết quả cấu hình, xác nhận quyền đã cấp đúng.</a:t>
            </a:r>
            <a:endParaRPr lang="en-US" sz="950" dirty="0"/>
          </a:p>
        </p:txBody>
      </p:sp>
      <p:sp>
        <p:nvSpPr>
          <p:cNvPr id="27" name="Shape 25"/>
          <p:cNvSpPr/>
          <p:nvPr/>
        </p:nvSpPr>
        <p:spPr>
          <a:xfrm>
            <a:off x="9585107" y="1426464"/>
            <a:ext cx="2057949" cy="3108960"/>
          </a:xfrm>
          <a:prstGeom prst="roundRect">
            <a:avLst>
              <a:gd name="adj" fmla="val 2666"/>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8" name="Shape 26"/>
          <p:cNvSpPr/>
          <p:nvPr/>
        </p:nvSpPr>
        <p:spPr>
          <a:xfrm>
            <a:off x="9585107" y="1426464"/>
            <a:ext cx="2057949" cy="676656"/>
          </a:xfrm>
          <a:prstGeom prst="rect">
            <a:avLst/>
          </a:prstGeom>
          <a:solidFill>
            <a:srgbClr val="0B3B75"/>
          </a:solidFill>
          <a:ln w="12700">
            <a:solidFill>
              <a:srgbClr val="0B3B75"/>
            </a:solidFill>
            <a:prstDash val="solid"/>
          </a:ln>
        </p:spPr>
        <p:txBody>
          <a:bodyPr/>
          <a:lstStyle/>
          <a:p>
            <a:endParaRPr lang="en-US"/>
          </a:p>
        </p:txBody>
      </p:sp>
      <p:sp>
        <p:nvSpPr>
          <p:cNvPr id="29" name="Text 27"/>
          <p:cNvSpPr txBox="1"/>
          <p:nvPr/>
        </p:nvSpPr>
        <p:spPr>
          <a:xfrm>
            <a:off x="9731411" y="1517904"/>
            <a:ext cx="1765341"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Hệ thống ITSM</a:t>
            </a:r>
            <a:endParaRPr lang="en-US" sz="1150" dirty="0"/>
          </a:p>
        </p:txBody>
      </p:sp>
      <p:sp>
        <p:nvSpPr>
          <p:cNvPr id="30" name="Text 28"/>
          <p:cNvSpPr txBox="1"/>
          <p:nvPr/>
        </p:nvSpPr>
        <p:spPr>
          <a:xfrm>
            <a:off x="9731411" y="1792224"/>
            <a:ext cx="1765341" cy="237744"/>
          </a:xfrm>
          <a:prstGeom prst="rect">
            <a:avLst/>
          </a:prstGeom>
          <a:noFill/>
          <a:ln/>
        </p:spPr>
        <p:txBody>
          <a:bodyPr wrap="square" lIns="0" tIns="0" rIns="0" bIns="0" rtlCol="0" anchor="t"/>
          <a:lstStyle/>
          <a:p>
            <a:pPr marL="0" indent="0">
              <a:buNone/>
            </a:pPr>
            <a:r>
              <a:rPr lang="en-US" sz="900" i="1" dirty="0">
                <a:solidFill>
                  <a:srgbClr val="AFC6E4"/>
                </a:solidFill>
                <a:latin typeface="Calibri" pitchFamily="34" charset="0"/>
                <a:ea typeface="Calibri" pitchFamily="34" charset="-122"/>
                <a:cs typeface="Calibri" pitchFamily="34" charset="-120"/>
              </a:rPr>
              <a:t>BMC Helix / SmartIT</a:t>
            </a:r>
            <a:endParaRPr lang="en-US" sz="900" dirty="0"/>
          </a:p>
        </p:txBody>
      </p:sp>
      <p:sp>
        <p:nvSpPr>
          <p:cNvPr id="31" name="Text 29"/>
          <p:cNvSpPr txBox="1"/>
          <p:nvPr/>
        </p:nvSpPr>
        <p:spPr>
          <a:xfrm>
            <a:off x="9731411" y="2231136"/>
            <a:ext cx="1765341" cy="25603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Tự động sinh Work Order từ PYC đã phê duyệt.</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Phân loại rủi ro quyền theo ma trận đã cấu hình.</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Theo dõi trạng thái, đếm thời gian SLA, cảnh báo khi gần hết hạn.</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Auto-close phiếu nếu người dùng không phản hồi trong 48 giờ.</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marL="0" indent="0">
              <a:buNone/>
            </a:pPr>
            <a:r>
              <a:rPr lang="en-US" sz="6600" b="1" dirty="0">
                <a:solidFill>
                  <a:srgbClr val="D9A227"/>
                </a:solidFill>
                <a:latin typeface="Calibri" pitchFamily="34" charset="0"/>
                <a:ea typeface="Calibri" pitchFamily="34" charset="-122"/>
                <a:cs typeface="Calibri" pitchFamily="34" charset="-120"/>
              </a:rPr>
              <a:t>03</a:t>
            </a:r>
            <a:endParaRPr lang="en-US" sz="6600" dirty="0"/>
          </a:p>
        </p:txBody>
      </p:sp>
      <p:sp>
        <p:nvSpPr>
          <p:cNvPr id="3" name="Text 1"/>
          <p:cNvSpPr txBox="1"/>
          <p:nvPr/>
        </p:nvSpPr>
        <p:spPr>
          <a:xfrm>
            <a:off x="548640" y="3072384"/>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PHẦN 3 · MODELLING AS-IS</a:t>
            </a:r>
            <a:endParaRPr lang="en-US" sz="1100" dirty="0"/>
          </a:p>
        </p:txBody>
      </p:sp>
      <p:sp>
        <p:nvSpPr>
          <p:cNvPr id="4" name="Text 2"/>
          <p:cNvSpPr txBox="1"/>
          <p:nvPr/>
        </p:nvSpPr>
        <p:spPr>
          <a:xfrm>
            <a:off x="548640" y="3383280"/>
            <a:ext cx="11094415" cy="6400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Mô hình hóa quy trình hiện trạng bằng BPMN 2.0</a:t>
            </a:r>
            <a:endParaRPr lang="en-US" sz="3200" dirty="0"/>
          </a:p>
        </p:txBody>
      </p:sp>
      <p:sp>
        <p:nvSpPr>
          <p:cNvPr id="5" name="Text 3"/>
          <p:cNvSpPr txBox="1"/>
          <p:nvPr/>
        </p:nvSpPr>
        <p:spPr>
          <a:xfrm>
            <a:off x="548640" y="4114800"/>
            <a:ext cx="9722815" cy="365760"/>
          </a:xfrm>
          <a:prstGeom prst="rect">
            <a:avLst/>
          </a:prstGeom>
          <a:noFill/>
          <a:ln/>
        </p:spPr>
        <p:txBody>
          <a:bodyPr wrap="square" lIns="0" tIns="0" rIns="0" bIns="0" rtlCol="0" anchor="t"/>
          <a:lstStyle/>
          <a:p>
            <a:pPr marL="0" indent="0">
              <a:buNone/>
            </a:pPr>
            <a:r>
              <a:rPr lang="en-US" sz="1200" dirty="0">
                <a:solidFill>
                  <a:srgbClr val="9BB2D2"/>
                </a:solidFill>
                <a:latin typeface="Calibri" pitchFamily="34" charset="0"/>
                <a:ea typeface="Calibri" pitchFamily="34" charset="-122"/>
                <a:cs typeface="Calibri" pitchFamily="34" charset="-120"/>
              </a:rPr>
              <a:t>Phạm vi mô hình hóa 06/10 quy trình  ·  Sơ đồ BPMN từng quy trình  ·  Bảng đánh giá độ phức tạp</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3 · PHẠM VI MÔ HÌNH HÓA</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TỪ 10 QUY TRÌNH SANG 06 QUY TRÌNH ĐƯỢC MÔ HÌNH HÓA</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23</a:t>
            </a:r>
            <a:endParaRPr lang="en-US" sz="1100" dirty="0"/>
          </a:p>
        </p:txBody>
      </p:sp>
      <p:sp>
        <p:nvSpPr>
          <p:cNvPr id="7" name="Shape 5"/>
          <p:cNvSpPr/>
          <p:nvPr/>
        </p:nvSpPr>
        <p:spPr>
          <a:xfrm>
            <a:off x="548640" y="1426464"/>
            <a:ext cx="3515258" cy="3200400"/>
          </a:xfrm>
          <a:prstGeom prst="roundRect">
            <a:avLst>
              <a:gd name="adj" fmla="val 1714"/>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Text 6"/>
          <p:cNvSpPr txBox="1"/>
          <p:nvPr/>
        </p:nvSpPr>
        <p:spPr>
          <a:xfrm>
            <a:off x="731520" y="1572768"/>
            <a:ext cx="3149498" cy="256032"/>
          </a:xfrm>
          <a:prstGeom prst="rect">
            <a:avLst/>
          </a:prstGeom>
          <a:noFill/>
          <a:ln/>
        </p:spPr>
        <p:txBody>
          <a:bodyPr wrap="square" lIns="0" tIns="0" rIns="0" bIns="0" rtlCol="0" anchor="t"/>
          <a:lstStyle/>
          <a:p>
            <a:pPr marL="0" indent="0">
              <a:buNone/>
            </a:pPr>
            <a:r>
              <a:rPr lang="en-US" sz="1050" b="1" kern="0" spc="80" dirty="0">
                <a:solidFill>
                  <a:srgbClr val="1660BF"/>
                </a:solidFill>
                <a:latin typeface="Calibri" pitchFamily="34" charset="0"/>
                <a:ea typeface="Calibri" pitchFamily="34" charset="-122"/>
                <a:cs typeface="Calibri" pitchFamily="34" charset="-120"/>
              </a:rPr>
              <a:t>MANAGEMENT PROCESSES</a:t>
            </a:r>
            <a:endParaRPr lang="en-US" sz="1050" dirty="0"/>
          </a:p>
        </p:txBody>
      </p:sp>
      <p:sp>
        <p:nvSpPr>
          <p:cNvPr id="9" name="Shape 7"/>
          <p:cNvSpPr/>
          <p:nvPr/>
        </p:nvSpPr>
        <p:spPr>
          <a:xfrm>
            <a:off x="731520" y="1956816"/>
            <a:ext cx="3149498" cy="603504"/>
          </a:xfrm>
          <a:prstGeom prst="roundRect">
            <a:avLst>
              <a:gd name="adj" fmla="val 9091"/>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0" name="Text 8"/>
          <p:cNvSpPr txBox="1"/>
          <p:nvPr/>
        </p:nvSpPr>
        <p:spPr>
          <a:xfrm>
            <a:off x="859536" y="2011680"/>
            <a:ext cx="731520" cy="237744"/>
          </a:xfrm>
          <a:prstGeom prst="rect">
            <a:avLst/>
          </a:prstGeom>
          <a:noFill/>
          <a:ln/>
        </p:spPr>
        <p:txBody>
          <a:bodyPr wrap="square" lIns="0" tIns="0" rIns="0" bIns="0" rtlCol="0" anchor="t"/>
          <a:lstStyle/>
          <a:p>
            <a:pPr marL="0" indent="0">
              <a:buNone/>
            </a:pPr>
            <a:r>
              <a:rPr lang="en-US" sz="1200" b="1" dirty="0">
                <a:solidFill>
                  <a:srgbClr val="1660BF"/>
                </a:solidFill>
                <a:latin typeface="Calibri" pitchFamily="34" charset="0"/>
                <a:ea typeface="Calibri" pitchFamily="34" charset="-122"/>
                <a:cs typeface="Calibri" pitchFamily="34" charset="-120"/>
              </a:rPr>
              <a:t>M01</a:t>
            </a:r>
            <a:endParaRPr lang="en-US" sz="1200" dirty="0"/>
          </a:p>
        </p:txBody>
      </p:sp>
      <p:sp>
        <p:nvSpPr>
          <p:cNvPr id="11" name="Text 9"/>
          <p:cNvSpPr txBox="1"/>
          <p:nvPr/>
        </p:nvSpPr>
        <p:spPr>
          <a:xfrm>
            <a:off x="859536" y="2249424"/>
            <a:ext cx="2893466" cy="256032"/>
          </a:xfrm>
          <a:prstGeom prst="rect">
            <a:avLst/>
          </a:prstGeom>
          <a:noFill/>
          <a:ln/>
        </p:spPr>
        <p:txBody>
          <a:bodyPr wrap="square" lIns="0" tIns="0" rIns="0" bIns="0" rtlCol="0" anchor="t"/>
          <a:lstStyle/>
          <a:p>
            <a:pPr marL="0" indent="0">
              <a:buNone/>
            </a:pPr>
            <a:r>
              <a:rPr lang="en-US" sz="1000" dirty="0">
                <a:solidFill>
                  <a:srgbClr val="2A3442"/>
                </a:solidFill>
                <a:latin typeface="Calibri" pitchFamily="34" charset="0"/>
                <a:ea typeface="Calibri" pitchFamily="34" charset="-122"/>
                <a:cs typeface="Calibri" pitchFamily="34" charset="-120"/>
              </a:rPr>
              <a:t>Quản lý Mức Dịch vụ (SLA)</a:t>
            </a:r>
            <a:endParaRPr lang="en-US" sz="1000" dirty="0"/>
          </a:p>
        </p:txBody>
      </p:sp>
      <p:sp>
        <p:nvSpPr>
          <p:cNvPr id="12" name="Shape 10"/>
          <p:cNvSpPr/>
          <p:nvPr/>
        </p:nvSpPr>
        <p:spPr>
          <a:xfrm>
            <a:off x="731520" y="2670048"/>
            <a:ext cx="3149498" cy="603504"/>
          </a:xfrm>
          <a:prstGeom prst="roundRect">
            <a:avLst>
              <a:gd name="adj" fmla="val 9091"/>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3" name="Text 11"/>
          <p:cNvSpPr txBox="1"/>
          <p:nvPr/>
        </p:nvSpPr>
        <p:spPr>
          <a:xfrm>
            <a:off x="859536" y="2724912"/>
            <a:ext cx="731520" cy="237744"/>
          </a:xfrm>
          <a:prstGeom prst="rect">
            <a:avLst/>
          </a:prstGeom>
          <a:noFill/>
          <a:ln/>
        </p:spPr>
        <p:txBody>
          <a:bodyPr wrap="square" lIns="0" tIns="0" rIns="0" bIns="0" rtlCol="0" anchor="t"/>
          <a:lstStyle/>
          <a:p>
            <a:pPr marL="0" indent="0">
              <a:buNone/>
            </a:pPr>
            <a:r>
              <a:rPr lang="en-US" sz="1200" b="1" dirty="0">
                <a:solidFill>
                  <a:srgbClr val="1660BF"/>
                </a:solidFill>
                <a:latin typeface="Calibri" pitchFamily="34" charset="0"/>
                <a:ea typeface="Calibri" pitchFamily="34" charset="-122"/>
                <a:cs typeface="Calibri" pitchFamily="34" charset="-120"/>
              </a:rPr>
              <a:t>M02</a:t>
            </a:r>
            <a:endParaRPr lang="en-US" sz="1200" dirty="0"/>
          </a:p>
        </p:txBody>
      </p:sp>
      <p:sp>
        <p:nvSpPr>
          <p:cNvPr id="14" name="Text 12"/>
          <p:cNvSpPr txBox="1"/>
          <p:nvPr/>
        </p:nvSpPr>
        <p:spPr>
          <a:xfrm>
            <a:off x="859536" y="2962656"/>
            <a:ext cx="2893466" cy="256032"/>
          </a:xfrm>
          <a:prstGeom prst="rect">
            <a:avLst/>
          </a:prstGeom>
          <a:noFill/>
          <a:ln/>
        </p:spPr>
        <p:txBody>
          <a:bodyPr wrap="square" lIns="0" tIns="0" rIns="0" bIns="0" rtlCol="0" anchor="t"/>
          <a:lstStyle/>
          <a:p>
            <a:pPr marL="0" indent="0">
              <a:buNone/>
            </a:pPr>
            <a:r>
              <a:rPr lang="en-US" sz="1000" dirty="0">
                <a:solidFill>
                  <a:srgbClr val="2A3442"/>
                </a:solidFill>
                <a:latin typeface="Calibri" pitchFamily="34" charset="0"/>
                <a:ea typeface="Calibri" pitchFamily="34" charset="-122"/>
                <a:cs typeface="Calibri" pitchFamily="34" charset="-120"/>
              </a:rPr>
              <a:t>Quản lý Rủi ro &amp; An toàn Thông tin</a:t>
            </a:r>
            <a:endParaRPr lang="en-US" sz="1000" dirty="0"/>
          </a:p>
        </p:txBody>
      </p:sp>
      <p:sp>
        <p:nvSpPr>
          <p:cNvPr id="15" name="Text 13"/>
          <p:cNvSpPr txBox="1"/>
          <p:nvPr/>
        </p:nvSpPr>
        <p:spPr>
          <a:xfrm>
            <a:off x="731520" y="3493008"/>
            <a:ext cx="3149498" cy="219456"/>
          </a:xfrm>
          <a:prstGeom prst="rect">
            <a:avLst/>
          </a:prstGeom>
          <a:noFill/>
          <a:ln/>
        </p:spPr>
        <p:txBody>
          <a:bodyPr wrap="square" lIns="0" tIns="0" rIns="0" bIns="0" rtlCol="0" anchor="t"/>
          <a:lstStyle/>
          <a:p>
            <a:pPr marL="0" indent="0">
              <a:buNone/>
            </a:pPr>
            <a:r>
              <a:rPr lang="en-US" sz="900" b="1" kern="0" spc="80" dirty="0">
                <a:solidFill>
                  <a:srgbClr val="6E7A88"/>
                </a:solidFill>
                <a:latin typeface="Calibri" pitchFamily="34" charset="0"/>
                <a:ea typeface="Calibri" pitchFamily="34" charset="-122"/>
                <a:cs typeface="Calibri" pitchFamily="34" charset="-120"/>
              </a:rPr>
              <a:t>LÝ DO LỰA CHỌN</a:t>
            </a:r>
            <a:endParaRPr lang="en-US" sz="900" dirty="0"/>
          </a:p>
        </p:txBody>
      </p:sp>
      <p:sp>
        <p:nvSpPr>
          <p:cNvPr id="16" name="Text 14"/>
          <p:cNvSpPr txBox="1"/>
          <p:nvPr/>
        </p:nvSpPr>
        <p:spPr>
          <a:xfrm>
            <a:off x="731520" y="3730752"/>
            <a:ext cx="3149498" cy="78638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Đại diện cho giám sát và kiểm soát: đo lường hiệu suất dịch vụ và kiểm soát rủi ro an toàn thông tin.</a:t>
            </a:r>
            <a:endParaRPr lang="en-US" sz="1000" dirty="0"/>
          </a:p>
        </p:txBody>
      </p:sp>
      <p:sp>
        <p:nvSpPr>
          <p:cNvPr id="17" name="Shape 15"/>
          <p:cNvSpPr/>
          <p:nvPr/>
        </p:nvSpPr>
        <p:spPr>
          <a:xfrm>
            <a:off x="4338218" y="1426464"/>
            <a:ext cx="3515258" cy="3200400"/>
          </a:xfrm>
          <a:prstGeom prst="roundRect">
            <a:avLst>
              <a:gd name="adj" fmla="val 1714"/>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Text 16"/>
          <p:cNvSpPr txBox="1"/>
          <p:nvPr/>
        </p:nvSpPr>
        <p:spPr>
          <a:xfrm>
            <a:off x="4521098" y="1572768"/>
            <a:ext cx="3149498" cy="256032"/>
          </a:xfrm>
          <a:prstGeom prst="rect">
            <a:avLst/>
          </a:prstGeom>
          <a:noFill/>
          <a:ln/>
        </p:spPr>
        <p:txBody>
          <a:bodyPr wrap="square" lIns="0" tIns="0" rIns="0" bIns="0" rtlCol="0" anchor="t"/>
          <a:lstStyle/>
          <a:p>
            <a:pPr marL="0" indent="0">
              <a:buNone/>
            </a:pPr>
            <a:r>
              <a:rPr lang="en-US" sz="1050" b="1" kern="0" spc="80" dirty="0">
                <a:solidFill>
                  <a:srgbClr val="A5741A"/>
                </a:solidFill>
                <a:latin typeface="Calibri" pitchFamily="34" charset="0"/>
                <a:ea typeface="Calibri" pitchFamily="34" charset="-122"/>
                <a:cs typeface="Calibri" pitchFamily="34" charset="-120"/>
              </a:rPr>
              <a:t>CORE BUSINESS PROCESSES</a:t>
            </a:r>
            <a:endParaRPr lang="en-US" sz="1050" dirty="0"/>
          </a:p>
        </p:txBody>
      </p:sp>
      <p:sp>
        <p:nvSpPr>
          <p:cNvPr id="19" name="Shape 17"/>
          <p:cNvSpPr/>
          <p:nvPr/>
        </p:nvSpPr>
        <p:spPr>
          <a:xfrm>
            <a:off x="4521098" y="1956816"/>
            <a:ext cx="3149498" cy="603504"/>
          </a:xfrm>
          <a:prstGeom prst="roundRect">
            <a:avLst>
              <a:gd name="adj" fmla="val 9091"/>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0" name="Text 18"/>
          <p:cNvSpPr txBox="1"/>
          <p:nvPr/>
        </p:nvSpPr>
        <p:spPr>
          <a:xfrm>
            <a:off x="4649114" y="2011680"/>
            <a:ext cx="731520" cy="237744"/>
          </a:xfrm>
          <a:prstGeom prst="rect">
            <a:avLst/>
          </a:prstGeom>
          <a:noFill/>
          <a:ln/>
        </p:spPr>
        <p:txBody>
          <a:bodyPr wrap="square" lIns="0" tIns="0" rIns="0" bIns="0" rtlCol="0" anchor="t"/>
          <a:lstStyle/>
          <a:p>
            <a:pPr marL="0" indent="0">
              <a:buNone/>
            </a:pPr>
            <a:r>
              <a:rPr lang="en-US" sz="1200" b="1" dirty="0">
                <a:solidFill>
                  <a:srgbClr val="A5741A"/>
                </a:solidFill>
                <a:latin typeface="Calibri" pitchFamily="34" charset="0"/>
                <a:ea typeface="Calibri" pitchFamily="34" charset="-122"/>
                <a:cs typeface="Calibri" pitchFamily="34" charset="-120"/>
              </a:rPr>
              <a:t>C01</a:t>
            </a:r>
            <a:endParaRPr lang="en-US" sz="1200" dirty="0"/>
          </a:p>
        </p:txBody>
      </p:sp>
      <p:sp>
        <p:nvSpPr>
          <p:cNvPr id="21" name="Text 19"/>
          <p:cNvSpPr txBox="1"/>
          <p:nvPr/>
        </p:nvSpPr>
        <p:spPr>
          <a:xfrm>
            <a:off x="4649114" y="2249424"/>
            <a:ext cx="2893466" cy="256032"/>
          </a:xfrm>
          <a:prstGeom prst="rect">
            <a:avLst/>
          </a:prstGeom>
          <a:noFill/>
          <a:ln/>
        </p:spPr>
        <p:txBody>
          <a:bodyPr wrap="square" lIns="0" tIns="0" rIns="0" bIns="0" rtlCol="0" anchor="t"/>
          <a:lstStyle/>
          <a:p>
            <a:pPr marL="0" indent="0">
              <a:buNone/>
            </a:pPr>
            <a:r>
              <a:rPr lang="en-US" sz="1000" dirty="0">
                <a:solidFill>
                  <a:srgbClr val="2A3442"/>
                </a:solidFill>
                <a:latin typeface="Calibri" pitchFamily="34" charset="0"/>
                <a:ea typeface="Calibri" pitchFamily="34" charset="-122"/>
                <a:cs typeface="Calibri" pitchFamily="34" charset="-120"/>
              </a:rPr>
              <a:t>Quản lý Yêu cầu Dịch vụ (PYC)</a:t>
            </a:r>
            <a:endParaRPr lang="en-US" sz="1000" dirty="0"/>
          </a:p>
        </p:txBody>
      </p:sp>
      <p:sp>
        <p:nvSpPr>
          <p:cNvPr id="22" name="Shape 20"/>
          <p:cNvSpPr/>
          <p:nvPr/>
        </p:nvSpPr>
        <p:spPr>
          <a:xfrm>
            <a:off x="4521098" y="2670048"/>
            <a:ext cx="3149498" cy="603504"/>
          </a:xfrm>
          <a:prstGeom prst="roundRect">
            <a:avLst>
              <a:gd name="adj" fmla="val 9091"/>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3" name="Text 21"/>
          <p:cNvSpPr txBox="1"/>
          <p:nvPr/>
        </p:nvSpPr>
        <p:spPr>
          <a:xfrm>
            <a:off x="4649114" y="2724912"/>
            <a:ext cx="731520" cy="237744"/>
          </a:xfrm>
          <a:prstGeom prst="rect">
            <a:avLst/>
          </a:prstGeom>
          <a:noFill/>
          <a:ln/>
        </p:spPr>
        <p:txBody>
          <a:bodyPr wrap="square" lIns="0" tIns="0" rIns="0" bIns="0" rtlCol="0" anchor="t"/>
          <a:lstStyle/>
          <a:p>
            <a:pPr marL="0" indent="0">
              <a:buNone/>
            </a:pPr>
            <a:r>
              <a:rPr lang="en-US" sz="1200" b="1" dirty="0">
                <a:solidFill>
                  <a:srgbClr val="A5741A"/>
                </a:solidFill>
                <a:latin typeface="Calibri" pitchFamily="34" charset="0"/>
                <a:ea typeface="Calibri" pitchFamily="34" charset="-122"/>
                <a:cs typeface="Calibri" pitchFamily="34" charset="-120"/>
              </a:rPr>
              <a:t>C02</a:t>
            </a:r>
            <a:endParaRPr lang="en-US" sz="1200" dirty="0"/>
          </a:p>
        </p:txBody>
      </p:sp>
      <p:sp>
        <p:nvSpPr>
          <p:cNvPr id="24" name="Text 22"/>
          <p:cNvSpPr txBox="1"/>
          <p:nvPr/>
        </p:nvSpPr>
        <p:spPr>
          <a:xfrm>
            <a:off x="4649114" y="2962656"/>
            <a:ext cx="2893466" cy="256032"/>
          </a:xfrm>
          <a:prstGeom prst="rect">
            <a:avLst/>
          </a:prstGeom>
          <a:noFill/>
          <a:ln/>
        </p:spPr>
        <p:txBody>
          <a:bodyPr wrap="square" lIns="0" tIns="0" rIns="0" bIns="0" rtlCol="0" anchor="t"/>
          <a:lstStyle/>
          <a:p>
            <a:pPr marL="0" indent="0">
              <a:buNone/>
            </a:pPr>
            <a:r>
              <a:rPr lang="en-US" sz="1000" dirty="0">
                <a:solidFill>
                  <a:srgbClr val="2A3442"/>
                </a:solidFill>
                <a:latin typeface="Calibri" pitchFamily="34" charset="0"/>
                <a:ea typeface="Calibri" pitchFamily="34" charset="-122"/>
                <a:cs typeface="Calibri" pitchFamily="34" charset="-120"/>
              </a:rPr>
              <a:t>Quản lý Sự cố (Incident)</a:t>
            </a:r>
            <a:endParaRPr lang="en-US" sz="1000" dirty="0"/>
          </a:p>
        </p:txBody>
      </p:sp>
      <p:sp>
        <p:nvSpPr>
          <p:cNvPr id="25" name="Text 23"/>
          <p:cNvSpPr txBox="1"/>
          <p:nvPr/>
        </p:nvSpPr>
        <p:spPr>
          <a:xfrm>
            <a:off x="4521098" y="3493008"/>
            <a:ext cx="3149498" cy="219456"/>
          </a:xfrm>
          <a:prstGeom prst="rect">
            <a:avLst/>
          </a:prstGeom>
          <a:noFill/>
          <a:ln/>
        </p:spPr>
        <p:txBody>
          <a:bodyPr wrap="square" lIns="0" tIns="0" rIns="0" bIns="0" rtlCol="0" anchor="t"/>
          <a:lstStyle/>
          <a:p>
            <a:pPr marL="0" indent="0">
              <a:buNone/>
            </a:pPr>
            <a:r>
              <a:rPr lang="en-US" sz="900" b="1" kern="0" spc="80" dirty="0">
                <a:solidFill>
                  <a:srgbClr val="6E7A88"/>
                </a:solidFill>
                <a:latin typeface="Calibri" pitchFamily="34" charset="0"/>
                <a:ea typeface="Calibri" pitchFamily="34" charset="-122"/>
                <a:cs typeface="Calibri" pitchFamily="34" charset="-120"/>
              </a:rPr>
              <a:t>LÝ DO LỰA CHỌN</a:t>
            </a:r>
            <a:endParaRPr lang="en-US" sz="900" dirty="0"/>
          </a:p>
        </p:txBody>
      </p:sp>
      <p:sp>
        <p:nvSpPr>
          <p:cNvPr id="26" name="Text 24"/>
          <p:cNvSpPr txBox="1"/>
          <p:nvPr/>
        </p:nvSpPr>
        <p:spPr>
          <a:xfrm>
            <a:off x="4521098" y="3730752"/>
            <a:ext cx="3149498" cy="78638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Đại diện cho chuỗi tạo giá trị trực tiếp cho người dùng nội bộ: yêu cầu chủ động và sự cố ngoài kế hoạch.</a:t>
            </a:r>
            <a:endParaRPr lang="en-US" sz="1000" dirty="0"/>
          </a:p>
        </p:txBody>
      </p:sp>
      <p:sp>
        <p:nvSpPr>
          <p:cNvPr id="27" name="Shape 25"/>
          <p:cNvSpPr/>
          <p:nvPr/>
        </p:nvSpPr>
        <p:spPr>
          <a:xfrm>
            <a:off x="8127797" y="1426464"/>
            <a:ext cx="3515258" cy="3200400"/>
          </a:xfrm>
          <a:prstGeom prst="roundRect">
            <a:avLst>
              <a:gd name="adj" fmla="val 1714"/>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8" name="Text 26"/>
          <p:cNvSpPr txBox="1"/>
          <p:nvPr/>
        </p:nvSpPr>
        <p:spPr>
          <a:xfrm>
            <a:off x="8310677" y="1572768"/>
            <a:ext cx="3149498" cy="256032"/>
          </a:xfrm>
          <a:prstGeom prst="rect">
            <a:avLst/>
          </a:prstGeom>
          <a:noFill/>
          <a:ln/>
        </p:spPr>
        <p:txBody>
          <a:bodyPr wrap="square" lIns="0" tIns="0" rIns="0" bIns="0" rtlCol="0" anchor="t"/>
          <a:lstStyle/>
          <a:p>
            <a:pPr marL="0" indent="0">
              <a:buNone/>
            </a:pPr>
            <a:r>
              <a:rPr lang="en-US" sz="1050" b="1" kern="0" spc="80" dirty="0">
                <a:solidFill>
                  <a:srgbClr val="0E7A5F"/>
                </a:solidFill>
                <a:latin typeface="Calibri" pitchFamily="34" charset="0"/>
                <a:ea typeface="Calibri" pitchFamily="34" charset="-122"/>
                <a:cs typeface="Calibri" pitchFamily="34" charset="-120"/>
              </a:rPr>
              <a:t>SUPPORTING PROCESSES</a:t>
            </a:r>
            <a:endParaRPr lang="en-US" sz="1050" dirty="0"/>
          </a:p>
        </p:txBody>
      </p:sp>
      <p:sp>
        <p:nvSpPr>
          <p:cNvPr id="29" name="Shape 27"/>
          <p:cNvSpPr/>
          <p:nvPr/>
        </p:nvSpPr>
        <p:spPr>
          <a:xfrm>
            <a:off x="8310677" y="1956816"/>
            <a:ext cx="3149498" cy="603504"/>
          </a:xfrm>
          <a:prstGeom prst="roundRect">
            <a:avLst>
              <a:gd name="adj" fmla="val 9091"/>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0" name="Text 28"/>
          <p:cNvSpPr txBox="1"/>
          <p:nvPr/>
        </p:nvSpPr>
        <p:spPr>
          <a:xfrm>
            <a:off x="8438693" y="2011680"/>
            <a:ext cx="731520" cy="237744"/>
          </a:xfrm>
          <a:prstGeom prst="rect">
            <a:avLst/>
          </a:prstGeom>
          <a:noFill/>
          <a:ln/>
        </p:spPr>
        <p:txBody>
          <a:bodyPr wrap="square" lIns="0" tIns="0" rIns="0" bIns="0" rtlCol="0" anchor="t"/>
          <a:lstStyle/>
          <a:p>
            <a:pPr marL="0" indent="0">
              <a:buNone/>
            </a:pPr>
            <a:r>
              <a:rPr lang="en-US" sz="1200" b="1" dirty="0">
                <a:solidFill>
                  <a:srgbClr val="0E7A5F"/>
                </a:solidFill>
                <a:latin typeface="Calibri" pitchFamily="34" charset="0"/>
                <a:ea typeface="Calibri" pitchFamily="34" charset="-122"/>
                <a:cs typeface="Calibri" pitchFamily="34" charset="-120"/>
              </a:rPr>
              <a:t>S02</a:t>
            </a:r>
            <a:endParaRPr lang="en-US" sz="1200" dirty="0"/>
          </a:p>
        </p:txBody>
      </p:sp>
      <p:sp>
        <p:nvSpPr>
          <p:cNvPr id="31" name="Text 29"/>
          <p:cNvSpPr txBox="1"/>
          <p:nvPr/>
        </p:nvSpPr>
        <p:spPr>
          <a:xfrm>
            <a:off x="8438693" y="2249424"/>
            <a:ext cx="2893466" cy="256032"/>
          </a:xfrm>
          <a:prstGeom prst="rect">
            <a:avLst/>
          </a:prstGeom>
          <a:noFill/>
          <a:ln/>
        </p:spPr>
        <p:txBody>
          <a:bodyPr wrap="square" lIns="0" tIns="0" rIns="0" bIns="0" rtlCol="0" anchor="t"/>
          <a:lstStyle/>
          <a:p>
            <a:pPr marL="0" indent="0">
              <a:buNone/>
            </a:pPr>
            <a:r>
              <a:rPr lang="en-US" sz="1000" dirty="0">
                <a:solidFill>
                  <a:srgbClr val="2A3442"/>
                </a:solidFill>
                <a:latin typeface="Calibri" pitchFamily="34" charset="0"/>
                <a:ea typeface="Calibri" pitchFamily="34" charset="-122"/>
                <a:cs typeface="Calibri" pitchFamily="34" charset="-120"/>
              </a:rPr>
              <a:t>Quản lý Thay đổi (Change)</a:t>
            </a:r>
            <a:endParaRPr lang="en-US" sz="1000" dirty="0"/>
          </a:p>
        </p:txBody>
      </p:sp>
      <p:sp>
        <p:nvSpPr>
          <p:cNvPr id="32" name="Shape 30"/>
          <p:cNvSpPr/>
          <p:nvPr/>
        </p:nvSpPr>
        <p:spPr>
          <a:xfrm>
            <a:off x="8310677" y="2670048"/>
            <a:ext cx="3149498" cy="603504"/>
          </a:xfrm>
          <a:prstGeom prst="roundRect">
            <a:avLst>
              <a:gd name="adj" fmla="val 9091"/>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3" name="Text 31"/>
          <p:cNvSpPr txBox="1"/>
          <p:nvPr/>
        </p:nvSpPr>
        <p:spPr>
          <a:xfrm>
            <a:off x="8438693" y="2724912"/>
            <a:ext cx="731520" cy="237744"/>
          </a:xfrm>
          <a:prstGeom prst="rect">
            <a:avLst/>
          </a:prstGeom>
          <a:noFill/>
          <a:ln/>
        </p:spPr>
        <p:txBody>
          <a:bodyPr wrap="square" lIns="0" tIns="0" rIns="0" bIns="0" rtlCol="0" anchor="t"/>
          <a:lstStyle/>
          <a:p>
            <a:pPr marL="0" indent="0">
              <a:buNone/>
            </a:pPr>
            <a:r>
              <a:rPr lang="en-US" sz="1200" b="1" dirty="0">
                <a:solidFill>
                  <a:srgbClr val="0E7A5F"/>
                </a:solidFill>
                <a:latin typeface="Calibri" pitchFamily="34" charset="0"/>
                <a:ea typeface="Calibri" pitchFamily="34" charset="-122"/>
                <a:cs typeface="Calibri" pitchFamily="34" charset="-120"/>
              </a:rPr>
              <a:t>S03</a:t>
            </a:r>
            <a:endParaRPr lang="en-US" sz="1200" dirty="0"/>
          </a:p>
        </p:txBody>
      </p:sp>
      <p:sp>
        <p:nvSpPr>
          <p:cNvPr id="34" name="Text 32"/>
          <p:cNvSpPr txBox="1"/>
          <p:nvPr/>
        </p:nvSpPr>
        <p:spPr>
          <a:xfrm>
            <a:off x="8438693" y="2962656"/>
            <a:ext cx="2893466" cy="256032"/>
          </a:xfrm>
          <a:prstGeom prst="rect">
            <a:avLst/>
          </a:prstGeom>
          <a:noFill/>
          <a:ln/>
        </p:spPr>
        <p:txBody>
          <a:bodyPr wrap="square" lIns="0" tIns="0" rIns="0" bIns="0" rtlCol="0" anchor="t"/>
          <a:lstStyle/>
          <a:p>
            <a:pPr marL="0" indent="0">
              <a:buNone/>
            </a:pPr>
            <a:r>
              <a:rPr lang="en-US" sz="1000" dirty="0">
                <a:solidFill>
                  <a:srgbClr val="2A3442"/>
                </a:solidFill>
                <a:latin typeface="Calibri" pitchFamily="34" charset="0"/>
                <a:ea typeface="Calibri" pitchFamily="34" charset="-122"/>
                <a:cs typeface="Calibri" pitchFamily="34" charset="-120"/>
              </a:rPr>
              <a:t>Quản lý Tài sản CNTT</a:t>
            </a:r>
            <a:endParaRPr lang="en-US" sz="1000" dirty="0"/>
          </a:p>
        </p:txBody>
      </p:sp>
      <p:sp>
        <p:nvSpPr>
          <p:cNvPr id="35" name="Text 33"/>
          <p:cNvSpPr txBox="1"/>
          <p:nvPr/>
        </p:nvSpPr>
        <p:spPr>
          <a:xfrm>
            <a:off x="8310677" y="3493008"/>
            <a:ext cx="3149498" cy="219456"/>
          </a:xfrm>
          <a:prstGeom prst="rect">
            <a:avLst/>
          </a:prstGeom>
          <a:noFill/>
          <a:ln/>
        </p:spPr>
        <p:txBody>
          <a:bodyPr wrap="square" lIns="0" tIns="0" rIns="0" bIns="0" rtlCol="0" anchor="t"/>
          <a:lstStyle/>
          <a:p>
            <a:pPr marL="0" indent="0">
              <a:buNone/>
            </a:pPr>
            <a:r>
              <a:rPr lang="en-US" sz="900" b="1" kern="0" spc="80" dirty="0">
                <a:solidFill>
                  <a:srgbClr val="6E7A88"/>
                </a:solidFill>
                <a:latin typeface="Calibri" pitchFamily="34" charset="0"/>
                <a:ea typeface="Calibri" pitchFamily="34" charset="-122"/>
                <a:cs typeface="Calibri" pitchFamily="34" charset="-120"/>
              </a:rPr>
              <a:t>LÝ DO LỰA CHỌN</a:t>
            </a:r>
            <a:endParaRPr lang="en-US" sz="900" dirty="0"/>
          </a:p>
        </p:txBody>
      </p:sp>
      <p:sp>
        <p:nvSpPr>
          <p:cNvPr id="36" name="Text 34"/>
          <p:cNvSpPr txBox="1"/>
          <p:nvPr/>
        </p:nvSpPr>
        <p:spPr>
          <a:xfrm>
            <a:off x="8310677" y="3730752"/>
            <a:ext cx="3149498" cy="78638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Đại diện cho nền tảng hỗ trợ: kiểm soát thay đổi hạ tầng và cung cấp tài sản cho quy trình cốt lõi.</a:t>
            </a:r>
            <a:endParaRPr lang="en-US" sz="1000" dirty="0"/>
          </a:p>
        </p:txBody>
      </p:sp>
      <p:sp>
        <p:nvSpPr>
          <p:cNvPr id="37" name="Text 35"/>
          <p:cNvSpPr txBox="1"/>
          <p:nvPr/>
        </p:nvSpPr>
        <p:spPr>
          <a:xfrm>
            <a:off x="548640" y="4809744"/>
            <a:ext cx="11094415" cy="365760"/>
          </a:xfrm>
          <a:prstGeom prst="rect">
            <a:avLst/>
          </a:prstGeom>
          <a:noFill/>
          <a:ln/>
        </p:spPr>
        <p:txBody>
          <a:bodyPr wrap="square" lIns="0" tIns="0" rIns="0" bIns="0" rtlCol="0" anchor="t"/>
          <a:lstStyle/>
          <a:p>
            <a:pPr marL="0" indent="0">
              <a:buNone/>
            </a:pPr>
            <a:r>
              <a:rPr lang="en-US" sz="1050" dirty="0">
                <a:solidFill>
                  <a:srgbClr val="2A3442"/>
                </a:solidFill>
                <a:latin typeface="Calibri" pitchFamily="34" charset="0"/>
                <a:ea typeface="Calibri" pitchFamily="34" charset="-122"/>
                <a:cs typeface="Calibri" pitchFamily="34" charset="-120"/>
              </a:rPr>
              <a:t>BỐN QUY TRÌNH KHÔNG MÔ HÌNH HÓA:  M03 Quản lý Ngân sách &amp; Nguồn lực  ·  C03 Quản lý Phát hành Phần mềm  ·  S01 Quản lý Vấn đề  ·  S04 Quản lý Tri thức — chỉ dừng ở mức mô tả tổng quan trong Chương 1.</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3 · 3.1.1 NHÓM CỐT LÕI</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C01  —  Quản lý Yêu cầu Dịch vụ (PYC) — AS-IS</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24</a:t>
            </a:r>
            <a:endParaRPr lang="en-US" sz="1100" dirty="0"/>
          </a:p>
        </p:txBody>
      </p:sp>
      <p:sp>
        <p:nvSpPr>
          <p:cNvPr id="7" name="Text 5"/>
          <p:cNvSpPr txBox="1"/>
          <p:nvPr/>
        </p:nvSpPr>
        <p:spPr>
          <a:xfrm>
            <a:off x="548640" y="1371600"/>
            <a:ext cx="5074920" cy="237744"/>
          </a:xfrm>
          <a:prstGeom prst="rect">
            <a:avLst/>
          </a:prstGeom>
          <a:noFill/>
          <a:ln/>
        </p:spPr>
        <p:txBody>
          <a:bodyPr wrap="square" lIns="0" tIns="0" rIns="0" bIns="0" rtlCol="0" anchor="t"/>
          <a:lstStyle/>
          <a:p>
            <a:pPr marL="0" indent="0">
              <a:buNone/>
            </a:pPr>
            <a:r>
              <a:rPr lang="en-US" sz="1000" b="1" kern="0" spc="80" dirty="0">
                <a:solidFill>
                  <a:srgbClr val="1660BF"/>
                </a:solidFill>
                <a:latin typeface="Calibri" pitchFamily="34" charset="0"/>
                <a:ea typeface="Calibri" pitchFamily="34" charset="-122"/>
                <a:cs typeface="Calibri" pitchFamily="34" charset="-120"/>
              </a:rPr>
              <a:t>CẤU TRÚC LUỒNG NGHIỆP VỤ</a:t>
            </a:r>
            <a:endParaRPr lang="en-US" sz="1000" dirty="0"/>
          </a:p>
        </p:txBody>
      </p:sp>
      <p:sp>
        <p:nvSpPr>
          <p:cNvPr id="8" name="Shape 6"/>
          <p:cNvSpPr/>
          <p:nvPr/>
        </p:nvSpPr>
        <p:spPr>
          <a:xfrm>
            <a:off x="548640" y="1664208"/>
            <a:ext cx="11091672" cy="1155032"/>
          </a:xfrm>
          <a:prstGeom prst="roundRect">
            <a:avLst>
              <a:gd name="adj" fmla="val 475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13232" y="1755648"/>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1 — End User</a:t>
            </a:r>
            <a:endParaRPr lang="en-US" sz="1100" dirty="0"/>
          </a:p>
        </p:txBody>
      </p:sp>
      <p:sp>
        <p:nvSpPr>
          <p:cNvPr id="10" name="Text 8"/>
          <p:cNvSpPr txBox="1"/>
          <p:nvPr/>
        </p:nvSpPr>
        <p:spPr>
          <a:xfrm>
            <a:off x="713231" y="2011680"/>
            <a:ext cx="10699515" cy="697832"/>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Start Event “Nhu cầu hỗ trợ” → Đăng nhập ITSM → Chọn dịch vụ → Điền biểu mẫu PYC → Gateway AND Split “Đính kèm” tách 3 nhánh (email phê duyệt, mã dự án, ảnh chụp màn hình) → AND Join → Send Task “Gửi yêu cầu” → Message Flow sang Pool 2.</a:t>
            </a:r>
            <a:endParaRPr lang="en-US" sz="920" dirty="0"/>
          </a:p>
        </p:txBody>
      </p:sp>
      <p:sp>
        <p:nvSpPr>
          <p:cNvPr id="11" name="Shape 9"/>
          <p:cNvSpPr/>
          <p:nvPr/>
        </p:nvSpPr>
        <p:spPr>
          <a:xfrm>
            <a:off x="548639" y="2965544"/>
            <a:ext cx="11094415" cy="1247434"/>
          </a:xfrm>
          <a:prstGeom prst="roundRect">
            <a:avLst>
              <a:gd name="adj" fmla="val 439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713232" y="3056984"/>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2 — Hệ thống ITSM</a:t>
            </a:r>
            <a:endParaRPr lang="en-US" sz="1100" dirty="0"/>
          </a:p>
        </p:txBody>
      </p:sp>
      <p:sp>
        <p:nvSpPr>
          <p:cNvPr id="13" name="Text 11"/>
          <p:cNvSpPr txBox="1"/>
          <p:nvPr/>
        </p:nvSpPr>
        <p:spPr>
          <a:xfrm>
            <a:off x="713232" y="3313016"/>
            <a:ext cx="10699514" cy="790234"/>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Message Start Event → Phân loại rủi ro quyền → XOR “Rủi ro?”: Thấp → Tạo Work Order; Cao → gửi thông báo Quản lý → XOR “Approved?”: Không → Reject kèm lý do → End Event; Có → Xác nhận PYC → hợp luồng về Tạo WO → Send Task gán WO cho nhóm xử lý.</a:t>
            </a:r>
            <a:endParaRPr lang="en-US" sz="920" dirty="0"/>
          </a:p>
        </p:txBody>
      </p:sp>
      <p:sp>
        <p:nvSpPr>
          <p:cNvPr id="14" name="Shape 12"/>
          <p:cNvSpPr/>
          <p:nvPr/>
        </p:nvSpPr>
        <p:spPr>
          <a:xfrm>
            <a:off x="548640" y="4359282"/>
            <a:ext cx="11166032" cy="1694046"/>
          </a:xfrm>
          <a:prstGeom prst="roundRect">
            <a:avLst>
              <a:gd name="adj" fmla="val 323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5" name="Text 13"/>
          <p:cNvSpPr txBox="1"/>
          <p:nvPr/>
        </p:nvSpPr>
        <p:spPr>
          <a:xfrm>
            <a:off x="713232" y="4450722"/>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3 — Service Desk L1</a:t>
            </a:r>
            <a:endParaRPr lang="en-US" sz="1100" dirty="0"/>
          </a:p>
        </p:txBody>
      </p:sp>
      <p:sp>
        <p:nvSpPr>
          <p:cNvPr id="16" name="Text 14"/>
          <p:cNvSpPr txBox="1"/>
          <p:nvPr/>
        </p:nvSpPr>
        <p:spPr>
          <a:xfrm>
            <a:off x="713232" y="4706754"/>
            <a:ext cx="10699514" cy="1236846"/>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Timer Start “Bắt đầu SLA” → Xác minh thông tin → XOR “Trong scope?”: Trong scope → Xử lý trực tiếp → AND Split ghi log ITSM + ghi log SIEM → AND Join; Ngoài scope → Ghi chú phân tích → gửi WO cho L2 → Sub-Process “L2 xử lý kỹ thuật”. Hợp luồng → Cập nhật “Resolved” → User kiểm tra kết quả → Event-Based Gateway chờ Message “confirm” hoặc Timer “1 ngày” → Đóng ticket → End Event.</a:t>
            </a:r>
            <a:endParaRPr lang="en-US" sz="9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6724B99-5BE9-2677-D2CA-55B60F3EFE6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663B06B-2D4B-17C1-31D2-F39BD3BE7E5B}"/>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a:extLst>
              <a:ext uri="{FF2B5EF4-FFF2-40B4-BE49-F238E27FC236}">
                <a16:creationId xmlns:a16="http://schemas.microsoft.com/office/drawing/2014/main" id="{B5A86070-CB9C-E934-4D69-AF453D8C2319}"/>
              </a:ext>
            </a:extLst>
          </p:cNvPr>
          <p:cNvSpPr txBox="1"/>
          <p:nvPr/>
        </p:nvSpPr>
        <p:spPr>
          <a:xfrm>
            <a:off x="804672" y="292608"/>
            <a:ext cx="10838383" cy="237744"/>
          </a:xfrm>
          <a:prstGeom prst="rect">
            <a:avLst/>
          </a:prstGeom>
          <a:noFill/>
          <a:ln/>
        </p:spPr>
        <p:txBody>
          <a:bodyPr wrap="square" lIns="0" tIns="0" rIns="0" bIns="0" rtlCol="0" anchor="t"/>
          <a:lstStyle/>
          <a:p>
            <a:r>
              <a:rPr lang="en-US" sz="1050" b="1" kern="0" spc="120" dirty="0">
                <a:solidFill>
                  <a:srgbClr val="A5741A"/>
                </a:solidFill>
                <a:latin typeface="Calibri" pitchFamily="34" charset="0"/>
                <a:ea typeface="Calibri" pitchFamily="34" charset="-122"/>
                <a:cs typeface="Calibri" pitchFamily="34" charset="-120"/>
              </a:rPr>
              <a:t>CHƯƠNG 3 · 3.1.1 NHÓM CỐT LÕI</a:t>
            </a:r>
            <a:endParaRPr lang="en-US" sz="1050" dirty="0"/>
          </a:p>
        </p:txBody>
      </p:sp>
      <p:sp>
        <p:nvSpPr>
          <p:cNvPr id="4" name="Text 2">
            <a:extLst>
              <a:ext uri="{FF2B5EF4-FFF2-40B4-BE49-F238E27FC236}">
                <a16:creationId xmlns:a16="http://schemas.microsoft.com/office/drawing/2014/main" id="{8B08EA2C-76B2-BCD2-5144-EA779A2068AC}"/>
              </a:ext>
            </a:extLst>
          </p:cNvPr>
          <p:cNvSpPr txBox="1"/>
          <p:nvPr/>
        </p:nvSpPr>
        <p:spPr>
          <a:xfrm>
            <a:off x="548640" y="566928"/>
            <a:ext cx="11094415" cy="457200"/>
          </a:xfrm>
          <a:prstGeom prst="rect">
            <a:avLst/>
          </a:prstGeom>
          <a:noFill/>
          <a:ln/>
        </p:spPr>
        <p:txBody>
          <a:bodyPr wrap="square" lIns="0" tIns="0" rIns="0" bIns="0" rtlCol="0" anchor="t"/>
          <a:lstStyle/>
          <a:p>
            <a:r>
              <a:rPr lang="en-US" sz="2500" b="1" dirty="0">
                <a:solidFill>
                  <a:srgbClr val="0B3B75"/>
                </a:solidFill>
                <a:latin typeface="Calibri" pitchFamily="34" charset="0"/>
                <a:ea typeface="Calibri" pitchFamily="34" charset="-122"/>
                <a:cs typeface="Calibri" pitchFamily="34" charset="-120"/>
              </a:rPr>
              <a:t>C01  —  Quản </a:t>
            </a:r>
            <a:r>
              <a:rPr lang="en-US" sz="2500" b="1" dirty="0" err="1">
                <a:solidFill>
                  <a:srgbClr val="0B3B75"/>
                </a:solidFill>
                <a:latin typeface="Calibri" pitchFamily="34" charset="0"/>
                <a:ea typeface="Calibri" pitchFamily="34" charset="-122"/>
                <a:cs typeface="Calibri" pitchFamily="34" charset="-120"/>
              </a:rPr>
              <a:t>lý</a:t>
            </a:r>
            <a:r>
              <a:rPr lang="en-US" sz="2500" b="1" dirty="0">
                <a:solidFill>
                  <a:srgbClr val="0B3B75"/>
                </a:solidFill>
                <a:latin typeface="Calibri" pitchFamily="34" charset="0"/>
                <a:ea typeface="Calibri" pitchFamily="34" charset="-122"/>
                <a:cs typeface="Calibri" pitchFamily="34" charset="-120"/>
              </a:rPr>
              <a:t> </a:t>
            </a:r>
            <a:r>
              <a:rPr lang="en-US" sz="2500" b="1" dirty="0" err="1">
                <a:solidFill>
                  <a:srgbClr val="0B3B75"/>
                </a:solidFill>
                <a:latin typeface="Calibri" pitchFamily="34" charset="0"/>
                <a:ea typeface="Calibri" pitchFamily="34" charset="-122"/>
                <a:cs typeface="Calibri" pitchFamily="34" charset="-120"/>
              </a:rPr>
              <a:t>Yêu</a:t>
            </a:r>
            <a:r>
              <a:rPr lang="en-US" sz="2500" b="1" dirty="0">
                <a:solidFill>
                  <a:srgbClr val="0B3B75"/>
                </a:solidFill>
                <a:latin typeface="Calibri" pitchFamily="34" charset="0"/>
                <a:ea typeface="Calibri" pitchFamily="34" charset="-122"/>
                <a:cs typeface="Calibri" pitchFamily="34" charset="-120"/>
              </a:rPr>
              <a:t> </a:t>
            </a:r>
            <a:r>
              <a:rPr lang="en-US" sz="2500" b="1" dirty="0" err="1">
                <a:solidFill>
                  <a:srgbClr val="0B3B75"/>
                </a:solidFill>
                <a:latin typeface="Calibri" pitchFamily="34" charset="0"/>
                <a:ea typeface="Calibri" pitchFamily="34" charset="-122"/>
                <a:cs typeface="Calibri" pitchFamily="34" charset="-120"/>
              </a:rPr>
              <a:t>cầu</a:t>
            </a:r>
            <a:r>
              <a:rPr lang="en-US" sz="2500" b="1" dirty="0">
                <a:solidFill>
                  <a:srgbClr val="0B3B75"/>
                </a:solidFill>
                <a:latin typeface="Calibri" pitchFamily="34" charset="0"/>
                <a:ea typeface="Calibri" pitchFamily="34" charset="-122"/>
                <a:cs typeface="Calibri" pitchFamily="34" charset="-120"/>
              </a:rPr>
              <a:t> </a:t>
            </a:r>
            <a:r>
              <a:rPr lang="en-US" sz="2500" b="1" dirty="0" err="1">
                <a:solidFill>
                  <a:srgbClr val="0B3B75"/>
                </a:solidFill>
                <a:latin typeface="Calibri" pitchFamily="34" charset="0"/>
                <a:ea typeface="Calibri" pitchFamily="34" charset="-122"/>
                <a:cs typeface="Calibri" pitchFamily="34" charset="-120"/>
              </a:rPr>
              <a:t>Dịch</a:t>
            </a:r>
            <a:r>
              <a:rPr lang="en-US" sz="2500" b="1" dirty="0">
                <a:solidFill>
                  <a:srgbClr val="0B3B75"/>
                </a:solidFill>
                <a:latin typeface="Calibri" pitchFamily="34" charset="0"/>
                <a:ea typeface="Calibri" pitchFamily="34" charset="-122"/>
                <a:cs typeface="Calibri" pitchFamily="34" charset="-120"/>
              </a:rPr>
              <a:t> </a:t>
            </a:r>
            <a:r>
              <a:rPr lang="en-US" sz="2500" b="1" dirty="0" err="1">
                <a:solidFill>
                  <a:srgbClr val="0B3B75"/>
                </a:solidFill>
                <a:latin typeface="Calibri" pitchFamily="34" charset="0"/>
                <a:ea typeface="Calibri" pitchFamily="34" charset="-122"/>
                <a:cs typeface="Calibri" pitchFamily="34" charset="-120"/>
              </a:rPr>
              <a:t>vụ</a:t>
            </a:r>
            <a:r>
              <a:rPr lang="en-US" sz="2500" b="1" dirty="0">
                <a:solidFill>
                  <a:srgbClr val="0B3B75"/>
                </a:solidFill>
                <a:latin typeface="Calibri" pitchFamily="34" charset="0"/>
                <a:ea typeface="Calibri" pitchFamily="34" charset="-122"/>
                <a:cs typeface="Calibri" pitchFamily="34" charset="-120"/>
              </a:rPr>
              <a:t> (PYC) — AS-IS</a:t>
            </a:r>
            <a:endParaRPr lang="en-US" sz="2500" dirty="0"/>
          </a:p>
        </p:txBody>
      </p:sp>
      <p:sp>
        <p:nvSpPr>
          <p:cNvPr id="5" name="Text 3">
            <a:extLst>
              <a:ext uri="{FF2B5EF4-FFF2-40B4-BE49-F238E27FC236}">
                <a16:creationId xmlns:a16="http://schemas.microsoft.com/office/drawing/2014/main" id="{47B27791-3F62-9D7D-0D20-BC4D11E92BD1}"/>
              </a:ext>
            </a:extLst>
          </p:cNvPr>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a:extLst>
              <a:ext uri="{FF2B5EF4-FFF2-40B4-BE49-F238E27FC236}">
                <a16:creationId xmlns:a16="http://schemas.microsoft.com/office/drawing/2014/main" id="{E3793502-5D2E-3EB7-E4FC-2B2BE91EEBC7}"/>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25</a:t>
            </a:r>
            <a:endParaRPr lang="en-US" sz="1100" dirty="0"/>
          </a:p>
        </p:txBody>
      </p:sp>
      <p:grpSp>
        <p:nvGrpSpPr>
          <p:cNvPr id="7" name="Group 6">
            <a:extLst>
              <a:ext uri="{FF2B5EF4-FFF2-40B4-BE49-F238E27FC236}">
                <a16:creationId xmlns:a16="http://schemas.microsoft.com/office/drawing/2014/main" id="{545387C7-B328-5F99-CE92-9866BB0E89FD}"/>
              </a:ext>
            </a:extLst>
          </p:cNvPr>
          <p:cNvGrpSpPr/>
          <p:nvPr/>
        </p:nvGrpSpPr>
        <p:grpSpPr>
          <a:xfrm>
            <a:off x="548640" y="1056222"/>
            <a:ext cx="8388326" cy="5248656"/>
            <a:chOff x="6047462" y="1078992"/>
            <a:chExt cx="5831112" cy="4315968"/>
          </a:xfrm>
        </p:grpSpPr>
        <p:sp>
          <p:nvSpPr>
            <p:cNvPr id="8" name="Shape 15">
              <a:extLst>
                <a:ext uri="{FF2B5EF4-FFF2-40B4-BE49-F238E27FC236}">
                  <a16:creationId xmlns:a16="http://schemas.microsoft.com/office/drawing/2014/main" id="{D244DCE1-B705-28CC-FFE1-28EFAD55E033}"/>
                </a:ext>
              </a:extLst>
            </p:cNvPr>
            <p:cNvSpPr/>
            <p:nvPr/>
          </p:nvSpPr>
          <p:spPr>
            <a:xfrm>
              <a:off x="6047462" y="1078992"/>
              <a:ext cx="5831112" cy="4315968"/>
            </a:xfrm>
            <a:prstGeom prst="roundRect">
              <a:avLst>
                <a:gd name="adj" fmla="val 1364"/>
              </a:avLst>
            </a:prstGeom>
            <a:solidFill>
              <a:srgbClr val="FCF7EA"/>
            </a:solidFill>
            <a:ln w="15875">
              <a:solidFill>
                <a:srgbClr val="D9A227"/>
              </a:solidFill>
              <a:prstDash val="dash"/>
            </a:ln>
          </p:spPr>
          <p:txBody>
            <a:bodyPr/>
            <a:lstStyle/>
            <a:p>
              <a:endParaRPr lang="en-US"/>
            </a:p>
          </p:txBody>
        </p:sp>
        <p:pic>
          <p:nvPicPr>
            <p:cNvPr id="9" name="Picture 8">
              <a:extLst>
                <a:ext uri="{FF2B5EF4-FFF2-40B4-BE49-F238E27FC236}">
                  <a16:creationId xmlns:a16="http://schemas.microsoft.com/office/drawing/2014/main" id="{779C71EB-88C0-C0B1-DD1B-B882A86FA096}"/>
                </a:ext>
              </a:extLst>
            </p:cNvPr>
            <p:cNvPicPr>
              <a:picLocks noChangeAspect="1"/>
            </p:cNvPicPr>
            <p:nvPr/>
          </p:nvPicPr>
          <p:blipFill>
            <a:blip r:embed="rId3"/>
            <a:stretch>
              <a:fillRect/>
            </a:stretch>
          </p:blipFill>
          <p:spPr>
            <a:xfrm>
              <a:off x="6126480" y="1154329"/>
              <a:ext cx="5681067" cy="4202430"/>
            </a:xfrm>
            <a:prstGeom prst="rect">
              <a:avLst/>
            </a:prstGeom>
          </p:spPr>
        </p:pic>
      </p:grpSp>
    </p:spTree>
    <p:extLst>
      <p:ext uri="{BB962C8B-B14F-4D97-AF65-F5344CB8AC3E}">
        <p14:creationId xmlns:p14="http://schemas.microsoft.com/office/powerpoint/2010/main" val="940374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3 · 3.2.1 NHÓM QUẢN LÝ</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M01  —  Quản lý Mức Dịch vụ (SLA) — AS-IS</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26</a:t>
            </a:r>
            <a:endParaRPr lang="en-US" sz="1100" dirty="0"/>
          </a:p>
        </p:txBody>
      </p:sp>
      <p:sp>
        <p:nvSpPr>
          <p:cNvPr id="7" name="Text 5"/>
          <p:cNvSpPr txBox="1"/>
          <p:nvPr/>
        </p:nvSpPr>
        <p:spPr>
          <a:xfrm>
            <a:off x="548640" y="1371600"/>
            <a:ext cx="5074920" cy="237744"/>
          </a:xfrm>
          <a:prstGeom prst="rect">
            <a:avLst/>
          </a:prstGeom>
          <a:noFill/>
          <a:ln/>
        </p:spPr>
        <p:txBody>
          <a:bodyPr wrap="square" lIns="0" tIns="0" rIns="0" bIns="0" rtlCol="0" anchor="t"/>
          <a:lstStyle/>
          <a:p>
            <a:pPr marL="0" indent="0">
              <a:buNone/>
            </a:pPr>
            <a:r>
              <a:rPr lang="en-US" sz="1100" b="1" kern="0" spc="80" dirty="0">
                <a:solidFill>
                  <a:srgbClr val="1660BF"/>
                </a:solidFill>
                <a:latin typeface="Calibri" pitchFamily="34" charset="0"/>
                <a:ea typeface="Calibri" pitchFamily="34" charset="-122"/>
                <a:cs typeface="Calibri" pitchFamily="34" charset="-120"/>
              </a:rPr>
              <a:t>CẤU TRÚC LUỒNG NGHIỆP VỤ</a:t>
            </a:r>
            <a:endParaRPr lang="en-US" sz="1100" dirty="0"/>
          </a:p>
        </p:txBody>
      </p:sp>
      <p:sp>
        <p:nvSpPr>
          <p:cNvPr id="8" name="Shape 6"/>
          <p:cNvSpPr/>
          <p:nvPr/>
        </p:nvSpPr>
        <p:spPr>
          <a:xfrm>
            <a:off x="548640" y="1664208"/>
            <a:ext cx="11091672" cy="1463040"/>
          </a:xfrm>
          <a:prstGeom prst="roundRect">
            <a:avLst>
              <a:gd name="adj" fmla="val 375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13232" y="1755648"/>
            <a:ext cx="4745736" cy="237744"/>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POOL 1 — Bộ phận vận hành</a:t>
            </a:r>
            <a:endParaRPr lang="en-US" sz="1200" dirty="0"/>
          </a:p>
        </p:txBody>
      </p:sp>
      <p:sp>
        <p:nvSpPr>
          <p:cNvPr id="10" name="Text 8"/>
          <p:cNvSpPr txBox="1"/>
          <p:nvPr/>
        </p:nvSpPr>
        <p:spPr>
          <a:xfrm>
            <a:off x="713232" y="2011680"/>
            <a:ext cx="10708142" cy="1005840"/>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Timer Start “Đến kỳ đánh giá” → Thu thập dữ liệu xử lý PYC → Xác minh dữ liệu → XOR “Có bất thường?”: Có → Loại trừ outlier → XOR “Dữ liệu sạch?”: Không → Gia hạn kỳ đánh giá → vòng lại; Có → hợp luồng. Không bất thường → hợp luồng.</a:t>
            </a:r>
            <a:endParaRPr lang="en-US" sz="1100" dirty="0"/>
          </a:p>
        </p:txBody>
      </p:sp>
      <p:sp>
        <p:nvSpPr>
          <p:cNvPr id="11" name="Shape 9"/>
          <p:cNvSpPr/>
          <p:nvPr/>
        </p:nvSpPr>
        <p:spPr>
          <a:xfrm>
            <a:off x="548639" y="3273552"/>
            <a:ext cx="11094415" cy="1572768"/>
          </a:xfrm>
          <a:prstGeom prst="roundRect">
            <a:avLst>
              <a:gd name="adj" fmla="val 348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713232" y="3364992"/>
            <a:ext cx="4745736" cy="237744"/>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POOL 1 (tiếp)</a:t>
            </a:r>
            <a:endParaRPr lang="en-US" sz="1200" dirty="0"/>
          </a:p>
        </p:txBody>
      </p:sp>
      <p:sp>
        <p:nvSpPr>
          <p:cNvPr id="13" name="Text 11"/>
          <p:cNvSpPr txBox="1"/>
          <p:nvPr/>
        </p:nvSpPr>
        <p:spPr>
          <a:xfrm>
            <a:off x="713232" y="3621024"/>
            <a:ext cx="10708142" cy="1115568"/>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Tính tỷ lệ đạt/trễ hạn SLA → So sánh ngưỡng cam kết → XOR “Đạt target?”: Không đạt → Phân tích nguyên nhân vi phạm; Đạt → Báo cáo tích cực → hợp luồng → Lập báo cáo → AND Split (Báo cáo Phòng Ban / Báo cáo theo Danh mục) → AND Join → Send Task gửi báo cáo.</a:t>
            </a:r>
            <a:endParaRPr lang="en-US" sz="1100" dirty="0"/>
          </a:p>
        </p:txBody>
      </p:sp>
      <p:sp>
        <p:nvSpPr>
          <p:cNvPr id="14" name="Shape 12"/>
          <p:cNvSpPr/>
          <p:nvPr/>
        </p:nvSpPr>
        <p:spPr>
          <a:xfrm>
            <a:off x="548639" y="4992624"/>
            <a:ext cx="11094415" cy="969264"/>
          </a:xfrm>
          <a:prstGeom prst="roundRect">
            <a:avLst>
              <a:gd name="adj" fmla="val 566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5" name="Text 13"/>
          <p:cNvSpPr txBox="1"/>
          <p:nvPr/>
        </p:nvSpPr>
        <p:spPr>
          <a:xfrm>
            <a:off x="713232" y="5084064"/>
            <a:ext cx="4745736" cy="237744"/>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POOL 2 — Ban Giám đốc Khối</a:t>
            </a:r>
            <a:endParaRPr lang="en-US" sz="1200" dirty="0"/>
          </a:p>
        </p:txBody>
      </p:sp>
      <p:sp>
        <p:nvSpPr>
          <p:cNvPr id="16" name="Text 14"/>
          <p:cNvSpPr txBox="1"/>
          <p:nvPr/>
        </p:nvSpPr>
        <p:spPr>
          <a:xfrm>
            <a:off x="713232" y="5340096"/>
            <a:ext cx="10708142" cy="512064"/>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Message Start “Nhận báo cáo” → Xem xét → XOR “Đồng ý triển khai?”: Không → End Event; Có → Áp dụng giải pháp cải tiến → End Event.</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2B17E35-7179-A782-DAF0-D9F60286B29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88409D3-74B9-5254-C926-2E8F27F8A83D}"/>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a:extLst>
              <a:ext uri="{FF2B5EF4-FFF2-40B4-BE49-F238E27FC236}">
                <a16:creationId xmlns:a16="http://schemas.microsoft.com/office/drawing/2014/main" id="{FD49866B-6121-0121-D87D-7AC7E11CC9DA}"/>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3 · 3.2.1 NHÓM QUẢN LÝ</a:t>
            </a:r>
            <a:endParaRPr lang="en-US" sz="1050" dirty="0"/>
          </a:p>
        </p:txBody>
      </p:sp>
      <p:sp>
        <p:nvSpPr>
          <p:cNvPr id="4" name="Text 2">
            <a:extLst>
              <a:ext uri="{FF2B5EF4-FFF2-40B4-BE49-F238E27FC236}">
                <a16:creationId xmlns:a16="http://schemas.microsoft.com/office/drawing/2014/main" id="{E3526F21-F8A5-3B57-31B0-8A4DA0CE186D}"/>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M01  —  Quản lý Mức Dịch vụ (SLA) — AS-IS</a:t>
            </a:r>
            <a:endParaRPr lang="en-US" sz="2500" dirty="0"/>
          </a:p>
        </p:txBody>
      </p:sp>
      <p:sp>
        <p:nvSpPr>
          <p:cNvPr id="5" name="Text 3">
            <a:extLst>
              <a:ext uri="{FF2B5EF4-FFF2-40B4-BE49-F238E27FC236}">
                <a16:creationId xmlns:a16="http://schemas.microsoft.com/office/drawing/2014/main" id="{3EEF8CCB-FADE-21B5-8C06-09F5B96D0994}"/>
              </a:ext>
            </a:extLst>
          </p:cNvPr>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a:extLst>
              <a:ext uri="{FF2B5EF4-FFF2-40B4-BE49-F238E27FC236}">
                <a16:creationId xmlns:a16="http://schemas.microsoft.com/office/drawing/2014/main" id="{59DE0981-D940-BB49-2C21-B5A98A2F419C}"/>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27</a:t>
            </a:r>
            <a:endParaRPr lang="en-US" sz="1100" dirty="0"/>
          </a:p>
        </p:txBody>
      </p:sp>
      <p:sp>
        <p:nvSpPr>
          <p:cNvPr id="17" name="Shape 15">
            <a:extLst>
              <a:ext uri="{FF2B5EF4-FFF2-40B4-BE49-F238E27FC236}">
                <a16:creationId xmlns:a16="http://schemas.microsoft.com/office/drawing/2014/main" id="{14398AE9-9A51-525A-B182-4321606E8D2C}"/>
              </a:ext>
            </a:extLst>
          </p:cNvPr>
          <p:cNvSpPr/>
          <p:nvPr/>
        </p:nvSpPr>
        <p:spPr>
          <a:xfrm>
            <a:off x="422254" y="1211580"/>
            <a:ext cx="11347186" cy="3843499"/>
          </a:xfrm>
          <a:prstGeom prst="roundRect">
            <a:avLst>
              <a:gd name="adj" fmla="val 1364"/>
            </a:avLst>
          </a:prstGeom>
          <a:solidFill>
            <a:srgbClr val="FCF7EA"/>
          </a:solidFill>
          <a:ln w="15875">
            <a:solidFill>
              <a:srgbClr val="D9A227"/>
            </a:solidFill>
            <a:prstDash val="dash"/>
          </a:ln>
        </p:spPr>
        <p:txBody>
          <a:bodyPr/>
          <a:lstStyle/>
          <a:p>
            <a:endParaRPr lang="en-US"/>
          </a:p>
        </p:txBody>
      </p:sp>
      <p:pic>
        <p:nvPicPr>
          <p:cNvPr id="22" name="Picture 21">
            <a:extLst>
              <a:ext uri="{FF2B5EF4-FFF2-40B4-BE49-F238E27FC236}">
                <a16:creationId xmlns:a16="http://schemas.microsoft.com/office/drawing/2014/main" id="{1381A767-553D-8573-7081-4A1ABF02D3DA}"/>
              </a:ext>
            </a:extLst>
          </p:cNvPr>
          <p:cNvPicPr>
            <a:picLocks noChangeAspect="1"/>
          </p:cNvPicPr>
          <p:nvPr/>
        </p:nvPicPr>
        <p:blipFill>
          <a:blip r:embed="rId3"/>
          <a:stretch>
            <a:fillRect/>
          </a:stretch>
        </p:blipFill>
        <p:spPr>
          <a:xfrm>
            <a:off x="485476" y="1252728"/>
            <a:ext cx="11198833" cy="3724714"/>
          </a:xfrm>
          <a:prstGeom prst="rect">
            <a:avLst/>
          </a:prstGeom>
        </p:spPr>
      </p:pic>
    </p:spTree>
    <p:extLst>
      <p:ext uri="{BB962C8B-B14F-4D97-AF65-F5344CB8AC3E}">
        <p14:creationId xmlns:p14="http://schemas.microsoft.com/office/powerpoint/2010/main" val="3430586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3 · 3.3.1 NHÓM HỖ TRỢ</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S02  -  Quản lý Thay đổi (Change Request) - </a:t>
            </a:r>
          </a:p>
          <a:p>
            <a:pPr marL="0" indent="0">
              <a:buNone/>
            </a:pPr>
            <a:r>
              <a:rPr lang="en-US" sz="2500" b="1" dirty="0">
                <a:solidFill>
                  <a:srgbClr val="0B3B75"/>
                </a:solidFill>
                <a:latin typeface="Calibri" pitchFamily="34" charset="0"/>
                <a:ea typeface="Calibri" pitchFamily="34" charset="-122"/>
                <a:cs typeface="Calibri" pitchFamily="34" charset="-120"/>
              </a:rPr>
              <a:t>AS-IS</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28</a:t>
            </a:r>
            <a:endParaRPr lang="en-US" sz="1100" dirty="0"/>
          </a:p>
        </p:txBody>
      </p:sp>
      <p:sp>
        <p:nvSpPr>
          <p:cNvPr id="7" name="Text 5"/>
          <p:cNvSpPr txBox="1"/>
          <p:nvPr/>
        </p:nvSpPr>
        <p:spPr>
          <a:xfrm>
            <a:off x="548640" y="1371600"/>
            <a:ext cx="5074920" cy="237744"/>
          </a:xfrm>
          <a:prstGeom prst="rect">
            <a:avLst/>
          </a:prstGeom>
          <a:noFill/>
          <a:ln/>
        </p:spPr>
        <p:txBody>
          <a:bodyPr wrap="square" lIns="0" tIns="0" rIns="0" bIns="0" rtlCol="0" anchor="t"/>
          <a:lstStyle/>
          <a:p>
            <a:pPr marL="0" indent="0">
              <a:buNone/>
            </a:pPr>
            <a:r>
              <a:rPr lang="en-US" sz="1000" b="1" kern="0" spc="80" dirty="0">
                <a:solidFill>
                  <a:srgbClr val="1660BF"/>
                </a:solidFill>
                <a:latin typeface="Calibri" pitchFamily="34" charset="0"/>
                <a:ea typeface="Calibri" pitchFamily="34" charset="-122"/>
                <a:cs typeface="Calibri" pitchFamily="34" charset="-120"/>
              </a:rPr>
              <a:t>CẤU TRÚC LUỒNG NGHIỆP VỤ</a:t>
            </a:r>
            <a:endParaRPr lang="en-US" sz="1000" dirty="0"/>
          </a:p>
        </p:txBody>
      </p:sp>
      <p:sp>
        <p:nvSpPr>
          <p:cNvPr id="8" name="Shape 6"/>
          <p:cNvSpPr/>
          <p:nvPr/>
        </p:nvSpPr>
        <p:spPr>
          <a:xfrm>
            <a:off x="548640" y="1664208"/>
            <a:ext cx="5187926" cy="983768"/>
          </a:xfrm>
          <a:prstGeom prst="roundRect">
            <a:avLst>
              <a:gd name="adj" fmla="val 5577"/>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13232" y="1755648"/>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1 — End User</a:t>
            </a:r>
            <a:endParaRPr lang="en-US" sz="1100" dirty="0"/>
          </a:p>
        </p:txBody>
      </p:sp>
      <p:sp>
        <p:nvSpPr>
          <p:cNvPr id="10" name="Text 8"/>
          <p:cNvSpPr txBox="1"/>
          <p:nvPr/>
        </p:nvSpPr>
        <p:spPr>
          <a:xfrm>
            <a:off x="713231" y="2011680"/>
            <a:ext cx="4745737" cy="526568"/>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Start Event “Phát sinh nhu cầu” → Tạo phiếu yêu cầu thay đổi (hạ tầng, server, application) → AND Split (điền nội dung chi tiết / đính kèm tài liệu kỹ thuật) → AND Join → Send Task xác nhận gửi ticket.</a:t>
            </a:r>
            <a:endParaRPr lang="en-US" sz="920" dirty="0"/>
          </a:p>
        </p:txBody>
      </p:sp>
      <p:sp>
        <p:nvSpPr>
          <p:cNvPr id="11" name="Shape 9"/>
          <p:cNvSpPr/>
          <p:nvPr/>
        </p:nvSpPr>
        <p:spPr>
          <a:xfrm>
            <a:off x="548640" y="2794280"/>
            <a:ext cx="5187926" cy="983768"/>
          </a:xfrm>
          <a:prstGeom prst="roundRect">
            <a:avLst>
              <a:gd name="adj" fmla="val 5577"/>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713232" y="2885720"/>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2 — Change Manager</a:t>
            </a:r>
            <a:endParaRPr lang="en-US" sz="1100" dirty="0"/>
          </a:p>
        </p:txBody>
      </p:sp>
      <p:sp>
        <p:nvSpPr>
          <p:cNvPr id="13" name="Text 11"/>
          <p:cNvSpPr txBox="1"/>
          <p:nvPr/>
        </p:nvSpPr>
        <p:spPr>
          <a:xfrm>
            <a:off x="713232" y="3141752"/>
            <a:ext cx="4745736" cy="526568"/>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Message Start “Tiếp nhận phiếu” → Phân loại Change Request → XOR: Standard Change → auto-approve gửi thẳng Pool 4; Normal Change → gửi Quản lý Cấp 1; Emergency Change → chuyển Ban CAB.</a:t>
            </a:r>
            <a:endParaRPr lang="en-US" sz="920" dirty="0"/>
          </a:p>
        </p:txBody>
      </p:sp>
      <p:sp>
        <p:nvSpPr>
          <p:cNvPr id="14" name="Shape 12"/>
          <p:cNvSpPr/>
          <p:nvPr/>
        </p:nvSpPr>
        <p:spPr>
          <a:xfrm>
            <a:off x="548640" y="3924353"/>
            <a:ext cx="5187926" cy="1180522"/>
          </a:xfrm>
          <a:prstGeom prst="roundRect">
            <a:avLst>
              <a:gd name="adj" fmla="val 4647"/>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5" name="Text 13"/>
          <p:cNvSpPr txBox="1"/>
          <p:nvPr/>
        </p:nvSpPr>
        <p:spPr>
          <a:xfrm>
            <a:off x="713232" y="4015793"/>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3 — Quản lý Cấp 1 + Ban CAB (2 lane)</a:t>
            </a:r>
            <a:endParaRPr lang="en-US" sz="1100" dirty="0"/>
          </a:p>
        </p:txBody>
      </p:sp>
      <p:sp>
        <p:nvSpPr>
          <p:cNvPr id="16" name="Text 14"/>
          <p:cNvSpPr txBox="1"/>
          <p:nvPr/>
        </p:nvSpPr>
        <p:spPr>
          <a:xfrm>
            <a:off x="713232" y="4271825"/>
            <a:ext cx="4745736" cy="723322"/>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Quản lý Cấp 1: Đánh giá rủi ro → XOR “Rủi ro cao?”: Thấp → Phê duyệt trực tiếp; Cao → chuyển Ban CAB. Ban CAB: họp phê duyệt → XOR “Đồng ý thay đổi?”: Từ chối → End Event “Hủy PYC”; Đồng ý → Send Task phê duyệt.</a:t>
            </a:r>
            <a:endParaRPr lang="en-US" sz="920" dirty="0"/>
          </a:p>
        </p:txBody>
      </p:sp>
      <p:sp>
        <p:nvSpPr>
          <p:cNvPr id="17" name="Shape 15"/>
          <p:cNvSpPr/>
          <p:nvPr/>
        </p:nvSpPr>
        <p:spPr>
          <a:xfrm>
            <a:off x="548639" y="5251178"/>
            <a:ext cx="5187927" cy="802150"/>
          </a:xfrm>
          <a:prstGeom prst="roundRect">
            <a:avLst>
              <a:gd name="adj" fmla="val 684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Text 16"/>
          <p:cNvSpPr txBox="1"/>
          <p:nvPr/>
        </p:nvSpPr>
        <p:spPr>
          <a:xfrm>
            <a:off x="713232" y="5342618"/>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4 — Bộ phận Triển khai IT</a:t>
            </a:r>
            <a:endParaRPr lang="en-US" sz="1100" dirty="0"/>
          </a:p>
        </p:txBody>
      </p:sp>
      <p:sp>
        <p:nvSpPr>
          <p:cNvPr id="19" name="Text 17"/>
          <p:cNvSpPr txBox="1"/>
          <p:nvPr/>
        </p:nvSpPr>
        <p:spPr>
          <a:xfrm>
            <a:off x="713232" y="5598650"/>
            <a:ext cx="4745736" cy="344950"/>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Áp dụng thay đổi (nhận từ 3 nguồn: auto-approve, phê duyệt trực tiếp, phê duyệt CAB) → Đóng phiếu → End Event “Hoàn tất thay đổi”.</a:t>
            </a:r>
            <a:endParaRPr lang="en-US" sz="920" dirty="0"/>
          </a:p>
        </p:txBody>
      </p:sp>
      <p:grpSp>
        <p:nvGrpSpPr>
          <p:cNvPr id="25" name="Group 24">
            <a:extLst>
              <a:ext uri="{FF2B5EF4-FFF2-40B4-BE49-F238E27FC236}">
                <a16:creationId xmlns:a16="http://schemas.microsoft.com/office/drawing/2014/main" id="{6CB53EA4-8E81-6668-7EFD-B84588E3B2F6}"/>
              </a:ext>
            </a:extLst>
          </p:cNvPr>
          <p:cNvGrpSpPr/>
          <p:nvPr/>
        </p:nvGrpSpPr>
        <p:grpSpPr>
          <a:xfrm>
            <a:off x="6410663" y="133537"/>
            <a:ext cx="4976665" cy="6590926"/>
            <a:chOff x="6797615" y="201168"/>
            <a:chExt cx="4358065" cy="6089904"/>
          </a:xfrm>
        </p:grpSpPr>
        <p:sp>
          <p:nvSpPr>
            <p:cNvPr id="26" name="Shape 15">
              <a:extLst>
                <a:ext uri="{FF2B5EF4-FFF2-40B4-BE49-F238E27FC236}">
                  <a16:creationId xmlns:a16="http://schemas.microsoft.com/office/drawing/2014/main" id="{B6AF2D34-02B2-5497-3E8A-B694843E3925}"/>
                </a:ext>
              </a:extLst>
            </p:cNvPr>
            <p:cNvSpPr/>
            <p:nvPr/>
          </p:nvSpPr>
          <p:spPr>
            <a:xfrm>
              <a:off x="6797615" y="201168"/>
              <a:ext cx="4358065" cy="6089904"/>
            </a:xfrm>
            <a:prstGeom prst="roundRect">
              <a:avLst>
                <a:gd name="adj" fmla="val 1364"/>
              </a:avLst>
            </a:prstGeom>
            <a:solidFill>
              <a:srgbClr val="FCF7EA"/>
            </a:solidFill>
            <a:ln w="15875">
              <a:solidFill>
                <a:srgbClr val="D9A227"/>
              </a:solidFill>
              <a:prstDash val="dash"/>
            </a:ln>
          </p:spPr>
          <p:txBody>
            <a:bodyPr/>
            <a:lstStyle/>
            <a:p>
              <a:endParaRPr lang="en-US"/>
            </a:p>
          </p:txBody>
        </p:sp>
        <p:pic>
          <p:nvPicPr>
            <p:cNvPr id="27" name="Picture 26">
              <a:extLst>
                <a:ext uri="{FF2B5EF4-FFF2-40B4-BE49-F238E27FC236}">
                  <a16:creationId xmlns:a16="http://schemas.microsoft.com/office/drawing/2014/main" id="{726B27B1-0E29-3890-5F33-F0398CA203B6}"/>
                </a:ext>
              </a:extLst>
            </p:cNvPr>
            <p:cNvPicPr>
              <a:picLocks noChangeAspect="1"/>
            </p:cNvPicPr>
            <p:nvPr/>
          </p:nvPicPr>
          <p:blipFill>
            <a:blip r:embed="rId3"/>
            <a:stretch>
              <a:fillRect/>
            </a:stretch>
          </p:blipFill>
          <p:spPr>
            <a:xfrm>
              <a:off x="6884242" y="292608"/>
              <a:ext cx="4202331" cy="5861304"/>
            </a:xfrm>
            <a:prstGeom prst="rect">
              <a:avLst/>
            </a:prstGeom>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3 · 3.4 ĐÁNH GIÁ ĐỘ PHỨC TẠP</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BẢNG TỔNG HỢP CHỈ SỐ ĐỘ PHỨC TẠP BPMN CỦA 06 QUY TRÌNH</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13 — Toàn bộ 06 quy trình đã mô hình hóa đầy đủ pool, lane, gateway, task, event và message flow liên pool</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29</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3584448"/>
        </p:xfrm>
        <a:graphic>
          <a:graphicData uri="http://schemas.openxmlformats.org/drawingml/2006/table">
            <a:tbl>
              <a:tblPr/>
              <a:tblGrid>
                <a:gridCol w="29260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404872">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512064">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QUY TRÌNH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SỐ POOL / LANE</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SỐ GATEWAY</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SỐ TASK / EVENT CHÍNH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MỨC ĐỘ PHỨC TẠP</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512064">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C01  Xử lý Yêu cầu Dịch vụ (PYC)</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3 pool</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8  (3 XOR, 2 AND-split, 2 AND-join, 1 Event-based)</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23 task + 7 event (3 start, 2 end, 2 intermediate catch)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Cao</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C02  Xử lý Sự cố (Incident)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3 pool (1 pool chứa 2 lane)</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8  (6 XOR, 1 AND-split, 1 AND-join)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20 task + 5 event (3 start, 2 end), 2 sub-process</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Cao</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512064">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M02  Quản lý Rủi ro &amp; ATTT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3 pool</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8  (4 XOR, 2 AND-split, 2 AND-join)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17 task + 5 event (2 start, 3 end)</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Cao</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S02  Quản lý Thay đổi (Change Request)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4 pool (1 pool chứa 2 lane)</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5  (3 XOR, 1 AND-split, 1 AND-join)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15 task + 5 event (3 start, 2 end)</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50" b="1" dirty="0">
                          <a:solidFill>
                            <a:srgbClr val="A5741A"/>
                          </a:solidFill>
                          <a:latin typeface="Calibri" pitchFamily="34" charset="0"/>
                          <a:ea typeface="Calibri" pitchFamily="34" charset="-122"/>
                          <a:cs typeface="Calibri" pitchFamily="34" charset="-120"/>
                        </a:rPr>
                        <a:t>Trung bình – Cao</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512064">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S03  Request Tài sản CNTT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2 pool</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7  (3 XOR, 2 AND-split, 2 AND-join)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12 task + 5 event (2 start, 3 end)</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50" b="1" dirty="0">
                          <a:solidFill>
                            <a:srgbClr val="0E7A5F"/>
                          </a:solidFill>
                          <a:latin typeface="Calibri" pitchFamily="34" charset="0"/>
                          <a:ea typeface="Calibri" pitchFamily="34" charset="-122"/>
                          <a:cs typeface="Calibri" pitchFamily="34" charset="-120"/>
                        </a:rPr>
                        <a:t>Trung bình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512064">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M01  Quản lý Mức Dịch vụ (SLA)</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2 pool</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7  (5 XOR, 1 AND-split, 1 AND-join)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14 task + 5 event (2 start, 3 end)</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50" b="1" dirty="0">
                          <a:solidFill>
                            <a:srgbClr val="0E7A5F"/>
                          </a:solidFill>
                          <a:latin typeface="Calibri" pitchFamily="34" charset="0"/>
                          <a:ea typeface="Calibri" pitchFamily="34" charset="-122"/>
                          <a:cs typeface="Calibri" pitchFamily="34" charset="-120"/>
                        </a:rPr>
                        <a:t>Trung bình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bl>
          </a:graphicData>
        </a:graphic>
      </p:graphicFrame>
      <p:sp>
        <p:nvSpPr>
          <p:cNvPr id="9" name="Shape 6"/>
          <p:cNvSpPr/>
          <p:nvPr/>
        </p:nvSpPr>
        <p:spPr>
          <a:xfrm>
            <a:off x="545897" y="5157216"/>
            <a:ext cx="11094415" cy="969264"/>
          </a:xfrm>
          <a:prstGeom prst="roundRect">
            <a:avLst>
              <a:gd name="adj" fmla="val 566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0" name="Text 7"/>
          <p:cNvSpPr txBox="1"/>
          <p:nvPr/>
        </p:nvSpPr>
        <p:spPr>
          <a:xfrm>
            <a:off x="768096" y="5175504"/>
            <a:ext cx="10655503" cy="694944"/>
          </a:xfrm>
          <a:prstGeom prst="rect">
            <a:avLst/>
          </a:prstGeom>
          <a:noFill/>
          <a:ln/>
        </p:spPr>
        <p:txBody>
          <a:bodyPr wrap="square" lIns="0" tIns="0" rIns="0" bIns="0" rtlCol="0" anchor="t"/>
          <a:lstStyle/>
          <a:p>
            <a:pPr marL="0" indent="0">
              <a:buNone/>
            </a:pPr>
            <a:r>
              <a:rPr lang="en-US" sz="1050" dirty="0">
                <a:solidFill>
                  <a:srgbClr val="2A3442"/>
                </a:solidFill>
                <a:latin typeface="Calibri" pitchFamily="34" charset="0"/>
                <a:ea typeface="Calibri" pitchFamily="34" charset="-122"/>
                <a:cs typeface="Calibri" pitchFamily="34" charset="-120"/>
              </a:rPr>
              <a:t>PYC, Rủi ro &amp; ATTT và Xử lý Sự cố phức tạp nhất — mỗi quy trình 8 gateway với nhiều nhánh rẽ điều kiện (XOR), xử lý song song (AND split/join) và cơ chế chờ sự kiện (Event-based Gateway, Intermediate Catch Event). Quản lý Thay đổi có cấu trúc phân tầng phê duyệt qua 4 pool với 5 vai trò và gateway phân luồng 3 nhánh Standard / Normal / Emergency.</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marL="0" indent="0">
              <a:buNone/>
            </a:pPr>
            <a:r>
              <a:rPr lang="en-US" sz="6600" b="1" dirty="0">
                <a:solidFill>
                  <a:srgbClr val="D9A227"/>
                </a:solidFill>
                <a:latin typeface="Calibri" pitchFamily="34" charset="0"/>
                <a:ea typeface="Calibri" pitchFamily="34" charset="-122"/>
                <a:cs typeface="Calibri" pitchFamily="34" charset="-120"/>
              </a:rPr>
              <a:t>04</a:t>
            </a:r>
            <a:endParaRPr lang="en-US" sz="6600" dirty="0"/>
          </a:p>
        </p:txBody>
      </p:sp>
      <p:sp>
        <p:nvSpPr>
          <p:cNvPr id="3" name="Text 1"/>
          <p:cNvSpPr txBox="1"/>
          <p:nvPr/>
        </p:nvSpPr>
        <p:spPr>
          <a:xfrm>
            <a:off x="548640" y="3072384"/>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PHẦN 4 · PROCESS ANALYSIS</a:t>
            </a:r>
            <a:endParaRPr lang="en-US" sz="1100" dirty="0"/>
          </a:p>
        </p:txBody>
      </p:sp>
      <p:sp>
        <p:nvSpPr>
          <p:cNvPr id="4" name="Text 2"/>
          <p:cNvSpPr txBox="1"/>
          <p:nvPr/>
        </p:nvSpPr>
        <p:spPr>
          <a:xfrm>
            <a:off x="548640" y="3383280"/>
            <a:ext cx="11094415" cy="6400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Phân tích và đánh giá hiệu suất quy trình</a:t>
            </a:r>
            <a:endParaRPr lang="en-US" sz="3200" dirty="0"/>
          </a:p>
        </p:txBody>
      </p:sp>
      <p:sp>
        <p:nvSpPr>
          <p:cNvPr id="5" name="Text 3"/>
          <p:cNvSpPr txBox="1"/>
          <p:nvPr/>
        </p:nvSpPr>
        <p:spPr>
          <a:xfrm>
            <a:off x="548640" y="4114800"/>
            <a:ext cx="9722815" cy="365760"/>
          </a:xfrm>
          <a:prstGeom prst="rect">
            <a:avLst/>
          </a:prstGeom>
          <a:noFill/>
          <a:ln/>
        </p:spPr>
        <p:txBody>
          <a:bodyPr wrap="square" lIns="0" tIns="0" rIns="0" bIns="0" rtlCol="0" anchor="t"/>
          <a:lstStyle/>
          <a:p>
            <a:pPr marL="0" indent="0">
              <a:buNone/>
            </a:pPr>
            <a:r>
              <a:rPr lang="en-US" sz="1200" dirty="0">
                <a:solidFill>
                  <a:srgbClr val="9BB2D2"/>
                </a:solidFill>
                <a:latin typeface="Calibri" pitchFamily="34" charset="0"/>
                <a:ea typeface="Calibri" pitchFamily="34" charset="-122"/>
                <a:cs typeface="Calibri" pitchFamily="34" charset="-120"/>
              </a:rPr>
              <a:t>Định tính VA – NVA – VBA  ·  Lãng phí Move – Hold – Overdo  ·  Nguyên nhân gốc rễ  ·  Định lượng thời gian, chất lượng, chi phí</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KHUNG PHÂN TÍCH</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KHUNG PHÂN TÍCH ÁP DỤNG CHO QUY TRÌNH PYC VÀ INCIDENT</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31</a:t>
            </a:r>
            <a:endParaRPr lang="en-US" sz="1100" dirty="0"/>
          </a:p>
        </p:txBody>
      </p:sp>
      <p:sp>
        <p:nvSpPr>
          <p:cNvPr id="7" name="Shape 5"/>
          <p:cNvSpPr/>
          <p:nvPr/>
        </p:nvSpPr>
        <p:spPr>
          <a:xfrm>
            <a:off x="548640" y="1463040"/>
            <a:ext cx="5410048" cy="3200400"/>
          </a:xfrm>
          <a:prstGeom prst="roundRect">
            <a:avLst>
              <a:gd name="adj" fmla="val 171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Text 6"/>
          <p:cNvSpPr txBox="1"/>
          <p:nvPr/>
        </p:nvSpPr>
        <p:spPr>
          <a:xfrm>
            <a:off x="786384" y="1645920"/>
            <a:ext cx="4572000" cy="274320"/>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PHÂN TÍCH ĐỊNH TÍNH</a:t>
            </a:r>
            <a:endParaRPr lang="en-US" sz="1400" dirty="0"/>
          </a:p>
        </p:txBody>
      </p:sp>
      <p:sp>
        <p:nvSpPr>
          <p:cNvPr id="9" name="Text 7"/>
          <p:cNvSpPr txBox="1"/>
          <p:nvPr/>
        </p:nvSpPr>
        <p:spPr>
          <a:xfrm>
            <a:off x="786384" y="2048256"/>
            <a:ext cx="4998568" cy="256032"/>
          </a:xfrm>
          <a:prstGeom prst="rect">
            <a:avLst/>
          </a:prstGeom>
          <a:noFill/>
          <a:ln/>
        </p:spPr>
        <p:txBody>
          <a:bodyPr wrap="square" lIns="0" tIns="0" rIns="0" bIns="0" rtlCol="0" anchor="t"/>
          <a:lstStyle/>
          <a:p>
            <a:pPr marL="0" indent="0">
              <a:buNone/>
            </a:pPr>
            <a:r>
              <a:rPr lang="en-US" sz="1150" b="1" dirty="0">
                <a:solidFill>
                  <a:srgbClr val="1660BF"/>
                </a:solidFill>
                <a:latin typeface="Calibri" pitchFamily="34" charset="0"/>
                <a:ea typeface="Calibri" pitchFamily="34" charset="-122"/>
                <a:cs typeface="Calibri" pitchFamily="34" charset="-120"/>
              </a:rPr>
              <a:t>▪  Giá trị gia tăng   —   Value-added Analysis</a:t>
            </a:r>
            <a:endParaRPr lang="en-US" sz="1150" dirty="0"/>
          </a:p>
        </p:txBody>
      </p:sp>
      <p:sp>
        <p:nvSpPr>
          <p:cNvPr id="10" name="Text 8"/>
          <p:cNvSpPr txBox="1"/>
          <p:nvPr/>
        </p:nvSpPr>
        <p:spPr>
          <a:xfrm>
            <a:off x="1005840" y="2304288"/>
            <a:ext cx="476996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Phân loại từng tác vụ thành VA – VBA – NVA kèm giải thích và hướng khắc phục.</a:t>
            </a:r>
            <a:endParaRPr lang="en-US" sz="1000" dirty="0"/>
          </a:p>
        </p:txBody>
      </p:sp>
      <p:sp>
        <p:nvSpPr>
          <p:cNvPr id="11" name="Text 9"/>
          <p:cNvSpPr txBox="1"/>
          <p:nvPr/>
        </p:nvSpPr>
        <p:spPr>
          <a:xfrm>
            <a:off x="786384" y="2871216"/>
            <a:ext cx="4998568" cy="256032"/>
          </a:xfrm>
          <a:prstGeom prst="rect">
            <a:avLst/>
          </a:prstGeom>
          <a:noFill/>
          <a:ln/>
        </p:spPr>
        <p:txBody>
          <a:bodyPr wrap="square" lIns="0" tIns="0" rIns="0" bIns="0" rtlCol="0" anchor="t"/>
          <a:lstStyle/>
          <a:p>
            <a:pPr marL="0" indent="0">
              <a:buNone/>
            </a:pPr>
            <a:r>
              <a:rPr lang="en-US" sz="1150" b="1" dirty="0">
                <a:solidFill>
                  <a:srgbClr val="1660BF"/>
                </a:solidFill>
                <a:latin typeface="Calibri" pitchFamily="34" charset="0"/>
                <a:ea typeface="Calibri" pitchFamily="34" charset="-122"/>
                <a:cs typeface="Calibri" pitchFamily="34" charset="-120"/>
              </a:rPr>
              <a:t>▪  Sự lãng phí   —   Waste Analysis</a:t>
            </a:r>
            <a:endParaRPr lang="en-US" sz="1150" dirty="0"/>
          </a:p>
        </p:txBody>
      </p:sp>
      <p:sp>
        <p:nvSpPr>
          <p:cNvPr id="12" name="Text 10"/>
          <p:cNvSpPr txBox="1"/>
          <p:nvPr/>
        </p:nvSpPr>
        <p:spPr>
          <a:xfrm>
            <a:off x="1005840" y="3127248"/>
            <a:ext cx="476996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Nhận diện ba dạng Move – Hold – Overdo theo tư duy Lean và vị trí phát sinh.</a:t>
            </a:r>
            <a:endParaRPr lang="en-US" sz="1000" dirty="0"/>
          </a:p>
        </p:txBody>
      </p:sp>
      <p:sp>
        <p:nvSpPr>
          <p:cNvPr id="13" name="Text 11"/>
          <p:cNvSpPr txBox="1"/>
          <p:nvPr/>
        </p:nvSpPr>
        <p:spPr>
          <a:xfrm>
            <a:off x="786384" y="3694176"/>
            <a:ext cx="4998568" cy="256032"/>
          </a:xfrm>
          <a:prstGeom prst="rect">
            <a:avLst/>
          </a:prstGeom>
          <a:noFill/>
          <a:ln/>
        </p:spPr>
        <p:txBody>
          <a:bodyPr wrap="square" lIns="0" tIns="0" rIns="0" bIns="0" rtlCol="0" anchor="t"/>
          <a:lstStyle/>
          <a:p>
            <a:pPr marL="0" indent="0">
              <a:buNone/>
            </a:pPr>
            <a:r>
              <a:rPr lang="en-US" sz="1150" b="1" dirty="0">
                <a:solidFill>
                  <a:srgbClr val="1660BF"/>
                </a:solidFill>
                <a:latin typeface="Calibri" pitchFamily="34" charset="0"/>
                <a:ea typeface="Calibri" pitchFamily="34" charset="-122"/>
                <a:cs typeface="Calibri" pitchFamily="34" charset="-120"/>
              </a:rPr>
              <a:t>▪  Nguyên nhân gốc rễ   —   Fishbone / Pareto</a:t>
            </a:r>
            <a:endParaRPr lang="en-US" sz="1150" dirty="0"/>
          </a:p>
        </p:txBody>
      </p:sp>
      <p:sp>
        <p:nvSpPr>
          <p:cNvPr id="14" name="Text 12"/>
          <p:cNvSpPr txBox="1"/>
          <p:nvPr/>
        </p:nvSpPr>
        <p:spPr>
          <a:xfrm>
            <a:off x="1005840" y="3950208"/>
            <a:ext cx="476996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Bốn nhóm nhân tố Con người – Quy trình – Hệ thống – Đo lường; xác định nhóm chi phối theo 80/20.</a:t>
            </a:r>
            <a:endParaRPr lang="en-US" sz="1000" dirty="0"/>
          </a:p>
        </p:txBody>
      </p:sp>
      <p:sp>
        <p:nvSpPr>
          <p:cNvPr id="15" name="Shape 13"/>
          <p:cNvSpPr/>
          <p:nvPr/>
        </p:nvSpPr>
        <p:spPr>
          <a:xfrm>
            <a:off x="6233008" y="1463040"/>
            <a:ext cx="5410048" cy="3200400"/>
          </a:xfrm>
          <a:prstGeom prst="roundRect">
            <a:avLst>
              <a:gd name="adj" fmla="val 171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6" name="Text 14"/>
          <p:cNvSpPr txBox="1"/>
          <p:nvPr/>
        </p:nvSpPr>
        <p:spPr>
          <a:xfrm>
            <a:off x="6470752" y="1645920"/>
            <a:ext cx="4572000" cy="274320"/>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PHÂN TÍCH ĐỊNH LƯỢNG</a:t>
            </a:r>
            <a:endParaRPr lang="en-US" sz="1400" dirty="0"/>
          </a:p>
        </p:txBody>
      </p:sp>
      <p:sp>
        <p:nvSpPr>
          <p:cNvPr id="17" name="Text 15"/>
          <p:cNvSpPr txBox="1"/>
          <p:nvPr/>
        </p:nvSpPr>
        <p:spPr>
          <a:xfrm>
            <a:off x="6470752" y="2048256"/>
            <a:ext cx="4998568" cy="256032"/>
          </a:xfrm>
          <a:prstGeom prst="rect">
            <a:avLst/>
          </a:prstGeom>
          <a:noFill/>
          <a:ln/>
        </p:spPr>
        <p:txBody>
          <a:bodyPr wrap="square" lIns="0" tIns="0" rIns="0" bIns="0" rtlCol="0" anchor="t"/>
          <a:lstStyle/>
          <a:p>
            <a:pPr marL="0" indent="0">
              <a:buNone/>
            </a:pPr>
            <a:r>
              <a:rPr lang="en-US" sz="1150" b="1" dirty="0">
                <a:solidFill>
                  <a:srgbClr val="1660BF"/>
                </a:solidFill>
                <a:latin typeface="Calibri" pitchFamily="34" charset="0"/>
                <a:ea typeface="Calibri" pitchFamily="34" charset="-122"/>
                <a:cs typeface="Calibri" pitchFamily="34" charset="-120"/>
              </a:rPr>
              <a:t>▪  Thời gian   —   Time</a:t>
            </a:r>
            <a:endParaRPr lang="en-US" sz="1150" dirty="0"/>
          </a:p>
        </p:txBody>
      </p:sp>
      <p:sp>
        <p:nvSpPr>
          <p:cNvPr id="18" name="Text 16"/>
          <p:cNvSpPr txBox="1"/>
          <p:nvPr/>
        </p:nvSpPr>
        <p:spPr>
          <a:xfrm>
            <a:off x="6690208" y="2304288"/>
            <a:ext cx="476996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Processing Time, Wait Time và Lead Time; tính thời gian kỳ vọng qua từng khối gateway.</a:t>
            </a:r>
            <a:endParaRPr lang="en-US" sz="1000" dirty="0"/>
          </a:p>
        </p:txBody>
      </p:sp>
      <p:sp>
        <p:nvSpPr>
          <p:cNvPr id="19" name="Text 17"/>
          <p:cNvSpPr txBox="1"/>
          <p:nvPr/>
        </p:nvSpPr>
        <p:spPr>
          <a:xfrm>
            <a:off x="6470752" y="2871216"/>
            <a:ext cx="4998568" cy="256032"/>
          </a:xfrm>
          <a:prstGeom prst="rect">
            <a:avLst/>
          </a:prstGeom>
          <a:noFill/>
          <a:ln/>
        </p:spPr>
        <p:txBody>
          <a:bodyPr wrap="square" lIns="0" tIns="0" rIns="0" bIns="0" rtlCol="0" anchor="t"/>
          <a:lstStyle/>
          <a:p>
            <a:pPr marL="0" indent="0">
              <a:buNone/>
            </a:pPr>
            <a:r>
              <a:rPr lang="en-US" sz="1150" b="1" dirty="0">
                <a:solidFill>
                  <a:srgbClr val="1660BF"/>
                </a:solidFill>
                <a:latin typeface="Calibri" pitchFamily="34" charset="0"/>
                <a:ea typeface="Calibri" pitchFamily="34" charset="-122"/>
                <a:cs typeface="Calibri" pitchFamily="34" charset="-120"/>
              </a:rPr>
              <a:t>▪  Chất lượng   —   Quality</a:t>
            </a:r>
            <a:endParaRPr lang="en-US" sz="1150" dirty="0"/>
          </a:p>
        </p:txBody>
      </p:sp>
      <p:sp>
        <p:nvSpPr>
          <p:cNvPr id="20" name="Text 18"/>
          <p:cNvSpPr txBox="1"/>
          <p:nvPr/>
        </p:nvSpPr>
        <p:spPr>
          <a:xfrm>
            <a:off x="6690208" y="3127248"/>
            <a:ext cx="476996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Tỷ lệ quá hạn SLA và tỷ lệ làm lại (rework) của phiếu PYC.</a:t>
            </a:r>
            <a:endParaRPr lang="en-US" sz="1000" dirty="0"/>
          </a:p>
        </p:txBody>
      </p:sp>
      <p:sp>
        <p:nvSpPr>
          <p:cNvPr id="21" name="Text 19"/>
          <p:cNvSpPr txBox="1"/>
          <p:nvPr/>
        </p:nvSpPr>
        <p:spPr>
          <a:xfrm>
            <a:off x="6470752" y="3694176"/>
            <a:ext cx="4998568" cy="256032"/>
          </a:xfrm>
          <a:prstGeom prst="rect">
            <a:avLst/>
          </a:prstGeom>
          <a:noFill/>
          <a:ln/>
        </p:spPr>
        <p:txBody>
          <a:bodyPr wrap="square" lIns="0" tIns="0" rIns="0" bIns="0" rtlCol="0" anchor="t"/>
          <a:lstStyle/>
          <a:p>
            <a:pPr marL="0" indent="0">
              <a:buNone/>
            </a:pPr>
            <a:r>
              <a:rPr lang="en-US" sz="1150" b="1" dirty="0">
                <a:solidFill>
                  <a:srgbClr val="1660BF"/>
                </a:solidFill>
                <a:latin typeface="Calibri" pitchFamily="34" charset="0"/>
                <a:ea typeface="Calibri" pitchFamily="34" charset="-122"/>
                <a:cs typeface="Calibri" pitchFamily="34" charset="-120"/>
              </a:rPr>
              <a:t>▪  Chi phí lãng phí   —   Cost</a:t>
            </a:r>
            <a:endParaRPr lang="en-US" sz="1150" dirty="0"/>
          </a:p>
        </p:txBody>
      </p:sp>
      <p:sp>
        <p:nvSpPr>
          <p:cNvPr id="22" name="Text 20"/>
          <p:cNvSpPr txBox="1"/>
          <p:nvPr/>
        </p:nvSpPr>
        <p:spPr>
          <a:xfrm>
            <a:off x="6690208" y="3950208"/>
            <a:ext cx="476996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Chi phí do các hoạt động không tạo giá trị: nhập sai danh mục, xác minh lại thông tin thủ công.</a:t>
            </a:r>
            <a:endParaRPr lang="en-US" sz="1000" dirty="0"/>
          </a:p>
        </p:txBody>
      </p:sp>
      <p:sp>
        <p:nvSpPr>
          <p:cNvPr id="23" name="Shape 21"/>
          <p:cNvSpPr/>
          <p:nvPr/>
        </p:nvSpPr>
        <p:spPr>
          <a:xfrm>
            <a:off x="548640" y="4828032"/>
            <a:ext cx="11094415" cy="822960"/>
          </a:xfrm>
          <a:prstGeom prst="roundRect">
            <a:avLst>
              <a:gd name="adj" fmla="val 6667"/>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24" name="Text 22"/>
          <p:cNvSpPr txBox="1"/>
          <p:nvPr/>
        </p:nvSpPr>
        <p:spPr>
          <a:xfrm>
            <a:off x="768096" y="4974336"/>
            <a:ext cx="10655503" cy="548640"/>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Dữ liệu phân tích khai thác từ nguồn bằng chứng và thông tin thu thập trong Process Discovery ở Chương 2. Trường hợp chưa có số liệu vận hành đầy đủ, giá trị được ước lượng theo cấu trúc luồng của mô hình BPMN.</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4.1.1 PHÂN TÍCH ĐỊNH TÍNH</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PHÂN LOẠI VA – VBA – NVA CỦA QUY TRÌNH PYC  ·  PHẦN 1/2</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14 — Phân loại 23 hoạt động trên mô hình BPMN theo mức độ đóng góp giá trị  ·  STT 01 – 12</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32</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3440843372"/>
              </p:ext>
            </p:extLst>
          </p:nvPr>
        </p:nvGraphicFramePr>
        <p:xfrm>
          <a:off x="548640" y="1517904"/>
          <a:ext cx="11091672" cy="4626859"/>
        </p:xfrm>
        <a:graphic>
          <a:graphicData uri="http://schemas.openxmlformats.org/drawingml/2006/table">
            <a:tbl>
              <a:tblPr/>
              <a:tblGrid>
                <a:gridCol w="5943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5285232">
                  <a:extLst>
                    <a:ext uri="{9D8B030D-6E8A-4147-A177-3AD203B41FA5}">
                      <a16:colId xmlns:a16="http://schemas.microsoft.com/office/drawing/2014/main" val="20004"/>
                    </a:ext>
                  </a:extLst>
                </a:gridCol>
              </a:tblGrid>
              <a:tr h="599335">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TÊN TÁC VỤ</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NGƯỜI THỰC HIỆN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PHÂN LOẠI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GIẢI THÍCH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Tạo và gửi PYC</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0E7A5F"/>
                          </a:solidFill>
                          <a:latin typeface="Calibri" pitchFamily="34" charset="0"/>
                          <a:ea typeface="Calibri" pitchFamily="34" charset="-122"/>
                          <a:cs typeface="Calibri" pitchFamily="34" charset="-120"/>
                        </a:rPr>
                        <a:t>VA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Khởi xướng yêu cầu cần thiết để giải quyết nhu cầu công việc của người dùng.</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Bổ sung thông tin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C0392B"/>
                          </a:solidFill>
                          <a:latin typeface="Calibri" pitchFamily="34" charset="0"/>
                          <a:ea typeface="Calibri" pitchFamily="34" charset="-122"/>
                          <a:cs typeface="Calibri" pitchFamily="34" charset="-120"/>
                        </a:rPr>
                        <a:t>NVA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Bước lặp lại (rework) do thông tin ban đầu không đầy đủ, gây lãng phí thời gian chờ đợi.</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Xem xét phê duyệt</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Quản lý (Manager)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Cần cho kiểm soát và tuân thủ chính sách, không trực tiếp giải quyết vấn đề kỹ thuật.</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Tự động tạo WO</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Hỗ trợ theo dõi, quản lý công việc; không phải hành động xử lý trực tiếp.</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Tiếp nhận &amp; Phân loại</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Bước đệm cần thiết để chuyển yêu cầu đến đúng chuyên môn.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Cấu hình cấp quyền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0E7A5F"/>
                          </a:solidFill>
                          <a:latin typeface="Calibri" pitchFamily="34" charset="0"/>
                          <a:ea typeface="Calibri" pitchFamily="34" charset="-122"/>
                          <a:cs typeface="Calibri" pitchFamily="34" charset="-120"/>
                        </a:rPr>
                        <a:t>VA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Hành động trực tiếp giải quyết yêu cầu, mang lại giá trị cuối cùng cho người dùng.</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Ghi log bảo mật</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Bắt buộc tuân thủ an toàn thông tin ngân hàng; bảo vệ tổ chức, không tăng giá trị trực tiếp.</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7"/>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Đăng nhập vào 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Xác thực bằng tài khoản Active Directory để kiểm soát truy cập cổng dịch vụ.</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8"/>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9</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Lựa chọn dịch vụ cần hỗ trợ</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Điều hướng theo Service Catalog; chọn sai danh mục là nguyên nhân 20–50% PYC bị trả về.</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9"/>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Đính kèm email phê duyệt cấp trên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Bằng chứng tuân thủ chính sách ATTT khi xin cấp quyền hệ thống.</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0"/>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Đính kèm mã dự án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Phục vụ phân bổ chi phí và truy vết mục đích sử dụng quyền.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11"/>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Đính kèm ảnh chụp màn hình</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Bổ sung ngữ cảnh kỹ thuật; cổng AND buộc mọi PYC đủ ba tệp nên sinh lãng phí Overdo.</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4.1.1 PHÂN TÍCH ĐỊNH TÍNH</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PHÂN LOẠI VA – VBA – NVA CỦA QUY TRÌNH PYC  ·  PHẦN 2/2</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14 (tiếp theo) — STT 13 – 23  ·  Tổng hợp toàn quy trình: 03 VA  ·  18 VBA  ·  02 NVA</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33</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288390509"/>
              </p:ext>
            </p:extLst>
          </p:nvPr>
        </p:nvGraphicFramePr>
        <p:xfrm>
          <a:off x="548640" y="1517904"/>
          <a:ext cx="11091672" cy="4626868"/>
        </p:xfrm>
        <a:graphic>
          <a:graphicData uri="http://schemas.openxmlformats.org/drawingml/2006/table">
            <a:tbl>
              <a:tblPr/>
              <a:tblGrid>
                <a:gridCol w="5943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5285232">
                  <a:extLst>
                    <a:ext uri="{9D8B030D-6E8A-4147-A177-3AD203B41FA5}">
                      <a16:colId xmlns:a16="http://schemas.microsoft.com/office/drawing/2014/main" val="20004"/>
                    </a:ext>
                  </a:extLst>
                </a:gridCol>
              </a:tblGrid>
              <a:tr h="646210">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TÊN TÁC VỤ</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NGƯỜI THỰC HIỆN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PHÂN LOẠI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GIẢI THÍCH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13</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Phân loại rủi ro quyền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Đối chiếu ma trận rủi ro để quyết định yêu cầu có cần phê duyệt hay không.</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Gửi thông báo đến quản lý trực tiếp</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Kích hoạt bước phê duyệt cho nhóm quyền rủi ro cao.</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Reject kèm lý do</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Ghi nhận lý do từ chối để lưu vết và phản hồi lại người dùng.</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16</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Xác nhận phiếu PYC</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Cập nhật trạng thái sau khi quản lý đồng ý; là điều kiện để sinh Work Order.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17</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Gán WO cho nhóm xử lý phù hợp</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Định tuyến Work Order theo Category và bắt đầu đếm thời gian SLA.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18</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Ghi log vào hệ thống SIEM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Bắt buộc theo quy định ATTT; nhập lại cùng nội dung log lần hai nên sinh Overdo.</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19</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Ghi chú phân tích WO</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Chuẩn bị thông tin bàn giao để Level 2 không phải phân tích lại từ đầu.</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7"/>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20</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Gửi WO đến Service Desk L2</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C0392B"/>
                          </a:solidFill>
                          <a:latin typeface="Calibri" pitchFamily="34" charset="0"/>
                          <a:ea typeface="Calibri" pitchFamily="34" charset="-122"/>
                          <a:cs typeface="Calibri" pitchFamily="34" charset="-120"/>
                        </a:rPr>
                        <a:t>NVA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Thuần chuyển giao giữa hai tuyến xử lý — chính là lãng phí Move đã nhận diện.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8"/>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L2 xử lý kỹ thuật</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Chuyên viên kỹ thuật L2</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0E7A5F"/>
                          </a:solidFill>
                          <a:latin typeface="Calibri" pitchFamily="34" charset="0"/>
                          <a:ea typeface="Calibri" pitchFamily="34" charset="-122"/>
                          <a:cs typeface="Calibri" pitchFamily="34" charset="-120"/>
                        </a:rPr>
                        <a:t>VA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Cấu hình cấp quyền trên T24, Active Directory, Database — tạo giá trị cuối cùng.</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9"/>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Cập nhật trạng thái “Resolved”</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Thông báo kết quả cho người dùng và làm mốc dừng đếm thời gian SLA.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0"/>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23</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Đóng ticket</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Kết thúc vòng đời phiếu và lưu vết phục vụ báo cáo SLA.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4.1.1 PHÂN TÍCH ĐỊNH TÍNH</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TỔNG HỢP GIÁ TRỊ GIA TĂNG VÀ NHẬN XÉT</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34</a:t>
            </a:r>
            <a:endParaRPr lang="en-US" sz="1100" dirty="0"/>
          </a:p>
        </p:txBody>
      </p:sp>
      <p:sp>
        <p:nvSpPr>
          <p:cNvPr id="7" name="Shape 5"/>
          <p:cNvSpPr/>
          <p:nvPr/>
        </p:nvSpPr>
        <p:spPr>
          <a:xfrm>
            <a:off x="548640" y="1426464"/>
            <a:ext cx="3515258" cy="1481328"/>
          </a:xfrm>
          <a:prstGeom prst="roundRect">
            <a:avLst>
              <a:gd name="adj" fmla="val 370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Text 6"/>
          <p:cNvSpPr txBox="1"/>
          <p:nvPr/>
        </p:nvSpPr>
        <p:spPr>
          <a:xfrm>
            <a:off x="731520" y="1554480"/>
            <a:ext cx="3149498" cy="475488"/>
          </a:xfrm>
          <a:prstGeom prst="rect">
            <a:avLst/>
          </a:prstGeom>
          <a:noFill/>
          <a:ln/>
        </p:spPr>
        <p:txBody>
          <a:bodyPr wrap="square" lIns="0" tIns="0" rIns="0" bIns="0" rtlCol="0" anchor="t"/>
          <a:lstStyle/>
          <a:p>
            <a:pPr marL="0" indent="0">
              <a:buNone/>
            </a:pPr>
            <a:r>
              <a:rPr lang="en-US" sz="3000" b="1" dirty="0">
                <a:solidFill>
                  <a:srgbClr val="0E7A5F"/>
                </a:solidFill>
                <a:latin typeface="Calibri" pitchFamily="34" charset="0"/>
                <a:ea typeface="Calibri" pitchFamily="34" charset="-122"/>
                <a:cs typeface="Calibri" pitchFamily="34" charset="-120"/>
              </a:rPr>
              <a:t>03</a:t>
            </a:r>
            <a:endParaRPr lang="en-US" sz="3000" dirty="0"/>
          </a:p>
        </p:txBody>
      </p:sp>
      <p:sp>
        <p:nvSpPr>
          <p:cNvPr id="9" name="Text 7"/>
          <p:cNvSpPr txBox="1"/>
          <p:nvPr/>
        </p:nvSpPr>
        <p:spPr>
          <a:xfrm>
            <a:off x="731520" y="2029968"/>
            <a:ext cx="3149498" cy="237744"/>
          </a:xfrm>
          <a:prstGeom prst="rect">
            <a:avLst/>
          </a:prstGeom>
          <a:noFill/>
          <a:ln/>
        </p:spPr>
        <p:txBody>
          <a:bodyPr wrap="square" lIns="0" tIns="0" rIns="0" bIns="0" rtlCol="0" anchor="t"/>
          <a:lstStyle/>
          <a:p>
            <a:pPr marL="0" indent="0">
              <a:buNone/>
            </a:pPr>
            <a:r>
              <a:rPr lang="en-US" sz="950" b="1" kern="0" spc="80" dirty="0">
                <a:solidFill>
                  <a:srgbClr val="0B3B75"/>
                </a:solidFill>
                <a:latin typeface="Calibri" pitchFamily="34" charset="0"/>
                <a:ea typeface="Calibri" pitchFamily="34" charset="-122"/>
                <a:cs typeface="Calibri" pitchFamily="34" charset="-120"/>
              </a:rPr>
              <a:t>TÁC VỤ VA</a:t>
            </a:r>
            <a:endParaRPr lang="en-US" sz="950" dirty="0"/>
          </a:p>
        </p:txBody>
      </p:sp>
      <p:sp>
        <p:nvSpPr>
          <p:cNvPr id="10" name="Text 8"/>
          <p:cNvSpPr txBox="1"/>
          <p:nvPr/>
        </p:nvSpPr>
        <p:spPr>
          <a:xfrm>
            <a:off x="731520" y="2286000"/>
            <a:ext cx="3149498" cy="548640"/>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Value-Adding — trực tiếp tạo giá trị: tạo và gửi PYC, cấu hình cấp quyền và xử lý kỹ thuật tại Level 2.</a:t>
            </a:r>
            <a:endParaRPr lang="en-US" sz="950" dirty="0"/>
          </a:p>
        </p:txBody>
      </p:sp>
      <p:sp>
        <p:nvSpPr>
          <p:cNvPr id="11" name="Shape 9"/>
          <p:cNvSpPr/>
          <p:nvPr/>
        </p:nvSpPr>
        <p:spPr>
          <a:xfrm>
            <a:off x="4338218" y="1426464"/>
            <a:ext cx="3515258" cy="1481328"/>
          </a:xfrm>
          <a:prstGeom prst="roundRect">
            <a:avLst>
              <a:gd name="adj" fmla="val 370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4521098" y="1554480"/>
            <a:ext cx="3149498" cy="475488"/>
          </a:xfrm>
          <a:prstGeom prst="rect">
            <a:avLst/>
          </a:prstGeom>
          <a:noFill/>
          <a:ln/>
        </p:spPr>
        <p:txBody>
          <a:bodyPr wrap="square" lIns="0" tIns="0" rIns="0" bIns="0" rtlCol="0" anchor="t"/>
          <a:lstStyle/>
          <a:p>
            <a:pPr marL="0" indent="0">
              <a:buNone/>
            </a:pPr>
            <a:r>
              <a:rPr lang="en-US" sz="3000" b="1" dirty="0">
                <a:solidFill>
                  <a:srgbClr val="A5741A"/>
                </a:solidFill>
                <a:latin typeface="Calibri" pitchFamily="34" charset="0"/>
                <a:ea typeface="Calibri" pitchFamily="34" charset="-122"/>
                <a:cs typeface="Calibri" pitchFamily="34" charset="-120"/>
              </a:rPr>
              <a:t>18</a:t>
            </a:r>
            <a:endParaRPr lang="en-US" sz="3000" dirty="0"/>
          </a:p>
        </p:txBody>
      </p:sp>
      <p:sp>
        <p:nvSpPr>
          <p:cNvPr id="13" name="Text 11"/>
          <p:cNvSpPr txBox="1"/>
          <p:nvPr/>
        </p:nvSpPr>
        <p:spPr>
          <a:xfrm>
            <a:off x="4521098" y="2029968"/>
            <a:ext cx="3149498" cy="237744"/>
          </a:xfrm>
          <a:prstGeom prst="rect">
            <a:avLst/>
          </a:prstGeom>
          <a:noFill/>
          <a:ln/>
        </p:spPr>
        <p:txBody>
          <a:bodyPr wrap="square" lIns="0" tIns="0" rIns="0" bIns="0" rtlCol="0" anchor="t"/>
          <a:lstStyle/>
          <a:p>
            <a:pPr marL="0" indent="0">
              <a:buNone/>
            </a:pPr>
            <a:r>
              <a:rPr lang="en-US" sz="950" b="1" kern="0" spc="80" dirty="0">
                <a:solidFill>
                  <a:srgbClr val="0B3B75"/>
                </a:solidFill>
                <a:latin typeface="Calibri" pitchFamily="34" charset="0"/>
                <a:ea typeface="Calibri" pitchFamily="34" charset="-122"/>
                <a:cs typeface="Calibri" pitchFamily="34" charset="-120"/>
              </a:rPr>
              <a:t>TÁC VỤ VBA</a:t>
            </a:r>
            <a:endParaRPr lang="en-US" sz="950" dirty="0"/>
          </a:p>
        </p:txBody>
      </p:sp>
      <p:sp>
        <p:nvSpPr>
          <p:cNvPr id="14" name="Text 12"/>
          <p:cNvSpPr txBox="1"/>
          <p:nvPr/>
        </p:nvSpPr>
        <p:spPr>
          <a:xfrm>
            <a:off x="4521098" y="2286000"/>
            <a:ext cx="3149498" cy="548640"/>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Business Value-Adding — cần thiết để kiểm soát, tuân thủ và điều phối hồ sơ.</a:t>
            </a:r>
            <a:endParaRPr lang="en-US" sz="950" dirty="0"/>
          </a:p>
        </p:txBody>
      </p:sp>
      <p:sp>
        <p:nvSpPr>
          <p:cNvPr id="15" name="Shape 13"/>
          <p:cNvSpPr/>
          <p:nvPr/>
        </p:nvSpPr>
        <p:spPr>
          <a:xfrm>
            <a:off x="8127797" y="1426464"/>
            <a:ext cx="3515258" cy="1481328"/>
          </a:xfrm>
          <a:prstGeom prst="roundRect">
            <a:avLst>
              <a:gd name="adj" fmla="val 370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6" name="Text 14"/>
          <p:cNvSpPr txBox="1"/>
          <p:nvPr/>
        </p:nvSpPr>
        <p:spPr>
          <a:xfrm>
            <a:off x="8310677" y="1554480"/>
            <a:ext cx="3149498" cy="475488"/>
          </a:xfrm>
          <a:prstGeom prst="rect">
            <a:avLst/>
          </a:prstGeom>
          <a:noFill/>
          <a:ln/>
        </p:spPr>
        <p:txBody>
          <a:bodyPr wrap="square" lIns="0" tIns="0" rIns="0" bIns="0" rtlCol="0" anchor="t"/>
          <a:lstStyle/>
          <a:p>
            <a:pPr marL="0" indent="0">
              <a:buNone/>
            </a:pPr>
            <a:r>
              <a:rPr lang="en-US" sz="3000" b="1" dirty="0">
                <a:solidFill>
                  <a:srgbClr val="C0392B"/>
                </a:solidFill>
                <a:latin typeface="Calibri" pitchFamily="34" charset="0"/>
                <a:ea typeface="Calibri" pitchFamily="34" charset="-122"/>
                <a:cs typeface="Calibri" pitchFamily="34" charset="-120"/>
              </a:rPr>
              <a:t>02</a:t>
            </a:r>
            <a:endParaRPr lang="en-US" sz="3000" dirty="0"/>
          </a:p>
        </p:txBody>
      </p:sp>
      <p:sp>
        <p:nvSpPr>
          <p:cNvPr id="17" name="Text 15"/>
          <p:cNvSpPr txBox="1"/>
          <p:nvPr/>
        </p:nvSpPr>
        <p:spPr>
          <a:xfrm>
            <a:off x="8310677" y="2029968"/>
            <a:ext cx="3149498" cy="237744"/>
          </a:xfrm>
          <a:prstGeom prst="rect">
            <a:avLst/>
          </a:prstGeom>
          <a:noFill/>
          <a:ln/>
        </p:spPr>
        <p:txBody>
          <a:bodyPr wrap="square" lIns="0" tIns="0" rIns="0" bIns="0" rtlCol="0" anchor="t"/>
          <a:lstStyle/>
          <a:p>
            <a:pPr marL="0" indent="0">
              <a:buNone/>
            </a:pPr>
            <a:r>
              <a:rPr lang="en-US" sz="950" b="1" kern="0" spc="80" dirty="0">
                <a:solidFill>
                  <a:srgbClr val="0B3B75"/>
                </a:solidFill>
                <a:latin typeface="Calibri" pitchFamily="34" charset="0"/>
                <a:ea typeface="Calibri" pitchFamily="34" charset="-122"/>
                <a:cs typeface="Calibri" pitchFamily="34" charset="-120"/>
              </a:rPr>
              <a:t>TÁC VỤ NVA</a:t>
            </a:r>
            <a:endParaRPr lang="en-US" sz="950" dirty="0"/>
          </a:p>
        </p:txBody>
      </p:sp>
      <p:sp>
        <p:nvSpPr>
          <p:cNvPr id="18" name="Text 16"/>
          <p:cNvSpPr txBox="1"/>
          <p:nvPr/>
        </p:nvSpPr>
        <p:spPr>
          <a:xfrm>
            <a:off x="8310677" y="2286000"/>
            <a:ext cx="3149498" cy="548640"/>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Non-Value-Adding — “Bổ sung thông tin” (vòng lặp rework) và “Gửi WO đến Level 2” (chuyển giao).</a:t>
            </a:r>
            <a:endParaRPr lang="en-US" sz="950" dirty="0"/>
          </a:p>
        </p:txBody>
      </p:sp>
      <p:grpSp>
        <p:nvGrpSpPr>
          <p:cNvPr id="38" name="Group 37">
            <a:extLst>
              <a:ext uri="{FF2B5EF4-FFF2-40B4-BE49-F238E27FC236}">
                <a16:creationId xmlns:a16="http://schemas.microsoft.com/office/drawing/2014/main" id="{889B50DE-712C-9AB7-29ED-65720D8C2340}"/>
              </a:ext>
            </a:extLst>
          </p:cNvPr>
          <p:cNvGrpSpPr/>
          <p:nvPr/>
        </p:nvGrpSpPr>
        <p:grpSpPr>
          <a:xfrm>
            <a:off x="548640" y="2953131"/>
            <a:ext cx="3515258" cy="932688"/>
            <a:chOff x="548640" y="3163824"/>
            <a:chExt cx="2956560" cy="932688"/>
          </a:xfrm>
        </p:grpSpPr>
        <p:sp>
          <p:nvSpPr>
            <p:cNvPr id="19" name="Shape 17"/>
            <p:cNvSpPr/>
            <p:nvPr/>
          </p:nvSpPr>
          <p:spPr>
            <a:xfrm>
              <a:off x="548640" y="3163824"/>
              <a:ext cx="2956560" cy="932688"/>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0" name="Shape 18"/>
            <p:cNvSpPr/>
            <p:nvPr/>
          </p:nvSpPr>
          <p:spPr>
            <a:xfrm>
              <a:off x="731520" y="3410712"/>
              <a:ext cx="237744" cy="237744"/>
            </a:xfrm>
            <a:prstGeom prst="ellipse">
              <a:avLst/>
            </a:prstGeom>
            <a:solidFill>
              <a:srgbClr val="0E7A5F"/>
            </a:solidFill>
            <a:ln w="12700">
              <a:solidFill>
                <a:srgbClr val="0E7A5F"/>
              </a:solidFill>
              <a:prstDash val="solid"/>
            </a:ln>
          </p:spPr>
          <p:txBody>
            <a:bodyPr/>
            <a:lstStyle/>
            <a:p>
              <a:endParaRPr lang="en-US"/>
            </a:p>
          </p:txBody>
        </p:sp>
        <p:sp>
          <p:nvSpPr>
            <p:cNvPr id="21" name="Text 19"/>
            <p:cNvSpPr txBox="1"/>
            <p:nvPr/>
          </p:nvSpPr>
          <p:spPr>
            <a:xfrm>
              <a:off x="1097280" y="3236976"/>
              <a:ext cx="1769745"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VA — trung tâm tạo giá trị</a:t>
              </a:r>
              <a:endParaRPr lang="en-US" sz="1150" dirty="0"/>
            </a:p>
          </p:txBody>
        </p:sp>
        <p:sp>
          <p:nvSpPr>
            <p:cNvPr id="22" name="Text 20"/>
            <p:cNvSpPr txBox="1"/>
            <p:nvPr/>
          </p:nvSpPr>
          <p:spPr>
            <a:xfrm>
              <a:off x="1097279" y="3474720"/>
              <a:ext cx="2268093" cy="38404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Chỉ 03/23 hoạt động (13%) trực tiếp tạo giá trị cho khách hàng nội bộ: tạo và gửi PYC, cấu hình cấp quyền, xử lý kỹ thuật tại Level 2.</a:t>
              </a:r>
              <a:endParaRPr lang="en-US" sz="950" dirty="0"/>
            </a:p>
          </p:txBody>
        </p:sp>
      </p:grpSp>
      <p:grpSp>
        <p:nvGrpSpPr>
          <p:cNvPr id="39" name="Group 38">
            <a:extLst>
              <a:ext uri="{FF2B5EF4-FFF2-40B4-BE49-F238E27FC236}">
                <a16:creationId xmlns:a16="http://schemas.microsoft.com/office/drawing/2014/main" id="{EEC43D36-7E6E-BA08-616E-F573AAC1111F}"/>
              </a:ext>
            </a:extLst>
          </p:cNvPr>
          <p:cNvGrpSpPr/>
          <p:nvPr/>
        </p:nvGrpSpPr>
        <p:grpSpPr>
          <a:xfrm>
            <a:off x="8127795" y="2950083"/>
            <a:ext cx="3515259" cy="932688"/>
            <a:chOff x="548640" y="4023360"/>
            <a:chExt cx="2956560" cy="932688"/>
          </a:xfrm>
        </p:grpSpPr>
        <p:sp>
          <p:nvSpPr>
            <p:cNvPr id="23" name="Shape 21"/>
            <p:cNvSpPr/>
            <p:nvPr/>
          </p:nvSpPr>
          <p:spPr>
            <a:xfrm>
              <a:off x="548640" y="4023360"/>
              <a:ext cx="2956560" cy="932688"/>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4" name="Shape 22"/>
            <p:cNvSpPr/>
            <p:nvPr/>
          </p:nvSpPr>
          <p:spPr>
            <a:xfrm>
              <a:off x="731520" y="4270248"/>
              <a:ext cx="237744" cy="237744"/>
            </a:xfrm>
            <a:prstGeom prst="ellipse">
              <a:avLst/>
            </a:prstGeom>
            <a:solidFill>
              <a:srgbClr val="C0392B"/>
            </a:solidFill>
            <a:ln w="12700">
              <a:solidFill>
                <a:srgbClr val="C0392B"/>
              </a:solidFill>
              <a:prstDash val="solid"/>
            </a:ln>
          </p:spPr>
          <p:txBody>
            <a:bodyPr/>
            <a:lstStyle/>
            <a:p>
              <a:endParaRPr lang="en-US"/>
            </a:p>
          </p:txBody>
        </p:sp>
        <p:sp>
          <p:nvSpPr>
            <p:cNvPr id="25" name="Text 23"/>
            <p:cNvSpPr txBox="1"/>
            <p:nvPr/>
          </p:nvSpPr>
          <p:spPr>
            <a:xfrm>
              <a:off x="1097280" y="4096512"/>
              <a:ext cx="2179320"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NVA — điểm nghẽn cần triệt tiêu</a:t>
              </a:r>
              <a:endParaRPr lang="en-US" sz="1150" dirty="0"/>
            </a:p>
          </p:txBody>
        </p:sp>
        <p:sp>
          <p:nvSpPr>
            <p:cNvPr id="26" name="Text 24"/>
            <p:cNvSpPr txBox="1"/>
            <p:nvPr/>
          </p:nvSpPr>
          <p:spPr>
            <a:xfrm>
              <a:off x="1097280" y="4334256"/>
              <a:ext cx="2268092" cy="38404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“Bổ sung thông tin” là bottleneck sinh ra rework, “Gửi WO đến Level 2” là lãng phí Move — cần chuẩn hóa biểu mẫu đầu vào và rút gọn chuyển giao.</a:t>
              </a:r>
              <a:endParaRPr lang="en-US" sz="950" dirty="0"/>
            </a:p>
          </p:txBody>
        </p:sp>
      </p:grpSp>
      <p:grpSp>
        <p:nvGrpSpPr>
          <p:cNvPr id="40" name="Group 39">
            <a:extLst>
              <a:ext uri="{FF2B5EF4-FFF2-40B4-BE49-F238E27FC236}">
                <a16:creationId xmlns:a16="http://schemas.microsoft.com/office/drawing/2014/main" id="{8376FA92-6B70-6EEB-214C-4BC5E70C9A3D}"/>
              </a:ext>
            </a:extLst>
          </p:cNvPr>
          <p:cNvGrpSpPr/>
          <p:nvPr/>
        </p:nvGrpSpPr>
        <p:grpSpPr>
          <a:xfrm>
            <a:off x="4338218" y="2971419"/>
            <a:ext cx="3515258" cy="932688"/>
            <a:chOff x="548640" y="4882896"/>
            <a:chExt cx="2956560" cy="932688"/>
          </a:xfrm>
        </p:grpSpPr>
        <p:sp>
          <p:nvSpPr>
            <p:cNvPr id="27" name="Shape 25"/>
            <p:cNvSpPr/>
            <p:nvPr/>
          </p:nvSpPr>
          <p:spPr>
            <a:xfrm>
              <a:off x="548640" y="4882896"/>
              <a:ext cx="2956560" cy="932688"/>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8" name="Shape 26"/>
            <p:cNvSpPr/>
            <p:nvPr/>
          </p:nvSpPr>
          <p:spPr>
            <a:xfrm>
              <a:off x="731520" y="5129784"/>
              <a:ext cx="237744" cy="237744"/>
            </a:xfrm>
            <a:prstGeom prst="ellipse">
              <a:avLst/>
            </a:prstGeom>
            <a:solidFill>
              <a:srgbClr val="A5741A"/>
            </a:solidFill>
            <a:ln w="12700">
              <a:solidFill>
                <a:srgbClr val="A5741A"/>
              </a:solidFill>
              <a:prstDash val="solid"/>
            </a:ln>
          </p:spPr>
          <p:txBody>
            <a:bodyPr/>
            <a:lstStyle/>
            <a:p>
              <a:endParaRPr lang="en-US"/>
            </a:p>
          </p:txBody>
        </p:sp>
        <p:sp>
          <p:nvSpPr>
            <p:cNvPr id="29" name="Text 27"/>
            <p:cNvSpPr txBox="1"/>
            <p:nvPr/>
          </p:nvSpPr>
          <p:spPr>
            <a:xfrm>
              <a:off x="1097280" y="4956048"/>
              <a:ext cx="2268092"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VBA — cần tối ưu, không cắt bỏ</a:t>
              </a:r>
              <a:endParaRPr lang="en-US" sz="1150" dirty="0"/>
            </a:p>
          </p:txBody>
        </p:sp>
        <p:sp>
          <p:nvSpPr>
            <p:cNvPr id="30" name="Text 28"/>
            <p:cNvSpPr txBox="1"/>
            <p:nvPr/>
          </p:nvSpPr>
          <p:spPr>
            <a:xfrm>
              <a:off x="1097280" y="5193792"/>
              <a:ext cx="2268092" cy="38404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Chiếm tới 18/23 hoạt động (78%) — quy trình nặng về kiểm soát và điều phối. Hướng đi là tự động duyệt quyền cơ bản để giảm Lead Time, không phải loại bỏ kiểm soát.</a:t>
              </a:r>
              <a:endParaRPr lang="en-US" sz="950" dirty="0"/>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04BFCB-84E3-88C6-8653-8C136CF4F797}"/>
              </a:ext>
            </a:extLst>
          </p:cNvPr>
          <p:cNvPicPr>
            <a:picLocks noChangeAspect="1"/>
          </p:cNvPicPr>
          <p:nvPr/>
        </p:nvPicPr>
        <p:blipFill>
          <a:blip r:embed="rId2"/>
          <a:stretch>
            <a:fillRect/>
          </a:stretch>
        </p:blipFill>
        <p:spPr>
          <a:xfrm>
            <a:off x="2376788" y="1021842"/>
            <a:ext cx="8318529" cy="5543550"/>
          </a:xfrm>
          <a:prstGeom prst="rect">
            <a:avLst/>
          </a:prstGeom>
        </p:spPr>
      </p:pic>
      <p:sp>
        <p:nvSpPr>
          <p:cNvPr id="45" name="Shape 0">
            <a:extLst>
              <a:ext uri="{FF2B5EF4-FFF2-40B4-BE49-F238E27FC236}">
                <a16:creationId xmlns:a16="http://schemas.microsoft.com/office/drawing/2014/main" id="{0F571DE9-A353-A955-6F93-3E7CFC9E8E41}"/>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47" name="Text 1">
            <a:extLst>
              <a:ext uri="{FF2B5EF4-FFF2-40B4-BE49-F238E27FC236}">
                <a16:creationId xmlns:a16="http://schemas.microsoft.com/office/drawing/2014/main" id="{C765A68A-90E6-9C71-5D05-79387E54C62F}"/>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4.1.1 PHÂN TÍCH ĐỊNH TÍNH</a:t>
            </a:r>
            <a:endParaRPr lang="en-US" sz="1050" dirty="0"/>
          </a:p>
        </p:txBody>
      </p:sp>
      <p:sp>
        <p:nvSpPr>
          <p:cNvPr id="49" name="Text 2">
            <a:extLst>
              <a:ext uri="{FF2B5EF4-FFF2-40B4-BE49-F238E27FC236}">
                <a16:creationId xmlns:a16="http://schemas.microsoft.com/office/drawing/2014/main" id="{7DA07926-6C09-EBE3-9BBF-D571819F632B}"/>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TỔNG HỢP GIÁ TRỊ GIA TĂNG VÀ NHẬN XÉT</a:t>
            </a:r>
            <a:endParaRPr lang="en-US" sz="2500" dirty="0"/>
          </a:p>
        </p:txBody>
      </p:sp>
      <p:sp>
        <p:nvSpPr>
          <p:cNvPr id="39" name="Shape 25">
            <a:extLst>
              <a:ext uri="{FF2B5EF4-FFF2-40B4-BE49-F238E27FC236}">
                <a16:creationId xmlns:a16="http://schemas.microsoft.com/office/drawing/2014/main" id="{41C3719E-2CE6-4143-7192-CAFC3ED3AC96}"/>
              </a:ext>
            </a:extLst>
          </p:cNvPr>
          <p:cNvSpPr/>
          <p:nvPr/>
        </p:nvSpPr>
        <p:spPr>
          <a:xfrm>
            <a:off x="320040" y="1627250"/>
            <a:ext cx="1146810" cy="1249299"/>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grpSp>
        <p:nvGrpSpPr>
          <p:cNvPr id="50" name="Group 49">
            <a:extLst>
              <a:ext uri="{FF2B5EF4-FFF2-40B4-BE49-F238E27FC236}">
                <a16:creationId xmlns:a16="http://schemas.microsoft.com/office/drawing/2014/main" id="{752F2DE3-5285-70BA-6799-767FF57F6FC4}"/>
              </a:ext>
            </a:extLst>
          </p:cNvPr>
          <p:cNvGrpSpPr/>
          <p:nvPr/>
        </p:nvGrpSpPr>
        <p:grpSpPr>
          <a:xfrm>
            <a:off x="470507" y="1681924"/>
            <a:ext cx="540314" cy="274701"/>
            <a:chOff x="502920" y="3200019"/>
            <a:chExt cx="540314" cy="274701"/>
          </a:xfrm>
        </p:grpSpPr>
        <p:sp>
          <p:nvSpPr>
            <p:cNvPr id="30" name="Shape 18">
              <a:extLst>
                <a:ext uri="{FF2B5EF4-FFF2-40B4-BE49-F238E27FC236}">
                  <a16:creationId xmlns:a16="http://schemas.microsoft.com/office/drawing/2014/main" id="{DB88EC5C-2F5D-2A8F-AEE7-7B560F350F94}"/>
                </a:ext>
              </a:extLst>
            </p:cNvPr>
            <p:cNvSpPr/>
            <p:nvPr/>
          </p:nvSpPr>
          <p:spPr>
            <a:xfrm>
              <a:off x="502920" y="3200019"/>
              <a:ext cx="237744" cy="237744"/>
            </a:xfrm>
            <a:prstGeom prst="ellipse">
              <a:avLst/>
            </a:prstGeom>
            <a:solidFill>
              <a:srgbClr val="0E7A5F"/>
            </a:solidFill>
            <a:ln w="12700">
              <a:solidFill>
                <a:srgbClr val="0E7A5F"/>
              </a:solidFill>
              <a:prstDash val="solid"/>
            </a:ln>
          </p:spPr>
          <p:txBody>
            <a:bodyPr/>
            <a:lstStyle/>
            <a:p>
              <a:endParaRPr lang="en-US"/>
            </a:p>
          </p:txBody>
        </p:sp>
        <p:sp>
          <p:nvSpPr>
            <p:cNvPr id="31" name="Text 19">
              <a:extLst>
                <a:ext uri="{FF2B5EF4-FFF2-40B4-BE49-F238E27FC236}">
                  <a16:creationId xmlns:a16="http://schemas.microsoft.com/office/drawing/2014/main" id="{3D819B59-43AC-9289-CBB0-DE9939EEF64C}"/>
                </a:ext>
              </a:extLst>
            </p:cNvPr>
            <p:cNvSpPr txBox="1"/>
            <p:nvPr/>
          </p:nvSpPr>
          <p:spPr>
            <a:xfrm>
              <a:off x="805489" y="3236976"/>
              <a:ext cx="237745"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VA</a:t>
              </a:r>
              <a:endParaRPr lang="en-US" sz="1150" dirty="0"/>
            </a:p>
          </p:txBody>
        </p:sp>
      </p:grpSp>
      <p:grpSp>
        <p:nvGrpSpPr>
          <p:cNvPr id="51" name="Group 50">
            <a:extLst>
              <a:ext uri="{FF2B5EF4-FFF2-40B4-BE49-F238E27FC236}">
                <a16:creationId xmlns:a16="http://schemas.microsoft.com/office/drawing/2014/main" id="{3099115B-6CAF-3399-5095-48BF0D20B40F}"/>
              </a:ext>
            </a:extLst>
          </p:cNvPr>
          <p:cNvGrpSpPr/>
          <p:nvPr/>
        </p:nvGrpSpPr>
        <p:grpSpPr>
          <a:xfrm>
            <a:off x="470507" y="2048255"/>
            <a:ext cx="604757" cy="273177"/>
            <a:chOff x="502920" y="4270248"/>
            <a:chExt cx="604757" cy="273177"/>
          </a:xfrm>
        </p:grpSpPr>
        <p:sp>
          <p:nvSpPr>
            <p:cNvPr id="35" name="Shape 22">
              <a:extLst>
                <a:ext uri="{FF2B5EF4-FFF2-40B4-BE49-F238E27FC236}">
                  <a16:creationId xmlns:a16="http://schemas.microsoft.com/office/drawing/2014/main" id="{F02F071A-F279-B189-F114-5FAEBBD2A812}"/>
                </a:ext>
              </a:extLst>
            </p:cNvPr>
            <p:cNvSpPr/>
            <p:nvPr/>
          </p:nvSpPr>
          <p:spPr>
            <a:xfrm>
              <a:off x="502920" y="4270248"/>
              <a:ext cx="237744" cy="237744"/>
            </a:xfrm>
            <a:prstGeom prst="ellipse">
              <a:avLst/>
            </a:prstGeom>
            <a:solidFill>
              <a:srgbClr val="C0392B"/>
            </a:solidFill>
            <a:ln w="12700">
              <a:solidFill>
                <a:srgbClr val="C0392B"/>
              </a:solidFill>
              <a:prstDash val="solid"/>
            </a:ln>
          </p:spPr>
          <p:txBody>
            <a:bodyPr/>
            <a:lstStyle/>
            <a:p>
              <a:endParaRPr lang="en-US"/>
            </a:p>
          </p:txBody>
        </p:sp>
        <p:sp>
          <p:nvSpPr>
            <p:cNvPr id="36" name="Text 23">
              <a:extLst>
                <a:ext uri="{FF2B5EF4-FFF2-40B4-BE49-F238E27FC236}">
                  <a16:creationId xmlns:a16="http://schemas.microsoft.com/office/drawing/2014/main" id="{59FA447B-1D69-F9CA-6930-B7BF5DDCB0BE}"/>
                </a:ext>
              </a:extLst>
            </p:cNvPr>
            <p:cNvSpPr txBox="1"/>
            <p:nvPr/>
          </p:nvSpPr>
          <p:spPr>
            <a:xfrm>
              <a:off x="805489" y="4305681"/>
              <a:ext cx="302188"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NVA</a:t>
              </a:r>
              <a:endParaRPr lang="en-US" sz="1150" dirty="0"/>
            </a:p>
          </p:txBody>
        </p:sp>
      </p:grpSp>
      <p:grpSp>
        <p:nvGrpSpPr>
          <p:cNvPr id="52" name="Group 51">
            <a:extLst>
              <a:ext uri="{FF2B5EF4-FFF2-40B4-BE49-F238E27FC236}">
                <a16:creationId xmlns:a16="http://schemas.microsoft.com/office/drawing/2014/main" id="{8EB47F0D-05BC-0885-265A-32BA1E80617C}"/>
              </a:ext>
            </a:extLst>
          </p:cNvPr>
          <p:cNvGrpSpPr/>
          <p:nvPr/>
        </p:nvGrpSpPr>
        <p:grpSpPr>
          <a:xfrm>
            <a:off x="485366" y="2418588"/>
            <a:ext cx="604757" cy="282702"/>
            <a:chOff x="502920" y="5367528"/>
            <a:chExt cx="604757" cy="282702"/>
          </a:xfrm>
        </p:grpSpPr>
        <p:sp>
          <p:nvSpPr>
            <p:cNvPr id="40" name="Shape 26">
              <a:extLst>
                <a:ext uri="{FF2B5EF4-FFF2-40B4-BE49-F238E27FC236}">
                  <a16:creationId xmlns:a16="http://schemas.microsoft.com/office/drawing/2014/main" id="{6450369B-DB1A-B6FC-9B7C-BD924B070705}"/>
                </a:ext>
              </a:extLst>
            </p:cNvPr>
            <p:cNvSpPr/>
            <p:nvPr/>
          </p:nvSpPr>
          <p:spPr>
            <a:xfrm>
              <a:off x="502920" y="5367528"/>
              <a:ext cx="237744" cy="237744"/>
            </a:xfrm>
            <a:prstGeom prst="ellipse">
              <a:avLst/>
            </a:prstGeom>
            <a:solidFill>
              <a:srgbClr val="A5741A"/>
            </a:solidFill>
            <a:ln w="12700">
              <a:solidFill>
                <a:srgbClr val="A5741A"/>
              </a:solidFill>
              <a:prstDash val="solid"/>
            </a:ln>
          </p:spPr>
          <p:txBody>
            <a:bodyPr/>
            <a:lstStyle/>
            <a:p>
              <a:endParaRPr lang="en-US"/>
            </a:p>
          </p:txBody>
        </p:sp>
        <p:sp>
          <p:nvSpPr>
            <p:cNvPr id="41" name="Text 27">
              <a:extLst>
                <a:ext uri="{FF2B5EF4-FFF2-40B4-BE49-F238E27FC236}">
                  <a16:creationId xmlns:a16="http://schemas.microsoft.com/office/drawing/2014/main" id="{3DEAD5A0-21CA-ACC1-9B26-EBD1FBCA3753}"/>
                </a:ext>
              </a:extLst>
            </p:cNvPr>
            <p:cNvSpPr txBox="1"/>
            <p:nvPr/>
          </p:nvSpPr>
          <p:spPr>
            <a:xfrm>
              <a:off x="805489" y="5412486"/>
              <a:ext cx="302188"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VBA</a:t>
              </a:r>
              <a:endParaRPr lang="en-US" sz="1150" dirty="0"/>
            </a:p>
          </p:txBody>
        </p:sp>
      </p:grpSp>
      <p:sp>
        <p:nvSpPr>
          <p:cNvPr id="54" name="Text 4">
            <a:extLst>
              <a:ext uri="{FF2B5EF4-FFF2-40B4-BE49-F238E27FC236}">
                <a16:creationId xmlns:a16="http://schemas.microsoft.com/office/drawing/2014/main" id="{B73B5D7F-D80D-3373-4D9E-C09EB52893E9}"/>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35</a:t>
            </a:r>
          </a:p>
        </p:txBody>
      </p:sp>
    </p:spTree>
    <p:extLst>
      <p:ext uri="{BB962C8B-B14F-4D97-AF65-F5344CB8AC3E}">
        <p14:creationId xmlns:p14="http://schemas.microsoft.com/office/powerpoint/2010/main" val="25980878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4.1.2 NHẬN DIỆN LÃNG PHÍ</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BA LOẠI LÃNG PHÍ MOVE – HOLD – OVERDO CỦA QUY TRÌNH PYC</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Áp dụng tư duy tinh gọn (Lean Management) vào luồng nghiệp vụ AS-IS</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36</a:t>
            </a:r>
          </a:p>
          <a:p>
            <a:pPr marL="0" indent="0" algn="r">
              <a:buNone/>
            </a:pPr>
            <a:endParaRPr lang="en-US" sz="1100" dirty="0"/>
          </a:p>
        </p:txBody>
      </p:sp>
      <p:sp>
        <p:nvSpPr>
          <p:cNvPr id="8" name="Shape 6"/>
          <p:cNvSpPr/>
          <p:nvPr/>
        </p:nvSpPr>
        <p:spPr>
          <a:xfrm>
            <a:off x="548640" y="1517904"/>
            <a:ext cx="3515258" cy="2615184"/>
          </a:xfrm>
          <a:prstGeom prst="roundRect">
            <a:avLst>
              <a:gd name="adj" fmla="val 2098"/>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Shape 7"/>
          <p:cNvSpPr/>
          <p:nvPr/>
        </p:nvSpPr>
        <p:spPr>
          <a:xfrm>
            <a:off x="548640" y="1517904"/>
            <a:ext cx="3515258" cy="713232"/>
          </a:xfrm>
          <a:prstGeom prst="rect">
            <a:avLst/>
          </a:prstGeom>
          <a:solidFill>
            <a:srgbClr val="1660BF"/>
          </a:solidFill>
          <a:ln w="12700">
            <a:solidFill>
              <a:srgbClr val="1660BF"/>
            </a:solidFill>
            <a:prstDash val="solid"/>
          </a:ln>
        </p:spPr>
        <p:txBody>
          <a:bodyPr/>
          <a:lstStyle/>
          <a:p>
            <a:endParaRPr lang="en-US" dirty="0"/>
          </a:p>
        </p:txBody>
      </p:sp>
      <p:sp>
        <p:nvSpPr>
          <p:cNvPr id="10" name="Text 8"/>
          <p:cNvSpPr txBox="1"/>
          <p:nvPr/>
        </p:nvSpPr>
        <p:spPr>
          <a:xfrm>
            <a:off x="731520" y="1591056"/>
            <a:ext cx="3149498" cy="310896"/>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MOVE</a:t>
            </a:r>
            <a:endParaRPr lang="en-US" sz="1700" dirty="0"/>
          </a:p>
        </p:txBody>
      </p:sp>
      <p:sp>
        <p:nvSpPr>
          <p:cNvPr id="11" name="Text 9"/>
          <p:cNvSpPr txBox="1"/>
          <p:nvPr/>
        </p:nvSpPr>
        <p:spPr>
          <a:xfrm>
            <a:off x="731520" y="1901952"/>
            <a:ext cx="3149498" cy="237744"/>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Di chuyển / Chuyển giao  ·  Handoff Waste</a:t>
            </a:r>
            <a:endParaRPr lang="en-US" sz="950" dirty="0"/>
          </a:p>
        </p:txBody>
      </p:sp>
      <p:sp>
        <p:nvSpPr>
          <p:cNvPr id="12" name="Text 10"/>
          <p:cNvSpPr txBox="1"/>
          <p:nvPr/>
        </p:nvSpPr>
        <p:spPr>
          <a:xfrm>
            <a:off x="731520" y="2377440"/>
            <a:ext cx="3149498" cy="164592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Biểu hiện: yêu cầu phải luân chuyển qua quá nhiều làn — Người dùng → Quản lý → Hệ thống ITSM → Service Desk L1.</a:t>
            </a:r>
            <a:endParaRPr lang="en-US" sz="1000" dirty="0"/>
          </a:p>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Hậu quả: mỗi lần chuyển giao là một lần phát sinh rủi ro trôi trượt thông tin.</a:t>
            </a:r>
            <a:endParaRPr lang="en-US" sz="1000" dirty="0"/>
          </a:p>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Đỉnh điểm: khi phiếu bị chuyển qua chuyển lại (ping-pong) giữa IT và người dùng để bổ sung thông tin.</a:t>
            </a:r>
            <a:endParaRPr lang="en-US" sz="1000" dirty="0"/>
          </a:p>
        </p:txBody>
      </p:sp>
      <p:sp>
        <p:nvSpPr>
          <p:cNvPr id="13" name="Shape 11"/>
          <p:cNvSpPr/>
          <p:nvPr/>
        </p:nvSpPr>
        <p:spPr>
          <a:xfrm>
            <a:off x="4338218" y="1517904"/>
            <a:ext cx="3515258" cy="2615184"/>
          </a:xfrm>
          <a:prstGeom prst="roundRect">
            <a:avLst>
              <a:gd name="adj" fmla="val 2098"/>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4" name="Shape 12"/>
          <p:cNvSpPr/>
          <p:nvPr/>
        </p:nvSpPr>
        <p:spPr>
          <a:xfrm>
            <a:off x="4338218" y="1517904"/>
            <a:ext cx="3515258" cy="713232"/>
          </a:xfrm>
          <a:prstGeom prst="rect">
            <a:avLst/>
          </a:prstGeom>
          <a:solidFill>
            <a:srgbClr val="C0392B"/>
          </a:solidFill>
          <a:ln w="12700">
            <a:solidFill>
              <a:srgbClr val="C0392B"/>
            </a:solidFill>
            <a:prstDash val="solid"/>
          </a:ln>
        </p:spPr>
        <p:txBody>
          <a:bodyPr/>
          <a:lstStyle/>
          <a:p>
            <a:endParaRPr lang="en-US" dirty="0"/>
          </a:p>
        </p:txBody>
      </p:sp>
      <p:sp>
        <p:nvSpPr>
          <p:cNvPr id="15" name="Text 13"/>
          <p:cNvSpPr txBox="1"/>
          <p:nvPr/>
        </p:nvSpPr>
        <p:spPr>
          <a:xfrm>
            <a:off x="4521098" y="1591056"/>
            <a:ext cx="3149498" cy="310896"/>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HOLD</a:t>
            </a:r>
            <a:endParaRPr lang="en-US" sz="1700" dirty="0"/>
          </a:p>
        </p:txBody>
      </p:sp>
      <p:sp>
        <p:nvSpPr>
          <p:cNvPr id="16" name="Text 14"/>
          <p:cNvSpPr txBox="1"/>
          <p:nvPr/>
        </p:nvSpPr>
        <p:spPr>
          <a:xfrm>
            <a:off x="4521098" y="1901952"/>
            <a:ext cx="3149498" cy="237744"/>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Chờ đợi  ·  Waiting Waste</a:t>
            </a:r>
            <a:endParaRPr lang="en-US" sz="950" dirty="0"/>
          </a:p>
        </p:txBody>
      </p:sp>
      <p:sp>
        <p:nvSpPr>
          <p:cNvPr id="17" name="Text 15"/>
          <p:cNvSpPr txBox="1"/>
          <p:nvPr/>
        </p:nvSpPr>
        <p:spPr>
          <a:xfrm>
            <a:off x="4521098" y="2377440"/>
            <a:ext cx="3149498" cy="164592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Tại làn Quản lý: “Xem xét phê duyệt” tạo nút thắt cổ chai — Trưởng đơn vị đi công tác hoặc bận họp thì PYC bị “ngâm” dù đội IT phía sau đang rảnh.</a:t>
            </a:r>
            <a:endParaRPr lang="en-US" sz="1000" dirty="0"/>
          </a:p>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Tại làn Service Desk: cổng gom luồng AND buộc phải đợi cả “Cấu hình cấp quyền” và “Ghi log bảo mật” hoàn tất mới đi tiếp.</a:t>
            </a:r>
            <a:endParaRPr lang="en-US" sz="1000" dirty="0"/>
          </a:p>
        </p:txBody>
      </p:sp>
      <p:sp>
        <p:nvSpPr>
          <p:cNvPr id="18" name="Shape 16"/>
          <p:cNvSpPr/>
          <p:nvPr/>
        </p:nvSpPr>
        <p:spPr>
          <a:xfrm>
            <a:off x="8127797" y="1517904"/>
            <a:ext cx="3515258" cy="2615184"/>
          </a:xfrm>
          <a:prstGeom prst="roundRect">
            <a:avLst>
              <a:gd name="adj" fmla="val 2098"/>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9" name="Shape 17"/>
          <p:cNvSpPr/>
          <p:nvPr/>
        </p:nvSpPr>
        <p:spPr>
          <a:xfrm>
            <a:off x="8127797" y="1517904"/>
            <a:ext cx="3515258" cy="713232"/>
          </a:xfrm>
          <a:prstGeom prst="rect">
            <a:avLst/>
          </a:prstGeom>
          <a:solidFill>
            <a:srgbClr val="A5741A"/>
          </a:solidFill>
          <a:ln w="12700">
            <a:solidFill>
              <a:srgbClr val="A5741A"/>
            </a:solidFill>
            <a:prstDash val="solid"/>
          </a:ln>
        </p:spPr>
        <p:txBody>
          <a:bodyPr/>
          <a:lstStyle/>
          <a:p>
            <a:endParaRPr lang="en-US"/>
          </a:p>
        </p:txBody>
      </p:sp>
      <p:sp>
        <p:nvSpPr>
          <p:cNvPr id="20" name="Text 18"/>
          <p:cNvSpPr txBox="1"/>
          <p:nvPr/>
        </p:nvSpPr>
        <p:spPr>
          <a:xfrm>
            <a:off x="8310677" y="1591056"/>
            <a:ext cx="3149498" cy="310896"/>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OVERDO</a:t>
            </a:r>
            <a:endParaRPr lang="en-US" sz="1700" dirty="0"/>
          </a:p>
        </p:txBody>
      </p:sp>
      <p:sp>
        <p:nvSpPr>
          <p:cNvPr id="21" name="Text 19"/>
          <p:cNvSpPr txBox="1"/>
          <p:nvPr/>
        </p:nvSpPr>
        <p:spPr>
          <a:xfrm>
            <a:off x="8310677" y="1901952"/>
            <a:ext cx="3149498" cy="237744"/>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Làm thừa / Xử lý quá mức  ·  Overprocessing Waste</a:t>
            </a:r>
            <a:endParaRPr lang="en-US" sz="950" dirty="0"/>
          </a:p>
        </p:txBody>
      </p:sp>
      <p:sp>
        <p:nvSpPr>
          <p:cNvPr id="22" name="Text 20"/>
          <p:cNvSpPr txBox="1"/>
          <p:nvPr/>
        </p:nvSpPr>
        <p:spPr>
          <a:xfrm>
            <a:off x="8310677" y="2377440"/>
            <a:ext cx="3149498" cy="164592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Biểu hiện: cổng điều kiện “Cần duyệt?” áp dụng cho mọi loại phiếu là dư thừa — quyền rủi ro thấp (folder chung, reset mật khẩu Wifi) không cần Quản lý duyệt.</a:t>
            </a:r>
            <a:endParaRPr lang="en-US" sz="1000" dirty="0"/>
          </a:p>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Hậu quả: lãng phí chất xám và thời gian của cấp quản lý, luồng quy trình cồng kềnh về thủ tục hành chính thay vì tập trung vào tốc độ phục vụ.</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BCEECE1E-A15E-0B4D-55D2-1F65609DB8DF}"/>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5" name="Text 1">
            <a:extLst>
              <a:ext uri="{FF2B5EF4-FFF2-40B4-BE49-F238E27FC236}">
                <a16:creationId xmlns:a16="http://schemas.microsoft.com/office/drawing/2014/main" id="{4DBD2C88-EB70-DEBF-0A66-CB9122F3EA19}"/>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4.1.2 NHẬN DIỆN LÃNG PHÍ</a:t>
            </a:r>
            <a:endParaRPr lang="en-US" sz="1050" dirty="0"/>
          </a:p>
        </p:txBody>
      </p:sp>
      <p:sp>
        <p:nvSpPr>
          <p:cNvPr id="7" name="Text 2">
            <a:extLst>
              <a:ext uri="{FF2B5EF4-FFF2-40B4-BE49-F238E27FC236}">
                <a16:creationId xmlns:a16="http://schemas.microsoft.com/office/drawing/2014/main" id="{DFBDD0F0-0005-D2DC-994A-1712B6C6E672}"/>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BA LOẠI LÃNG PHÍ MOVE – HOLD – OVERDO CỦA QUY TRÌNH PYC</a:t>
            </a:r>
            <a:endParaRPr lang="en-US" sz="2500" dirty="0"/>
          </a:p>
        </p:txBody>
      </p:sp>
      <p:pic>
        <p:nvPicPr>
          <p:cNvPr id="9" name="Picture 8">
            <a:extLst>
              <a:ext uri="{FF2B5EF4-FFF2-40B4-BE49-F238E27FC236}">
                <a16:creationId xmlns:a16="http://schemas.microsoft.com/office/drawing/2014/main" id="{177572F8-2CF0-BFCB-8C15-43BD482FC048}"/>
              </a:ext>
            </a:extLst>
          </p:cNvPr>
          <p:cNvPicPr>
            <a:picLocks noChangeAspect="1"/>
          </p:cNvPicPr>
          <p:nvPr/>
        </p:nvPicPr>
        <p:blipFill>
          <a:blip r:embed="rId2"/>
          <a:stretch>
            <a:fillRect/>
          </a:stretch>
        </p:blipFill>
        <p:spPr>
          <a:xfrm>
            <a:off x="2973553" y="1060704"/>
            <a:ext cx="8450427" cy="5629275"/>
          </a:xfrm>
          <a:prstGeom prst="rect">
            <a:avLst/>
          </a:prstGeom>
        </p:spPr>
      </p:pic>
      <p:sp>
        <p:nvSpPr>
          <p:cNvPr id="10" name="Shape 25">
            <a:extLst>
              <a:ext uri="{FF2B5EF4-FFF2-40B4-BE49-F238E27FC236}">
                <a16:creationId xmlns:a16="http://schemas.microsoft.com/office/drawing/2014/main" id="{DEEA9678-0A34-F83A-C47E-33365E2EE812}"/>
              </a:ext>
            </a:extLst>
          </p:cNvPr>
          <p:cNvSpPr/>
          <p:nvPr/>
        </p:nvSpPr>
        <p:spPr>
          <a:xfrm>
            <a:off x="320040" y="1627251"/>
            <a:ext cx="1823086" cy="1074040"/>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Shape 18">
            <a:extLst>
              <a:ext uri="{FF2B5EF4-FFF2-40B4-BE49-F238E27FC236}">
                <a16:creationId xmlns:a16="http://schemas.microsoft.com/office/drawing/2014/main" id="{36CE2A83-2B5E-93D2-87EF-4AA487306E9C}"/>
              </a:ext>
            </a:extLst>
          </p:cNvPr>
          <p:cNvSpPr/>
          <p:nvPr/>
        </p:nvSpPr>
        <p:spPr>
          <a:xfrm>
            <a:off x="470507" y="1681924"/>
            <a:ext cx="237744" cy="237744"/>
          </a:xfrm>
          <a:prstGeom prst="ellipse">
            <a:avLst/>
          </a:prstGeom>
          <a:solidFill>
            <a:srgbClr val="1660BF"/>
          </a:solidFill>
          <a:ln w="12700">
            <a:solidFill>
              <a:srgbClr val="0E7A5F"/>
            </a:solidFill>
            <a:prstDash val="solid"/>
          </a:ln>
        </p:spPr>
        <p:txBody>
          <a:bodyPr/>
          <a:lstStyle/>
          <a:p>
            <a:endParaRPr lang="en-US" dirty="0"/>
          </a:p>
        </p:txBody>
      </p:sp>
      <p:sp>
        <p:nvSpPr>
          <p:cNvPr id="13" name="Text 19">
            <a:extLst>
              <a:ext uri="{FF2B5EF4-FFF2-40B4-BE49-F238E27FC236}">
                <a16:creationId xmlns:a16="http://schemas.microsoft.com/office/drawing/2014/main" id="{F2F2987F-6E37-5C57-9DBC-B95F8368657D}"/>
              </a:ext>
            </a:extLst>
          </p:cNvPr>
          <p:cNvSpPr txBox="1"/>
          <p:nvPr/>
        </p:nvSpPr>
        <p:spPr>
          <a:xfrm>
            <a:off x="773076" y="1718881"/>
            <a:ext cx="703299"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Move</a:t>
            </a:r>
            <a:endParaRPr lang="en-US" sz="1150" dirty="0"/>
          </a:p>
        </p:txBody>
      </p:sp>
      <p:sp>
        <p:nvSpPr>
          <p:cNvPr id="15" name="Shape 22">
            <a:extLst>
              <a:ext uri="{FF2B5EF4-FFF2-40B4-BE49-F238E27FC236}">
                <a16:creationId xmlns:a16="http://schemas.microsoft.com/office/drawing/2014/main" id="{9E61415D-A921-0944-88EE-49C1524F6A19}"/>
              </a:ext>
            </a:extLst>
          </p:cNvPr>
          <p:cNvSpPr/>
          <p:nvPr/>
        </p:nvSpPr>
        <p:spPr>
          <a:xfrm>
            <a:off x="470507" y="2048255"/>
            <a:ext cx="237744" cy="237744"/>
          </a:xfrm>
          <a:prstGeom prst="ellipse">
            <a:avLst/>
          </a:prstGeom>
          <a:solidFill>
            <a:srgbClr val="C0392B"/>
          </a:solidFill>
          <a:ln w="12700">
            <a:solidFill>
              <a:srgbClr val="C0392B"/>
            </a:solidFill>
            <a:prstDash val="solid"/>
          </a:ln>
        </p:spPr>
        <p:txBody>
          <a:bodyPr/>
          <a:lstStyle/>
          <a:p>
            <a:endParaRPr lang="en-US"/>
          </a:p>
        </p:txBody>
      </p:sp>
      <p:sp>
        <p:nvSpPr>
          <p:cNvPr id="16" name="Text 23">
            <a:extLst>
              <a:ext uri="{FF2B5EF4-FFF2-40B4-BE49-F238E27FC236}">
                <a16:creationId xmlns:a16="http://schemas.microsoft.com/office/drawing/2014/main" id="{5EEE6977-F427-8079-11C0-EB75BFA8B45C}"/>
              </a:ext>
            </a:extLst>
          </p:cNvPr>
          <p:cNvSpPr txBox="1"/>
          <p:nvPr/>
        </p:nvSpPr>
        <p:spPr>
          <a:xfrm>
            <a:off x="773076" y="2083688"/>
            <a:ext cx="302188"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Hold</a:t>
            </a:r>
            <a:endParaRPr lang="en-US" sz="1150" dirty="0"/>
          </a:p>
        </p:txBody>
      </p:sp>
      <p:sp>
        <p:nvSpPr>
          <p:cNvPr id="18" name="Shape 26">
            <a:extLst>
              <a:ext uri="{FF2B5EF4-FFF2-40B4-BE49-F238E27FC236}">
                <a16:creationId xmlns:a16="http://schemas.microsoft.com/office/drawing/2014/main" id="{7837FB42-99C6-F6ED-3C89-BE8CC1D855FC}"/>
              </a:ext>
            </a:extLst>
          </p:cNvPr>
          <p:cNvSpPr/>
          <p:nvPr/>
        </p:nvSpPr>
        <p:spPr>
          <a:xfrm>
            <a:off x="485366" y="2418588"/>
            <a:ext cx="237744" cy="237744"/>
          </a:xfrm>
          <a:prstGeom prst="ellipse">
            <a:avLst/>
          </a:prstGeom>
          <a:solidFill>
            <a:srgbClr val="A5741A"/>
          </a:solidFill>
          <a:ln w="12700">
            <a:solidFill>
              <a:srgbClr val="A5741A"/>
            </a:solidFill>
            <a:prstDash val="solid"/>
          </a:ln>
        </p:spPr>
        <p:txBody>
          <a:bodyPr/>
          <a:lstStyle/>
          <a:p>
            <a:endParaRPr lang="en-US"/>
          </a:p>
        </p:txBody>
      </p:sp>
      <p:sp>
        <p:nvSpPr>
          <p:cNvPr id="19" name="Text 27">
            <a:extLst>
              <a:ext uri="{FF2B5EF4-FFF2-40B4-BE49-F238E27FC236}">
                <a16:creationId xmlns:a16="http://schemas.microsoft.com/office/drawing/2014/main" id="{DEC11E17-BCBB-3081-6DC3-81CE33156032}"/>
              </a:ext>
            </a:extLst>
          </p:cNvPr>
          <p:cNvSpPr txBox="1"/>
          <p:nvPr/>
        </p:nvSpPr>
        <p:spPr>
          <a:xfrm>
            <a:off x="787934" y="2463546"/>
            <a:ext cx="703299"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Overdo</a:t>
            </a:r>
            <a:endParaRPr lang="en-US" sz="1150" dirty="0"/>
          </a:p>
        </p:txBody>
      </p:sp>
      <p:sp>
        <p:nvSpPr>
          <p:cNvPr id="21" name="Text 4">
            <a:extLst>
              <a:ext uri="{FF2B5EF4-FFF2-40B4-BE49-F238E27FC236}">
                <a16:creationId xmlns:a16="http://schemas.microsoft.com/office/drawing/2014/main" id="{36143FCC-0436-EA15-DAD1-18FFD02904C3}"/>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37</a:t>
            </a:r>
            <a:endParaRPr lang="en-US" sz="1100" dirty="0"/>
          </a:p>
        </p:txBody>
      </p:sp>
    </p:spTree>
    <p:extLst>
      <p:ext uri="{BB962C8B-B14F-4D97-AF65-F5344CB8AC3E}">
        <p14:creationId xmlns:p14="http://schemas.microsoft.com/office/powerpoint/2010/main" val="21871593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4.1.2 NHẬN DIỆN LÃNG PHÍ</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DANH MỤC ĐIỂM PHÁT SINH LÃNG PHÍ CỦA QUY TRÌNH PYC</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4.2 — 14 điểm lãng phí nhận diện trên mô hình BPMN AS-IS  ·  Move 03  ·  Hold 06  ·  Overdo 05</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38</a:t>
            </a:r>
          </a:p>
          <a:p>
            <a:pPr marL="0" indent="0" algn="r">
              <a:buNone/>
            </a:pP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17904"/>
          <a:ext cx="11091672" cy="3968496"/>
        </p:xfrm>
        <a:graphic>
          <a:graphicData uri="http://schemas.openxmlformats.org/drawingml/2006/table">
            <a:tbl>
              <a:tblPr/>
              <a:tblGrid>
                <a:gridCol w="5486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6153912">
                  <a:extLst>
                    <a:ext uri="{9D8B030D-6E8A-4147-A177-3AD203B41FA5}">
                      <a16:colId xmlns:a16="http://schemas.microsoft.com/office/drawing/2014/main" val="20003"/>
                    </a:ext>
                  </a:extLst>
                </a:gridCol>
              </a:tblGrid>
              <a:tr h="38404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HOẠT ĐỘNG / VỊ TRÍ PHÁT SINH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LOẠI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MÔ TẢ</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Gửi yêu cầu từ End User sang hệ thống ITSM</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1660BF"/>
                          </a:solidFill>
                          <a:latin typeface="Calibri" pitchFamily="34" charset="0"/>
                          <a:ea typeface="Calibri" pitchFamily="34" charset="-122"/>
                          <a:cs typeface="Calibri" pitchFamily="34" charset="-120"/>
                        </a:rPr>
                        <a:t>Move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Yêu cầu đi qua ITSM rồi mới tới Service Desk — thêm một chặng trung gian trong luồng tiếp nhận.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Đính kèm đủ ba tệp qua cổng AND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A5741A"/>
                          </a:solidFill>
                          <a:latin typeface="Calibri" pitchFamily="34" charset="0"/>
                          <a:ea typeface="Calibri" pitchFamily="34" charset="-122"/>
                          <a:cs typeface="Calibri" pitchFamily="34" charset="-120"/>
                        </a:rPr>
                        <a:t>Overdo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Mọi PYC đều buộc có email duyệt, mã dự án và ảnh màn hình dù nhiều trường hợp không cần đủ ba.</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Gửi thông báo đến quản lý trực tiếp</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1660BF"/>
                          </a:solidFill>
                          <a:latin typeface="Calibri" pitchFamily="34" charset="0"/>
                          <a:ea typeface="Calibri" pitchFamily="34" charset="-122"/>
                          <a:cs typeface="Calibri" pitchFamily="34" charset="-120"/>
                        </a:rPr>
                        <a:t>Move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Phiếu rời ITSM sang kênh email/notification rồi mới quay lại hệ thống để đi tiếp.</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chờ quản lý trực tiếp phê duyệt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C0392B"/>
                          </a:solidFill>
                          <a:latin typeface="Calibri" pitchFamily="34" charset="0"/>
                          <a:ea typeface="Calibri" pitchFamily="34" charset="-122"/>
                          <a:cs typeface="Calibri" pitchFamily="34" charset="-120"/>
                        </a:rPr>
                        <a:t>Hold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Chờ 2–8 giờ; với quyền T24 và khi quản lý đi công tác có thể kéo dài vài ngày đến một tuần.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Trả về yêu cầu bổ sung thông tin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A5741A"/>
                          </a:solidFill>
                          <a:latin typeface="Calibri" pitchFamily="34" charset="0"/>
                          <a:ea typeface="Calibri" pitchFamily="34" charset="-122"/>
                          <a:cs typeface="Calibri" pitchFamily="34" charset="-120"/>
                        </a:rPr>
                        <a:t>Overdo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20–50% PYC phải làm lại do chọn sai danh mục dịch vụ hoặc mô tả thiếu dữ liệu kỹ thuật.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chờ người dùng bổ sung thông tin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C0392B"/>
                          </a:solidFill>
                          <a:latin typeface="Calibri" pitchFamily="34" charset="0"/>
                          <a:ea typeface="Calibri" pitchFamily="34" charset="-122"/>
                          <a:cs typeface="Calibri" pitchFamily="34" charset="-120"/>
                        </a:rPr>
                        <a:t>Hold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Quy trình dừng hoàn toàn cho tới khi người dùng phản hồi và nộp lại phiếu.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7</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Xác minh thông tin tại Service Desk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A5741A"/>
                          </a:solidFill>
                          <a:latin typeface="Calibri" pitchFamily="34" charset="0"/>
                          <a:ea typeface="Calibri" pitchFamily="34" charset="-122"/>
                          <a:cs typeface="Calibri" pitchFamily="34" charset="-120"/>
                        </a:rPr>
                        <a:t>Overdo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Kiểm tra lại dữ liệu lẽ ra đã được ràng buộc ngay từ biểu mẫu đầu vào trên Cổng dịch vụ.</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7"/>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chờ Work Order vào hàng đợi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C0392B"/>
                          </a:solidFill>
                          <a:latin typeface="Calibri" pitchFamily="34" charset="0"/>
                          <a:ea typeface="Calibri" pitchFamily="34" charset="-122"/>
                          <a:cs typeface="Calibri" pitchFamily="34" charset="-120"/>
                        </a:rPr>
                        <a:t>Hold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WO nằm trên dashboard tới khi Service Desk L1 tiếp nhận và phân loại.</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8"/>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9</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Gửi WO đến Service Desk L2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1660BF"/>
                          </a:solidFill>
                          <a:latin typeface="Calibri" pitchFamily="34" charset="0"/>
                          <a:ea typeface="Calibri" pitchFamily="34" charset="-122"/>
                          <a:cs typeface="Calibri" pitchFamily="34" charset="-120"/>
                        </a:rPr>
                        <a:t>Move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Chuyển giao giữa hai tuyến xử lý, kèm rủi ro trôi trượt thông tin phân tích ban đầu.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9"/>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chờ Level 2 tiếp nhận Work Order</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C0392B"/>
                          </a:solidFill>
                          <a:latin typeface="Calibri" pitchFamily="34" charset="0"/>
                          <a:ea typeface="Calibri" pitchFamily="34" charset="-122"/>
                          <a:cs typeface="Calibri" pitchFamily="34" charset="-120"/>
                        </a:rPr>
                        <a:t>Hold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Yêu cầu vượt phạm vi L1 phải đợi chuyên viên L2 sắp xếp được thời gian xử lý.</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0"/>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Ghi log vào ITSM và ghi log vào SIEM</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A5741A"/>
                          </a:solidFill>
                          <a:latin typeface="Calibri" pitchFamily="34" charset="0"/>
                          <a:ea typeface="Calibri" pitchFamily="34" charset="-122"/>
                          <a:cs typeface="Calibri" pitchFamily="34" charset="-120"/>
                        </a:rPr>
                        <a:t>Overdo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Cùng một nội dung log phải nhập thủ công hai lần trên hai hệ thống khác nhau.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11"/>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chờ tại cổng gom luồng AND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C0392B"/>
                          </a:solidFill>
                          <a:latin typeface="Calibri" pitchFamily="34" charset="0"/>
                          <a:ea typeface="Calibri" pitchFamily="34" charset="-122"/>
                          <a:cs typeface="Calibri" pitchFamily="34" charset="-120"/>
                        </a:rPr>
                        <a:t>Hold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Cấu hình cấp quyền xong vẫn phải đợi thao tác ghi log thủ công hoàn tất mới đi tiếp.</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2"/>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chờ người dùng xác nhận kết quả</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C0392B"/>
                          </a:solidFill>
                          <a:latin typeface="Calibri" pitchFamily="34" charset="0"/>
                          <a:ea typeface="Calibri" pitchFamily="34" charset="-122"/>
                          <a:cs typeface="Calibri" pitchFamily="34" charset="-120"/>
                        </a:rPr>
                        <a:t>Hold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Phiếu ở trạng thái Resolved chờ xác nhận, tối đa 48 giờ trước khi hệ thống Auto-close.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13"/>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14</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Reopen phiếu khi kết quả chưa đạt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A5741A"/>
                          </a:solidFill>
                          <a:latin typeface="Calibri" pitchFamily="34" charset="0"/>
                          <a:ea typeface="Calibri" pitchFamily="34" charset="-122"/>
                          <a:cs typeface="Calibri" pitchFamily="34" charset="-120"/>
                        </a:rPr>
                        <a:t>Overdo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Phải quay lại bước tiếp nhận hoặc xử lý kỹ thuật, lặp lại phần lớn chu trình.</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4.1.3 NGUYÊN NHÂN GỐC RỄ</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BỐN NHÓM NGUYÊN NHÂN GỐC RỄ THEO SƠ ĐỒ XƯƠNG CÁ</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15 — Vấn đề trung tâm: “Quy trình PYC bị chậm trễ và phát sinh rework”</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39</a:t>
            </a:r>
            <a:endParaRPr lang="en-US" sz="1100" dirty="0"/>
          </a:p>
        </p:txBody>
      </p:sp>
      <p:sp>
        <p:nvSpPr>
          <p:cNvPr id="8" name="Shape 6"/>
          <p:cNvSpPr/>
          <p:nvPr/>
        </p:nvSpPr>
        <p:spPr>
          <a:xfrm>
            <a:off x="548640"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31520"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CON NGƯỜI</a:t>
            </a:r>
            <a:endParaRPr lang="en-US" sz="1300" dirty="0"/>
          </a:p>
        </p:txBody>
      </p:sp>
      <p:sp>
        <p:nvSpPr>
          <p:cNvPr id="10" name="Text 8"/>
          <p:cNvSpPr txBox="1"/>
          <p:nvPr/>
        </p:nvSpPr>
        <p:spPr>
          <a:xfrm>
            <a:off x="731520" y="1938528"/>
            <a:ext cx="2202104" cy="219456"/>
          </a:xfrm>
          <a:prstGeom prst="rect">
            <a:avLst/>
          </a:prstGeom>
          <a:noFill/>
          <a:ln/>
        </p:spPr>
        <p:txBody>
          <a:bodyPr wrap="square" lIns="0" tIns="0" rIns="0" bIns="0" rtlCol="0" anchor="t"/>
          <a:lstStyle/>
          <a:p>
            <a:pPr marL="0" indent="0">
              <a:buNone/>
            </a:pPr>
            <a:r>
              <a:rPr lang="en-US" sz="950" b="1" i="1" dirty="0">
                <a:solidFill>
                  <a:srgbClr val="1660BF"/>
                </a:solidFill>
                <a:latin typeface="Calibri" pitchFamily="34" charset="0"/>
                <a:ea typeface="Calibri" pitchFamily="34" charset="-122"/>
                <a:cs typeface="Calibri" pitchFamily="34" charset="-120"/>
              </a:rPr>
              <a:t>Man</a:t>
            </a:r>
            <a:endParaRPr lang="en-US" sz="950" dirty="0"/>
          </a:p>
        </p:txBody>
      </p:sp>
      <p:sp>
        <p:nvSpPr>
          <p:cNvPr id="11" name="Text 9"/>
          <p:cNvSpPr txBox="1"/>
          <p:nvPr/>
        </p:nvSpPr>
        <p:spPr>
          <a:xfrm>
            <a:off x="731520"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Cấp quản lý bận họp hoặc đi công tác nên chậm thao tác phê duyệt.</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Người dùng chưa quen thao tác trên Cổng dịch vụ.</a:t>
            </a:r>
            <a:endParaRPr lang="en-US" sz="950" dirty="0"/>
          </a:p>
        </p:txBody>
      </p:sp>
      <p:sp>
        <p:nvSpPr>
          <p:cNvPr id="12" name="Shape 10"/>
          <p:cNvSpPr/>
          <p:nvPr/>
        </p:nvSpPr>
        <p:spPr>
          <a:xfrm>
            <a:off x="3390824"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3" name="Text 11"/>
          <p:cNvSpPr txBox="1"/>
          <p:nvPr/>
        </p:nvSpPr>
        <p:spPr>
          <a:xfrm>
            <a:off x="3573704"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QUY TRÌNH</a:t>
            </a:r>
            <a:endParaRPr lang="en-US" sz="1300" dirty="0"/>
          </a:p>
        </p:txBody>
      </p:sp>
      <p:sp>
        <p:nvSpPr>
          <p:cNvPr id="14" name="Text 12"/>
          <p:cNvSpPr txBox="1"/>
          <p:nvPr/>
        </p:nvSpPr>
        <p:spPr>
          <a:xfrm>
            <a:off x="3573704" y="1938528"/>
            <a:ext cx="2202104" cy="219456"/>
          </a:xfrm>
          <a:prstGeom prst="rect">
            <a:avLst/>
          </a:prstGeom>
          <a:noFill/>
          <a:ln/>
        </p:spPr>
        <p:txBody>
          <a:bodyPr wrap="square" lIns="0" tIns="0" rIns="0" bIns="0" rtlCol="0" anchor="t"/>
          <a:lstStyle/>
          <a:p>
            <a:pPr marL="0" indent="0">
              <a:buNone/>
            </a:pPr>
            <a:r>
              <a:rPr lang="en-US" sz="950" b="1" i="1" dirty="0">
                <a:solidFill>
                  <a:srgbClr val="C0392B"/>
                </a:solidFill>
                <a:latin typeface="Calibri" pitchFamily="34" charset="0"/>
                <a:ea typeface="Calibri" pitchFamily="34" charset="-122"/>
                <a:cs typeface="Calibri" pitchFamily="34" charset="-120"/>
              </a:rPr>
              <a:t>Method</a:t>
            </a:r>
            <a:endParaRPr lang="en-US" sz="950" dirty="0"/>
          </a:p>
        </p:txBody>
      </p:sp>
      <p:sp>
        <p:nvSpPr>
          <p:cNvPr id="15" name="Text 13"/>
          <p:cNvSpPr txBox="1"/>
          <p:nvPr/>
        </p:nvSpPr>
        <p:spPr>
          <a:xfrm>
            <a:off x="3573704"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Mọi PYC — kể cả quyền rủi ro thấp — đều bắt buộc qua bước phê duyệt thủ công (Overdo).</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Thiếu cơ chế phân loại rủi ro tự động.</a:t>
            </a:r>
            <a:endParaRPr lang="en-US" sz="950" dirty="0"/>
          </a:p>
        </p:txBody>
      </p:sp>
      <p:sp>
        <p:nvSpPr>
          <p:cNvPr id="16" name="Shape 14"/>
          <p:cNvSpPr/>
          <p:nvPr/>
        </p:nvSpPr>
        <p:spPr>
          <a:xfrm>
            <a:off x="6233008"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7" name="Text 15"/>
          <p:cNvSpPr txBox="1"/>
          <p:nvPr/>
        </p:nvSpPr>
        <p:spPr>
          <a:xfrm>
            <a:off x="6415888"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HỆ THỐNG</a:t>
            </a:r>
            <a:endParaRPr lang="en-US" sz="1300" dirty="0"/>
          </a:p>
        </p:txBody>
      </p:sp>
      <p:sp>
        <p:nvSpPr>
          <p:cNvPr id="18" name="Text 16"/>
          <p:cNvSpPr txBox="1"/>
          <p:nvPr/>
        </p:nvSpPr>
        <p:spPr>
          <a:xfrm>
            <a:off x="6415888" y="1938528"/>
            <a:ext cx="2202104" cy="219456"/>
          </a:xfrm>
          <a:prstGeom prst="rect">
            <a:avLst/>
          </a:prstGeom>
          <a:noFill/>
          <a:ln/>
        </p:spPr>
        <p:txBody>
          <a:bodyPr wrap="square" lIns="0" tIns="0" rIns="0" bIns="0" rtlCol="0" anchor="t"/>
          <a:lstStyle/>
          <a:p>
            <a:pPr marL="0" indent="0">
              <a:buNone/>
            </a:pPr>
            <a:r>
              <a:rPr lang="en-US" sz="950" b="1" i="1" dirty="0">
                <a:solidFill>
                  <a:srgbClr val="C0392B"/>
                </a:solidFill>
                <a:latin typeface="Calibri" pitchFamily="34" charset="0"/>
                <a:ea typeface="Calibri" pitchFamily="34" charset="-122"/>
                <a:cs typeface="Calibri" pitchFamily="34" charset="-120"/>
              </a:rPr>
              <a:t>Machine</a:t>
            </a:r>
            <a:endParaRPr lang="en-US" sz="950" dirty="0"/>
          </a:p>
        </p:txBody>
      </p:sp>
      <p:sp>
        <p:nvSpPr>
          <p:cNvPr id="19" name="Text 17"/>
          <p:cNvSpPr txBox="1"/>
          <p:nvPr/>
        </p:nvSpPr>
        <p:spPr>
          <a:xfrm>
            <a:off x="6415888"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Biểu mẫu PYC cho phép nhập văn bản tự do (free-text), không có validation bắt buộc.</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Dẫn đến thiếu hoặc sai thông tin ngay từ đầu vào.</a:t>
            </a:r>
            <a:endParaRPr lang="en-US" sz="950" dirty="0"/>
          </a:p>
        </p:txBody>
      </p:sp>
      <p:sp>
        <p:nvSpPr>
          <p:cNvPr id="20" name="Shape 18"/>
          <p:cNvSpPr/>
          <p:nvPr/>
        </p:nvSpPr>
        <p:spPr>
          <a:xfrm>
            <a:off x="9075191"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1" name="Text 19"/>
          <p:cNvSpPr txBox="1"/>
          <p:nvPr/>
        </p:nvSpPr>
        <p:spPr>
          <a:xfrm>
            <a:off x="9258071"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ĐO LƯỜNG</a:t>
            </a:r>
            <a:endParaRPr lang="en-US" sz="1300" dirty="0"/>
          </a:p>
        </p:txBody>
      </p:sp>
      <p:sp>
        <p:nvSpPr>
          <p:cNvPr id="22" name="Text 20"/>
          <p:cNvSpPr txBox="1"/>
          <p:nvPr/>
        </p:nvSpPr>
        <p:spPr>
          <a:xfrm>
            <a:off x="9258071" y="1938528"/>
            <a:ext cx="2202104" cy="219456"/>
          </a:xfrm>
          <a:prstGeom prst="rect">
            <a:avLst/>
          </a:prstGeom>
          <a:noFill/>
          <a:ln/>
        </p:spPr>
        <p:txBody>
          <a:bodyPr wrap="square" lIns="0" tIns="0" rIns="0" bIns="0" rtlCol="0" anchor="t"/>
          <a:lstStyle/>
          <a:p>
            <a:pPr marL="0" indent="0">
              <a:buNone/>
            </a:pPr>
            <a:r>
              <a:rPr lang="en-US" sz="950" b="1" i="1" dirty="0">
                <a:solidFill>
                  <a:srgbClr val="A5741A"/>
                </a:solidFill>
                <a:latin typeface="Calibri" pitchFamily="34" charset="0"/>
                <a:ea typeface="Calibri" pitchFamily="34" charset="-122"/>
                <a:cs typeface="Calibri" pitchFamily="34" charset="-120"/>
              </a:rPr>
              <a:t>Measurement</a:t>
            </a:r>
            <a:endParaRPr lang="en-US" sz="950" dirty="0"/>
          </a:p>
        </p:txBody>
      </p:sp>
      <p:sp>
        <p:nvSpPr>
          <p:cNvPr id="23" name="Text 21"/>
          <p:cNvSpPr txBox="1"/>
          <p:nvPr/>
        </p:nvSpPr>
        <p:spPr>
          <a:xfrm>
            <a:off x="9258071"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Chưa có cơ chế cảnh báo SLA theo thời gian thực cho cấp quản lý.</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Việc ghi log bảo mật còn thao tác thủ công, thiếu đồng bộ.</a:t>
            </a:r>
            <a:endParaRPr lang="en-US" sz="950" dirty="0"/>
          </a:p>
        </p:txBody>
      </p:sp>
      <p:sp>
        <p:nvSpPr>
          <p:cNvPr id="24" name="Shape 22"/>
          <p:cNvSpPr/>
          <p:nvPr/>
        </p:nvSpPr>
        <p:spPr>
          <a:xfrm>
            <a:off x="548640" y="3803904"/>
            <a:ext cx="6035040" cy="1243584"/>
          </a:xfrm>
          <a:prstGeom prst="roundRect">
            <a:avLst>
              <a:gd name="adj" fmla="val 4412"/>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25" name="Text 23"/>
          <p:cNvSpPr txBox="1"/>
          <p:nvPr/>
        </p:nvSpPr>
        <p:spPr>
          <a:xfrm>
            <a:off x="768096" y="3950208"/>
            <a:ext cx="5486400" cy="237744"/>
          </a:xfrm>
          <a:prstGeom prst="rect">
            <a:avLst/>
          </a:prstGeom>
          <a:noFill/>
          <a:ln/>
        </p:spPr>
        <p:txBody>
          <a:bodyPr wrap="square" lIns="0" tIns="0" rIns="0" bIns="0" rtlCol="0" anchor="t"/>
          <a:lstStyle/>
          <a:p>
            <a:pPr marL="0" indent="0">
              <a:buNone/>
            </a:pPr>
            <a:r>
              <a:rPr lang="en-US" sz="1000" b="1" kern="0" spc="80" dirty="0">
                <a:solidFill>
                  <a:srgbClr val="1660BF"/>
                </a:solidFill>
                <a:latin typeface="Calibri" pitchFamily="34" charset="0"/>
                <a:ea typeface="Calibri" pitchFamily="34" charset="-122"/>
                <a:cs typeface="Calibri" pitchFamily="34" charset="-120"/>
              </a:rPr>
              <a:t>KẾT LUẬN THEO NGUYÊN LÝ PARETO (80/20)</a:t>
            </a:r>
            <a:endParaRPr lang="en-US" sz="1000" dirty="0"/>
          </a:p>
        </p:txBody>
      </p:sp>
      <p:sp>
        <p:nvSpPr>
          <p:cNvPr id="26" name="Text 24"/>
          <p:cNvSpPr txBox="1"/>
          <p:nvPr/>
        </p:nvSpPr>
        <p:spPr>
          <a:xfrm>
            <a:off x="768096" y="4206240"/>
            <a:ext cx="5623560" cy="768096"/>
          </a:xfrm>
          <a:prstGeom prst="rect">
            <a:avLst/>
          </a:prstGeom>
          <a:noFill/>
          <a:ln/>
        </p:spPr>
        <p:txBody>
          <a:bodyPr wrap="square" lIns="0" tIns="0" rIns="0" bIns="0" rtlCol="0" anchor="t"/>
          <a:lstStyle/>
          <a:p>
            <a:pPr marL="0" indent="0">
              <a:buNone/>
            </a:pPr>
            <a:r>
              <a:rPr lang="en-US" sz="1050" dirty="0">
                <a:solidFill>
                  <a:srgbClr val="2A3442"/>
                </a:solidFill>
                <a:latin typeface="Calibri" pitchFamily="34" charset="0"/>
                <a:ea typeface="Calibri" pitchFamily="34" charset="-122"/>
                <a:cs typeface="Calibri" pitchFamily="34" charset="-120"/>
              </a:rPr>
              <a:t>Nhóm “Quy trình” (cổng phê duyệt áp dụng đồng loạt) và nhóm “Hệ thống” (biểu mẫu thiếu ràng buộc dữ liệu) có tần suất xuất hiện cao nhất. Chỉ cần khắc phục hai nhóm này đã giải quyết phần lớn lãng phí Hold và Move đã nhận diện — đây là cơ sở cho ba giải pháp ở Chương 5.</a:t>
            </a:r>
            <a:endParaRPr lang="en-US" sz="1050" dirty="0"/>
          </a:p>
        </p:txBody>
      </p:sp>
      <p:sp>
        <p:nvSpPr>
          <p:cNvPr id="27" name="Shape 25"/>
          <p:cNvSpPr/>
          <p:nvPr/>
        </p:nvSpPr>
        <p:spPr>
          <a:xfrm>
            <a:off x="6812280" y="3803904"/>
            <a:ext cx="4830775" cy="1243584"/>
          </a:xfrm>
          <a:prstGeom prst="roundRect">
            <a:avLst>
              <a:gd name="adj" fmla="val 4412"/>
            </a:avLst>
          </a:prstGeom>
          <a:solidFill>
            <a:srgbClr val="FCF7EA"/>
          </a:solidFill>
          <a:ln w="15875">
            <a:solidFill>
              <a:srgbClr val="D9A227"/>
            </a:solidFill>
            <a:prstDash val="dash"/>
          </a:ln>
        </p:spPr>
        <p:txBody>
          <a:bodyPr/>
          <a:lstStyle/>
          <a:p>
            <a:endParaRPr lang="en-US"/>
          </a:p>
        </p:txBody>
      </p:sp>
      <p:sp>
        <p:nvSpPr>
          <p:cNvPr id="28" name="Text 26"/>
          <p:cNvSpPr txBox="1"/>
          <p:nvPr/>
        </p:nvSpPr>
        <p:spPr>
          <a:xfrm>
            <a:off x="6995160" y="4270248"/>
            <a:ext cx="4465015" cy="310896"/>
          </a:xfrm>
          <a:prstGeom prst="rect">
            <a:avLst/>
          </a:prstGeom>
          <a:noFill/>
          <a:ln/>
        </p:spPr>
        <p:txBody>
          <a:bodyPr wrap="square" lIns="0" tIns="0" rIns="0" bIns="0" rtlCol="0" anchor="ctr"/>
          <a:lstStyle/>
          <a:p>
            <a:pPr marL="0" indent="0" algn="ctr">
              <a:buNone/>
            </a:pPr>
            <a:r>
              <a:rPr lang="en-US" sz="1300" b="1" dirty="0">
                <a:solidFill>
                  <a:srgbClr val="0B3B75"/>
                </a:solidFill>
                <a:latin typeface="Calibri" pitchFamily="34" charset="0"/>
                <a:ea typeface="Calibri" pitchFamily="34" charset="-122"/>
                <a:cs typeface="Calibri" pitchFamily="34" charset="-120"/>
              </a:rPr>
              <a:t>[ CHÈN HÌNH — SƠ ĐỒ XƯƠNG CÁ &amp; BIỂU ĐỒ PARETO ]</a:t>
            </a:r>
            <a:endParaRPr lang="en-US" sz="1300" dirty="0"/>
          </a:p>
        </p:txBody>
      </p:sp>
      <p:sp>
        <p:nvSpPr>
          <p:cNvPr id="32" name="Shape 0">
            <a:extLst>
              <a:ext uri="{FF2B5EF4-FFF2-40B4-BE49-F238E27FC236}">
                <a16:creationId xmlns:a16="http://schemas.microsoft.com/office/drawing/2014/main" id="{D3DD2995-51CF-012D-E25C-6DDE164EDAEB}"/>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4" name="Text 1">
            <a:extLst>
              <a:ext uri="{FF2B5EF4-FFF2-40B4-BE49-F238E27FC236}">
                <a16:creationId xmlns:a16="http://schemas.microsoft.com/office/drawing/2014/main" id="{F4867E38-8E0A-2063-B882-05356D6C1211}"/>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4.1.3 NGUYÊN NHÂN GỐC RỄ</a:t>
            </a:r>
            <a:endParaRPr lang="en-US" sz="1050" dirty="0"/>
          </a:p>
        </p:txBody>
      </p:sp>
      <p:sp>
        <p:nvSpPr>
          <p:cNvPr id="36" name="Text 2">
            <a:extLst>
              <a:ext uri="{FF2B5EF4-FFF2-40B4-BE49-F238E27FC236}">
                <a16:creationId xmlns:a16="http://schemas.microsoft.com/office/drawing/2014/main" id="{6B1057BF-E67F-259B-4720-F4EBCC3A870F}"/>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BỐN NHÓM NGUYÊN NHÂN GỐC RỄ THEO SƠ ĐỒ XƯƠNG CÁ</a:t>
            </a:r>
            <a:endParaRPr lang="en-US" sz="2500" dirty="0"/>
          </a:p>
        </p:txBody>
      </p:sp>
      <p:sp>
        <p:nvSpPr>
          <p:cNvPr id="38" name="Text 3">
            <a:extLst>
              <a:ext uri="{FF2B5EF4-FFF2-40B4-BE49-F238E27FC236}">
                <a16:creationId xmlns:a16="http://schemas.microsoft.com/office/drawing/2014/main" id="{BAE308DE-5E94-B9B6-3892-7D2541929379}"/>
              </a:ext>
            </a:extLst>
          </p:cNvPr>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15 — Vấn đề trung tâm: “Quy trình PYC bị chậm trễ và phát sinh rework”</a:t>
            </a:r>
            <a:endParaRPr lang="en-US" sz="1100" dirty="0"/>
          </a:p>
        </p:txBody>
      </p:sp>
      <p:sp>
        <p:nvSpPr>
          <p:cNvPr id="40" name="Shape 6">
            <a:extLst>
              <a:ext uri="{FF2B5EF4-FFF2-40B4-BE49-F238E27FC236}">
                <a16:creationId xmlns:a16="http://schemas.microsoft.com/office/drawing/2014/main" id="{A624B058-89EA-8956-3931-8FA9CEB837CE}"/>
              </a:ext>
            </a:extLst>
          </p:cNvPr>
          <p:cNvSpPr/>
          <p:nvPr/>
        </p:nvSpPr>
        <p:spPr>
          <a:xfrm>
            <a:off x="548640"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42" name="Text 7">
            <a:extLst>
              <a:ext uri="{FF2B5EF4-FFF2-40B4-BE49-F238E27FC236}">
                <a16:creationId xmlns:a16="http://schemas.microsoft.com/office/drawing/2014/main" id="{BDF7F8F7-231A-34D6-E229-6D801B9236C9}"/>
              </a:ext>
            </a:extLst>
          </p:cNvPr>
          <p:cNvSpPr txBox="1"/>
          <p:nvPr/>
        </p:nvSpPr>
        <p:spPr>
          <a:xfrm>
            <a:off x="731520"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CON NGƯỜI</a:t>
            </a:r>
            <a:endParaRPr lang="en-US" sz="1300" dirty="0"/>
          </a:p>
        </p:txBody>
      </p:sp>
      <p:sp>
        <p:nvSpPr>
          <p:cNvPr id="44" name="Text 8">
            <a:extLst>
              <a:ext uri="{FF2B5EF4-FFF2-40B4-BE49-F238E27FC236}">
                <a16:creationId xmlns:a16="http://schemas.microsoft.com/office/drawing/2014/main" id="{9EF6C8B5-A89F-1C07-606F-04F82E7C7EB9}"/>
              </a:ext>
            </a:extLst>
          </p:cNvPr>
          <p:cNvSpPr txBox="1"/>
          <p:nvPr/>
        </p:nvSpPr>
        <p:spPr>
          <a:xfrm>
            <a:off x="731520" y="1938528"/>
            <a:ext cx="2202104" cy="219456"/>
          </a:xfrm>
          <a:prstGeom prst="rect">
            <a:avLst/>
          </a:prstGeom>
          <a:noFill/>
          <a:ln/>
        </p:spPr>
        <p:txBody>
          <a:bodyPr wrap="square" lIns="0" tIns="0" rIns="0" bIns="0" rtlCol="0" anchor="t"/>
          <a:lstStyle/>
          <a:p>
            <a:pPr marL="0" indent="0">
              <a:buNone/>
            </a:pPr>
            <a:r>
              <a:rPr lang="en-US" sz="950" b="1" i="1" dirty="0">
                <a:solidFill>
                  <a:srgbClr val="1660BF"/>
                </a:solidFill>
                <a:latin typeface="Calibri" pitchFamily="34" charset="0"/>
                <a:ea typeface="Calibri" pitchFamily="34" charset="-122"/>
                <a:cs typeface="Calibri" pitchFamily="34" charset="-120"/>
              </a:rPr>
              <a:t>Man</a:t>
            </a:r>
            <a:endParaRPr lang="en-US" sz="950" dirty="0"/>
          </a:p>
        </p:txBody>
      </p:sp>
      <p:sp>
        <p:nvSpPr>
          <p:cNvPr id="46" name="Text 9">
            <a:extLst>
              <a:ext uri="{FF2B5EF4-FFF2-40B4-BE49-F238E27FC236}">
                <a16:creationId xmlns:a16="http://schemas.microsoft.com/office/drawing/2014/main" id="{1EF9B45B-167C-1C36-EA63-E70488FF8E9E}"/>
              </a:ext>
            </a:extLst>
          </p:cNvPr>
          <p:cNvSpPr txBox="1"/>
          <p:nvPr/>
        </p:nvSpPr>
        <p:spPr>
          <a:xfrm>
            <a:off x="731520"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Cấp quản lý bận họp hoặc đi công tác nên chậm thao tác phê duyệt.</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Người dùng chưa quen thao tác trên Cổng dịch vụ.</a:t>
            </a:r>
            <a:endParaRPr lang="en-US" sz="950" dirty="0"/>
          </a:p>
        </p:txBody>
      </p:sp>
      <p:sp>
        <p:nvSpPr>
          <p:cNvPr id="48" name="Shape 10">
            <a:extLst>
              <a:ext uri="{FF2B5EF4-FFF2-40B4-BE49-F238E27FC236}">
                <a16:creationId xmlns:a16="http://schemas.microsoft.com/office/drawing/2014/main" id="{D14E1848-563B-6C5A-948F-305DA391CB5A}"/>
              </a:ext>
            </a:extLst>
          </p:cNvPr>
          <p:cNvSpPr/>
          <p:nvPr/>
        </p:nvSpPr>
        <p:spPr>
          <a:xfrm>
            <a:off x="3390824"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50" name="Text 11">
            <a:extLst>
              <a:ext uri="{FF2B5EF4-FFF2-40B4-BE49-F238E27FC236}">
                <a16:creationId xmlns:a16="http://schemas.microsoft.com/office/drawing/2014/main" id="{8DD49A9A-861C-DB72-3B7E-C480C8E23C73}"/>
              </a:ext>
            </a:extLst>
          </p:cNvPr>
          <p:cNvSpPr txBox="1"/>
          <p:nvPr/>
        </p:nvSpPr>
        <p:spPr>
          <a:xfrm>
            <a:off x="3573704"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QUY TRÌNH</a:t>
            </a:r>
            <a:endParaRPr lang="en-US" sz="1300" dirty="0"/>
          </a:p>
        </p:txBody>
      </p:sp>
      <p:sp>
        <p:nvSpPr>
          <p:cNvPr id="52" name="Text 12">
            <a:extLst>
              <a:ext uri="{FF2B5EF4-FFF2-40B4-BE49-F238E27FC236}">
                <a16:creationId xmlns:a16="http://schemas.microsoft.com/office/drawing/2014/main" id="{95808258-822D-6935-1A9D-70562622B138}"/>
              </a:ext>
            </a:extLst>
          </p:cNvPr>
          <p:cNvSpPr txBox="1"/>
          <p:nvPr/>
        </p:nvSpPr>
        <p:spPr>
          <a:xfrm>
            <a:off x="3573704" y="1938528"/>
            <a:ext cx="2202104" cy="219456"/>
          </a:xfrm>
          <a:prstGeom prst="rect">
            <a:avLst/>
          </a:prstGeom>
          <a:noFill/>
          <a:ln/>
        </p:spPr>
        <p:txBody>
          <a:bodyPr wrap="square" lIns="0" tIns="0" rIns="0" bIns="0" rtlCol="0" anchor="t"/>
          <a:lstStyle/>
          <a:p>
            <a:pPr marL="0" indent="0">
              <a:buNone/>
            </a:pPr>
            <a:r>
              <a:rPr lang="en-US" sz="950" b="1" i="1" dirty="0">
                <a:solidFill>
                  <a:srgbClr val="C0392B"/>
                </a:solidFill>
                <a:latin typeface="Calibri" pitchFamily="34" charset="0"/>
                <a:ea typeface="Calibri" pitchFamily="34" charset="-122"/>
                <a:cs typeface="Calibri" pitchFamily="34" charset="-120"/>
              </a:rPr>
              <a:t>Method</a:t>
            </a:r>
            <a:endParaRPr lang="en-US" sz="950" dirty="0"/>
          </a:p>
        </p:txBody>
      </p:sp>
      <p:sp>
        <p:nvSpPr>
          <p:cNvPr id="54" name="Text 13">
            <a:extLst>
              <a:ext uri="{FF2B5EF4-FFF2-40B4-BE49-F238E27FC236}">
                <a16:creationId xmlns:a16="http://schemas.microsoft.com/office/drawing/2014/main" id="{794AD4BF-E781-FD74-D671-5DA840929B5B}"/>
              </a:ext>
            </a:extLst>
          </p:cNvPr>
          <p:cNvSpPr txBox="1"/>
          <p:nvPr/>
        </p:nvSpPr>
        <p:spPr>
          <a:xfrm>
            <a:off x="3573704"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Mọi PYC — kể cả quyền rủi ro thấp — đều bắt buộc qua bước phê duyệt thủ công (Overdo).</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Thiếu cơ chế phân loại rủi ro tự động.</a:t>
            </a:r>
            <a:endParaRPr lang="en-US" sz="950" dirty="0"/>
          </a:p>
        </p:txBody>
      </p:sp>
      <p:sp>
        <p:nvSpPr>
          <p:cNvPr id="56" name="Shape 14">
            <a:extLst>
              <a:ext uri="{FF2B5EF4-FFF2-40B4-BE49-F238E27FC236}">
                <a16:creationId xmlns:a16="http://schemas.microsoft.com/office/drawing/2014/main" id="{B4DC1F35-4171-817E-C3CE-8FD018A530DC}"/>
              </a:ext>
            </a:extLst>
          </p:cNvPr>
          <p:cNvSpPr/>
          <p:nvPr/>
        </p:nvSpPr>
        <p:spPr>
          <a:xfrm>
            <a:off x="6233008"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58" name="Text 15">
            <a:extLst>
              <a:ext uri="{FF2B5EF4-FFF2-40B4-BE49-F238E27FC236}">
                <a16:creationId xmlns:a16="http://schemas.microsoft.com/office/drawing/2014/main" id="{D5AF06D0-EC3A-4DEB-2250-DF82ECE036DA}"/>
              </a:ext>
            </a:extLst>
          </p:cNvPr>
          <p:cNvSpPr txBox="1"/>
          <p:nvPr/>
        </p:nvSpPr>
        <p:spPr>
          <a:xfrm>
            <a:off x="6415888"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HỆ THỐNG</a:t>
            </a:r>
            <a:endParaRPr lang="en-US" sz="1300" dirty="0"/>
          </a:p>
        </p:txBody>
      </p:sp>
      <p:sp>
        <p:nvSpPr>
          <p:cNvPr id="60" name="Text 16">
            <a:extLst>
              <a:ext uri="{FF2B5EF4-FFF2-40B4-BE49-F238E27FC236}">
                <a16:creationId xmlns:a16="http://schemas.microsoft.com/office/drawing/2014/main" id="{72372444-484F-7468-72A9-F82CF1EF7D32}"/>
              </a:ext>
            </a:extLst>
          </p:cNvPr>
          <p:cNvSpPr txBox="1"/>
          <p:nvPr/>
        </p:nvSpPr>
        <p:spPr>
          <a:xfrm>
            <a:off x="6415888" y="1938528"/>
            <a:ext cx="2202104" cy="219456"/>
          </a:xfrm>
          <a:prstGeom prst="rect">
            <a:avLst/>
          </a:prstGeom>
          <a:noFill/>
          <a:ln/>
        </p:spPr>
        <p:txBody>
          <a:bodyPr wrap="square" lIns="0" tIns="0" rIns="0" bIns="0" rtlCol="0" anchor="t"/>
          <a:lstStyle/>
          <a:p>
            <a:pPr marL="0" indent="0">
              <a:buNone/>
            </a:pPr>
            <a:r>
              <a:rPr lang="en-US" sz="950" b="1" i="1" dirty="0">
                <a:solidFill>
                  <a:srgbClr val="C0392B"/>
                </a:solidFill>
                <a:latin typeface="Calibri" pitchFamily="34" charset="0"/>
                <a:ea typeface="Calibri" pitchFamily="34" charset="-122"/>
                <a:cs typeface="Calibri" pitchFamily="34" charset="-120"/>
              </a:rPr>
              <a:t>Machine</a:t>
            </a:r>
            <a:endParaRPr lang="en-US" sz="950" dirty="0"/>
          </a:p>
        </p:txBody>
      </p:sp>
      <p:sp>
        <p:nvSpPr>
          <p:cNvPr id="62" name="Text 17">
            <a:extLst>
              <a:ext uri="{FF2B5EF4-FFF2-40B4-BE49-F238E27FC236}">
                <a16:creationId xmlns:a16="http://schemas.microsoft.com/office/drawing/2014/main" id="{6EE50F3B-C9D6-89DE-BFB8-BA72DCA07382}"/>
              </a:ext>
            </a:extLst>
          </p:cNvPr>
          <p:cNvSpPr txBox="1"/>
          <p:nvPr/>
        </p:nvSpPr>
        <p:spPr>
          <a:xfrm>
            <a:off x="6415888"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Biểu mẫu PYC cho phép nhập văn bản tự do (free-text), không có validation bắt buộc.</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Dẫn đến thiếu hoặc sai thông tin ngay từ đầu vào.</a:t>
            </a:r>
            <a:endParaRPr lang="en-US" sz="950" dirty="0"/>
          </a:p>
        </p:txBody>
      </p:sp>
      <p:sp>
        <p:nvSpPr>
          <p:cNvPr id="64" name="Shape 18">
            <a:extLst>
              <a:ext uri="{FF2B5EF4-FFF2-40B4-BE49-F238E27FC236}">
                <a16:creationId xmlns:a16="http://schemas.microsoft.com/office/drawing/2014/main" id="{F5106611-3548-E625-25EF-40F1B4E0E941}"/>
              </a:ext>
            </a:extLst>
          </p:cNvPr>
          <p:cNvSpPr/>
          <p:nvPr/>
        </p:nvSpPr>
        <p:spPr>
          <a:xfrm>
            <a:off x="9075191"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66" name="Text 19">
            <a:extLst>
              <a:ext uri="{FF2B5EF4-FFF2-40B4-BE49-F238E27FC236}">
                <a16:creationId xmlns:a16="http://schemas.microsoft.com/office/drawing/2014/main" id="{2AA280B9-94CF-7183-6B40-33086B247925}"/>
              </a:ext>
            </a:extLst>
          </p:cNvPr>
          <p:cNvSpPr txBox="1"/>
          <p:nvPr/>
        </p:nvSpPr>
        <p:spPr>
          <a:xfrm>
            <a:off x="9258071"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ĐO LƯỜNG</a:t>
            </a:r>
            <a:endParaRPr lang="en-US" sz="1300" dirty="0"/>
          </a:p>
        </p:txBody>
      </p:sp>
      <p:sp>
        <p:nvSpPr>
          <p:cNvPr id="68" name="Text 20">
            <a:extLst>
              <a:ext uri="{FF2B5EF4-FFF2-40B4-BE49-F238E27FC236}">
                <a16:creationId xmlns:a16="http://schemas.microsoft.com/office/drawing/2014/main" id="{529306EC-BDB5-5944-335D-0084AFE7A7CB}"/>
              </a:ext>
            </a:extLst>
          </p:cNvPr>
          <p:cNvSpPr txBox="1"/>
          <p:nvPr/>
        </p:nvSpPr>
        <p:spPr>
          <a:xfrm>
            <a:off x="9258071" y="1938528"/>
            <a:ext cx="2202104" cy="219456"/>
          </a:xfrm>
          <a:prstGeom prst="rect">
            <a:avLst/>
          </a:prstGeom>
          <a:noFill/>
          <a:ln/>
        </p:spPr>
        <p:txBody>
          <a:bodyPr wrap="square" lIns="0" tIns="0" rIns="0" bIns="0" rtlCol="0" anchor="t"/>
          <a:lstStyle/>
          <a:p>
            <a:pPr marL="0" indent="0">
              <a:buNone/>
            </a:pPr>
            <a:r>
              <a:rPr lang="en-US" sz="950" b="1" i="1" dirty="0">
                <a:solidFill>
                  <a:srgbClr val="A5741A"/>
                </a:solidFill>
                <a:latin typeface="Calibri" pitchFamily="34" charset="0"/>
                <a:ea typeface="Calibri" pitchFamily="34" charset="-122"/>
                <a:cs typeface="Calibri" pitchFamily="34" charset="-120"/>
              </a:rPr>
              <a:t>Measurement</a:t>
            </a:r>
            <a:endParaRPr lang="en-US" sz="950" dirty="0"/>
          </a:p>
        </p:txBody>
      </p:sp>
      <p:sp>
        <p:nvSpPr>
          <p:cNvPr id="70" name="Text 21">
            <a:extLst>
              <a:ext uri="{FF2B5EF4-FFF2-40B4-BE49-F238E27FC236}">
                <a16:creationId xmlns:a16="http://schemas.microsoft.com/office/drawing/2014/main" id="{946095D4-63FC-4EBE-0481-E9598C829BFC}"/>
              </a:ext>
            </a:extLst>
          </p:cNvPr>
          <p:cNvSpPr txBox="1"/>
          <p:nvPr/>
        </p:nvSpPr>
        <p:spPr>
          <a:xfrm>
            <a:off x="9258071"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Chưa có cơ chế cảnh báo SLA theo thời gian thực cho cấp quản lý.</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Việc ghi log bảo mật còn thao tác thủ công, thiếu đồng bộ.</a:t>
            </a:r>
            <a:endParaRPr lang="en-US" sz="950" dirty="0"/>
          </a:p>
        </p:txBody>
      </p:sp>
      <p:sp>
        <p:nvSpPr>
          <p:cNvPr id="72" name="Shape 22">
            <a:extLst>
              <a:ext uri="{FF2B5EF4-FFF2-40B4-BE49-F238E27FC236}">
                <a16:creationId xmlns:a16="http://schemas.microsoft.com/office/drawing/2014/main" id="{0BB7CB2D-22EB-A83B-D006-0F77A9D22D21}"/>
              </a:ext>
            </a:extLst>
          </p:cNvPr>
          <p:cNvSpPr/>
          <p:nvPr/>
        </p:nvSpPr>
        <p:spPr>
          <a:xfrm>
            <a:off x="548640" y="3803904"/>
            <a:ext cx="11091672" cy="1243584"/>
          </a:xfrm>
          <a:prstGeom prst="roundRect">
            <a:avLst>
              <a:gd name="adj" fmla="val 4412"/>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74" name="Text 23">
            <a:extLst>
              <a:ext uri="{FF2B5EF4-FFF2-40B4-BE49-F238E27FC236}">
                <a16:creationId xmlns:a16="http://schemas.microsoft.com/office/drawing/2014/main" id="{3E100C06-4441-EC4B-85B8-EF3C1AA84A06}"/>
              </a:ext>
            </a:extLst>
          </p:cNvPr>
          <p:cNvSpPr txBox="1"/>
          <p:nvPr/>
        </p:nvSpPr>
        <p:spPr>
          <a:xfrm>
            <a:off x="768096" y="3950208"/>
            <a:ext cx="5486400" cy="237744"/>
          </a:xfrm>
          <a:prstGeom prst="rect">
            <a:avLst/>
          </a:prstGeom>
          <a:noFill/>
          <a:ln/>
        </p:spPr>
        <p:txBody>
          <a:bodyPr wrap="square" lIns="0" tIns="0" rIns="0" bIns="0" rtlCol="0" anchor="t"/>
          <a:lstStyle/>
          <a:p>
            <a:pPr marL="0" indent="0">
              <a:buNone/>
            </a:pPr>
            <a:r>
              <a:rPr lang="en-US" sz="1000" b="1" kern="0" spc="80" dirty="0">
                <a:solidFill>
                  <a:srgbClr val="1660BF"/>
                </a:solidFill>
                <a:latin typeface="Calibri" pitchFamily="34" charset="0"/>
                <a:ea typeface="Calibri" pitchFamily="34" charset="-122"/>
                <a:cs typeface="Calibri" pitchFamily="34" charset="-120"/>
              </a:rPr>
              <a:t>KẾT LUẬN</a:t>
            </a:r>
            <a:endParaRPr lang="en-US" sz="1000" dirty="0"/>
          </a:p>
        </p:txBody>
      </p:sp>
      <p:sp>
        <p:nvSpPr>
          <p:cNvPr id="76" name="Text 24">
            <a:extLst>
              <a:ext uri="{FF2B5EF4-FFF2-40B4-BE49-F238E27FC236}">
                <a16:creationId xmlns:a16="http://schemas.microsoft.com/office/drawing/2014/main" id="{09A4AD10-4247-CEB9-91A8-B1497567BA61}"/>
              </a:ext>
            </a:extLst>
          </p:cNvPr>
          <p:cNvSpPr txBox="1"/>
          <p:nvPr/>
        </p:nvSpPr>
        <p:spPr>
          <a:xfrm>
            <a:off x="768096" y="4206240"/>
            <a:ext cx="10618772" cy="768096"/>
          </a:xfrm>
          <a:prstGeom prst="rect">
            <a:avLst/>
          </a:prstGeom>
          <a:noFill/>
          <a:ln/>
        </p:spPr>
        <p:txBody>
          <a:bodyPr wrap="square" lIns="0" tIns="0" rIns="0" bIns="0" rtlCol="0" anchor="t"/>
          <a:lstStyle/>
          <a:p>
            <a:pPr marL="0" indent="0">
              <a:buNone/>
            </a:pPr>
            <a:r>
              <a:rPr lang="en-US" sz="1050" dirty="0">
                <a:solidFill>
                  <a:srgbClr val="2A3442"/>
                </a:solidFill>
                <a:latin typeface="Calibri" pitchFamily="34" charset="0"/>
                <a:ea typeface="Calibri" pitchFamily="34" charset="-122"/>
                <a:cs typeface="Calibri" pitchFamily="34" charset="-120"/>
              </a:rPr>
              <a:t>Nhóm “Quy trình” (cổng phê duyệt áp dụng đồng loạt) và nhóm “Hệ thống” (biểu mẫu thiếu ràng buộc dữ liệu) có tần suất xuất hiện cao nhất. Chỉ cần khắc phục hai nhóm này đã giải quyết phần lớn lãng phí Hold và Move đã nhận diện — đây là cơ sở cho ba giải pháp ở Chương 5.</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F2D81AFE-EAE8-DA06-E907-C9405CA27F56}"/>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5" name="Text 1">
            <a:extLst>
              <a:ext uri="{FF2B5EF4-FFF2-40B4-BE49-F238E27FC236}">
                <a16:creationId xmlns:a16="http://schemas.microsoft.com/office/drawing/2014/main" id="{FD9FB521-EA2C-B011-4A6A-2439F1B2C61E}"/>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4.1.3 NGUYÊN NHÂN GỐC RỄ</a:t>
            </a:r>
            <a:endParaRPr lang="en-US" sz="1050" dirty="0"/>
          </a:p>
        </p:txBody>
      </p:sp>
      <p:sp>
        <p:nvSpPr>
          <p:cNvPr id="7" name="Text 2">
            <a:extLst>
              <a:ext uri="{FF2B5EF4-FFF2-40B4-BE49-F238E27FC236}">
                <a16:creationId xmlns:a16="http://schemas.microsoft.com/office/drawing/2014/main" id="{EC643EB2-288D-1C45-5D70-878C7332BA52}"/>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BỐN NHÓM NGUYÊN NHÂN GỐC RỄ THEO SƠ ĐỒ XƯƠNG CÁ</a:t>
            </a:r>
            <a:endParaRPr lang="en-US" sz="2500" dirty="0"/>
          </a:p>
        </p:txBody>
      </p:sp>
      <p:sp>
        <p:nvSpPr>
          <p:cNvPr id="11" name="Text 4">
            <a:extLst>
              <a:ext uri="{FF2B5EF4-FFF2-40B4-BE49-F238E27FC236}">
                <a16:creationId xmlns:a16="http://schemas.microsoft.com/office/drawing/2014/main" id="{CD6DD41C-05C6-5AAE-3929-1428855FAB91}"/>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40</a:t>
            </a:r>
            <a:endParaRPr lang="en-US" sz="1100" dirty="0"/>
          </a:p>
        </p:txBody>
      </p:sp>
      <p:pic>
        <p:nvPicPr>
          <p:cNvPr id="4" name="Picture 3">
            <a:extLst>
              <a:ext uri="{FF2B5EF4-FFF2-40B4-BE49-F238E27FC236}">
                <a16:creationId xmlns:a16="http://schemas.microsoft.com/office/drawing/2014/main" id="{880DD489-AB4F-370D-FD9D-EB3D34CAC9D4}"/>
              </a:ext>
            </a:extLst>
          </p:cNvPr>
          <p:cNvPicPr>
            <a:picLocks noChangeAspect="1"/>
          </p:cNvPicPr>
          <p:nvPr/>
        </p:nvPicPr>
        <p:blipFill>
          <a:blip r:embed="rId2"/>
          <a:srcRect t="27891" b="20027"/>
          <a:stretch>
            <a:fillRect/>
          </a:stretch>
        </p:blipFill>
        <p:spPr>
          <a:xfrm>
            <a:off x="-178154" y="1096094"/>
            <a:ext cx="12886649" cy="5033773"/>
          </a:xfrm>
          <a:prstGeom prst="rect">
            <a:avLst/>
          </a:prstGeom>
        </p:spPr>
      </p:pic>
    </p:spTree>
    <p:extLst>
      <p:ext uri="{BB962C8B-B14F-4D97-AF65-F5344CB8AC3E}">
        <p14:creationId xmlns:p14="http://schemas.microsoft.com/office/powerpoint/2010/main" val="25245523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4.1.3 NGUYÊN NHÂN GỐC RỄ</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TẦN SUẤT NGUYÊN NHÂN GỐC RỄ — CƠ SỞ ĐỊNH LƯỢNG CHO PARETO</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4.3 — Quy 14 điểm lãng phí về bốn nhóm nhân tố của sơ đồ Xương cá</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41</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17904"/>
          <a:ext cx="11091672" cy="2487168"/>
        </p:xfrm>
        <a:graphic>
          <a:graphicData uri="http://schemas.openxmlformats.org/drawingml/2006/table">
            <a:tbl>
              <a:tblPr/>
              <a:tblGrid>
                <a:gridCol w="2377440">
                  <a:extLst>
                    <a:ext uri="{9D8B030D-6E8A-4147-A177-3AD203B41FA5}">
                      <a16:colId xmlns:a16="http://schemas.microsoft.com/office/drawing/2014/main" val="20000"/>
                    </a:ext>
                  </a:extLst>
                </a:gridCol>
                <a:gridCol w="4690872">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38404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NHÓM NHÂN TỐ</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CÁC ĐIỂM LÃNG PHÍ LIÊN QUAN (theo Bảng 4.2)</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SỐ ĐIỂM</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TỶ LỆ</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TÍCH LŨY</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Quy trình (Method)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2, 3, 4, 8, 10, 12 — cổng duyệt áp dụng đồng loạt, chuyển giao nhiều chặng, chờ hàng đợi</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06</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42,9%</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42,9%</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Hệ thống (Machine)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5, 7, 11, 14 — biểu mẫu free-text thiếu ràng buộc, ghi log thủ công hai lần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04</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28,6%</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71,5%</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Con người (Man)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6, 13 — phụ thuộc thời gian phản hồi của người dùng và cấp quản lý</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14,3%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85,8%</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Đo lường (Measurement)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1, 9 — thiếu cảnh báo SLA thời gian thực nên chuyển giao không được theo dõi</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14,3%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TỔNG CỘNG</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14 điểm lãng phí đã nhận diện tại Bảng 4.2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14</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4.3.1 PHÂN TÍCH ĐỊNH LƯỢNG</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CÁC ĐIỂM CHI PHỐI THỜI GIAN CỦA QUY TRÌNH PYC</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42</a:t>
            </a:r>
            <a:endParaRPr lang="en-US" sz="1100" dirty="0"/>
          </a:p>
        </p:txBody>
      </p:sp>
      <p:sp>
        <p:nvSpPr>
          <p:cNvPr id="7" name="Shape 5"/>
          <p:cNvSpPr/>
          <p:nvPr/>
        </p:nvSpPr>
        <p:spPr>
          <a:xfrm>
            <a:off x="548640" y="1426464"/>
            <a:ext cx="5410048" cy="1828800"/>
          </a:xfrm>
          <a:prstGeom prst="roundRect">
            <a:avLst>
              <a:gd name="adj" fmla="val 3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Text 6"/>
          <p:cNvSpPr txBox="1"/>
          <p:nvPr/>
        </p:nvSpPr>
        <p:spPr>
          <a:xfrm>
            <a:off x="768096" y="1591056"/>
            <a:ext cx="4971136" cy="256032"/>
          </a:xfrm>
          <a:prstGeom prst="rect">
            <a:avLst/>
          </a:prstGeom>
          <a:noFill/>
          <a:ln/>
        </p:spPr>
        <p:txBody>
          <a:bodyPr wrap="square" lIns="0" tIns="0" rIns="0" bIns="0" rtlCol="0" anchor="t"/>
          <a:lstStyle/>
          <a:p>
            <a:pPr marL="0" indent="0">
              <a:buNone/>
            </a:pPr>
            <a:r>
              <a:rPr lang="en-US" sz="1100" b="1" kern="0" spc="80" dirty="0">
                <a:solidFill>
                  <a:srgbClr val="1660BF"/>
                </a:solidFill>
                <a:latin typeface="Calibri" pitchFamily="34" charset="0"/>
                <a:ea typeface="Calibri" pitchFamily="34" charset="-122"/>
                <a:cs typeface="Calibri" pitchFamily="34" charset="-120"/>
              </a:rPr>
              <a:t>THỜI GIAN CHỜ PHÊ DUYỆT</a:t>
            </a:r>
            <a:endParaRPr lang="en-US" sz="1100" dirty="0"/>
          </a:p>
        </p:txBody>
      </p:sp>
      <p:sp>
        <p:nvSpPr>
          <p:cNvPr id="9" name="Text 7"/>
          <p:cNvSpPr txBox="1"/>
          <p:nvPr/>
        </p:nvSpPr>
        <p:spPr>
          <a:xfrm>
            <a:off x="768096" y="1865376"/>
            <a:ext cx="4971136" cy="420624"/>
          </a:xfrm>
          <a:prstGeom prst="rect">
            <a:avLst/>
          </a:prstGeom>
          <a:noFill/>
          <a:ln/>
        </p:spPr>
        <p:txBody>
          <a:bodyPr wrap="square" lIns="0" tIns="0" rIns="0" bIns="0" rtlCol="0" anchor="t"/>
          <a:lstStyle/>
          <a:p>
            <a:pPr marL="0" indent="0">
              <a:buNone/>
            </a:pPr>
            <a:r>
              <a:rPr lang="en-US" sz="2800" b="1" dirty="0">
                <a:solidFill>
                  <a:srgbClr val="0B3B75"/>
                </a:solidFill>
                <a:latin typeface="Calibri" pitchFamily="34" charset="0"/>
                <a:ea typeface="Calibri" pitchFamily="34" charset="-122"/>
                <a:cs typeface="Calibri" pitchFamily="34" charset="-120"/>
              </a:rPr>
              <a:t>2 – 8 giờ</a:t>
            </a:r>
            <a:endParaRPr lang="en-US" sz="2800" dirty="0"/>
          </a:p>
        </p:txBody>
      </p:sp>
      <p:sp>
        <p:nvSpPr>
          <p:cNvPr id="10" name="Text 8"/>
          <p:cNvSpPr txBox="1"/>
          <p:nvPr/>
        </p:nvSpPr>
        <p:spPr>
          <a:xfrm>
            <a:off x="768096" y="2340864"/>
            <a:ext cx="4971136" cy="78638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Thời gian trung bình để quản lý cấp 1 thao tác phê duyệt yêu cầu cấp quyền thông thường, đặc biệt khi bận họp hoặc đi công tác. Tạo nút thắt cổ chai khiến thời gian chờ chiếm tới 40% tổng Lead Time trước khi đội kỹ thuật chạm tay vào phiếu.</a:t>
            </a:r>
            <a:endParaRPr lang="en-US" sz="1000" dirty="0"/>
          </a:p>
        </p:txBody>
      </p:sp>
      <p:sp>
        <p:nvSpPr>
          <p:cNvPr id="11" name="Shape 9"/>
          <p:cNvSpPr/>
          <p:nvPr/>
        </p:nvSpPr>
        <p:spPr>
          <a:xfrm>
            <a:off x="6233008" y="1426464"/>
            <a:ext cx="5410048" cy="1828800"/>
          </a:xfrm>
          <a:prstGeom prst="roundRect">
            <a:avLst>
              <a:gd name="adj" fmla="val 3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6452464" y="1591056"/>
            <a:ext cx="4971136" cy="256032"/>
          </a:xfrm>
          <a:prstGeom prst="rect">
            <a:avLst/>
          </a:prstGeom>
          <a:noFill/>
          <a:ln/>
        </p:spPr>
        <p:txBody>
          <a:bodyPr wrap="square" lIns="0" tIns="0" rIns="0" bIns="0" rtlCol="0" anchor="t"/>
          <a:lstStyle/>
          <a:p>
            <a:pPr marL="0" indent="0">
              <a:buNone/>
            </a:pPr>
            <a:r>
              <a:rPr lang="en-US" sz="1100" b="1" kern="0" spc="80" dirty="0">
                <a:solidFill>
                  <a:srgbClr val="1660BF"/>
                </a:solidFill>
                <a:latin typeface="Calibri" pitchFamily="34" charset="0"/>
                <a:ea typeface="Calibri" pitchFamily="34" charset="-122"/>
                <a:cs typeface="Calibri" pitchFamily="34" charset="-120"/>
              </a:rPr>
              <a:t>YÊU CẦU ĐẶC THÙ — CORE T24</a:t>
            </a:r>
            <a:endParaRPr lang="en-US" sz="1100" dirty="0"/>
          </a:p>
        </p:txBody>
      </p:sp>
      <p:sp>
        <p:nvSpPr>
          <p:cNvPr id="13" name="Text 11"/>
          <p:cNvSpPr txBox="1"/>
          <p:nvPr/>
        </p:nvSpPr>
        <p:spPr>
          <a:xfrm>
            <a:off x="6452464" y="1865376"/>
            <a:ext cx="4971136" cy="420624"/>
          </a:xfrm>
          <a:prstGeom prst="rect">
            <a:avLst/>
          </a:prstGeom>
          <a:noFill/>
          <a:ln/>
        </p:spPr>
        <p:txBody>
          <a:bodyPr wrap="square" lIns="0" tIns="0" rIns="0" bIns="0" rtlCol="0" anchor="t"/>
          <a:lstStyle/>
          <a:p>
            <a:pPr marL="0" indent="0">
              <a:buNone/>
            </a:pPr>
            <a:r>
              <a:rPr lang="en-US" sz="2800" b="1" dirty="0">
                <a:solidFill>
                  <a:srgbClr val="0B3B75"/>
                </a:solidFill>
                <a:latin typeface="Calibri" pitchFamily="34" charset="0"/>
                <a:ea typeface="Calibri" pitchFamily="34" charset="-122"/>
                <a:cs typeface="Calibri" pitchFamily="34" charset="-120"/>
              </a:rPr>
              <a:t>vài ngày – 1 tuần</a:t>
            </a:r>
            <a:endParaRPr lang="en-US" sz="2800" dirty="0"/>
          </a:p>
        </p:txBody>
      </p:sp>
      <p:sp>
        <p:nvSpPr>
          <p:cNvPr id="14" name="Text 12"/>
          <p:cNvSpPr txBox="1"/>
          <p:nvPr/>
        </p:nvSpPr>
        <p:spPr>
          <a:xfrm>
            <a:off x="6452464" y="2340864"/>
            <a:ext cx="4971136" cy="78638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Với các PYC phức tạp liên quan hệ thống lõi Corebanking T24, thời gian chờ xử lý tối đa kéo dài do phải tuân thủ nhiều tầng kiểm soát trung gian.</a:t>
            </a:r>
            <a:endParaRPr lang="en-US" sz="1000" dirty="0"/>
          </a:p>
        </p:txBody>
      </p:sp>
      <p:sp>
        <p:nvSpPr>
          <p:cNvPr id="15" name="Text 13"/>
          <p:cNvSpPr txBox="1"/>
          <p:nvPr/>
        </p:nvSpPr>
        <p:spPr>
          <a:xfrm>
            <a:off x="548640" y="3438144"/>
            <a:ext cx="11094415"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CHỈ SỐ CHẤT LƯỢNG VÀ CHI PHÍ LÃNG PHÍ</a:t>
            </a:r>
            <a:endParaRPr lang="en-US" sz="13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3785616"/>
          <a:ext cx="11091672" cy="1901952"/>
        </p:xfrm>
        <a:graphic>
          <a:graphicData uri="http://schemas.openxmlformats.org/drawingml/2006/table">
            <a:tbl>
              <a:tblPr/>
              <a:tblGrid>
                <a:gridCol w="30175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879592">
                  <a:extLst>
                    <a:ext uri="{9D8B030D-6E8A-4147-A177-3AD203B41FA5}">
                      <a16:colId xmlns:a16="http://schemas.microsoft.com/office/drawing/2014/main" val="20002"/>
                    </a:ext>
                  </a:extLst>
                </a:gridCol>
              </a:tblGrid>
              <a:tr h="47548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CHỈ SỐ</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GIÁ TRỊ KHẢO SÁT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NGUYÊN NHÂN ĐỊNH LƯỢNG</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47548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Tỷ lệ PYC quá hạn SLA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5% – trên 10%</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Tăng vào mùa cao điểm triển khai dự án hoặc quyết toán hệ thống. Phần lớn không do năng lực xử lý của L1/L2 mà do trôi trượt (ping-pong) khi luân chuyển và chờ quản lý phê duyệt.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Tỷ lệ PYC bị trả về bổ sung (rework)</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20% – 50%</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Người dùng chọn sai danh mục dịch vụ trên cổng thông tin hoặc mô tả không đủ dữ liệu kỹ thuật.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47548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Lãng phí nguồn lực Helpdesk</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hàng chục giờ / tuần</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Thời gian NVA dành cho gọi điện, trao đổi email để xác minh lại thông tin bị thiếu từ phía người dùng nội bộ.</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4.3.1 PHÂN TÍCH ĐỊNH LƯỢNG</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BẢNG THỜI GIAN XỬ LÝ VÀ THỜI GIAN CHỜ THEO TỪNG KHỐI</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4.4 — Processing Time và Waiting Time của quy trình PYC (AS-IS)</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43</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2600436834"/>
              </p:ext>
            </p:extLst>
          </p:nvPr>
        </p:nvGraphicFramePr>
        <p:xfrm>
          <a:off x="548640" y="1517904"/>
          <a:ext cx="11091672" cy="3346704"/>
        </p:xfrm>
        <a:graphic>
          <a:graphicData uri="http://schemas.openxmlformats.org/drawingml/2006/table">
            <a:tbl>
              <a:tblPr/>
              <a:tblGrid>
                <a:gridCol w="155448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2130552">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38404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KHỐI CÔNG VIỆC</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HOẠT ĐỘNG / ĐIỂM CHỜ</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ĐỐI TƯỢNG</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PT (giờ)</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WT (giờ)</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1 · Khởi tạo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Đăng nhập, chọn dịch vụ, điền biểu mẫu và đính kèm tài liệu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End-user</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0,50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1 · Phê duyệt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Xem xét và phê duyệt PYC thuộc nhóm quyền rủi ro cao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Quản lý trực tiếp</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2,00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5,00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Sinh Work Order và gán nhóm xử lý theo Category</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Hệ thống ITSM</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0,00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0,50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extLst>
                  <a:ext uri="{0D108BD9-81ED-4DB2-BD59-A6C34878D82A}">
                    <a16:rowId xmlns:a16="http://schemas.microsoft.com/office/drawing/2014/main" val="10004"/>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Tiếp nhận, xác minh và phân loại Work Order</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Service Desk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0,50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5"/>
                  </a:ext>
                </a:extLst>
              </a:tr>
              <a:tr h="3291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kern="1200" dirty="0" err="1">
                          <a:solidFill>
                            <a:srgbClr val="2A3442"/>
                          </a:solidFill>
                          <a:latin typeface="Calibri" pitchFamily="34" charset="0"/>
                          <a:ea typeface="Calibri" pitchFamily="34" charset="-122"/>
                          <a:cs typeface="Calibri" pitchFamily="34" charset="-120"/>
                        </a:rPr>
                        <a:t>Khối</a:t>
                      </a:r>
                      <a:r>
                        <a:rPr lang="en-US" sz="850" kern="1200" dirty="0">
                          <a:solidFill>
                            <a:srgbClr val="2A3442"/>
                          </a:solidFill>
                          <a:latin typeface="Calibri" pitchFamily="34" charset="0"/>
                          <a:ea typeface="Calibri" pitchFamily="34" charset="-122"/>
                          <a:cs typeface="Calibri" pitchFamily="34" charset="-120"/>
                        </a:rPr>
                        <a:t> 2</a:t>
                      </a: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l" defTabSz="914400" rtl="0" eaLnBrk="1" fontAlgn="t" latinLnBrk="0" hangingPunct="1">
                        <a:lnSpc>
                          <a:spcPct val="119048"/>
                        </a:lnSpc>
                        <a:buNone/>
                      </a:pPr>
                      <a:r>
                        <a:rPr lang="en-US" sz="850" kern="1200" dirty="0" err="1">
                          <a:solidFill>
                            <a:srgbClr val="2A3442"/>
                          </a:solidFill>
                          <a:latin typeface="Calibri" pitchFamily="34" charset="0"/>
                          <a:ea typeface="Calibri" pitchFamily="34" charset="-122"/>
                          <a:cs typeface="Calibri" pitchFamily="34" charset="-120"/>
                        </a:rPr>
                        <a:t>Gán</a:t>
                      </a:r>
                      <a:r>
                        <a:rPr lang="en-US" sz="850" kern="1200" dirty="0">
                          <a:solidFill>
                            <a:srgbClr val="2A3442"/>
                          </a:solidFill>
                          <a:latin typeface="Calibri" pitchFamily="34" charset="0"/>
                          <a:ea typeface="Calibri" pitchFamily="34" charset="-122"/>
                          <a:cs typeface="Calibri" pitchFamily="34" charset="-120"/>
                        </a:rPr>
                        <a:t> Work Order </a:t>
                      </a:r>
                      <a:r>
                        <a:rPr lang="en-US" sz="850" kern="1200" dirty="0" err="1">
                          <a:solidFill>
                            <a:srgbClr val="2A3442"/>
                          </a:solidFill>
                          <a:latin typeface="Calibri" pitchFamily="34" charset="0"/>
                          <a:ea typeface="Calibri" pitchFamily="34" charset="-122"/>
                          <a:cs typeface="Calibri" pitchFamily="34" charset="-120"/>
                        </a:rPr>
                        <a:t>cho</a:t>
                      </a:r>
                      <a:r>
                        <a:rPr lang="en-US" sz="850" kern="1200" dirty="0">
                          <a:solidFill>
                            <a:srgbClr val="2A3442"/>
                          </a:solidFill>
                          <a:latin typeface="Calibri" pitchFamily="34" charset="0"/>
                          <a:ea typeface="Calibri" pitchFamily="34" charset="-122"/>
                          <a:cs typeface="Calibri" pitchFamily="34" charset="-120"/>
                        </a:rPr>
                        <a:t> </a:t>
                      </a:r>
                      <a:r>
                        <a:rPr lang="en-US" sz="850" kern="1200" dirty="0" err="1">
                          <a:solidFill>
                            <a:srgbClr val="2A3442"/>
                          </a:solidFill>
                          <a:latin typeface="Calibri" pitchFamily="34" charset="0"/>
                          <a:ea typeface="Calibri" pitchFamily="34" charset="-122"/>
                          <a:cs typeface="Calibri" pitchFamily="34" charset="-120"/>
                        </a:rPr>
                        <a:t>nhóm</a:t>
                      </a:r>
                      <a:r>
                        <a:rPr lang="en-US" sz="850" kern="1200" dirty="0">
                          <a:solidFill>
                            <a:srgbClr val="2A3442"/>
                          </a:solidFill>
                          <a:latin typeface="Calibri" pitchFamily="34" charset="0"/>
                          <a:ea typeface="Calibri" pitchFamily="34" charset="-122"/>
                          <a:cs typeface="Calibri" pitchFamily="34" charset="-120"/>
                        </a:rPr>
                        <a:t> </a:t>
                      </a:r>
                      <a:r>
                        <a:rPr lang="en-US" sz="850" kern="1200" dirty="0" err="1">
                          <a:solidFill>
                            <a:srgbClr val="2A3442"/>
                          </a:solidFill>
                          <a:latin typeface="Calibri" pitchFamily="34" charset="0"/>
                          <a:ea typeface="Calibri" pitchFamily="34" charset="-122"/>
                          <a:cs typeface="Calibri" pitchFamily="34" charset="-120"/>
                        </a:rPr>
                        <a:t>xử</a:t>
                      </a:r>
                      <a:r>
                        <a:rPr lang="en-US" sz="850" kern="1200" dirty="0">
                          <a:solidFill>
                            <a:srgbClr val="2A3442"/>
                          </a:solidFill>
                          <a:latin typeface="Calibri" pitchFamily="34" charset="0"/>
                          <a:ea typeface="Calibri" pitchFamily="34" charset="-122"/>
                          <a:cs typeface="Calibri" pitchFamily="34" charset="-120"/>
                        </a:rPr>
                        <a:t> </a:t>
                      </a:r>
                      <a:r>
                        <a:rPr lang="en-US" sz="850" kern="1200" dirty="0" err="1">
                          <a:solidFill>
                            <a:srgbClr val="2A3442"/>
                          </a:solidFill>
                          <a:latin typeface="Calibri" pitchFamily="34" charset="0"/>
                          <a:ea typeface="Calibri" pitchFamily="34" charset="-122"/>
                          <a:cs typeface="Calibri" pitchFamily="34" charset="-120"/>
                        </a:rPr>
                        <a:t>lý</a:t>
                      </a:r>
                      <a:r>
                        <a:rPr lang="en-US" sz="850" kern="1200" dirty="0">
                          <a:solidFill>
                            <a:srgbClr val="2A3442"/>
                          </a:solidFill>
                          <a:latin typeface="Calibri" pitchFamily="34" charset="0"/>
                          <a:ea typeface="Calibri" pitchFamily="34" charset="-122"/>
                          <a:cs typeface="Calibri" pitchFamily="34" charset="-120"/>
                        </a:rPr>
                        <a:t> </a:t>
                      </a:r>
                      <a:r>
                        <a:rPr lang="en-US" sz="850" kern="1200" dirty="0" err="1">
                          <a:solidFill>
                            <a:srgbClr val="2A3442"/>
                          </a:solidFill>
                          <a:latin typeface="Calibri" pitchFamily="34" charset="0"/>
                          <a:ea typeface="Calibri" pitchFamily="34" charset="-122"/>
                          <a:cs typeface="Calibri" pitchFamily="34" charset="-120"/>
                        </a:rPr>
                        <a:t>phù</a:t>
                      </a:r>
                      <a:r>
                        <a:rPr lang="en-US" sz="850" kern="1200" dirty="0">
                          <a:solidFill>
                            <a:srgbClr val="2A3442"/>
                          </a:solidFill>
                          <a:latin typeface="Calibri" pitchFamily="34" charset="0"/>
                          <a:ea typeface="Calibri" pitchFamily="34" charset="-122"/>
                          <a:cs typeface="Calibri" pitchFamily="34" charset="-120"/>
                        </a:rPr>
                        <a:t> </a:t>
                      </a:r>
                      <a:r>
                        <a:rPr lang="en-US" sz="850" kern="1200" dirty="0" err="1">
                          <a:solidFill>
                            <a:srgbClr val="2A3442"/>
                          </a:solidFill>
                          <a:latin typeface="Calibri" pitchFamily="34" charset="0"/>
                          <a:ea typeface="Calibri" pitchFamily="34" charset="-122"/>
                          <a:cs typeface="Calibri" pitchFamily="34" charset="-120"/>
                        </a:rPr>
                        <a:t>hợp</a:t>
                      </a:r>
                      <a:endParaRPr lang="en-US" sz="850" kern="1200" dirty="0">
                        <a:solidFill>
                          <a:srgbClr val="2A3442"/>
                        </a:solidFill>
                        <a:latin typeface="Calibri" pitchFamily="34" charset="0"/>
                        <a:ea typeface="Calibri" pitchFamily="34" charset="-122"/>
                        <a:cs typeface="Calibri" pitchFamily="34" charset="-12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dirty="0">
                          <a:solidFill>
                            <a:srgbClr val="2A3442"/>
                          </a:solidFill>
                          <a:latin typeface="Calibri" pitchFamily="34" charset="0"/>
                          <a:ea typeface="Calibri" pitchFamily="34" charset="-122"/>
                          <a:cs typeface="Calibri" pitchFamily="34" charset="-120"/>
                        </a:rPr>
                        <a:t>Service Desk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latin typeface="Calibri" charset="0"/>
                          <a:ea typeface="Calibri" charset="0"/>
                          <a:cs typeface="Calibri" charset="0"/>
                        </a:rPr>
                        <a:t>0.08</a:t>
                      </a: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latin typeface="Calibri" charset="0"/>
                          <a:ea typeface="Calibri" charset="0"/>
                          <a:cs typeface="Calibri" charset="0"/>
                        </a:rPr>
                        <a:t>0.5</a:t>
                      </a: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397898783"/>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err="1">
                          <a:solidFill>
                            <a:srgbClr val="2A3442"/>
                          </a:solidFill>
                          <a:latin typeface="Calibri" pitchFamily="34" charset="0"/>
                          <a:ea typeface="Calibri" pitchFamily="34" charset="-122"/>
                          <a:cs typeface="Calibri" pitchFamily="34" charset="-120"/>
                        </a:rPr>
                        <a:t>Xử</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lý</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trực</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tiếp</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trong</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phạm</a:t>
                      </a:r>
                      <a:r>
                        <a:rPr lang="en-US" sz="850" dirty="0">
                          <a:solidFill>
                            <a:srgbClr val="2A3442"/>
                          </a:solidFill>
                          <a:latin typeface="Calibri" pitchFamily="34" charset="0"/>
                          <a:ea typeface="Calibri" pitchFamily="34" charset="-122"/>
                          <a:cs typeface="Calibri" pitchFamily="34" charset="-120"/>
                        </a:rPr>
                        <a:t> vi </a:t>
                      </a:r>
                      <a:r>
                        <a:rPr lang="en-US" sz="850" dirty="0" err="1">
                          <a:solidFill>
                            <a:srgbClr val="2A3442"/>
                          </a:solidFill>
                          <a:latin typeface="Calibri" pitchFamily="34" charset="0"/>
                          <a:ea typeface="Calibri" pitchFamily="34" charset="-122"/>
                          <a:cs typeface="Calibri" pitchFamily="34" charset="-120"/>
                        </a:rPr>
                        <a:t>của</a:t>
                      </a:r>
                      <a:r>
                        <a:rPr lang="en-US" sz="850" dirty="0">
                          <a:solidFill>
                            <a:srgbClr val="2A3442"/>
                          </a:solidFill>
                          <a:latin typeface="Calibri" pitchFamily="34" charset="0"/>
                          <a:ea typeface="Calibri" pitchFamily="34" charset="-122"/>
                          <a:cs typeface="Calibri" pitchFamily="34" charset="-120"/>
                        </a:rPr>
                        <a:t>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Service Desk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0.5</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1,00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480889355"/>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Service L2 </a:t>
                      </a:r>
                      <a:r>
                        <a:rPr lang="en-US" sz="850" dirty="0" err="1">
                          <a:solidFill>
                            <a:srgbClr val="2A3442"/>
                          </a:solidFill>
                          <a:latin typeface="Calibri" pitchFamily="34" charset="0"/>
                          <a:ea typeface="Calibri" pitchFamily="34" charset="-122"/>
                          <a:cs typeface="Calibri" pitchFamily="34" charset="-120"/>
                        </a:rPr>
                        <a:t>xử</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lý</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kĩ</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thuật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Service Desk L2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1,50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1,00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extLst>
                  <a:ext uri="{0D108BD9-81ED-4DB2-BD59-A6C34878D82A}">
                    <a16:rowId xmlns:a16="http://schemas.microsoft.com/office/drawing/2014/main" val="10006"/>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Ghi log bảo mật vào ITSM và SIEM (nhánh song song)</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Service Desk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0,50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7"/>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4</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Cập nhật “Resolved” và chờ người dùng xác nhận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L1 / End-user</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0.08</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2,00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914D6CA-A60D-6274-2F85-ED5319145D5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936853F-A510-6BE4-5012-7600851C1058}"/>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a:extLst>
              <a:ext uri="{FF2B5EF4-FFF2-40B4-BE49-F238E27FC236}">
                <a16:creationId xmlns:a16="http://schemas.microsoft.com/office/drawing/2014/main" id="{2CA47247-8030-ED05-34A0-24267B26978F}"/>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4.3.1 PHÂN TÍCH ĐỊNH LƯỢNG</a:t>
            </a:r>
            <a:endParaRPr lang="en-US" sz="1050" dirty="0"/>
          </a:p>
        </p:txBody>
      </p:sp>
      <p:sp>
        <p:nvSpPr>
          <p:cNvPr id="4" name="Text 2">
            <a:extLst>
              <a:ext uri="{FF2B5EF4-FFF2-40B4-BE49-F238E27FC236}">
                <a16:creationId xmlns:a16="http://schemas.microsoft.com/office/drawing/2014/main" id="{10C94173-F6B6-1077-3CD9-147B9C3C21F6}"/>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BẢNG THỜI GIAN XỬ LÝ VÀ THỜI GIAN CHỜ THEO TỪNG KHỐI</a:t>
            </a:r>
            <a:endParaRPr lang="en-US" sz="2500" dirty="0"/>
          </a:p>
        </p:txBody>
      </p:sp>
      <p:sp>
        <p:nvSpPr>
          <p:cNvPr id="6" name="Text 4">
            <a:extLst>
              <a:ext uri="{FF2B5EF4-FFF2-40B4-BE49-F238E27FC236}">
                <a16:creationId xmlns:a16="http://schemas.microsoft.com/office/drawing/2014/main" id="{0D5D0253-8EF7-9C0B-4E03-9F6406EF9342}"/>
              </a:ext>
            </a:extLst>
          </p:cNvPr>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a:extLst>
              <a:ext uri="{FF2B5EF4-FFF2-40B4-BE49-F238E27FC236}">
                <a16:creationId xmlns:a16="http://schemas.microsoft.com/office/drawing/2014/main" id="{64AD46FC-A574-EBA1-A169-B5CE9E330338}"/>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44</a:t>
            </a:r>
            <a:endParaRPr lang="en-US" sz="1100" dirty="0"/>
          </a:p>
        </p:txBody>
      </p:sp>
      <p:pic>
        <p:nvPicPr>
          <p:cNvPr id="11" name="Picture 10">
            <a:extLst>
              <a:ext uri="{FF2B5EF4-FFF2-40B4-BE49-F238E27FC236}">
                <a16:creationId xmlns:a16="http://schemas.microsoft.com/office/drawing/2014/main" id="{53544116-E179-8196-71E7-B22C2ADA2A87}"/>
              </a:ext>
            </a:extLst>
          </p:cNvPr>
          <p:cNvPicPr>
            <a:picLocks noChangeAspect="1"/>
          </p:cNvPicPr>
          <p:nvPr/>
        </p:nvPicPr>
        <p:blipFill>
          <a:blip r:embed="rId2"/>
          <a:stretch>
            <a:fillRect/>
          </a:stretch>
        </p:blipFill>
        <p:spPr>
          <a:xfrm>
            <a:off x="1037754" y="952203"/>
            <a:ext cx="8204858" cy="5430309"/>
          </a:xfrm>
          <a:prstGeom prst="rect">
            <a:avLst/>
          </a:prstGeom>
        </p:spPr>
      </p:pic>
      <p:sp>
        <p:nvSpPr>
          <p:cNvPr id="12" name="TextBox 11">
            <a:extLst>
              <a:ext uri="{FF2B5EF4-FFF2-40B4-BE49-F238E27FC236}">
                <a16:creationId xmlns:a16="http://schemas.microsoft.com/office/drawing/2014/main" id="{2AA81433-6E78-DAF5-961A-AA04CB8D6BB3}"/>
              </a:ext>
            </a:extLst>
          </p:cNvPr>
          <p:cNvSpPr txBox="1"/>
          <p:nvPr/>
        </p:nvSpPr>
        <p:spPr>
          <a:xfrm>
            <a:off x="3251200" y="1402670"/>
            <a:ext cx="591671" cy="230832"/>
          </a:xfrm>
          <a:prstGeom prst="rect">
            <a:avLst/>
          </a:prstGeom>
          <a:noFill/>
        </p:spPr>
        <p:txBody>
          <a:bodyPr wrap="square" rtlCol="0">
            <a:spAutoFit/>
          </a:bodyPr>
          <a:lstStyle/>
          <a:p>
            <a:r>
              <a:rPr lang="en-US" sz="900" b="1" dirty="0">
                <a:solidFill>
                  <a:srgbClr val="00B050"/>
                </a:solidFill>
              </a:rPr>
              <a:t>PT = 0.5</a:t>
            </a:r>
          </a:p>
        </p:txBody>
      </p:sp>
      <p:sp>
        <p:nvSpPr>
          <p:cNvPr id="14" name="TextBox 13">
            <a:extLst>
              <a:ext uri="{FF2B5EF4-FFF2-40B4-BE49-F238E27FC236}">
                <a16:creationId xmlns:a16="http://schemas.microsoft.com/office/drawing/2014/main" id="{FCDFB4CF-E7D2-1352-5F84-97106C808D1C}"/>
              </a:ext>
            </a:extLst>
          </p:cNvPr>
          <p:cNvSpPr txBox="1"/>
          <p:nvPr/>
        </p:nvSpPr>
        <p:spPr>
          <a:xfrm>
            <a:off x="2890744" y="2838658"/>
            <a:ext cx="861061" cy="230832"/>
          </a:xfrm>
          <a:prstGeom prst="rect">
            <a:avLst/>
          </a:prstGeom>
          <a:noFill/>
        </p:spPr>
        <p:txBody>
          <a:bodyPr wrap="square" rtlCol="0">
            <a:spAutoFit/>
          </a:bodyPr>
          <a:lstStyle/>
          <a:p>
            <a:r>
              <a:rPr lang="en-US" sz="900" b="1" dirty="0">
                <a:solidFill>
                  <a:srgbClr val="00B050"/>
                </a:solidFill>
              </a:rPr>
              <a:t>PT = 0.08</a:t>
            </a:r>
          </a:p>
        </p:txBody>
      </p:sp>
      <p:sp>
        <p:nvSpPr>
          <p:cNvPr id="16" name="TextBox 15">
            <a:extLst>
              <a:ext uri="{FF2B5EF4-FFF2-40B4-BE49-F238E27FC236}">
                <a16:creationId xmlns:a16="http://schemas.microsoft.com/office/drawing/2014/main" id="{9827A9AC-4E55-1D9F-B57C-BF79A0BD0A81}"/>
              </a:ext>
            </a:extLst>
          </p:cNvPr>
          <p:cNvSpPr txBox="1"/>
          <p:nvPr/>
        </p:nvSpPr>
        <p:spPr>
          <a:xfrm>
            <a:off x="4733215" y="3818800"/>
            <a:ext cx="791285" cy="507831"/>
          </a:xfrm>
          <a:prstGeom prst="rect">
            <a:avLst/>
          </a:prstGeom>
          <a:noFill/>
        </p:spPr>
        <p:txBody>
          <a:bodyPr wrap="square" rtlCol="0">
            <a:spAutoFit/>
          </a:bodyPr>
          <a:lstStyle/>
          <a:p>
            <a:r>
              <a:rPr lang="en-US" sz="900" b="1" dirty="0">
                <a:solidFill>
                  <a:srgbClr val="00B050"/>
                </a:solidFill>
              </a:rPr>
              <a:t>PT = 0.08</a:t>
            </a:r>
          </a:p>
          <a:p>
            <a:r>
              <a:rPr lang="en-US" sz="900" b="1" dirty="0">
                <a:solidFill>
                  <a:srgbClr val="00B050"/>
                </a:solidFill>
              </a:rPr>
              <a:t>WT  = 0.5</a:t>
            </a:r>
          </a:p>
          <a:p>
            <a:endParaRPr lang="en-US" sz="900" b="1" dirty="0">
              <a:solidFill>
                <a:srgbClr val="00B050"/>
              </a:solidFill>
            </a:endParaRPr>
          </a:p>
        </p:txBody>
      </p:sp>
      <p:sp>
        <p:nvSpPr>
          <p:cNvPr id="18" name="TextBox 17">
            <a:extLst>
              <a:ext uri="{FF2B5EF4-FFF2-40B4-BE49-F238E27FC236}">
                <a16:creationId xmlns:a16="http://schemas.microsoft.com/office/drawing/2014/main" id="{8E383A67-4684-698B-AE83-F8221F7FFAB8}"/>
              </a:ext>
            </a:extLst>
          </p:cNvPr>
          <p:cNvSpPr txBox="1"/>
          <p:nvPr/>
        </p:nvSpPr>
        <p:spPr>
          <a:xfrm>
            <a:off x="1799515" y="4696216"/>
            <a:ext cx="791285" cy="230832"/>
          </a:xfrm>
          <a:prstGeom prst="rect">
            <a:avLst/>
          </a:prstGeom>
          <a:noFill/>
        </p:spPr>
        <p:txBody>
          <a:bodyPr wrap="square" rtlCol="0">
            <a:spAutoFit/>
          </a:bodyPr>
          <a:lstStyle/>
          <a:p>
            <a:r>
              <a:rPr lang="en-US" sz="900" b="1" dirty="0">
                <a:solidFill>
                  <a:srgbClr val="00B050"/>
                </a:solidFill>
              </a:rPr>
              <a:t>PT = 0.5</a:t>
            </a:r>
          </a:p>
        </p:txBody>
      </p:sp>
      <p:sp>
        <p:nvSpPr>
          <p:cNvPr id="20" name="TextBox 19">
            <a:extLst>
              <a:ext uri="{FF2B5EF4-FFF2-40B4-BE49-F238E27FC236}">
                <a16:creationId xmlns:a16="http://schemas.microsoft.com/office/drawing/2014/main" id="{D09A22A0-F581-75AA-940B-80883ED3ABC4}"/>
              </a:ext>
            </a:extLst>
          </p:cNvPr>
          <p:cNvSpPr txBox="1"/>
          <p:nvPr/>
        </p:nvSpPr>
        <p:spPr>
          <a:xfrm>
            <a:off x="4733214" y="5433901"/>
            <a:ext cx="791285" cy="507831"/>
          </a:xfrm>
          <a:prstGeom prst="rect">
            <a:avLst/>
          </a:prstGeom>
          <a:noFill/>
        </p:spPr>
        <p:txBody>
          <a:bodyPr wrap="square" rtlCol="0">
            <a:spAutoFit/>
          </a:bodyPr>
          <a:lstStyle/>
          <a:p>
            <a:r>
              <a:rPr lang="en-US" sz="900" b="1" dirty="0">
                <a:solidFill>
                  <a:srgbClr val="00B050"/>
                </a:solidFill>
              </a:rPr>
              <a:t>PT = 1.5</a:t>
            </a:r>
          </a:p>
          <a:p>
            <a:r>
              <a:rPr lang="en-US" sz="900" b="1" dirty="0">
                <a:solidFill>
                  <a:srgbClr val="00B050"/>
                </a:solidFill>
              </a:rPr>
              <a:t>WT  = 8</a:t>
            </a:r>
          </a:p>
          <a:p>
            <a:endParaRPr lang="en-US" sz="900" b="1" dirty="0">
              <a:solidFill>
                <a:srgbClr val="00B050"/>
              </a:solidFill>
            </a:endParaRPr>
          </a:p>
        </p:txBody>
      </p:sp>
      <p:sp>
        <p:nvSpPr>
          <p:cNvPr id="22" name="TextBox 21">
            <a:extLst>
              <a:ext uri="{FF2B5EF4-FFF2-40B4-BE49-F238E27FC236}">
                <a16:creationId xmlns:a16="http://schemas.microsoft.com/office/drawing/2014/main" id="{FEAA40F0-1DB7-7CDA-5951-919460BB7EBA}"/>
              </a:ext>
            </a:extLst>
          </p:cNvPr>
          <p:cNvSpPr txBox="1"/>
          <p:nvPr/>
        </p:nvSpPr>
        <p:spPr>
          <a:xfrm>
            <a:off x="3088266" y="4972236"/>
            <a:ext cx="646506" cy="369332"/>
          </a:xfrm>
          <a:prstGeom prst="rect">
            <a:avLst/>
          </a:prstGeom>
          <a:noFill/>
        </p:spPr>
        <p:txBody>
          <a:bodyPr wrap="square" rtlCol="0">
            <a:spAutoFit/>
          </a:bodyPr>
          <a:lstStyle/>
          <a:p>
            <a:r>
              <a:rPr lang="en-US" sz="900" b="1" dirty="0">
                <a:solidFill>
                  <a:srgbClr val="00B050"/>
                </a:solidFill>
              </a:rPr>
              <a:t>PT = 0.1</a:t>
            </a:r>
          </a:p>
          <a:p>
            <a:r>
              <a:rPr lang="en-US" sz="900" b="1" dirty="0">
                <a:solidFill>
                  <a:srgbClr val="00B050"/>
                </a:solidFill>
              </a:rPr>
              <a:t>WT = 2</a:t>
            </a:r>
          </a:p>
        </p:txBody>
      </p:sp>
      <p:sp>
        <p:nvSpPr>
          <p:cNvPr id="26" name="TextBox 25">
            <a:extLst>
              <a:ext uri="{FF2B5EF4-FFF2-40B4-BE49-F238E27FC236}">
                <a16:creationId xmlns:a16="http://schemas.microsoft.com/office/drawing/2014/main" id="{0A18B036-5034-5805-4F65-4220B795C2B5}"/>
              </a:ext>
            </a:extLst>
          </p:cNvPr>
          <p:cNvSpPr txBox="1"/>
          <p:nvPr/>
        </p:nvSpPr>
        <p:spPr>
          <a:xfrm>
            <a:off x="5997687" y="4952204"/>
            <a:ext cx="791285" cy="230832"/>
          </a:xfrm>
          <a:prstGeom prst="rect">
            <a:avLst/>
          </a:prstGeom>
          <a:noFill/>
        </p:spPr>
        <p:txBody>
          <a:bodyPr wrap="square" rtlCol="0">
            <a:spAutoFit/>
          </a:bodyPr>
          <a:lstStyle/>
          <a:p>
            <a:r>
              <a:rPr lang="en-US" sz="900" b="1" dirty="0">
                <a:solidFill>
                  <a:srgbClr val="00B050"/>
                </a:solidFill>
              </a:rPr>
              <a:t>PT = 0.5</a:t>
            </a:r>
          </a:p>
        </p:txBody>
      </p:sp>
      <p:sp>
        <p:nvSpPr>
          <p:cNvPr id="28" name="TextBox 27">
            <a:extLst>
              <a:ext uri="{FF2B5EF4-FFF2-40B4-BE49-F238E27FC236}">
                <a16:creationId xmlns:a16="http://schemas.microsoft.com/office/drawing/2014/main" id="{2BE83C6D-E4E3-0C97-497C-7479638B9CB2}"/>
              </a:ext>
            </a:extLst>
          </p:cNvPr>
          <p:cNvSpPr txBox="1"/>
          <p:nvPr/>
        </p:nvSpPr>
        <p:spPr>
          <a:xfrm>
            <a:off x="1741697" y="3239090"/>
            <a:ext cx="734803" cy="369332"/>
          </a:xfrm>
          <a:prstGeom prst="rect">
            <a:avLst/>
          </a:prstGeom>
          <a:noFill/>
        </p:spPr>
        <p:txBody>
          <a:bodyPr wrap="square" rtlCol="0">
            <a:spAutoFit/>
          </a:bodyPr>
          <a:lstStyle/>
          <a:p>
            <a:r>
              <a:rPr lang="en-US" sz="900" b="1" dirty="0">
                <a:solidFill>
                  <a:srgbClr val="00B050"/>
                </a:solidFill>
              </a:rPr>
              <a:t>PT = 0.25</a:t>
            </a:r>
          </a:p>
          <a:p>
            <a:endParaRPr lang="en-US" sz="900" b="1" dirty="0">
              <a:solidFill>
                <a:srgbClr val="00B050"/>
              </a:solidFill>
            </a:endParaRPr>
          </a:p>
        </p:txBody>
      </p:sp>
      <p:sp>
        <p:nvSpPr>
          <p:cNvPr id="30" name="TextBox 29">
            <a:extLst>
              <a:ext uri="{FF2B5EF4-FFF2-40B4-BE49-F238E27FC236}">
                <a16:creationId xmlns:a16="http://schemas.microsoft.com/office/drawing/2014/main" id="{1E95C773-83E7-8DAB-087D-F84F805BE1DA}"/>
              </a:ext>
            </a:extLst>
          </p:cNvPr>
          <p:cNvSpPr txBox="1"/>
          <p:nvPr/>
        </p:nvSpPr>
        <p:spPr>
          <a:xfrm>
            <a:off x="4733214" y="3310969"/>
            <a:ext cx="745492" cy="369332"/>
          </a:xfrm>
          <a:prstGeom prst="rect">
            <a:avLst/>
          </a:prstGeom>
          <a:noFill/>
        </p:spPr>
        <p:txBody>
          <a:bodyPr wrap="square" rtlCol="0">
            <a:spAutoFit/>
          </a:bodyPr>
          <a:lstStyle/>
          <a:p>
            <a:r>
              <a:rPr lang="en-US" sz="900" b="1" dirty="0">
                <a:solidFill>
                  <a:srgbClr val="00B050"/>
                </a:solidFill>
              </a:rPr>
              <a:t>PT = 0.08</a:t>
            </a:r>
          </a:p>
          <a:p>
            <a:r>
              <a:rPr lang="en-US" sz="900" b="1" dirty="0">
                <a:solidFill>
                  <a:srgbClr val="00B050"/>
                </a:solidFill>
              </a:rPr>
              <a:t>WT  = 5</a:t>
            </a:r>
          </a:p>
        </p:txBody>
      </p:sp>
      <p:sp>
        <p:nvSpPr>
          <p:cNvPr id="32" name="TextBox 31">
            <a:extLst>
              <a:ext uri="{FF2B5EF4-FFF2-40B4-BE49-F238E27FC236}">
                <a16:creationId xmlns:a16="http://schemas.microsoft.com/office/drawing/2014/main" id="{9D8C7121-7ED6-1C9B-08AA-27C74A2B083D}"/>
              </a:ext>
            </a:extLst>
          </p:cNvPr>
          <p:cNvSpPr txBox="1"/>
          <p:nvPr/>
        </p:nvSpPr>
        <p:spPr>
          <a:xfrm>
            <a:off x="4687343" y="2504344"/>
            <a:ext cx="591671" cy="507831"/>
          </a:xfrm>
          <a:prstGeom prst="rect">
            <a:avLst/>
          </a:prstGeom>
          <a:noFill/>
        </p:spPr>
        <p:txBody>
          <a:bodyPr wrap="square" rtlCol="0">
            <a:spAutoFit/>
          </a:bodyPr>
          <a:lstStyle/>
          <a:p>
            <a:r>
              <a:rPr lang="en-US" sz="900" b="1" dirty="0">
                <a:solidFill>
                  <a:srgbClr val="00B050"/>
                </a:solidFill>
              </a:rPr>
              <a:t>PT = 1</a:t>
            </a:r>
          </a:p>
          <a:p>
            <a:r>
              <a:rPr lang="en-US" sz="900" b="1" dirty="0">
                <a:solidFill>
                  <a:srgbClr val="00B050"/>
                </a:solidFill>
              </a:rPr>
              <a:t>WT  = 5</a:t>
            </a:r>
          </a:p>
          <a:p>
            <a:endParaRPr lang="en-US" sz="900" b="1" dirty="0">
              <a:solidFill>
                <a:srgbClr val="00B050"/>
              </a:solidFill>
            </a:endParaRPr>
          </a:p>
        </p:txBody>
      </p:sp>
      <p:sp>
        <p:nvSpPr>
          <p:cNvPr id="33" name="TextBox 32">
            <a:extLst>
              <a:ext uri="{FF2B5EF4-FFF2-40B4-BE49-F238E27FC236}">
                <a16:creationId xmlns:a16="http://schemas.microsoft.com/office/drawing/2014/main" id="{F0C113B6-2776-9222-20E3-2B7E4E2DCB60}"/>
              </a:ext>
            </a:extLst>
          </p:cNvPr>
          <p:cNvSpPr txBox="1"/>
          <p:nvPr/>
        </p:nvSpPr>
        <p:spPr>
          <a:xfrm>
            <a:off x="2890744" y="4109510"/>
            <a:ext cx="720912" cy="230832"/>
          </a:xfrm>
          <a:prstGeom prst="rect">
            <a:avLst/>
          </a:prstGeom>
          <a:noFill/>
        </p:spPr>
        <p:txBody>
          <a:bodyPr wrap="square" rtlCol="0">
            <a:spAutoFit/>
          </a:bodyPr>
          <a:lstStyle/>
          <a:p>
            <a:r>
              <a:rPr lang="en-US" sz="900" b="1" dirty="0">
                <a:solidFill>
                  <a:srgbClr val="00B050"/>
                </a:solidFill>
              </a:rPr>
              <a:t>PT = 0.08</a:t>
            </a:r>
          </a:p>
        </p:txBody>
      </p:sp>
      <p:sp>
        <p:nvSpPr>
          <p:cNvPr id="36" name="TextBox 35">
            <a:extLst>
              <a:ext uri="{FF2B5EF4-FFF2-40B4-BE49-F238E27FC236}">
                <a16:creationId xmlns:a16="http://schemas.microsoft.com/office/drawing/2014/main" id="{DB1CEF6A-2E08-3795-4628-3A6BC0B61D0A}"/>
              </a:ext>
            </a:extLst>
          </p:cNvPr>
          <p:cNvSpPr txBox="1"/>
          <p:nvPr/>
        </p:nvSpPr>
        <p:spPr>
          <a:xfrm>
            <a:off x="7910755" y="4958295"/>
            <a:ext cx="791285" cy="230832"/>
          </a:xfrm>
          <a:prstGeom prst="rect">
            <a:avLst/>
          </a:prstGeom>
          <a:noFill/>
        </p:spPr>
        <p:txBody>
          <a:bodyPr wrap="square" rtlCol="0">
            <a:spAutoFit/>
          </a:bodyPr>
          <a:lstStyle/>
          <a:p>
            <a:r>
              <a:rPr lang="en-US" sz="900" b="1" dirty="0">
                <a:solidFill>
                  <a:srgbClr val="00B050"/>
                </a:solidFill>
              </a:rPr>
              <a:t>PT = 0.5</a:t>
            </a:r>
          </a:p>
        </p:txBody>
      </p:sp>
      <p:sp>
        <p:nvSpPr>
          <p:cNvPr id="38" name="TextBox 37">
            <a:extLst>
              <a:ext uri="{FF2B5EF4-FFF2-40B4-BE49-F238E27FC236}">
                <a16:creationId xmlns:a16="http://schemas.microsoft.com/office/drawing/2014/main" id="{7250010D-12F3-15B1-AC9D-46F533992F81}"/>
              </a:ext>
            </a:extLst>
          </p:cNvPr>
          <p:cNvSpPr txBox="1"/>
          <p:nvPr/>
        </p:nvSpPr>
        <p:spPr>
          <a:xfrm>
            <a:off x="4147670" y="4926070"/>
            <a:ext cx="646506" cy="230832"/>
          </a:xfrm>
          <a:prstGeom prst="rect">
            <a:avLst/>
          </a:prstGeom>
          <a:noFill/>
        </p:spPr>
        <p:txBody>
          <a:bodyPr wrap="square" rtlCol="0">
            <a:spAutoFit/>
          </a:bodyPr>
          <a:lstStyle/>
          <a:p>
            <a:r>
              <a:rPr lang="en-US" sz="900" b="1" dirty="0">
                <a:solidFill>
                  <a:srgbClr val="00B050"/>
                </a:solidFill>
              </a:rPr>
              <a:t>PT = 0.1</a:t>
            </a:r>
          </a:p>
        </p:txBody>
      </p:sp>
      <p:sp>
        <p:nvSpPr>
          <p:cNvPr id="40" name="TextBox 39">
            <a:extLst>
              <a:ext uri="{FF2B5EF4-FFF2-40B4-BE49-F238E27FC236}">
                <a16:creationId xmlns:a16="http://schemas.microsoft.com/office/drawing/2014/main" id="{D03B9C90-6379-361C-B25D-22C4E74DC354}"/>
              </a:ext>
            </a:extLst>
          </p:cNvPr>
          <p:cNvSpPr txBox="1"/>
          <p:nvPr/>
        </p:nvSpPr>
        <p:spPr>
          <a:xfrm>
            <a:off x="5278865" y="4427535"/>
            <a:ext cx="646506" cy="230832"/>
          </a:xfrm>
          <a:prstGeom prst="rect">
            <a:avLst/>
          </a:prstGeom>
          <a:noFill/>
        </p:spPr>
        <p:txBody>
          <a:bodyPr wrap="square" rtlCol="0">
            <a:spAutoFit/>
          </a:bodyPr>
          <a:lstStyle/>
          <a:p>
            <a:r>
              <a:rPr lang="en-US" sz="900" b="1" dirty="0">
                <a:solidFill>
                  <a:srgbClr val="00B050"/>
                </a:solidFill>
              </a:rPr>
              <a:t>PT = 0.08</a:t>
            </a:r>
          </a:p>
        </p:txBody>
      </p:sp>
      <p:sp>
        <p:nvSpPr>
          <p:cNvPr id="42" name="TextBox 41">
            <a:extLst>
              <a:ext uri="{FF2B5EF4-FFF2-40B4-BE49-F238E27FC236}">
                <a16:creationId xmlns:a16="http://schemas.microsoft.com/office/drawing/2014/main" id="{C1E0C540-26F5-F67B-7AF9-6C669CB50E66}"/>
              </a:ext>
            </a:extLst>
          </p:cNvPr>
          <p:cNvSpPr txBox="1"/>
          <p:nvPr/>
        </p:nvSpPr>
        <p:spPr>
          <a:xfrm>
            <a:off x="3751805" y="2959127"/>
            <a:ext cx="591671" cy="230832"/>
          </a:xfrm>
          <a:prstGeom prst="rect">
            <a:avLst/>
          </a:prstGeom>
          <a:noFill/>
        </p:spPr>
        <p:txBody>
          <a:bodyPr wrap="square" rtlCol="0">
            <a:spAutoFit/>
          </a:bodyPr>
          <a:lstStyle/>
          <a:p>
            <a:r>
              <a:rPr lang="en-US" sz="900" b="1" dirty="0">
                <a:solidFill>
                  <a:schemeClr val="accent2">
                    <a:lumMod val="75000"/>
                  </a:schemeClr>
                </a:solidFill>
              </a:rPr>
              <a:t>10%</a:t>
            </a:r>
          </a:p>
        </p:txBody>
      </p:sp>
      <p:sp>
        <p:nvSpPr>
          <p:cNvPr id="44" name="TextBox 43">
            <a:extLst>
              <a:ext uri="{FF2B5EF4-FFF2-40B4-BE49-F238E27FC236}">
                <a16:creationId xmlns:a16="http://schemas.microsoft.com/office/drawing/2014/main" id="{57EBDEC8-5CB3-DC36-A36A-74518E595A3E}"/>
              </a:ext>
            </a:extLst>
          </p:cNvPr>
          <p:cNvSpPr txBox="1"/>
          <p:nvPr/>
        </p:nvSpPr>
        <p:spPr>
          <a:xfrm>
            <a:off x="3765476" y="3292349"/>
            <a:ext cx="591671" cy="230832"/>
          </a:xfrm>
          <a:prstGeom prst="rect">
            <a:avLst/>
          </a:prstGeom>
          <a:noFill/>
        </p:spPr>
        <p:txBody>
          <a:bodyPr wrap="square" rtlCol="0">
            <a:spAutoFit/>
          </a:bodyPr>
          <a:lstStyle/>
          <a:p>
            <a:r>
              <a:rPr lang="en-US" sz="900" b="1" dirty="0">
                <a:solidFill>
                  <a:schemeClr val="accent2">
                    <a:lumMod val="75000"/>
                  </a:schemeClr>
                </a:solidFill>
              </a:rPr>
              <a:t>90%</a:t>
            </a:r>
          </a:p>
        </p:txBody>
      </p:sp>
      <p:sp>
        <p:nvSpPr>
          <p:cNvPr id="46" name="TextBox 45">
            <a:extLst>
              <a:ext uri="{FF2B5EF4-FFF2-40B4-BE49-F238E27FC236}">
                <a16:creationId xmlns:a16="http://schemas.microsoft.com/office/drawing/2014/main" id="{73156E3F-C3A6-3B46-CBA5-5DCF0F7B8820}"/>
              </a:ext>
            </a:extLst>
          </p:cNvPr>
          <p:cNvSpPr txBox="1"/>
          <p:nvPr/>
        </p:nvSpPr>
        <p:spPr>
          <a:xfrm>
            <a:off x="2653552" y="5726843"/>
            <a:ext cx="591671" cy="230832"/>
          </a:xfrm>
          <a:prstGeom prst="rect">
            <a:avLst/>
          </a:prstGeom>
          <a:noFill/>
        </p:spPr>
        <p:txBody>
          <a:bodyPr wrap="square" rtlCol="0">
            <a:spAutoFit/>
          </a:bodyPr>
          <a:lstStyle/>
          <a:p>
            <a:r>
              <a:rPr lang="en-US" sz="900" b="1" dirty="0">
                <a:solidFill>
                  <a:schemeClr val="accent2">
                    <a:lumMod val="75000"/>
                  </a:schemeClr>
                </a:solidFill>
              </a:rPr>
              <a:t>30%</a:t>
            </a:r>
          </a:p>
        </p:txBody>
      </p:sp>
      <p:sp>
        <p:nvSpPr>
          <p:cNvPr id="48" name="TextBox 47">
            <a:extLst>
              <a:ext uri="{FF2B5EF4-FFF2-40B4-BE49-F238E27FC236}">
                <a16:creationId xmlns:a16="http://schemas.microsoft.com/office/drawing/2014/main" id="{353E5385-2661-A26E-30CD-C7963469E275}"/>
              </a:ext>
            </a:extLst>
          </p:cNvPr>
          <p:cNvSpPr txBox="1"/>
          <p:nvPr/>
        </p:nvSpPr>
        <p:spPr>
          <a:xfrm>
            <a:off x="2637677" y="4586961"/>
            <a:ext cx="591671" cy="230832"/>
          </a:xfrm>
          <a:prstGeom prst="rect">
            <a:avLst/>
          </a:prstGeom>
          <a:noFill/>
        </p:spPr>
        <p:txBody>
          <a:bodyPr wrap="square" rtlCol="0">
            <a:spAutoFit/>
          </a:bodyPr>
          <a:lstStyle/>
          <a:p>
            <a:r>
              <a:rPr lang="en-US" sz="900" b="1" dirty="0">
                <a:solidFill>
                  <a:schemeClr val="accent2">
                    <a:lumMod val="75000"/>
                  </a:schemeClr>
                </a:solidFill>
              </a:rPr>
              <a:t>70%</a:t>
            </a:r>
          </a:p>
        </p:txBody>
      </p:sp>
      <p:sp>
        <p:nvSpPr>
          <p:cNvPr id="50" name="TextBox 49">
            <a:extLst>
              <a:ext uri="{FF2B5EF4-FFF2-40B4-BE49-F238E27FC236}">
                <a16:creationId xmlns:a16="http://schemas.microsoft.com/office/drawing/2014/main" id="{7ECE6D5C-8655-8EDF-0B81-A16D91E50550}"/>
              </a:ext>
            </a:extLst>
          </p:cNvPr>
          <p:cNvSpPr txBox="1"/>
          <p:nvPr/>
        </p:nvSpPr>
        <p:spPr>
          <a:xfrm>
            <a:off x="3088266" y="5541343"/>
            <a:ext cx="791285" cy="230832"/>
          </a:xfrm>
          <a:prstGeom prst="rect">
            <a:avLst/>
          </a:prstGeom>
          <a:noFill/>
        </p:spPr>
        <p:txBody>
          <a:bodyPr wrap="square" rtlCol="0">
            <a:spAutoFit/>
          </a:bodyPr>
          <a:lstStyle/>
          <a:p>
            <a:r>
              <a:rPr lang="en-US" sz="900" b="1" dirty="0">
                <a:solidFill>
                  <a:srgbClr val="00B050"/>
                </a:solidFill>
              </a:rPr>
              <a:t>PT = 0.08</a:t>
            </a:r>
          </a:p>
        </p:txBody>
      </p:sp>
      <p:sp>
        <p:nvSpPr>
          <p:cNvPr id="52" name="TextBox 51">
            <a:extLst>
              <a:ext uri="{FF2B5EF4-FFF2-40B4-BE49-F238E27FC236}">
                <a16:creationId xmlns:a16="http://schemas.microsoft.com/office/drawing/2014/main" id="{E7C86BE3-7C3C-23F0-7DA6-DA370BF6571E}"/>
              </a:ext>
            </a:extLst>
          </p:cNvPr>
          <p:cNvSpPr txBox="1"/>
          <p:nvPr/>
        </p:nvSpPr>
        <p:spPr>
          <a:xfrm>
            <a:off x="3842871" y="5438869"/>
            <a:ext cx="791285" cy="369332"/>
          </a:xfrm>
          <a:prstGeom prst="rect">
            <a:avLst/>
          </a:prstGeom>
          <a:noFill/>
        </p:spPr>
        <p:txBody>
          <a:bodyPr wrap="square" rtlCol="0">
            <a:spAutoFit/>
          </a:bodyPr>
          <a:lstStyle/>
          <a:p>
            <a:r>
              <a:rPr lang="en-US" sz="900" b="1" dirty="0">
                <a:solidFill>
                  <a:srgbClr val="00B050"/>
                </a:solidFill>
              </a:rPr>
              <a:t>PT = 0.08</a:t>
            </a:r>
          </a:p>
          <a:p>
            <a:r>
              <a:rPr lang="en-US" sz="900" b="1" dirty="0">
                <a:solidFill>
                  <a:srgbClr val="00B050"/>
                </a:solidFill>
              </a:rPr>
              <a:t>WT = 5</a:t>
            </a:r>
          </a:p>
        </p:txBody>
      </p:sp>
      <p:sp>
        <p:nvSpPr>
          <p:cNvPr id="54" name="TextBox 53">
            <a:extLst>
              <a:ext uri="{FF2B5EF4-FFF2-40B4-BE49-F238E27FC236}">
                <a16:creationId xmlns:a16="http://schemas.microsoft.com/office/drawing/2014/main" id="{FB8534FA-D1CF-3DCA-86DE-E3900C70F4FA}"/>
              </a:ext>
            </a:extLst>
          </p:cNvPr>
          <p:cNvSpPr txBox="1"/>
          <p:nvPr/>
        </p:nvSpPr>
        <p:spPr>
          <a:xfrm>
            <a:off x="6987913" y="5433901"/>
            <a:ext cx="791285" cy="230832"/>
          </a:xfrm>
          <a:prstGeom prst="rect">
            <a:avLst/>
          </a:prstGeom>
          <a:noFill/>
        </p:spPr>
        <p:txBody>
          <a:bodyPr wrap="square" rtlCol="0">
            <a:spAutoFit/>
          </a:bodyPr>
          <a:lstStyle/>
          <a:p>
            <a:r>
              <a:rPr lang="en-US" sz="900" b="1" dirty="0">
                <a:solidFill>
                  <a:srgbClr val="00B050"/>
                </a:solidFill>
              </a:rPr>
              <a:t>WT = 8</a:t>
            </a:r>
          </a:p>
        </p:txBody>
      </p:sp>
      <p:sp>
        <p:nvSpPr>
          <p:cNvPr id="56" name="TextBox 55">
            <a:extLst>
              <a:ext uri="{FF2B5EF4-FFF2-40B4-BE49-F238E27FC236}">
                <a16:creationId xmlns:a16="http://schemas.microsoft.com/office/drawing/2014/main" id="{8BBCF774-F55C-A521-A3E8-4931D2B171C7}"/>
              </a:ext>
            </a:extLst>
          </p:cNvPr>
          <p:cNvSpPr txBox="1"/>
          <p:nvPr/>
        </p:nvSpPr>
        <p:spPr>
          <a:xfrm>
            <a:off x="6987912" y="4465384"/>
            <a:ext cx="791285" cy="230832"/>
          </a:xfrm>
          <a:prstGeom prst="rect">
            <a:avLst/>
          </a:prstGeom>
          <a:noFill/>
        </p:spPr>
        <p:txBody>
          <a:bodyPr wrap="square" rtlCol="0">
            <a:spAutoFit/>
          </a:bodyPr>
          <a:lstStyle/>
          <a:p>
            <a:r>
              <a:rPr lang="en-US" sz="900" b="1" dirty="0">
                <a:solidFill>
                  <a:srgbClr val="00B050"/>
                </a:solidFill>
              </a:rPr>
              <a:t>PT = 0.08</a:t>
            </a:r>
          </a:p>
        </p:txBody>
      </p:sp>
      <p:sp>
        <p:nvSpPr>
          <p:cNvPr id="58" name="TextBox 57">
            <a:extLst>
              <a:ext uri="{FF2B5EF4-FFF2-40B4-BE49-F238E27FC236}">
                <a16:creationId xmlns:a16="http://schemas.microsoft.com/office/drawing/2014/main" id="{EE405BF2-0629-93B4-A7B9-F0F5CCC1D5F5}"/>
              </a:ext>
            </a:extLst>
          </p:cNvPr>
          <p:cNvSpPr txBox="1"/>
          <p:nvPr/>
        </p:nvSpPr>
        <p:spPr>
          <a:xfrm>
            <a:off x="6778512" y="5104196"/>
            <a:ext cx="591671" cy="230832"/>
          </a:xfrm>
          <a:prstGeom prst="rect">
            <a:avLst/>
          </a:prstGeom>
          <a:noFill/>
        </p:spPr>
        <p:txBody>
          <a:bodyPr wrap="square" rtlCol="0">
            <a:spAutoFit/>
          </a:bodyPr>
          <a:lstStyle/>
          <a:p>
            <a:r>
              <a:rPr lang="en-US" sz="900" b="1" dirty="0">
                <a:solidFill>
                  <a:schemeClr val="accent2">
                    <a:lumMod val="75000"/>
                  </a:schemeClr>
                </a:solidFill>
              </a:rPr>
              <a:t>25%</a:t>
            </a:r>
          </a:p>
        </p:txBody>
      </p:sp>
      <p:sp>
        <p:nvSpPr>
          <p:cNvPr id="60" name="TextBox 59">
            <a:extLst>
              <a:ext uri="{FF2B5EF4-FFF2-40B4-BE49-F238E27FC236}">
                <a16:creationId xmlns:a16="http://schemas.microsoft.com/office/drawing/2014/main" id="{213CDD3D-4235-E39B-21C6-2F546F73C5CE}"/>
              </a:ext>
            </a:extLst>
          </p:cNvPr>
          <p:cNvSpPr txBox="1"/>
          <p:nvPr/>
        </p:nvSpPr>
        <p:spPr>
          <a:xfrm>
            <a:off x="6833158" y="4732792"/>
            <a:ext cx="591671" cy="230832"/>
          </a:xfrm>
          <a:prstGeom prst="rect">
            <a:avLst/>
          </a:prstGeom>
          <a:noFill/>
        </p:spPr>
        <p:txBody>
          <a:bodyPr wrap="square" rtlCol="0">
            <a:spAutoFit/>
          </a:bodyPr>
          <a:lstStyle/>
          <a:p>
            <a:r>
              <a:rPr lang="en-US" sz="900" b="1" dirty="0">
                <a:solidFill>
                  <a:schemeClr val="accent2">
                    <a:lumMod val="75000"/>
                  </a:schemeClr>
                </a:solidFill>
              </a:rPr>
              <a:t>75%</a:t>
            </a:r>
          </a:p>
        </p:txBody>
      </p:sp>
    </p:spTree>
    <p:extLst>
      <p:ext uri="{BB962C8B-B14F-4D97-AF65-F5344CB8AC3E}">
        <p14:creationId xmlns:p14="http://schemas.microsoft.com/office/powerpoint/2010/main" val="11617180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4.3 TÍNH TOÁN THỜI GIAN</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THỜI GIAN XỬ LÝ KỲ VỌNG CỦA QUY TRÌNH PYC (AS-IS)</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Áp dụng công thức tính thời gian qua các cổng (Gateway) cho từng khối công việc</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45</a:t>
            </a:r>
            <a:endParaRPr lang="en-US" sz="1100" dirty="0"/>
          </a:p>
        </p:txBody>
      </p:sp>
      <p:sp>
        <p:nvSpPr>
          <p:cNvPr id="8" name="Shape 6"/>
          <p:cNvSpPr/>
          <p:nvPr/>
        </p:nvSpPr>
        <p:spPr>
          <a:xfrm>
            <a:off x="548640" y="1517904"/>
            <a:ext cx="8595360" cy="731520"/>
          </a:xfrm>
          <a:prstGeom prst="roundRect">
            <a:avLst>
              <a:gd name="adj" fmla="val 75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31520" y="1591056"/>
            <a:ext cx="786384" cy="237744"/>
          </a:xfrm>
          <a:prstGeom prst="rect">
            <a:avLst/>
          </a:prstGeom>
          <a:noFill/>
          <a:ln/>
        </p:spPr>
        <p:txBody>
          <a:bodyPr wrap="square" lIns="0" tIns="0" rIns="0" bIns="0" rtlCol="0" anchor="t"/>
          <a:lstStyle/>
          <a:p>
            <a:pPr marL="0" indent="0">
              <a:buNone/>
            </a:pPr>
            <a:r>
              <a:rPr lang="en-US" sz="1100" b="1" dirty="0">
                <a:solidFill>
                  <a:srgbClr val="1660BF"/>
                </a:solidFill>
                <a:latin typeface="Calibri" pitchFamily="34" charset="0"/>
                <a:ea typeface="Calibri" pitchFamily="34" charset="-122"/>
                <a:cs typeface="Calibri" pitchFamily="34" charset="-120"/>
              </a:rPr>
              <a:t>KHỐI 1</a:t>
            </a:r>
            <a:endParaRPr lang="en-US" sz="1100" dirty="0"/>
          </a:p>
        </p:txBody>
      </p:sp>
      <p:sp>
        <p:nvSpPr>
          <p:cNvPr id="10" name="Text 8"/>
          <p:cNvSpPr txBox="1"/>
          <p:nvPr/>
        </p:nvSpPr>
        <p:spPr>
          <a:xfrm>
            <a:off x="1554480" y="1572768"/>
            <a:ext cx="2743200"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Khởi tạo và Phê duyệt</a:t>
            </a:r>
            <a:endParaRPr lang="en-US" sz="1200" dirty="0"/>
          </a:p>
        </p:txBody>
      </p:sp>
      <p:sp>
        <p:nvSpPr>
          <p:cNvPr id="11" name="Text 9"/>
          <p:cNvSpPr txBox="1"/>
          <p:nvPr/>
        </p:nvSpPr>
        <p:spPr>
          <a:xfrm>
            <a:off x="1554480" y="1865376"/>
            <a:ext cx="2743200" cy="256032"/>
          </a:xfrm>
          <a:prstGeom prst="rect">
            <a:avLst/>
          </a:prstGeom>
          <a:noFill/>
          <a:ln/>
        </p:spPr>
        <p:txBody>
          <a:bodyPr wrap="square" lIns="0" tIns="0" rIns="0" bIns="0" rtlCol="0" anchor="t"/>
          <a:lstStyle/>
          <a:p>
            <a:pPr marL="0" indent="0">
              <a:buNone/>
            </a:pPr>
            <a:endParaRPr lang="en-US" sz="900" dirty="0"/>
          </a:p>
        </p:txBody>
      </p:sp>
      <p:sp>
        <p:nvSpPr>
          <p:cNvPr id="12" name="Text 10"/>
          <p:cNvSpPr txBox="1"/>
          <p:nvPr/>
        </p:nvSpPr>
        <p:spPr>
          <a:xfrm>
            <a:off x="4434840" y="1609344"/>
            <a:ext cx="2743200" cy="548640"/>
          </a:xfrm>
          <a:prstGeom prst="rect">
            <a:avLst/>
          </a:prstGeom>
          <a:noFill/>
          <a:ln/>
        </p:spPr>
        <p:txBody>
          <a:bodyPr wrap="square" lIns="0" tIns="0" rIns="0" bIns="0" rtlCol="0" anchor="t"/>
          <a:lstStyle/>
          <a:p>
            <a:pPr marL="0" indent="0">
              <a:buNone/>
            </a:pPr>
            <a:r>
              <a:rPr lang="en-US" sz="950" dirty="0" err="1">
                <a:solidFill>
                  <a:srgbClr val="2A3442"/>
                </a:solidFill>
                <a:latin typeface="Calibri" pitchFamily="34" charset="0"/>
                <a:ea typeface="Calibri" pitchFamily="34" charset="-122"/>
                <a:cs typeface="Calibri" pitchFamily="34" charset="-120"/>
              </a:rPr>
              <a:t>Thời</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gian</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khởi</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tạo</a:t>
            </a:r>
            <a:r>
              <a:rPr lang="en-US" sz="950" dirty="0">
                <a:solidFill>
                  <a:srgbClr val="2A3442"/>
                </a:solidFill>
                <a:latin typeface="Calibri" pitchFamily="34" charset="0"/>
                <a:ea typeface="Calibri" pitchFamily="34" charset="-122"/>
                <a:cs typeface="Calibri" pitchFamily="34" charset="-120"/>
              </a:rPr>
              <a:t> 2,5 </a:t>
            </a:r>
            <a:r>
              <a:rPr lang="en-US" sz="950" dirty="0" err="1">
                <a:solidFill>
                  <a:srgbClr val="2A3442"/>
                </a:solidFill>
                <a:latin typeface="Calibri" pitchFamily="34" charset="0"/>
                <a:ea typeface="Calibri" pitchFamily="34" charset="-122"/>
                <a:cs typeface="Calibri" pitchFamily="34" charset="-120"/>
              </a:rPr>
              <a:t>giờ</a:t>
            </a:r>
            <a:endParaRPr lang="en-US" sz="950" dirty="0">
              <a:solidFill>
                <a:srgbClr val="2A3442"/>
              </a:solidFill>
              <a:latin typeface="Calibri" pitchFamily="34" charset="0"/>
              <a:ea typeface="Calibri" pitchFamily="34" charset="-122"/>
              <a:cs typeface="Calibri" pitchFamily="34" charset="-120"/>
            </a:endParaRPr>
          </a:p>
          <a:p>
            <a:pPr marL="0" indent="0">
              <a:buNone/>
            </a:pPr>
            <a:r>
              <a:rPr lang="en-US" sz="950" dirty="0" err="1"/>
              <a:t>Phân</a:t>
            </a:r>
            <a:r>
              <a:rPr lang="en-US" sz="950" dirty="0"/>
              <a:t> </a:t>
            </a:r>
            <a:r>
              <a:rPr lang="en-US" sz="950" dirty="0" err="1"/>
              <a:t>loại</a:t>
            </a:r>
            <a:r>
              <a:rPr lang="en-US" sz="950" dirty="0"/>
              <a:t> </a:t>
            </a:r>
            <a:r>
              <a:rPr lang="en-US" sz="950" dirty="0" err="1"/>
              <a:t>rủi</a:t>
            </a:r>
            <a:r>
              <a:rPr lang="en-US" sz="950" dirty="0"/>
              <a:t> </a:t>
            </a:r>
            <a:r>
              <a:rPr lang="en-US" sz="950" dirty="0" err="1"/>
              <a:t>ro</a:t>
            </a:r>
            <a:r>
              <a:rPr lang="en-US" sz="950" dirty="0"/>
              <a:t> 0.25</a:t>
            </a:r>
          </a:p>
          <a:p>
            <a:pPr marL="0" indent="0">
              <a:buNone/>
            </a:pPr>
            <a:r>
              <a:rPr lang="en-US" sz="950" dirty="0"/>
              <a:t>Quản </a:t>
            </a:r>
            <a:r>
              <a:rPr lang="en-US" sz="950" dirty="0" err="1"/>
              <a:t>lý</a:t>
            </a:r>
            <a:r>
              <a:rPr lang="en-US" sz="950" dirty="0"/>
              <a:t> </a:t>
            </a:r>
            <a:r>
              <a:rPr lang="en-US" sz="950" dirty="0" err="1"/>
              <a:t>phê</a:t>
            </a:r>
            <a:r>
              <a:rPr lang="en-US" sz="950" dirty="0"/>
              <a:t> </a:t>
            </a:r>
            <a:r>
              <a:rPr lang="en-US" sz="950" dirty="0" err="1"/>
              <a:t>duyệt</a:t>
            </a:r>
            <a:r>
              <a:rPr lang="en-US" sz="950" dirty="0"/>
              <a:t>: 0.08 + 0.9*5.08 + 0.1*6 = 5.25</a:t>
            </a:r>
          </a:p>
        </p:txBody>
      </p:sp>
      <p:sp>
        <p:nvSpPr>
          <p:cNvPr id="13" name="Text 11"/>
          <p:cNvSpPr txBox="1"/>
          <p:nvPr/>
        </p:nvSpPr>
        <p:spPr>
          <a:xfrm>
            <a:off x="7269480" y="1700784"/>
            <a:ext cx="1737360" cy="365760"/>
          </a:xfrm>
          <a:prstGeom prst="rect">
            <a:avLst/>
          </a:prstGeom>
          <a:noFill/>
          <a:ln/>
        </p:spPr>
        <p:txBody>
          <a:bodyPr wrap="square" lIns="0" tIns="0" rIns="0" bIns="0" rtlCol="0" anchor="t"/>
          <a:lstStyle/>
          <a:p>
            <a:pPr marL="0" indent="0" algn="r">
              <a:buNone/>
            </a:pPr>
            <a:r>
              <a:rPr lang="en-US" sz="1000" b="1" dirty="0">
                <a:solidFill>
                  <a:srgbClr val="0B3B75"/>
                </a:solidFill>
                <a:latin typeface="Calibri" pitchFamily="34" charset="0"/>
                <a:ea typeface="Calibri" pitchFamily="34" charset="-122"/>
                <a:cs typeface="Calibri" pitchFamily="34" charset="-120"/>
              </a:rPr>
              <a:t>T₁ = 8 </a:t>
            </a:r>
            <a:r>
              <a:rPr lang="en-US" sz="1000" b="1" dirty="0" err="1">
                <a:solidFill>
                  <a:srgbClr val="0B3B75"/>
                </a:solidFill>
                <a:latin typeface="Calibri" pitchFamily="34" charset="0"/>
                <a:ea typeface="Calibri" pitchFamily="34" charset="-122"/>
                <a:cs typeface="Calibri" pitchFamily="34" charset="-120"/>
              </a:rPr>
              <a:t>giờ</a:t>
            </a:r>
            <a:endParaRPr lang="en-US" sz="1000" dirty="0"/>
          </a:p>
        </p:txBody>
      </p:sp>
      <p:sp>
        <p:nvSpPr>
          <p:cNvPr id="14" name="Shape 12"/>
          <p:cNvSpPr/>
          <p:nvPr/>
        </p:nvSpPr>
        <p:spPr>
          <a:xfrm>
            <a:off x="548640" y="2377440"/>
            <a:ext cx="8595360" cy="731520"/>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5" name="Text 13"/>
          <p:cNvSpPr txBox="1"/>
          <p:nvPr/>
        </p:nvSpPr>
        <p:spPr>
          <a:xfrm>
            <a:off x="731520" y="2450592"/>
            <a:ext cx="786384" cy="237744"/>
          </a:xfrm>
          <a:prstGeom prst="rect">
            <a:avLst/>
          </a:prstGeom>
          <a:noFill/>
          <a:ln/>
        </p:spPr>
        <p:txBody>
          <a:bodyPr wrap="square" lIns="0" tIns="0" rIns="0" bIns="0" rtlCol="0" anchor="t"/>
          <a:lstStyle/>
          <a:p>
            <a:pPr marL="0" indent="0">
              <a:buNone/>
            </a:pPr>
            <a:r>
              <a:rPr lang="en-US" sz="1100" b="1" dirty="0">
                <a:solidFill>
                  <a:srgbClr val="1660BF"/>
                </a:solidFill>
                <a:latin typeface="Calibri" pitchFamily="34" charset="0"/>
                <a:ea typeface="Calibri" pitchFamily="34" charset="-122"/>
                <a:cs typeface="Calibri" pitchFamily="34" charset="-120"/>
              </a:rPr>
              <a:t>KHỐI 2</a:t>
            </a:r>
            <a:endParaRPr lang="en-US" sz="1100" dirty="0"/>
          </a:p>
        </p:txBody>
      </p:sp>
      <p:sp>
        <p:nvSpPr>
          <p:cNvPr id="16" name="Text 14"/>
          <p:cNvSpPr txBox="1"/>
          <p:nvPr/>
        </p:nvSpPr>
        <p:spPr>
          <a:xfrm>
            <a:off x="1554480" y="2432304"/>
            <a:ext cx="2743200"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Tự động sinh WO &amp; IT phân loại</a:t>
            </a:r>
            <a:endParaRPr lang="en-US" sz="1200" dirty="0"/>
          </a:p>
        </p:txBody>
      </p:sp>
      <p:sp>
        <p:nvSpPr>
          <p:cNvPr id="17" name="Text 15"/>
          <p:cNvSpPr txBox="1"/>
          <p:nvPr/>
        </p:nvSpPr>
        <p:spPr>
          <a:xfrm>
            <a:off x="1554480" y="2724912"/>
            <a:ext cx="2743200" cy="256032"/>
          </a:xfrm>
          <a:prstGeom prst="rect">
            <a:avLst/>
          </a:prstGeom>
          <a:noFill/>
          <a:ln/>
        </p:spPr>
        <p:txBody>
          <a:bodyPr wrap="square" lIns="0" tIns="0" rIns="0" bIns="0" rtlCol="0" anchor="t"/>
          <a:lstStyle/>
          <a:p>
            <a:pPr marL="0" indent="0">
              <a:buNone/>
            </a:pPr>
            <a:endParaRPr lang="en-US" sz="900" dirty="0"/>
          </a:p>
        </p:txBody>
      </p:sp>
      <p:sp>
        <p:nvSpPr>
          <p:cNvPr id="18" name="Text 16"/>
          <p:cNvSpPr txBox="1"/>
          <p:nvPr/>
        </p:nvSpPr>
        <p:spPr>
          <a:xfrm>
            <a:off x="4434840" y="2468880"/>
            <a:ext cx="2743200" cy="548640"/>
          </a:xfrm>
          <a:prstGeom prst="rect">
            <a:avLst/>
          </a:prstGeom>
          <a:noFill/>
          <a:ln/>
        </p:spPr>
        <p:txBody>
          <a:bodyPr wrap="square" lIns="0" tIns="0" rIns="0" bIns="0" rtlCol="0" anchor="t"/>
          <a:lstStyle/>
          <a:p>
            <a:pPr marL="0" indent="0">
              <a:buNone/>
            </a:pPr>
            <a:r>
              <a:rPr lang="en-US" sz="950" dirty="0" err="1">
                <a:solidFill>
                  <a:srgbClr val="2A3442"/>
                </a:solidFill>
                <a:latin typeface="Calibri" pitchFamily="34" charset="0"/>
                <a:ea typeface="Calibri" pitchFamily="34" charset="-122"/>
                <a:cs typeface="Calibri" pitchFamily="34" charset="-120"/>
              </a:rPr>
              <a:t>Tự</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động</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gán</a:t>
            </a:r>
            <a:r>
              <a:rPr lang="en-US" sz="950" dirty="0">
                <a:solidFill>
                  <a:srgbClr val="2A3442"/>
                </a:solidFill>
                <a:latin typeface="Calibri" pitchFamily="34" charset="0"/>
                <a:ea typeface="Calibri" pitchFamily="34" charset="-122"/>
                <a:cs typeface="Calibri" pitchFamily="34" charset="-120"/>
              </a:rPr>
              <a:t> WO </a:t>
            </a:r>
            <a:r>
              <a:rPr lang="en-US" sz="950" dirty="0" err="1">
                <a:solidFill>
                  <a:srgbClr val="2A3442"/>
                </a:solidFill>
                <a:latin typeface="Calibri" pitchFamily="34" charset="0"/>
                <a:ea typeface="Calibri" pitchFamily="34" charset="-122"/>
                <a:cs typeface="Calibri" pitchFamily="34" charset="-120"/>
              </a:rPr>
              <a:t>và</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phân</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loại</a:t>
            </a:r>
            <a:r>
              <a:rPr lang="en-US" sz="950" dirty="0">
                <a:solidFill>
                  <a:srgbClr val="2A3442"/>
                </a:solidFill>
                <a:latin typeface="Calibri" pitchFamily="34" charset="0"/>
                <a:ea typeface="Calibri" pitchFamily="34" charset="-122"/>
                <a:cs typeface="Calibri" pitchFamily="34" charset="-120"/>
              </a:rPr>
              <a:t>: 0.66</a:t>
            </a:r>
          </a:p>
          <a:p>
            <a:pPr marL="0" indent="0">
              <a:buNone/>
            </a:pPr>
            <a:r>
              <a:rPr lang="en-US" sz="950" dirty="0">
                <a:solidFill>
                  <a:srgbClr val="2A3442"/>
                </a:solidFill>
                <a:latin typeface="Calibri" pitchFamily="34" charset="0"/>
                <a:ea typeface="Calibri" pitchFamily="34" charset="-122"/>
                <a:cs typeface="Calibri" pitchFamily="34" charset="-120"/>
              </a:rPr>
              <a:t>L1 </a:t>
            </a:r>
            <a:r>
              <a:rPr lang="en-US" sz="950" dirty="0" err="1">
                <a:solidFill>
                  <a:srgbClr val="2A3442"/>
                </a:solidFill>
                <a:latin typeface="Calibri" pitchFamily="34" charset="0"/>
                <a:ea typeface="Calibri" pitchFamily="34" charset="-122"/>
                <a:cs typeface="Calibri" pitchFamily="34" charset="-120"/>
              </a:rPr>
              <a:t>xác</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minh</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thông</a:t>
            </a:r>
            <a:r>
              <a:rPr lang="en-US" sz="950" dirty="0">
                <a:solidFill>
                  <a:srgbClr val="2A3442"/>
                </a:solidFill>
                <a:latin typeface="Calibri" pitchFamily="34" charset="0"/>
                <a:ea typeface="Calibri" pitchFamily="34" charset="-122"/>
                <a:cs typeface="Calibri" pitchFamily="34" charset="-120"/>
              </a:rPr>
              <a:t> tin: 0.5  </a:t>
            </a:r>
            <a:endParaRPr lang="en-US" sz="950" dirty="0"/>
          </a:p>
        </p:txBody>
      </p:sp>
      <p:sp>
        <p:nvSpPr>
          <p:cNvPr id="19" name="Text 17"/>
          <p:cNvSpPr txBox="1"/>
          <p:nvPr/>
        </p:nvSpPr>
        <p:spPr>
          <a:xfrm>
            <a:off x="7269480" y="2560320"/>
            <a:ext cx="1737360" cy="365760"/>
          </a:xfrm>
          <a:prstGeom prst="rect">
            <a:avLst/>
          </a:prstGeom>
          <a:noFill/>
          <a:ln/>
        </p:spPr>
        <p:txBody>
          <a:bodyPr wrap="square" lIns="0" tIns="0" rIns="0" bIns="0" rtlCol="0" anchor="t"/>
          <a:lstStyle/>
          <a:p>
            <a:pPr marL="0" indent="0" algn="r">
              <a:buNone/>
            </a:pPr>
            <a:r>
              <a:rPr lang="en-US" sz="1000" b="1" dirty="0">
                <a:solidFill>
                  <a:srgbClr val="0B3B75"/>
                </a:solidFill>
                <a:latin typeface="Calibri" pitchFamily="34" charset="0"/>
                <a:ea typeface="Calibri" pitchFamily="34" charset="-122"/>
                <a:cs typeface="Calibri" pitchFamily="34" charset="-120"/>
              </a:rPr>
              <a:t>T₂ = 0.66 + 0.5 = 1.16 </a:t>
            </a:r>
            <a:r>
              <a:rPr lang="en-US" sz="1000" b="1" dirty="0" err="1">
                <a:solidFill>
                  <a:srgbClr val="0B3B75"/>
                </a:solidFill>
                <a:latin typeface="Calibri" pitchFamily="34" charset="0"/>
                <a:ea typeface="Calibri" pitchFamily="34" charset="-122"/>
                <a:cs typeface="Calibri" pitchFamily="34" charset="-120"/>
              </a:rPr>
              <a:t>giờ</a:t>
            </a:r>
            <a:endParaRPr lang="en-US" sz="1000" dirty="0"/>
          </a:p>
        </p:txBody>
      </p:sp>
      <p:sp>
        <p:nvSpPr>
          <p:cNvPr id="20" name="Shape 18"/>
          <p:cNvSpPr/>
          <p:nvPr/>
        </p:nvSpPr>
        <p:spPr>
          <a:xfrm>
            <a:off x="548640" y="3236976"/>
            <a:ext cx="8595360" cy="731520"/>
          </a:xfrm>
          <a:prstGeom prst="roundRect">
            <a:avLst>
              <a:gd name="adj" fmla="val 75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1" name="Text 19"/>
          <p:cNvSpPr txBox="1"/>
          <p:nvPr/>
        </p:nvSpPr>
        <p:spPr>
          <a:xfrm>
            <a:off x="731520" y="3310128"/>
            <a:ext cx="786384" cy="237744"/>
          </a:xfrm>
          <a:prstGeom prst="rect">
            <a:avLst/>
          </a:prstGeom>
          <a:noFill/>
          <a:ln/>
        </p:spPr>
        <p:txBody>
          <a:bodyPr wrap="square" lIns="0" tIns="0" rIns="0" bIns="0" rtlCol="0" anchor="t"/>
          <a:lstStyle/>
          <a:p>
            <a:pPr marL="0" indent="0">
              <a:buNone/>
            </a:pPr>
            <a:r>
              <a:rPr lang="en-US" sz="1100" b="1" dirty="0">
                <a:solidFill>
                  <a:srgbClr val="1660BF"/>
                </a:solidFill>
                <a:latin typeface="Calibri" pitchFamily="34" charset="0"/>
                <a:ea typeface="Calibri" pitchFamily="34" charset="-122"/>
                <a:cs typeface="Calibri" pitchFamily="34" charset="-120"/>
              </a:rPr>
              <a:t>KHỐI 3</a:t>
            </a:r>
            <a:endParaRPr lang="en-US" sz="1100" dirty="0"/>
          </a:p>
        </p:txBody>
      </p:sp>
      <p:sp>
        <p:nvSpPr>
          <p:cNvPr id="22" name="Text 20"/>
          <p:cNvSpPr txBox="1"/>
          <p:nvPr/>
        </p:nvSpPr>
        <p:spPr>
          <a:xfrm>
            <a:off x="1554480" y="3291840"/>
            <a:ext cx="2743200"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Xử </a:t>
            </a:r>
            <a:r>
              <a:rPr lang="en-US" sz="1200" b="1" dirty="0" err="1">
                <a:solidFill>
                  <a:srgbClr val="0B3B75"/>
                </a:solidFill>
                <a:latin typeface="Calibri" pitchFamily="34" charset="0"/>
                <a:ea typeface="Calibri" pitchFamily="34" charset="-122"/>
                <a:cs typeface="Calibri" pitchFamily="34" charset="-120"/>
              </a:rPr>
              <a:t>lý</a:t>
            </a:r>
            <a:r>
              <a:rPr lang="en-US" sz="1200" b="1" dirty="0">
                <a:solidFill>
                  <a:srgbClr val="0B3B75"/>
                </a:solidFill>
                <a:latin typeface="Calibri" pitchFamily="34" charset="0"/>
                <a:ea typeface="Calibri" pitchFamily="34" charset="-122"/>
                <a:cs typeface="Calibri" pitchFamily="34" charset="-120"/>
              </a:rPr>
              <a:t> WO</a:t>
            </a:r>
            <a:endParaRPr lang="en-US" sz="1200" dirty="0"/>
          </a:p>
        </p:txBody>
      </p:sp>
      <p:sp>
        <p:nvSpPr>
          <p:cNvPr id="23" name="Text 21"/>
          <p:cNvSpPr txBox="1"/>
          <p:nvPr/>
        </p:nvSpPr>
        <p:spPr>
          <a:xfrm>
            <a:off x="1554480" y="3584448"/>
            <a:ext cx="2743200" cy="256032"/>
          </a:xfrm>
          <a:prstGeom prst="rect">
            <a:avLst/>
          </a:prstGeom>
          <a:noFill/>
          <a:ln/>
        </p:spPr>
        <p:txBody>
          <a:bodyPr wrap="square" lIns="0" tIns="0" rIns="0" bIns="0" rtlCol="0" anchor="t"/>
          <a:lstStyle/>
          <a:p>
            <a:pPr marL="0" indent="0">
              <a:buNone/>
            </a:pPr>
            <a:endParaRPr lang="en-US" sz="900" dirty="0"/>
          </a:p>
        </p:txBody>
      </p:sp>
      <p:sp>
        <p:nvSpPr>
          <p:cNvPr id="24" name="Text 22"/>
          <p:cNvSpPr txBox="1"/>
          <p:nvPr/>
        </p:nvSpPr>
        <p:spPr>
          <a:xfrm>
            <a:off x="4434840" y="3328416"/>
            <a:ext cx="2743200" cy="548640"/>
          </a:xfrm>
          <a:prstGeom prst="rect">
            <a:avLst/>
          </a:prstGeom>
          <a:noFill/>
          <a:ln/>
        </p:spPr>
        <p:txBody>
          <a:bodyPr wrap="square" lIns="0" tIns="0" rIns="0" bIns="0" rtlCol="0" anchor="t"/>
          <a:lstStyle/>
          <a:p>
            <a:pPr marL="0" indent="0">
              <a:buNone/>
            </a:pPr>
            <a:r>
              <a:rPr lang="en-US" sz="950" dirty="0" err="1">
                <a:solidFill>
                  <a:srgbClr val="2A3442"/>
                </a:solidFill>
                <a:latin typeface="Calibri" pitchFamily="34" charset="0"/>
                <a:ea typeface="Calibri" pitchFamily="34" charset="-122"/>
                <a:cs typeface="Calibri" pitchFamily="34" charset="-120"/>
              </a:rPr>
              <a:t>Xử</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lý</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trực</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tiếp</a:t>
            </a:r>
            <a:r>
              <a:rPr lang="en-US" sz="950" dirty="0">
                <a:solidFill>
                  <a:srgbClr val="2A3442"/>
                </a:solidFill>
                <a:latin typeface="Calibri" pitchFamily="34" charset="0"/>
                <a:ea typeface="Calibri" pitchFamily="34" charset="-122"/>
                <a:cs typeface="Calibri" pitchFamily="34" charset="-120"/>
              </a:rPr>
              <a:t>: 0.7*2.3 = 1.61</a:t>
            </a:r>
          </a:p>
          <a:p>
            <a:pPr marL="0" indent="0">
              <a:buNone/>
            </a:pPr>
            <a:r>
              <a:rPr lang="en-US" sz="950" dirty="0">
                <a:solidFill>
                  <a:srgbClr val="2A3442"/>
                </a:solidFill>
                <a:latin typeface="Calibri" pitchFamily="34" charset="0"/>
                <a:ea typeface="Calibri" pitchFamily="34" charset="-122"/>
                <a:cs typeface="Calibri" pitchFamily="34" charset="-120"/>
              </a:rPr>
              <a:t>L2 </a:t>
            </a:r>
            <a:r>
              <a:rPr lang="en-US" sz="950" dirty="0" err="1">
                <a:solidFill>
                  <a:srgbClr val="2A3442"/>
                </a:solidFill>
                <a:latin typeface="Calibri" pitchFamily="34" charset="0"/>
                <a:ea typeface="Calibri" pitchFamily="34" charset="-122"/>
                <a:cs typeface="Calibri" pitchFamily="34" charset="-120"/>
              </a:rPr>
              <a:t>xử</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lý</a:t>
            </a:r>
            <a:r>
              <a:rPr lang="en-US" sz="950" dirty="0">
                <a:solidFill>
                  <a:srgbClr val="2A3442"/>
                </a:solidFill>
                <a:latin typeface="Calibri" pitchFamily="34" charset="0"/>
                <a:ea typeface="Calibri" pitchFamily="34" charset="-122"/>
                <a:cs typeface="Calibri" pitchFamily="34" charset="-120"/>
              </a:rPr>
              <a:t>: 0.3*14.66 = 4.4</a:t>
            </a:r>
            <a:endParaRPr lang="en-US" sz="950" dirty="0"/>
          </a:p>
        </p:txBody>
      </p:sp>
      <p:sp>
        <p:nvSpPr>
          <p:cNvPr id="25" name="Text 23"/>
          <p:cNvSpPr txBox="1"/>
          <p:nvPr/>
        </p:nvSpPr>
        <p:spPr>
          <a:xfrm>
            <a:off x="7269480" y="3419856"/>
            <a:ext cx="1737360" cy="365760"/>
          </a:xfrm>
          <a:prstGeom prst="rect">
            <a:avLst/>
          </a:prstGeom>
          <a:noFill/>
          <a:ln/>
        </p:spPr>
        <p:txBody>
          <a:bodyPr wrap="square" lIns="0" tIns="0" rIns="0" bIns="0" rtlCol="0" anchor="t"/>
          <a:lstStyle/>
          <a:p>
            <a:pPr marL="0" indent="0" algn="r">
              <a:buNone/>
            </a:pPr>
            <a:r>
              <a:rPr lang="en-US" sz="1000" b="1" dirty="0">
                <a:solidFill>
                  <a:srgbClr val="0B3B75"/>
                </a:solidFill>
                <a:latin typeface="Calibri" pitchFamily="34" charset="0"/>
                <a:ea typeface="Calibri" pitchFamily="34" charset="-122"/>
                <a:cs typeface="Calibri" pitchFamily="34" charset="-120"/>
              </a:rPr>
              <a:t>T₃ = 1.6 + 4.4 = 6 giờ</a:t>
            </a:r>
            <a:endParaRPr lang="en-US" sz="1000" dirty="0"/>
          </a:p>
        </p:txBody>
      </p:sp>
      <p:sp>
        <p:nvSpPr>
          <p:cNvPr id="26" name="Shape 24"/>
          <p:cNvSpPr/>
          <p:nvPr/>
        </p:nvSpPr>
        <p:spPr>
          <a:xfrm>
            <a:off x="548640" y="4096512"/>
            <a:ext cx="8595360" cy="731520"/>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7" name="Text 25"/>
          <p:cNvSpPr txBox="1"/>
          <p:nvPr/>
        </p:nvSpPr>
        <p:spPr>
          <a:xfrm>
            <a:off x="731520" y="4169664"/>
            <a:ext cx="786384" cy="237744"/>
          </a:xfrm>
          <a:prstGeom prst="rect">
            <a:avLst/>
          </a:prstGeom>
          <a:noFill/>
          <a:ln/>
        </p:spPr>
        <p:txBody>
          <a:bodyPr wrap="square" lIns="0" tIns="0" rIns="0" bIns="0" rtlCol="0" anchor="t"/>
          <a:lstStyle/>
          <a:p>
            <a:pPr marL="0" indent="0">
              <a:buNone/>
            </a:pPr>
            <a:r>
              <a:rPr lang="en-US" sz="1100" b="1" dirty="0">
                <a:solidFill>
                  <a:srgbClr val="1660BF"/>
                </a:solidFill>
                <a:latin typeface="Calibri" pitchFamily="34" charset="0"/>
                <a:ea typeface="Calibri" pitchFamily="34" charset="-122"/>
                <a:cs typeface="Calibri" pitchFamily="34" charset="-120"/>
              </a:rPr>
              <a:t>KHỐI 4</a:t>
            </a:r>
            <a:endParaRPr lang="en-US" sz="1100" dirty="0"/>
          </a:p>
        </p:txBody>
      </p:sp>
      <p:sp>
        <p:nvSpPr>
          <p:cNvPr id="28" name="Text 26"/>
          <p:cNvSpPr txBox="1"/>
          <p:nvPr/>
        </p:nvSpPr>
        <p:spPr>
          <a:xfrm>
            <a:off x="1554480" y="4151376"/>
            <a:ext cx="2743200"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Hoàn tất &amp; Đóng phiếu</a:t>
            </a:r>
            <a:endParaRPr lang="en-US" sz="1200" dirty="0"/>
          </a:p>
        </p:txBody>
      </p:sp>
      <p:sp>
        <p:nvSpPr>
          <p:cNvPr id="29" name="Text 27"/>
          <p:cNvSpPr txBox="1"/>
          <p:nvPr/>
        </p:nvSpPr>
        <p:spPr>
          <a:xfrm>
            <a:off x="1554480" y="4443984"/>
            <a:ext cx="2743200" cy="256032"/>
          </a:xfrm>
          <a:prstGeom prst="rect">
            <a:avLst/>
          </a:prstGeom>
          <a:noFill/>
          <a:ln/>
        </p:spPr>
        <p:txBody>
          <a:bodyPr wrap="square" lIns="0" tIns="0" rIns="0" bIns="0" rtlCol="0" anchor="t"/>
          <a:lstStyle/>
          <a:p>
            <a:pPr marL="0" indent="0">
              <a:buNone/>
            </a:pPr>
            <a:endParaRPr lang="en-US" sz="900" dirty="0"/>
          </a:p>
        </p:txBody>
      </p:sp>
      <p:sp>
        <p:nvSpPr>
          <p:cNvPr id="30" name="Text 28"/>
          <p:cNvSpPr txBox="1"/>
          <p:nvPr/>
        </p:nvSpPr>
        <p:spPr>
          <a:xfrm>
            <a:off x="4434840" y="4187952"/>
            <a:ext cx="2743200" cy="548640"/>
          </a:xfrm>
          <a:prstGeom prst="rect">
            <a:avLst/>
          </a:prstGeom>
          <a:noFill/>
          <a:ln/>
        </p:spPr>
        <p:txBody>
          <a:bodyPr wrap="square" lIns="0" tIns="0" rIns="0" bIns="0" rtlCol="0" anchor="t"/>
          <a:lstStyle/>
          <a:p>
            <a:pPr marL="0" indent="0">
              <a:buNone/>
            </a:pPr>
            <a:r>
              <a:rPr lang="en-US" sz="950" dirty="0" err="1">
                <a:solidFill>
                  <a:srgbClr val="2A3442"/>
                </a:solidFill>
                <a:latin typeface="Calibri" pitchFamily="34" charset="0"/>
                <a:ea typeface="Calibri" pitchFamily="34" charset="-122"/>
                <a:cs typeface="Calibri" pitchFamily="34" charset="-120"/>
              </a:rPr>
              <a:t>Cập</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nhật</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trạng</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thái</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kiểm</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tra</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và</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đóng</a:t>
            </a:r>
            <a:r>
              <a:rPr lang="en-US" sz="950" dirty="0">
                <a:solidFill>
                  <a:srgbClr val="2A3442"/>
                </a:solidFill>
                <a:latin typeface="Calibri" pitchFamily="34" charset="0"/>
                <a:ea typeface="Calibri" pitchFamily="34" charset="-122"/>
                <a:cs typeface="Calibri" pitchFamily="34" charset="-120"/>
              </a:rPr>
              <a:t> ticket: 1.08</a:t>
            </a:r>
          </a:p>
          <a:p>
            <a:pPr marL="0" indent="0">
              <a:buNone/>
            </a:pPr>
            <a:r>
              <a:rPr lang="en-US" sz="950" dirty="0">
                <a:solidFill>
                  <a:srgbClr val="2A3442"/>
                </a:solidFill>
                <a:latin typeface="Calibri" pitchFamily="34" charset="0"/>
                <a:ea typeface="Calibri" pitchFamily="34" charset="-122"/>
                <a:cs typeface="Calibri" pitchFamily="34" charset="-120"/>
              </a:rPr>
              <a:t>KH confirm: 0.75*0.08 = 0.06</a:t>
            </a:r>
          </a:p>
          <a:p>
            <a:pPr marL="0" indent="0">
              <a:buNone/>
            </a:pPr>
            <a:r>
              <a:rPr lang="en-US" sz="950" dirty="0" err="1">
                <a:solidFill>
                  <a:srgbClr val="2A3442"/>
                </a:solidFill>
                <a:latin typeface="Calibri" pitchFamily="34" charset="0"/>
                <a:ea typeface="Calibri" pitchFamily="34" charset="-122"/>
                <a:cs typeface="Calibri" pitchFamily="34" charset="-120"/>
              </a:rPr>
              <a:t>Hết</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thời</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gian</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đợi</a:t>
            </a:r>
            <a:r>
              <a:rPr lang="en-US" sz="950" dirty="0">
                <a:solidFill>
                  <a:srgbClr val="2A3442"/>
                </a:solidFill>
                <a:latin typeface="Calibri" pitchFamily="34" charset="0"/>
                <a:ea typeface="Calibri" pitchFamily="34" charset="-122"/>
                <a:cs typeface="Calibri" pitchFamily="34" charset="-120"/>
              </a:rPr>
              <a:t>: 0.25*8 = 2</a:t>
            </a:r>
          </a:p>
          <a:p>
            <a:pPr marL="0" indent="0">
              <a:buNone/>
            </a:pPr>
            <a:endParaRPr lang="en-US" sz="950" dirty="0"/>
          </a:p>
        </p:txBody>
      </p:sp>
      <p:sp>
        <p:nvSpPr>
          <p:cNvPr id="31" name="Text 29"/>
          <p:cNvSpPr txBox="1"/>
          <p:nvPr/>
        </p:nvSpPr>
        <p:spPr>
          <a:xfrm>
            <a:off x="7269480" y="4279392"/>
            <a:ext cx="1737360" cy="365760"/>
          </a:xfrm>
          <a:prstGeom prst="rect">
            <a:avLst/>
          </a:prstGeom>
          <a:noFill/>
          <a:ln/>
        </p:spPr>
        <p:txBody>
          <a:bodyPr wrap="square" lIns="0" tIns="0" rIns="0" bIns="0" rtlCol="0" anchor="t"/>
          <a:lstStyle/>
          <a:p>
            <a:pPr marL="0" indent="0" algn="r">
              <a:buNone/>
            </a:pPr>
            <a:r>
              <a:rPr lang="en-US" sz="1000" b="1" dirty="0">
                <a:solidFill>
                  <a:srgbClr val="0B3B75"/>
                </a:solidFill>
                <a:latin typeface="Calibri" pitchFamily="34" charset="0"/>
                <a:ea typeface="Calibri" pitchFamily="34" charset="-122"/>
                <a:cs typeface="Calibri" pitchFamily="34" charset="-120"/>
              </a:rPr>
              <a:t>T₄ = 1.08 + 0.06 + 6 = 3.14 giờ</a:t>
            </a:r>
            <a:endParaRPr lang="en-US" sz="1000" dirty="0"/>
          </a:p>
        </p:txBody>
      </p:sp>
      <p:sp>
        <p:nvSpPr>
          <p:cNvPr id="32" name="Shape 30"/>
          <p:cNvSpPr/>
          <p:nvPr/>
        </p:nvSpPr>
        <p:spPr>
          <a:xfrm>
            <a:off x="9372600" y="1517904"/>
            <a:ext cx="2270455" cy="3127248"/>
          </a:xfrm>
          <a:prstGeom prst="roundRect">
            <a:avLst>
              <a:gd name="adj" fmla="val 2416"/>
            </a:avLst>
          </a:prstGeom>
          <a:solidFill>
            <a:srgbClr val="0B3B75"/>
          </a:solidFill>
          <a:ln w="9525">
            <a:solidFill>
              <a:srgbClr val="0B3B75"/>
            </a:solidFill>
            <a:prstDash val="solid"/>
          </a:ln>
          <a:effectLst>
            <a:outerShdw blurRad="101600" dist="19050" dir="5400000" algn="bl" rotWithShape="0">
              <a:srgbClr val="9AAFC6">
                <a:alpha val="16000"/>
              </a:srgbClr>
            </a:outerShdw>
          </a:effectLst>
        </p:spPr>
        <p:txBody>
          <a:bodyPr/>
          <a:lstStyle/>
          <a:p>
            <a:endParaRPr lang="en-US"/>
          </a:p>
        </p:txBody>
      </p:sp>
      <p:sp>
        <p:nvSpPr>
          <p:cNvPr id="33" name="Text 31"/>
          <p:cNvSpPr txBox="1"/>
          <p:nvPr/>
        </p:nvSpPr>
        <p:spPr>
          <a:xfrm>
            <a:off x="9555480" y="1920240"/>
            <a:ext cx="1904695" cy="603504"/>
          </a:xfrm>
          <a:prstGeom prst="rect">
            <a:avLst/>
          </a:prstGeom>
          <a:noFill/>
          <a:ln/>
        </p:spPr>
        <p:txBody>
          <a:bodyPr wrap="square" lIns="0" tIns="0" rIns="0" bIns="0" rtlCol="0" anchor="t"/>
          <a:lstStyle/>
          <a:p>
            <a:pPr marL="0" indent="0" algn="ctr">
              <a:buNone/>
            </a:pPr>
            <a:r>
              <a:rPr lang="en-US" sz="1100" b="1" dirty="0">
                <a:solidFill>
                  <a:srgbClr val="AFC6E4"/>
                </a:solidFill>
                <a:latin typeface="Calibri" pitchFamily="34" charset="0"/>
                <a:ea typeface="Calibri" pitchFamily="34" charset="-122"/>
                <a:cs typeface="Calibri" pitchFamily="34" charset="-120"/>
              </a:rPr>
              <a:t>TỔNG THỜI GIAN</a:t>
            </a:r>
            <a:endParaRPr lang="en-US" sz="1100" dirty="0"/>
          </a:p>
          <a:p>
            <a:pPr marL="0" indent="0" algn="ctr">
              <a:buNone/>
            </a:pPr>
            <a:r>
              <a:rPr lang="en-US" sz="1100" b="1" dirty="0">
                <a:solidFill>
                  <a:srgbClr val="AFC6E4"/>
                </a:solidFill>
                <a:latin typeface="Calibri" pitchFamily="34" charset="0"/>
                <a:ea typeface="Calibri" pitchFamily="34" charset="-122"/>
                <a:cs typeface="Calibri" pitchFamily="34" charset="-120"/>
              </a:rPr>
              <a:t>XỬ LÝ KỲ VỌNG</a:t>
            </a:r>
            <a:endParaRPr lang="en-US" sz="1100" dirty="0"/>
          </a:p>
        </p:txBody>
      </p:sp>
      <p:sp>
        <p:nvSpPr>
          <p:cNvPr id="34" name="Text 32"/>
          <p:cNvSpPr txBox="1"/>
          <p:nvPr/>
        </p:nvSpPr>
        <p:spPr>
          <a:xfrm>
            <a:off x="9555480" y="2578608"/>
            <a:ext cx="1904695" cy="731520"/>
          </a:xfrm>
          <a:prstGeom prst="rect">
            <a:avLst/>
          </a:prstGeom>
          <a:noFill/>
          <a:ln/>
        </p:spPr>
        <p:txBody>
          <a:bodyPr wrap="square" lIns="0" tIns="0" rIns="0" bIns="0" rtlCol="0" anchor="t"/>
          <a:lstStyle/>
          <a:p>
            <a:pPr marL="0" indent="0" algn="ctr">
              <a:buNone/>
            </a:pPr>
            <a:r>
              <a:rPr lang="en-US" sz="4400" b="1" dirty="0">
                <a:solidFill>
                  <a:srgbClr val="FFFFFF"/>
                </a:solidFill>
                <a:latin typeface="Calibri" pitchFamily="34" charset="0"/>
                <a:ea typeface="Calibri" pitchFamily="34" charset="-122"/>
                <a:cs typeface="Calibri" pitchFamily="34" charset="-120"/>
              </a:rPr>
              <a:t>18.3</a:t>
            </a:r>
            <a:endParaRPr lang="en-US" sz="4400" dirty="0"/>
          </a:p>
        </p:txBody>
      </p:sp>
      <p:sp>
        <p:nvSpPr>
          <p:cNvPr id="35" name="Text 33"/>
          <p:cNvSpPr txBox="1"/>
          <p:nvPr/>
        </p:nvSpPr>
        <p:spPr>
          <a:xfrm>
            <a:off x="9555480" y="3291840"/>
            <a:ext cx="1904695" cy="274320"/>
          </a:xfrm>
          <a:prstGeom prst="rect">
            <a:avLst/>
          </a:prstGeom>
          <a:noFill/>
          <a:ln/>
        </p:spPr>
        <p:txBody>
          <a:bodyPr wrap="square" lIns="0" tIns="0" rIns="0" bIns="0" rtlCol="0" anchor="t"/>
          <a:lstStyle/>
          <a:p>
            <a:pPr marL="0" indent="0" algn="ctr">
              <a:buNone/>
            </a:pPr>
            <a:r>
              <a:rPr lang="en-US" sz="1300" b="1" dirty="0">
                <a:solidFill>
                  <a:srgbClr val="D9A227"/>
                </a:solidFill>
                <a:latin typeface="Calibri" pitchFamily="34" charset="0"/>
                <a:ea typeface="Calibri" pitchFamily="34" charset="-122"/>
                <a:cs typeface="Calibri" pitchFamily="34" charset="-120"/>
              </a:rPr>
              <a:t>GIỜ</a:t>
            </a:r>
            <a:endParaRPr lang="en-US" sz="1300" dirty="0"/>
          </a:p>
        </p:txBody>
      </p:sp>
      <p:sp>
        <p:nvSpPr>
          <p:cNvPr id="36" name="Text 34"/>
          <p:cNvSpPr txBox="1"/>
          <p:nvPr/>
        </p:nvSpPr>
        <p:spPr>
          <a:xfrm>
            <a:off x="9555480" y="3657600"/>
            <a:ext cx="1904695" cy="640080"/>
          </a:xfrm>
          <a:prstGeom prst="rect">
            <a:avLst/>
          </a:prstGeom>
          <a:noFill/>
          <a:ln/>
        </p:spPr>
        <p:txBody>
          <a:bodyPr wrap="square" lIns="0" tIns="0" rIns="0" bIns="0" rtlCol="0" anchor="t"/>
          <a:lstStyle/>
          <a:p>
            <a:pPr marL="0" indent="0" algn="ctr">
              <a:buNone/>
            </a:pPr>
            <a:r>
              <a:rPr lang="en-US" sz="1000" dirty="0">
                <a:solidFill>
                  <a:srgbClr val="9BB2D2"/>
                </a:solidFill>
                <a:latin typeface="Calibri" pitchFamily="34" charset="0"/>
                <a:ea typeface="Calibri" pitchFamily="34" charset="-122"/>
                <a:cs typeface="Calibri" pitchFamily="34" charset="-120"/>
              </a:rPr>
              <a:t>T₁ + T₂ + T₃ + T₄</a:t>
            </a:r>
            <a:endParaRPr lang="en-US" sz="1000" dirty="0"/>
          </a:p>
          <a:p>
            <a:pPr marL="0" indent="0" algn="ctr">
              <a:buNone/>
            </a:pPr>
            <a:r>
              <a:rPr lang="en-US" sz="1000" dirty="0">
                <a:solidFill>
                  <a:srgbClr val="9BB2D2"/>
                </a:solidFill>
                <a:latin typeface="Calibri" pitchFamily="34" charset="0"/>
                <a:ea typeface="Calibri" pitchFamily="34" charset="-122"/>
                <a:cs typeface="Calibri" pitchFamily="34" charset="-120"/>
              </a:rPr>
              <a:t>= 8 + 1.16 + 6 + 3.14</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4.3 PHÂN TÍCH ĐỊNH LƯỢNG</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CYCLE TIME, HIỆU SUẤT THỜI GIAN VÀ CHI PHÍ NGUỒN LỰC</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4.5 — Bộ chỉ số định lượng của quy trình PYC (AS-IS)  ·  01 ngày làm việc = 08 giờ</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46</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2259916302"/>
              </p:ext>
            </p:extLst>
          </p:nvPr>
        </p:nvGraphicFramePr>
        <p:xfrm>
          <a:off x="548640" y="1517904"/>
          <a:ext cx="11091672" cy="3072384"/>
        </p:xfrm>
        <a:graphic>
          <a:graphicData uri="http://schemas.openxmlformats.org/drawingml/2006/table">
            <a:tbl>
              <a:tblPr/>
              <a:tblGrid>
                <a:gridCol w="27432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3410712">
                  <a:extLst>
                    <a:ext uri="{9D8B030D-6E8A-4147-A177-3AD203B41FA5}">
                      <a16:colId xmlns:a16="http://schemas.microsoft.com/office/drawing/2014/main" val="20003"/>
                    </a:ext>
                  </a:extLst>
                </a:gridCol>
              </a:tblGrid>
              <a:tr h="38404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CHỈ SỐ</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CÔNG THỨC</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GIÁ TRỊ AS-IS</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Ý NGHĨA</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Processing Time (PT)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T₁ + T₂ + T₃ + T₄  =  2,50 + 0,58 + 2,50 + 0,08</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5,66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Thời gian thực sự có người làm việc trên phiếu.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Waiting Time (WT)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WT₁ + WT₂ + WT₃ + WT₄  =  5,00 + 1,00 + 2,00 + 2,00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10,00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Thời gian phiếu nằm chờ, không ai xử lý.</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Cycle Time (CT)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PT + WT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15,66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Tương đương 1,96 ngày làm việc (8 giờ/ngày).</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Cycle Time Efficiency</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PT ÷ CT × 100%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36,1%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Chưa tới 40% thời gian chu kỳ là làm việc thật.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Tỷ trọng chờ phê duyệt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WT₁ ÷ CT × 100%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31,9%</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err="1">
                          <a:solidFill>
                            <a:srgbClr val="2A3442"/>
                          </a:solidFill>
                          <a:latin typeface="Calibri" pitchFamily="34" charset="0"/>
                          <a:ea typeface="Calibri" pitchFamily="34" charset="-122"/>
                          <a:cs typeface="Calibri" pitchFamily="34" charset="-120"/>
                        </a:rPr>
                        <a:t>Chờ phê duyệt là điểm chi phối lớn nhất của Lead Time.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Chi phí nguồn lực một phiếu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PT × 150.000 đồng/giờ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849.000 đồng</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Đơn giá giả định, chỉ dùng minh họa phương pháp tính.</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Chi phí do hoạt động NVA</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(0,50 ghi log lặp + 0,08 gán WO) × 150.000 đồng</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87.000 đồng</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err="1">
                          <a:solidFill>
                            <a:srgbClr val="2A3442"/>
                          </a:solidFill>
                          <a:latin typeface="Calibri" pitchFamily="34" charset="0"/>
                          <a:ea typeface="Calibri" pitchFamily="34" charset="-122"/>
                          <a:cs typeface="Calibri" pitchFamily="34" charset="-120"/>
                        </a:rPr>
                        <a:t>Chiếm 10,2% chi phí nguồn lực mỗi phiếu.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4.2 QUY TRÌNH THỨ HAI</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PHÂN TÍCH QUY TRÌNH QUẢN LÝ SỰ CỐ (INCIDENT MANAGEMENT)</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47</a:t>
            </a:r>
            <a:endParaRPr lang="en-US" sz="1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6400800" cy="2688336"/>
        </p:xfrm>
        <a:graphic>
          <a:graphicData uri="http://schemas.openxmlformats.org/drawingml/2006/table">
            <a:tbl>
              <a:tblPr/>
              <a:tblGrid>
                <a:gridCol w="5486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8404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TÁC VỤ</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NGƯỜI THỰC HIỆN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PHÂN LOẠI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38404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Tạo Incident (DWP / Smart Recorder)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Người dùng</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1000" b="1" dirty="0">
                          <a:solidFill>
                            <a:srgbClr val="0E7A5F"/>
                          </a:solidFill>
                          <a:latin typeface="Calibri" pitchFamily="34" charset="0"/>
                          <a:ea typeface="Calibri" pitchFamily="34" charset="-122"/>
                          <a:cs typeface="Calibri" pitchFamily="34" charset="-120"/>
                        </a:rPr>
                        <a:t>VA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Real-time incident correlation (AI/ML)</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Hệ thống SmartIT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1000" b="1" dirty="0">
                          <a:solidFill>
                            <a:srgbClr val="A5741A"/>
                          </a:solidFill>
                          <a:latin typeface="Calibri" pitchFamily="34" charset="0"/>
                          <a:ea typeface="Calibri" pitchFamily="34" charset="-122"/>
                          <a:cs typeface="Calibri" pitchFamily="34" charset="-120"/>
                        </a:rPr>
                        <a:t>VBA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38404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Tiếp nhận &amp; Đổi mức ưu tiên</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1000" b="1" dirty="0">
                          <a:solidFill>
                            <a:srgbClr val="A5741A"/>
                          </a:solidFill>
                          <a:latin typeface="Calibri" pitchFamily="34" charset="0"/>
                          <a:ea typeface="Calibri" pitchFamily="34" charset="-122"/>
                          <a:cs typeface="Calibri" pitchFamily="34" charset="-120"/>
                        </a:rPr>
                        <a:t>VBA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Thay đổi người xử lý phiếu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1000" b="1" dirty="0">
                          <a:solidFill>
                            <a:srgbClr val="A5741A"/>
                          </a:solidFill>
                          <a:latin typeface="Calibri" pitchFamily="34" charset="0"/>
                          <a:ea typeface="Calibri" pitchFamily="34" charset="-122"/>
                          <a:cs typeface="Calibri" pitchFamily="34" charset="-120"/>
                        </a:rPr>
                        <a:t>VBA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38404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Xử lý Task / Major Incident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 / L2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1000" b="1" dirty="0">
                          <a:solidFill>
                            <a:srgbClr val="0E7A5F"/>
                          </a:solidFill>
                          <a:latin typeface="Calibri" pitchFamily="34" charset="0"/>
                          <a:ea typeface="Calibri" pitchFamily="34" charset="-122"/>
                          <a:cs typeface="Calibri" pitchFamily="34" charset="-120"/>
                        </a:rPr>
                        <a:t>VA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Liên kết phiếu (Related Items)</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1000" b="1" dirty="0">
                          <a:solidFill>
                            <a:srgbClr val="A5741A"/>
                          </a:solidFill>
                          <a:latin typeface="Calibri" pitchFamily="34" charset="0"/>
                          <a:ea typeface="Calibri" pitchFamily="34" charset="-122"/>
                          <a:cs typeface="Calibri" pitchFamily="34" charset="-120"/>
                        </a:rPr>
                        <a:t>VBA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bl>
          </a:graphicData>
        </a:graphic>
      </p:graphicFrame>
      <p:sp>
        <p:nvSpPr>
          <p:cNvPr id="8" name="Text 5"/>
          <p:cNvSpPr txBox="1"/>
          <p:nvPr/>
        </p:nvSpPr>
        <p:spPr>
          <a:xfrm>
            <a:off x="548640" y="4224528"/>
            <a:ext cx="6400800" cy="237744"/>
          </a:xfrm>
          <a:prstGeom prst="rect">
            <a:avLst/>
          </a:prstGeom>
          <a:noFill/>
          <a:ln/>
        </p:spPr>
        <p:txBody>
          <a:bodyPr wrap="square" lIns="0" tIns="0" rIns="0" bIns="0" rtlCol="0" anchor="t"/>
          <a:lstStyle/>
          <a:p>
            <a:pPr marL="0" indent="0">
              <a:buNone/>
            </a:pPr>
            <a:r>
              <a:rPr lang="en-US" sz="950" i="1" dirty="0">
                <a:solidFill>
                  <a:srgbClr val="6E7A88"/>
                </a:solidFill>
                <a:latin typeface="Calibri" pitchFamily="34" charset="0"/>
                <a:ea typeface="Calibri" pitchFamily="34" charset="-122"/>
                <a:cs typeface="Calibri" pitchFamily="34" charset="-120"/>
              </a:rPr>
              <a:t>Bảng 16 — Phân tích giá trị gia tăng quy trình Quản lý Sự cố</a:t>
            </a:r>
            <a:endParaRPr lang="en-US" sz="950" dirty="0"/>
          </a:p>
        </p:txBody>
      </p:sp>
      <p:sp>
        <p:nvSpPr>
          <p:cNvPr id="9" name="Text 6"/>
          <p:cNvSpPr txBox="1"/>
          <p:nvPr/>
        </p:nvSpPr>
        <p:spPr>
          <a:xfrm>
            <a:off x="7223760" y="1481328"/>
            <a:ext cx="4419295" cy="256032"/>
          </a:xfrm>
          <a:prstGeom prst="rect">
            <a:avLst/>
          </a:prstGeom>
          <a:noFill/>
          <a:ln/>
        </p:spPr>
        <p:txBody>
          <a:bodyPr wrap="square" lIns="0" tIns="0" rIns="0" bIns="0" rtlCol="0" anchor="t"/>
          <a:lstStyle/>
          <a:p>
            <a:pPr marL="0" indent="0">
              <a:buNone/>
            </a:pPr>
            <a:r>
              <a:rPr lang="en-US" sz="1100" b="1" kern="0" spc="80" dirty="0">
                <a:solidFill>
                  <a:srgbClr val="1660BF"/>
                </a:solidFill>
                <a:latin typeface="Calibri" pitchFamily="34" charset="0"/>
                <a:ea typeface="Calibri" pitchFamily="34" charset="-122"/>
                <a:cs typeface="Calibri" pitchFamily="34" charset="-120"/>
              </a:rPr>
              <a:t>THỜI GIAN XỬ LÝ KỲ VỌNG (AS-IS)</a:t>
            </a:r>
            <a:endParaRPr lang="en-US" sz="1100" dirty="0"/>
          </a:p>
        </p:txBody>
      </p:sp>
      <p:sp>
        <p:nvSpPr>
          <p:cNvPr id="10" name="Shape 7"/>
          <p:cNvSpPr/>
          <p:nvPr/>
        </p:nvSpPr>
        <p:spPr>
          <a:xfrm>
            <a:off x="7223760" y="1810512"/>
            <a:ext cx="4419295" cy="676656"/>
          </a:xfrm>
          <a:prstGeom prst="roundRect">
            <a:avLst>
              <a:gd name="adj" fmla="val 810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1" name="Text 8"/>
          <p:cNvSpPr txBox="1"/>
          <p:nvPr/>
        </p:nvSpPr>
        <p:spPr>
          <a:xfrm>
            <a:off x="7388352" y="1865376"/>
            <a:ext cx="4090111" cy="219456"/>
          </a:xfrm>
          <a:prstGeom prst="rect">
            <a:avLst/>
          </a:prstGeom>
          <a:noFill/>
          <a:ln/>
        </p:spPr>
        <p:txBody>
          <a:bodyPr wrap="square" lIns="0" tIns="0" rIns="0" bIns="0" rtlCol="0" anchor="t"/>
          <a:lstStyle/>
          <a:p>
            <a:pPr marL="0" indent="0">
              <a:buNone/>
            </a:pPr>
            <a:r>
              <a:rPr lang="en-US" sz="1050" b="1" dirty="0">
                <a:solidFill>
                  <a:srgbClr val="0B3B75"/>
                </a:solidFill>
                <a:latin typeface="Calibri" pitchFamily="34" charset="0"/>
                <a:ea typeface="Calibri" pitchFamily="34" charset="-122"/>
                <a:cs typeface="Calibri" pitchFamily="34" charset="-120"/>
              </a:rPr>
              <a:t>Khối 1 — Tiếp nhận và đánh giá mức độ</a:t>
            </a:r>
            <a:endParaRPr lang="en-US" sz="1050" dirty="0"/>
          </a:p>
        </p:txBody>
      </p:sp>
      <p:sp>
        <p:nvSpPr>
          <p:cNvPr id="12" name="Text 9"/>
          <p:cNvSpPr txBox="1"/>
          <p:nvPr/>
        </p:nvSpPr>
        <p:spPr>
          <a:xfrm>
            <a:off x="7388352" y="2084832"/>
            <a:ext cx="4090111" cy="201168"/>
          </a:xfrm>
          <a:prstGeom prst="rect">
            <a:avLst/>
          </a:prstGeom>
          <a:noFill/>
          <a:ln/>
        </p:spPr>
        <p:txBody>
          <a:bodyPr wrap="square" lIns="0" tIns="0" rIns="0" bIns="0" rtlCol="0" anchor="t"/>
          <a:lstStyle/>
          <a:p>
            <a:pPr marL="0" indent="0">
              <a:buNone/>
            </a:pPr>
            <a:r>
              <a:rPr lang="en-US" sz="900" dirty="0">
                <a:solidFill>
                  <a:srgbClr val="6E7A88"/>
                </a:solidFill>
                <a:latin typeface="Calibri" pitchFamily="34" charset="0"/>
                <a:ea typeface="Calibri" pitchFamily="34" charset="-122"/>
                <a:cs typeface="Calibri" pitchFamily="34" charset="-120"/>
              </a:rPr>
              <a:t>Luồng tuần tự do Helpdesk thực hiện</a:t>
            </a:r>
            <a:endParaRPr lang="en-US" sz="900" dirty="0"/>
          </a:p>
        </p:txBody>
      </p:sp>
      <p:sp>
        <p:nvSpPr>
          <p:cNvPr id="13" name="Text 10"/>
          <p:cNvSpPr txBox="1"/>
          <p:nvPr/>
        </p:nvSpPr>
        <p:spPr>
          <a:xfrm>
            <a:off x="7388352" y="2267712"/>
            <a:ext cx="4090111" cy="201168"/>
          </a:xfrm>
          <a:prstGeom prst="rect">
            <a:avLst/>
          </a:prstGeom>
          <a:noFill/>
          <a:ln/>
        </p:spPr>
        <p:txBody>
          <a:bodyPr wrap="square" lIns="0" tIns="0" rIns="0" bIns="0" rtlCol="0" anchor="t"/>
          <a:lstStyle/>
          <a:p>
            <a:pPr marL="0" indent="0">
              <a:buNone/>
            </a:pPr>
            <a:r>
              <a:rPr lang="en-US" sz="950" b="1" dirty="0">
                <a:solidFill>
                  <a:srgbClr val="1660BF"/>
                </a:solidFill>
                <a:latin typeface="Calibri" pitchFamily="34" charset="0"/>
                <a:ea typeface="Calibri" pitchFamily="34" charset="-122"/>
                <a:cs typeface="Calibri" pitchFamily="34" charset="-120"/>
              </a:rPr>
              <a:t>T₁ = 0,5 giờ</a:t>
            </a:r>
            <a:endParaRPr lang="en-US" sz="950" dirty="0"/>
          </a:p>
        </p:txBody>
      </p:sp>
      <p:sp>
        <p:nvSpPr>
          <p:cNvPr id="14" name="Shape 11"/>
          <p:cNvSpPr/>
          <p:nvPr/>
        </p:nvSpPr>
        <p:spPr>
          <a:xfrm>
            <a:off x="7223760" y="2596896"/>
            <a:ext cx="4419295" cy="676656"/>
          </a:xfrm>
          <a:prstGeom prst="roundRect">
            <a:avLst>
              <a:gd name="adj" fmla="val 810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5" name="Text 12"/>
          <p:cNvSpPr txBox="1"/>
          <p:nvPr/>
        </p:nvSpPr>
        <p:spPr>
          <a:xfrm>
            <a:off x="7388352" y="2651760"/>
            <a:ext cx="4090111" cy="219456"/>
          </a:xfrm>
          <a:prstGeom prst="rect">
            <a:avLst/>
          </a:prstGeom>
          <a:noFill/>
          <a:ln/>
        </p:spPr>
        <p:txBody>
          <a:bodyPr wrap="square" lIns="0" tIns="0" rIns="0" bIns="0" rtlCol="0" anchor="t"/>
          <a:lstStyle/>
          <a:p>
            <a:pPr marL="0" indent="0">
              <a:buNone/>
            </a:pPr>
            <a:r>
              <a:rPr lang="en-US" sz="1050" b="1" dirty="0">
                <a:solidFill>
                  <a:srgbClr val="0B3B75"/>
                </a:solidFill>
                <a:latin typeface="Calibri" pitchFamily="34" charset="0"/>
                <a:ea typeface="Calibri" pitchFamily="34" charset="-122"/>
                <a:cs typeface="Calibri" pitchFamily="34" charset="-120"/>
              </a:rPr>
              <a:t>Khối 2 — Rẽ nhánh theo cấp độ (XOR)</a:t>
            </a:r>
            <a:endParaRPr lang="en-US" sz="1050" dirty="0"/>
          </a:p>
        </p:txBody>
      </p:sp>
      <p:sp>
        <p:nvSpPr>
          <p:cNvPr id="16" name="Text 13"/>
          <p:cNvSpPr txBox="1"/>
          <p:nvPr/>
        </p:nvSpPr>
        <p:spPr>
          <a:xfrm>
            <a:off x="7388352" y="2871216"/>
            <a:ext cx="4090111" cy="201168"/>
          </a:xfrm>
          <a:prstGeom prst="rect">
            <a:avLst/>
          </a:prstGeom>
          <a:noFill/>
          <a:ln/>
        </p:spPr>
        <p:txBody>
          <a:bodyPr wrap="square" lIns="0" tIns="0" rIns="0" bIns="0" rtlCol="0" anchor="t"/>
          <a:lstStyle/>
          <a:p>
            <a:pPr marL="0" indent="0">
              <a:buNone/>
            </a:pPr>
            <a:r>
              <a:rPr lang="en-US" sz="900" dirty="0">
                <a:solidFill>
                  <a:srgbClr val="6E7A88"/>
                </a:solidFill>
                <a:latin typeface="Calibri" pitchFamily="34" charset="0"/>
                <a:ea typeface="Calibri" pitchFamily="34" charset="-122"/>
                <a:cs typeface="Calibri" pitchFamily="34" charset="-120"/>
              </a:rPr>
              <a:t>L1 tự fix 70% (1 giờ)  ·  leo thang L2 30% (4 giờ)</a:t>
            </a:r>
            <a:endParaRPr lang="en-US" sz="900" dirty="0"/>
          </a:p>
        </p:txBody>
      </p:sp>
      <p:sp>
        <p:nvSpPr>
          <p:cNvPr id="17" name="Text 14"/>
          <p:cNvSpPr txBox="1"/>
          <p:nvPr/>
        </p:nvSpPr>
        <p:spPr>
          <a:xfrm>
            <a:off x="7388352" y="3054096"/>
            <a:ext cx="4090111" cy="201168"/>
          </a:xfrm>
          <a:prstGeom prst="rect">
            <a:avLst/>
          </a:prstGeom>
          <a:noFill/>
          <a:ln/>
        </p:spPr>
        <p:txBody>
          <a:bodyPr wrap="square" lIns="0" tIns="0" rIns="0" bIns="0" rtlCol="0" anchor="t"/>
          <a:lstStyle/>
          <a:p>
            <a:pPr marL="0" indent="0">
              <a:buNone/>
            </a:pPr>
            <a:r>
              <a:rPr lang="en-US" sz="950" b="1" dirty="0">
                <a:solidFill>
                  <a:srgbClr val="1660BF"/>
                </a:solidFill>
                <a:latin typeface="Calibri" pitchFamily="34" charset="0"/>
                <a:ea typeface="Calibri" pitchFamily="34" charset="-122"/>
                <a:cs typeface="Calibri" pitchFamily="34" charset="-120"/>
              </a:rPr>
              <a:t>T₂ = 0,7×1 + 0,3×4 = 1,9 giờ</a:t>
            </a:r>
            <a:endParaRPr lang="en-US" sz="950" dirty="0"/>
          </a:p>
        </p:txBody>
      </p:sp>
      <p:sp>
        <p:nvSpPr>
          <p:cNvPr id="18" name="Shape 15"/>
          <p:cNvSpPr/>
          <p:nvPr/>
        </p:nvSpPr>
        <p:spPr>
          <a:xfrm>
            <a:off x="7223760" y="3383280"/>
            <a:ext cx="4419295" cy="676656"/>
          </a:xfrm>
          <a:prstGeom prst="roundRect">
            <a:avLst>
              <a:gd name="adj" fmla="val 810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9" name="Text 16"/>
          <p:cNvSpPr txBox="1"/>
          <p:nvPr/>
        </p:nvSpPr>
        <p:spPr>
          <a:xfrm>
            <a:off x="7388352" y="3438144"/>
            <a:ext cx="4090111" cy="219456"/>
          </a:xfrm>
          <a:prstGeom prst="rect">
            <a:avLst/>
          </a:prstGeom>
          <a:noFill/>
          <a:ln/>
        </p:spPr>
        <p:txBody>
          <a:bodyPr wrap="square" lIns="0" tIns="0" rIns="0" bIns="0" rtlCol="0" anchor="t"/>
          <a:lstStyle/>
          <a:p>
            <a:pPr marL="0" indent="0">
              <a:buNone/>
            </a:pPr>
            <a:r>
              <a:rPr lang="en-US" sz="1050" b="1" dirty="0">
                <a:solidFill>
                  <a:srgbClr val="0B3B75"/>
                </a:solidFill>
                <a:latin typeface="Calibri" pitchFamily="34" charset="0"/>
                <a:ea typeface="Calibri" pitchFamily="34" charset="-122"/>
                <a:cs typeface="Calibri" pitchFamily="34" charset="-120"/>
              </a:rPr>
              <a:t>Khối 3 — Kiểm tra và đóng sự cố</a:t>
            </a:r>
            <a:endParaRPr lang="en-US" sz="1050" dirty="0"/>
          </a:p>
        </p:txBody>
      </p:sp>
      <p:sp>
        <p:nvSpPr>
          <p:cNvPr id="20" name="Text 17"/>
          <p:cNvSpPr txBox="1"/>
          <p:nvPr/>
        </p:nvSpPr>
        <p:spPr>
          <a:xfrm>
            <a:off x="7388352" y="3657600"/>
            <a:ext cx="4090111" cy="201168"/>
          </a:xfrm>
          <a:prstGeom prst="rect">
            <a:avLst/>
          </a:prstGeom>
          <a:noFill/>
          <a:ln/>
        </p:spPr>
        <p:txBody>
          <a:bodyPr wrap="square" lIns="0" tIns="0" rIns="0" bIns="0" rtlCol="0" anchor="t"/>
          <a:lstStyle/>
          <a:p>
            <a:pPr marL="0" indent="0">
              <a:buNone/>
            </a:pPr>
            <a:r>
              <a:rPr lang="en-US" sz="900" dirty="0">
                <a:solidFill>
                  <a:srgbClr val="6E7A88"/>
                </a:solidFill>
                <a:latin typeface="Calibri" pitchFamily="34" charset="0"/>
                <a:ea typeface="Calibri" pitchFamily="34" charset="-122"/>
                <a:cs typeface="Calibri" pitchFamily="34" charset="-120"/>
              </a:rPr>
              <a:t>User test lại 0,5 giờ  ·  fix thành công 90%, rework 10%</a:t>
            </a:r>
            <a:endParaRPr lang="en-US" sz="900" dirty="0"/>
          </a:p>
        </p:txBody>
      </p:sp>
      <p:sp>
        <p:nvSpPr>
          <p:cNvPr id="21" name="Text 18"/>
          <p:cNvSpPr txBox="1"/>
          <p:nvPr/>
        </p:nvSpPr>
        <p:spPr>
          <a:xfrm>
            <a:off x="7388352" y="3840480"/>
            <a:ext cx="4090111" cy="201168"/>
          </a:xfrm>
          <a:prstGeom prst="rect">
            <a:avLst/>
          </a:prstGeom>
          <a:noFill/>
          <a:ln/>
        </p:spPr>
        <p:txBody>
          <a:bodyPr wrap="square" lIns="0" tIns="0" rIns="0" bIns="0" rtlCol="0" anchor="t"/>
          <a:lstStyle/>
          <a:p>
            <a:pPr marL="0" indent="0">
              <a:buNone/>
            </a:pPr>
            <a:r>
              <a:rPr lang="en-US" sz="950" b="1" dirty="0">
                <a:solidFill>
                  <a:srgbClr val="1660BF"/>
                </a:solidFill>
                <a:latin typeface="Calibri" pitchFamily="34" charset="0"/>
                <a:ea typeface="Calibri" pitchFamily="34" charset="-122"/>
                <a:cs typeface="Calibri" pitchFamily="34" charset="-120"/>
              </a:rPr>
              <a:t>T₃ = 0,5 / 0,9 ≈ 0,56 giờ</a:t>
            </a:r>
            <a:endParaRPr lang="en-US" sz="950" dirty="0"/>
          </a:p>
        </p:txBody>
      </p:sp>
      <p:sp>
        <p:nvSpPr>
          <p:cNvPr id="22" name="Shape 19"/>
          <p:cNvSpPr/>
          <p:nvPr/>
        </p:nvSpPr>
        <p:spPr>
          <a:xfrm>
            <a:off x="7223760" y="4206240"/>
            <a:ext cx="4419295" cy="658368"/>
          </a:xfrm>
          <a:prstGeom prst="roundRect">
            <a:avLst>
              <a:gd name="adj" fmla="val 8333"/>
            </a:avLst>
          </a:prstGeom>
          <a:solidFill>
            <a:srgbClr val="0B3B75"/>
          </a:solidFill>
          <a:ln w="9525">
            <a:solidFill>
              <a:srgbClr val="0B3B75"/>
            </a:solidFill>
            <a:prstDash val="solid"/>
          </a:ln>
          <a:effectLst>
            <a:outerShdw blurRad="101600" dist="19050" dir="5400000" algn="bl" rotWithShape="0">
              <a:srgbClr val="9AAFC6">
                <a:alpha val="16000"/>
              </a:srgbClr>
            </a:outerShdw>
          </a:effectLst>
        </p:spPr>
        <p:txBody>
          <a:bodyPr/>
          <a:lstStyle/>
          <a:p>
            <a:endParaRPr lang="en-US"/>
          </a:p>
        </p:txBody>
      </p:sp>
      <p:sp>
        <p:nvSpPr>
          <p:cNvPr id="23" name="Text 20"/>
          <p:cNvSpPr txBox="1"/>
          <p:nvPr/>
        </p:nvSpPr>
        <p:spPr>
          <a:xfrm>
            <a:off x="7388352" y="4279392"/>
            <a:ext cx="2926080" cy="457200"/>
          </a:xfrm>
          <a:prstGeom prst="rect">
            <a:avLst/>
          </a:prstGeom>
          <a:noFill/>
          <a:ln/>
        </p:spPr>
        <p:txBody>
          <a:bodyPr wrap="square" lIns="0" tIns="0" rIns="0" bIns="0" rtlCol="0" anchor="ctr"/>
          <a:lstStyle/>
          <a:p>
            <a:pPr marL="0" indent="0">
              <a:buNone/>
            </a:pPr>
            <a:r>
              <a:rPr lang="en-US" sz="1000" b="1" dirty="0">
                <a:solidFill>
                  <a:srgbClr val="AFC6E4"/>
                </a:solidFill>
                <a:latin typeface="Calibri" pitchFamily="34" charset="0"/>
                <a:ea typeface="Calibri" pitchFamily="34" charset="-122"/>
                <a:cs typeface="Calibri" pitchFamily="34" charset="-120"/>
              </a:rPr>
              <a:t>TỔNG THỜI GIAN KỲ VỌNG (INCIDENT AS-IS)</a:t>
            </a:r>
            <a:endParaRPr lang="en-US" sz="1000" dirty="0"/>
          </a:p>
        </p:txBody>
      </p:sp>
      <p:sp>
        <p:nvSpPr>
          <p:cNvPr id="24" name="Text 21"/>
          <p:cNvSpPr txBox="1"/>
          <p:nvPr/>
        </p:nvSpPr>
        <p:spPr>
          <a:xfrm>
            <a:off x="10241280" y="4279392"/>
            <a:ext cx="1237183" cy="457200"/>
          </a:xfrm>
          <a:prstGeom prst="rect">
            <a:avLst/>
          </a:prstGeom>
          <a:noFill/>
          <a:ln/>
        </p:spPr>
        <p:txBody>
          <a:bodyPr wrap="square" lIns="0" tIns="0" rIns="0" bIns="0" rtlCol="0" anchor="ctr"/>
          <a:lstStyle/>
          <a:p>
            <a:pPr marL="0" indent="0" algn="r">
              <a:buNone/>
            </a:pPr>
            <a:r>
              <a:rPr lang="en-US" sz="2000" b="1" dirty="0">
                <a:solidFill>
                  <a:srgbClr val="FFFFFF"/>
                </a:solidFill>
                <a:latin typeface="Calibri" pitchFamily="34" charset="0"/>
                <a:ea typeface="Calibri" pitchFamily="34" charset="-122"/>
                <a:cs typeface="Calibri" pitchFamily="34" charset="-120"/>
              </a:rPr>
              <a:t>2,96 giờ</a:t>
            </a:r>
            <a:endParaRPr lang="en-US" sz="2000" dirty="0"/>
          </a:p>
        </p:txBody>
      </p:sp>
      <p:sp>
        <p:nvSpPr>
          <p:cNvPr id="25" name="Shape 22"/>
          <p:cNvSpPr/>
          <p:nvPr/>
        </p:nvSpPr>
        <p:spPr>
          <a:xfrm>
            <a:off x="548640" y="5029200"/>
            <a:ext cx="11094415" cy="969264"/>
          </a:xfrm>
          <a:prstGeom prst="roundRect">
            <a:avLst>
              <a:gd name="adj" fmla="val 5660"/>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26" name="Text 23"/>
          <p:cNvSpPr txBox="1"/>
          <p:nvPr/>
        </p:nvSpPr>
        <p:spPr>
          <a:xfrm>
            <a:off x="768096" y="5175504"/>
            <a:ext cx="10655503" cy="694944"/>
          </a:xfrm>
          <a:prstGeom prst="rect">
            <a:avLst/>
          </a:prstGeom>
          <a:noFill/>
          <a:ln/>
        </p:spPr>
        <p:txBody>
          <a:bodyPr wrap="square" lIns="0" tIns="0" rIns="0" bIns="0" rtlCol="0" anchor="t"/>
          <a:lstStyle/>
          <a:p>
            <a:pPr marL="0" indent="0">
              <a:buNone/>
            </a:pPr>
            <a:r>
              <a:rPr lang="en-US" sz="1050" b="1" dirty="0">
                <a:solidFill>
                  <a:srgbClr val="1660BF"/>
                </a:solidFill>
                <a:latin typeface="Calibri" pitchFamily="34" charset="0"/>
                <a:ea typeface="Calibri" pitchFamily="34" charset="-122"/>
                <a:cs typeface="Calibri" pitchFamily="34" charset="-120"/>
              </a:rPr>
              <a:t>ĐIỂM TƯƠNG ĐỒNG VỚI PYC   </a:t>
            </a:r>
            <a:r>
              <a:rPr lang="en-US" sz="1050" dirty="0">
                <a:solidFill>
                  <a:srgbClr val="2A3442"/>
                </a:solidFill>
                <a:latin typeface="Calibri" pitchFamily="34" charset="0"/>
                <a:ea typeface="Calibri" pitchFamily="34" charset="-122"/>
                <a:cs typeface="Calibri" pitchFamily="34" charset="-120"/>
              </a:rPr>
              <a:t>Cùng nguy cơ lãng phí Move khi sự cố phải escalate qua nhiều cấp (L1 → L2/L3) và lãng phí Hold nếu chuyên viên phụ trách không kịp tiếp nhận. Vì vậy các giải pháp chuẩn hóa dữ liệu đầu vào và tự động hóa phân luồng đề xuất cho PYC ở Chương 5 có tiềm năng mở rộng sang quy trình này.</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0">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marL="0" indent="0">
              <a:buNone/>
            </a:pPr>
            <a:r>
              <a:rPr lang="en-US" sz="6600" b="1" dirty="0">
                <a:solidFill>
                  <a:srgbClr val="D9A227"/>
                </a:solidFill>
                <a:latin typeface="Calibri" pitchFamily="34" charset="0"/>
                <a:ea typeface="Calibri" pitchFamily="34" charset="-122"/>
                <a:cs typeface="Calibri" pitchFamily="34" charset="-120"/>
              </a:rPr>
              <a:t>05</a:t>
            </a:r>
            <a:endParaRPr lang="en-US" sz="6600" dirty="0"/>
          </a:p>
        </p:txBody>
      </p:sp>
      <p:sp>
        <p:nvSpPr>
          <p:cNvPr id="3" name="Text 1"/>
          <p:cNvSpPr txBox="1"/>
          <p:nvPr/>
        </p:nvSpPr>
        <p:spPr>
          <a:xfrm>
            <a:off x="548640" y="3072384"/>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PHẦN 5 · IMPROVEMENT &amp; TO-BE</a:t>
            </a:r>
            <a:endParaRPr lang="en-US" sz="1100" dirty="0"/>
          </a:p>
        </p:txBody>
      </p:sp>
      <p:sp>
        <p:nvSpPr>
          <p:cNvPr id="4" name="Text 2"/>
          <p:cNvSpPr txBox="1"/>
          <p:nvPr/>
        </p:nvSpPr>
        <p:spPr>
          <a:xfrm>
            <a:off x="548640" y="3383280"/>
            <a:ext cx="11094415" cy="6400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Đề xuất giải pháp cải tiến và mô hình TO-BE</a:t>
            </a:r>
            <a:endParaRPr lang="en-US" sz="3200" dirty="0"/>
          </a:p>
        </p:txBody>
      </p:sp>
      <p:sp>
        <p:nvSpPr>
          <p:cNvPr id="5" name="Text 3"/>
          <p:cNvSpPr txBox="1"/>
          <p:nvPr/>
        </p:nvSpPr>
        <p:spPr>
          <a:xfrm>
            <a:off x="548640" y="4114800"/>
            <a:ext cx="9722815" cy="365760"/>
          </a:xfrm>
          <a:prstGeom prst="rect">
            <a:avLst/>
          </a:prstGeom>
          <a:noFill/>
          <a:ln/>
        </p:spPr>
        <p:txBody>
          <a:bodyPr wrap="square" lIns="0" tIns="0" rIns="0" bIns="0" rtlCol="0" anchor="t"/>
          <a:lstStyle/>
          <a:p>
            <a:pPr marL="0" indent="0">
              <a:buNone/>
            </a:pPr>
            <a:r>
              <a:rPr lang="en-US" sz="1200" dirty="0">
                <a:solidFill>
                  <a:srgbClr val="9BB2D2"/>
                </a:solidFill>
                <a:latin typeface="Calibri" pitchFamily="34" charset="0"/>
                <a:ea typeface="Calibri" pitchFamily="34" charset="-122"/>
                <a:cs typeface="Calibri" pitchFamily="34" charset="-120"/>
              </a:rPr>
              <a:t>Ba giải pháp bám sát ba loại lãng phí  ·  Sơ đồ BPMN TO-BE  ·  So sánh chỉ số vận hành AS-IS – TO-BE</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48</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5 · 5.1 ĐỀ XUẤT GIẢI PHÁP</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BA GIẢI PHÁP CẢI TIẾN QUY TRÌNH PYC</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Mỗi giải pháp nhắm trực tiếp vào một loại lãng phí đã nhận diện ở Chương 4</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49</a:t>
            </a:r>
            <a:endParaRPr lang="en-US" sz="1100" dirty="0"/>
          </a:p>
        </p:txBody>
      </p:sp>
      <p:sp>
        <p:nvSpPr>
          <p:cNvPr id="8" name="Shape 6"/>
          <p:cNvSpPr/>
          <p:nvPr/>
        </p:nvSpPr>
        <p:spPr>
          <a:xfrm>
            <a:off x="548640" y="1463040"/>
            <a:ext cx="3515258" cy="438912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Shape 7"/>
          <p:cNvSpPr/>
          <p:nvPr/>
        </p:nvSpPr>
        <p:spPr>
          <a:xfrm>
            <a:off x="548640" y="1463040"/>
            <a:ext cx="3515258" cy="914400"/>
          </a:xfrm>
          <a:prstGeom prst="rect">
            <a:avLst/>
          </a:prstGeom>
          <a:solidFill>
            <a:srgbClr val="1660BF"/>
          </a:solidFill>
          <a:ln w="12700">
            <a:solidFill>
              <a:srgbClr val="1660BF"/>
            </a:solidFill>
            <a:prstDash val="solid"/>
          </a:ln>
        </p:spPr>
        <p:txBody>
          <a:bodyPr/>
          <a:lstStyle/>
          <a:p>
            <a:endParaRPr lang="en-US"/>
          </a:p>
        </p:txBody>
      </p:sp>
      <p:sp>
        <p:nvSpPr>
          <p:cNvPr id="10" name="Text 8"/>
          <p:cNvSpPr txBox="1"/>
          <p:nvPr/>
        </p:nvSpPr>
        <p:spPr>
          <a:xfrm>
            <a:off x="731520" y="1536192"/>
            <a:ext cx="731520" cy="292608"/>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1" name="Text 9"/>
          <p:cNvSpPr txBox="1"/>
          <p:nvPr/>
        </p:nvSpPr>
        <p:spPr>
          <a:xfrm>
            <a:off x="731520" y="1828800"/>
            <a:ext cx="3149498"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CHUẨN HÓA BIỂU MẪU SMART-FORM</a:t>
            </a:r>
            <a:endParaRPr lang="en-US" sz="1150" dirty="0"/>
          </a:p>
        </p:txBody>
      </p:sp>
      <p:sp>
        <p:nvSpPr>
          <p:cNvPr id="12" name="Text 10"/>
          <p:cNvSpPr txBox="1"/>
          <p:nvPr/>
        </p:nvSpPr>
        <p:spPr>
          <a:xfrm>
            <a:off x="731520" y="2103120"/>
            <a:ext cx="3149498" cy="219456"/>
          </a:xfrm>
          <a:prstGeom prst="rect">
            <a:avLst/>
          </a:prstGeom>
          <a:noFill/>
          <a:ln/>
        </p:spPr>
        <p:txBody>
          <a:bodyPr wrap="square" lIns="0" tIns="0" rIns="0" bIns="0" rtlCol="0" anchor="t"/>
          <a:lstStyle/>
          <a:p>
            <a:pPr marL="0" indent="0">
              <a:buNone/>
            </a:pPr>
            <a:r>
              <a:rPr lang="en-US" sz="900" i="1" dirty="0">
                <a:solidFill>
                  <a:srgbClr val="FFFFFF"/>
                </a:solidFill>
                <a:latin typeface="Calibri" pitchFamily="34" charset="0"/>
                <a:ea typeface="Calibri" pitchFamily="34" charset="-122"/>
                <a:cs typeface="Calibri" pitchFamily="34" charset="-120"/>
              </a:rPr>
              <a:t>Giải quyết lãng phí Move &amp; NVA</a:t>
            </a:r>
            <a:endParaRPr lang="en-US" sz="900" dirty="0"/>
          </a:p>
        </p:txBody>
      </p:sp>
      <p:sp>
        <p:nvSpPr>
          <p:cNvPr id="13" name="Text 11"/>
          <p:cNvSpPr txBox="1"/>
          <p:nvPr/>
        </p:nvSpPr>
        <p:spPr>
          <a:xfrm>
            <a:off x="731520" y="2542032"/>
            <a:ext cx="3149498" cy="201168"/>
          </a:xfrm>
          <a:prstGeom prst="rect">
            <a:avLst/>
          </a:prstGeom>
          <a:noFill/>
          <a:ln/>
        </p:spPr>
        <p:txBody>
          <a:bodyPr wrap="square" lIns="0" tIns="0" rIns="0" bIns="0" rtlCol="0" anchor="t"/>
          <a:lstStyle/>
          <a:p>
            <a:pPr marL="0" indent="0">
              <a:buNone/>
            </a:pPr>
            <a:r>
              <a:rPr lang="en-US" sz="900" b="1" kern="0" spc="80" dirty="0">
                <a:solidFill>
                  <a:srgbClr val="1660BF"/>
                </a:solidFill>
                <a:latin typeface="Calibri" pitchFamily="34" charset="0"/>
                <a:ea typeface="Calibri" pitchFamily="34" charset="-122"/>
                <a:cs typeface="Calibri" pitchFamily="34" charset="-120"/>
              </a:rPr>
              <a:t>VẤN ĐỀ</a:t>
            </a:r>
            <a:endParaRPr lang="en-US" sz="900" dirty="0"/>
          </a:p>
        </p:txBody>
      </p:sp>
      <p:sp>
        <p:nvSpPr>
          <p:cNvPr id="14" name="Text 12"/>
          <p:cNvSpPr txBox="1"/>
          <p:nvPr/>
        </p:nvSpPr>
        <p:spPr>
          <a:xfrm>
            <a:off x="731520" y="2761488"/>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Người dùng nhập thiếu thông tin, dẫn đến vòng lặp “Bổ sung thông tin” (NVA) gây lãng phí thời gian luân chuyển (Move).</a:t>
            </a:r>
            <a:endParaRPr lang="en-US" sz="950" dirty="0"/>
          </a:p>
        </p:txBody>
      </p:sp>
      <p:sp>
        <p:nvSpPr>
          <p:cNvPr id="15" name="Text 13"/>
          <p:cNvSpPr txBox="1"/>
          <p:nvPr/>
        </p:nvSpPr>
        <p:spPr>
          <a:xfrm>
            <a:off x="731520" y="3657600"/>
            <a:ext cx="3149498" cy="201168"/>
          </a:xfrm>
          <a:prstGeom prst="rect">
            <a:avLst/>
          </a:prstGeom>
          <a:noFill/>
          <a:ln/>
        </p:spPr>
        <p:txBody>
          <a:bodyPr wrap="square" lIns="0" tIns="0" rIns="0" bIns="0" rtlCol="0" anchor="t"/>
          <a:lstStyle/>
          <a:p>
            <a:pPr marL="0" indent="0">
              <a:buNone/>
            </a:pPr>
            <a:r>
              <a:rPr lang="en-US" sz="900" b="1" kern="0" spc="80" dirty="0">
                <a:solidFill>
                  <a:srgbClr val="1660BF"/>
                </a:solidFill>
                <a:latin typeface="Calibri" pitchFamily="34" charset="0"/>
                <a:ea typeface="Calibri" pitchFamily="34" charset="-122"/>
                <a:cs typeface="Calibri" pitchFamily="34" charset="-120"/>
              </a:rPr>
              <a:t>GIẢI PHÁP</a:t>
            </a:r>
            <a:endParaRPr lang="en-US" sz="900" dirty="0"/>
          </a:p>
        </p:txBody>
      </p:sp>
      <p:sp>
        <p:nvSpPr>
          <p:cNvPr id="16" name="Text 14"/>
          <p:cNvSpPr txBox="1"/>
          <p:nvPr/>
        </p:nvSpPr>
        <p:spPr>
          <a:xfrm>
            <a:off x="731520" y="3877056"/>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Áp dụng Smart-Form trên Cổng ITSM: bắt buộc (mandatory) với các trường thông tin quan trọng, dùng dropdown list có sẵn thay vì free-text.</a:t>
            </a:r>
            <a:endParaRPr lang="en-US" sz="950" dirty="0"/>
          </a:p>
        </p:txBody>
      </p:sp>
      <p:sp>
        <p:nvSpPr>
          <p:cNvPr id="17" name="Text 15"/>
          <p:cNvSpPr txBox="1"/>
          <p:nvPr/>
        </p:nvSpPr>
        <p:spPr>
          <a:xfrm>
            <a:off x="731520" y="4773168"/>
            <a:ext cx="3149498" cy="201168"/>
          </a:xfrm>
          <a:prstGeom prst="rect">
            <a:avLst/>
          </a:prstGeom>
          <a:noFill/>
          <a:ln/>
        </p:spPr>
        <p:txBody>
          <a:bodyPr wrap="square" lIns="0" tIns="0" rIns="0" bIns="0" rtlCol="0" anchor="t"/>
          <a:lstStyle/>
          <a:p>
            <a:pPr marL="0" indent="0">
              <a:buNone/>
            </a:pPr>
            <a:r>
              <a:rPr lang="en-US" sz="900" b="1" kern="0" spc="80" dirty="0">
                <a:solidFill>
                  <a:srgbClr val="1660BF"/>
                </a:solidFill>
                <a:latin typeface="Calibri" pitchFamily="34" charset="0"/>
                <a:ea typeface="Calibri" pitchFamily="34" charset="-122"/>
                <a:cs typeface="Calibri" pitchFamily="34" charset="-120"/>
              </a:rPr>
              <a:t>LỢI ÍCH</a:t>
            </a:r>
            <a:endParaRPr lang="en-US" sz="900" dirty="0"/>
          </a:p>
        </p:txBody>
      </p:sp>
      <p:sp>
        <p:nvSpPr>
          <p:cNvPr id="18" name="Text 16"/>
          <p:cNvSpPr txBox="1"/>
          <p:nvPr/>
        </p:nvSpPr>
        <p:spPr>
          <a:xfrm>
            <a:off x="731520" y="4992624"/>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Đảm bảo nguyên tắc “Right First Time”, triệt tiêu vòng lặp trả hồ sơ về người dùng, giảm Lead Time.</a:t>
            </a:r>
            <a:endParaRPr lang="en-US" sz="950" dirty="0"/>
          </a:p>
        </p:txBody>
      </p:sp>
      <p:sp>
        <p:nvSpPr>
          <p:cNvPr id="19" name="Shape 17"/>
          <p:cNvSpPr/>
          <p:nvPr/>
        </p:nvSpPr>
        <p:spPr>
          <a:xfrm>
            <a:off x="4338218" y="1463040"/>
            <a:ext cx="3515258" cy="438912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0" name="Shape 18"/>
          <p:cNvSpPr/>
          <p:nvPr/>
        </p:nvSpPr>
        <p:spPr>
          <a:xfrm>
            <a:off x="4338218" y="1463040"/>
            <a:ext cx="3515258" cy="914400"/>
          </a:xfrm>
          <a:prstGeom prst="rect">
            <a:avLst/>
          </a:prstGeom>
          <a:solidFill>
            <a:srgbClr val="C0392B"/>
          </a:solidFill>
          <a:ln w="12700">
            <a:solidFill>
              <a:srgbClr val="C0392B"/>
            </a:solidFill>
            <a:prstDash val="solid"/>
          </a:ln>
        </p:spPr>
        <p:txBody>
          <a:bodyPr/>
          <a:lstStyle/>
          <a:p>
            <a:endParaRPr lang="en-US"/>
          </a:p>
        </p:txBody>
      </p:sp>
      <p:sp>
        <p:nvSpPr>
          <p:cNvPr id="21" name="Text 19"/>
          <p:cNvSpPr txBox="1"/>
          <p:nvPr/>
        </p:nvSpPr>
        <p:spPr>
          <a:xfrm>
            <a:off x="4521098" y="1536192"/>
            <a:ext cx="731520" cy="292608"/>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22" name="Text 20"/>
          <p:cNvSpPr txBox="1"/>
          <p:nvPr/>
        </p:nvSpPr>
        <p:spPr>
          <a:xfrm>
            <a:off x="4521098" y="1828800"/>
            <a:ext cx="3149498"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ĐÍNH KÈM LINH HOẠT (AND → OR)</a:t>
            </a:r>
            <a:endParaRPr lang="en-US" sz="1150" dirty="0"/>
          </a:p>
        </p:txBody>
      </p:sp>
      <p:sp>
        <p:nvSpPr>
          <p:cNvPr id="23" name="Text 21"/>
          <p:cNvSpPr txBox="1"/>
          <p:nvPr/>
        </p:nvSpPr>
        <p:spPr>
          <a:xfrm>
            <a:off x="4521098" y="2103120"/>
            <a:ext cx="3149498" cy="219456"/>
          </a:xfrm>
          <a:prstGeom prst="rect">
            <a:avLst/>
          </a:prstGeom>
          <a:noFill/>
          <a:ln/>
        </p:spPr>
        <p:txBody>
          <a:bodyPr wrap="square" lIns="0" tIns="0" rIns="0" bIns="0" rtlCol="0" anchor="t"/>
          <a:lstStyle/>
          <a:p>
            <a:pPr marL="0" indent="0">
              <a:buNone/>
            </a:pPr>
            <a:r>
              <a:rPr lang="en-US" sz="900" i="1" dirty="0">
                <a:solidFill>
                  <a:srgbClr val="FFFFFF"/>
                </a:solidFill>
                <a:latin typeface="Calibri" pitchFamily="34" charset="0"/>
                <a:ea typeface="Calibri" pitchFamily="34" charset="-122"/>
                <a:cs typeface="Calibri" pitchFamily="34" charset="-120"/>
              </a:rPr>
              <a:t>Giải quyết lãng phí Overdo</a:t>
            </a:r>
            <a:endParaRPr lang="en-US" sz="900" dirty="0"/>
          </a:p>
        </p:txBody>
      </p:sp>
      <p:sp>
        <p:nvSpPr>
          <p:cNvPr id="24" name="Text 22"/>
          <p:cNvSpPr txBox="1"/>
          <p:nvPr/>
        </p:nvSpPr>
        <p:spPr>
          <a:xfrm>
            <a:off x="4521098" y="2542032"/>
            <a:ext cx="3149498" cy="201168"/>
          </a:xfrm>
          <a:prstGeom prst="rect">
            <a:avLst/>
          </a:prstGeom>
          <a:noFill/>
          <a:ln/>
        </p:spPr>
        <p:txBody>
          <a:bodyPr wrap="square" lIns="0" tIns="0" rIns="0" bIns="0" rtlCol="0" anchor="t"/>
          <a:lstStyle/>
          <a:p>
            <a:pPr marL="0" indent="0">
              <a:buNone/>
            </a:pPr>
            <a:r>
              <a:rPr lang="en-US" sz="900" b="1" kern="0" spc="80" dirty="0">
                <a:solidFill>
                  <a:srgbClr val="C0392B"/>
                </a:solidFill>
                <a:latin typeface="Calibri" pitchFamily="34" charset="0"/>
                <a:ea typeface="Calibri" pitchFamily="34" charset="-122"/>
                <a:cs typeface="Calibri" pitchFamily="34" charset="-120"/>
              </a:rPr>
              <a:t>VẤN ĐỀ</a:t>
            </a:r>
            <a:endParaRPr lang="en-US" sz="900" dirty="0"/>
          </a:p>
        </p:txBody>
      </p:sp>
      <p:sp>
        <p:nvSpPr>
          <p:cNvPr id="25" name="Text 23"/>
          <p:cNvSpPr txBox="1"/>
          <p:nvPr/>
        </p:nvSpPr>
        <p:spPr>
          <a:xfrm>
            <a:off x="4521098" y="2761488"/>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Cổng AND buộc mọi PYC phải đính kèm đủ ba tệp (email duyệt, mã dự án, ảnh màn hình) kể cả khi không cần.</a:t>
            </a:r>
            <a:endParaRPr lang="en-US" sz="950" dirty="0"/>
          </a:p>
        </p:txBody>
      </p:sp>
      <p:sp>
        <p:nvSpPr>
          <p:cNvPr id="26" name="Text 24"/>
          <p:cNvSpPr txBox="1"/>
          <p:nvPr/>
        </p:nvSpPr>
        <p:spPr>
          <a:xfrm>
            <a:off x="4521098" y="3657600"/>
            <a:ext cx="3149498" cy="201168"/>
          </a:xfrm>
          <a:prstGeom prst="rect">
            <a:avLst/>
          </a:prstGeom>
          <a:noFill/>
          <a:ln/>
        </p:spPr>
        <p:txBody>
          <a:bodyPr wrap="square" lIns="0" tIns="0" rIns="0" bIns="0" rtlCol="0" anchor="t"/>
          <a:lstStyle/>
          <a:p>
            <a:pPr marL="0" indent="0">
              <a:buNone/>
            </a:pPr>
            <a:r>
              <a:rPr lang="en-US" sz="900" b="1" kern="0" spc="80" dirty="0">
                <a:solidFill>
                  <a:srgbClr val="C0392B"/>
                </a:solidFill>
                <a:latin typeface="Calibri" pitchFamily="34" charset="0"/>
                <a:ea typeface="Calibri" pitchFamily="34" charset="-122"/>
                <a:cs typeface="Calibri" pitchFamily="34" charset="-120"/>
              </a:rPr>
              <a:t>GIẢI PHÁP</a:t>
            </a:r>
            <a:endParaRPr lang="en-US" sz="900" dirty="0"/>
          </a:p>
        </p:txBody>
      </p:sp>
      <p:sp>
        <p:nvSpPr>
          <p:cNvPr id="27" name="Text 25"/>
          <p:cNvSpPr txBox="1"/>
          <p:nvPr/>
        </p:nvSpPr>
        <p:spPr>
          <a:xfrm>
            <a:off x="4521098" y="3877056"/>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Đổi cặp cổng “Đính kèm” từ AND sang OR (inclusive) để người dùng chỉ nộp đúng tệp mà loại yêu cầu đó yêu cầu.</a:t>
            </a:r>
            <a:endParaRPr lang="en-US" sz="950" dirty="0"/>
          </a:p>
        </p:txBody>
      </p:sp>
      <p:sp>
        <p:nvSpPr>
          <p:cNvPr id="28" name="Text 26"/>
          <p:cNvSpPr txBox="1"/>
          <p:nvPr/>
        </p:nvSpPr>
        <p:spPr>
          <a:xfrm>
            <a:off x="4521098" y="4773168"/>
            <a:ext cx="3149498" cy="201168"/>
          </a:xfrm>
          <a:prstGeom prst="rect">
            <a:avLst/>
          </a:prstGeom>
          <a:noFill/>
          <a:ln/>
        </p:spPr>
        <p:txBody>
          <a:bodyPr wrap="square" lIns="0" tIns="0" rIns="0" bIns="0" rtlCol="0" anchor="t"/>
          <a:lstStyle/>
          <a:p>
            <a:pPr marL="0" indent="0">
              <a:buNone/>
            </a:pPr>
            <a:r>
              <a:rPr lang="en-US" sz="900" b="1" kern="0" spc="80" dirty="0">
                <a:solidFill>
                  <a:srgbClr val="C0392B"/>
                </a:solidFill>
                <a:latin typeface="Calibri" pitchFamily="34" charset="0"/>
                <a:ea typeface="Calibri" pitchFamily="34" charset="-122"/>
                <a:cs typeface="Calibri" pitchFamily="34" charset="-120"/>
              </a:rPr>
              <a:t>LỢI ÍCH</a:t>
            </a:r>
            <a:endParaRPr lang="en-US" sz="900" dirty="0"/>
          </a:p>
        </p:txBody>
      </p:sp>
      <p:sp>
        <p:nvSpPr>
          <p:cNvPr id="29" name="Text 27"/>
          <p:cNvSpPr txBox="1"/>
          <p:nvPr/>
        </p:nvSpPr>
        <p:spPr>
          <a:xfrm>
            <a:off x="4521098" y="4992624"/>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Rút ngắn thao tác khởi tạo và loại bỏ việc chuẩn bị tài liệu không cần thiết.</a:t>
            </a:r>
            <a:endParaRPr lang="en-US" sz="950" dirty="0"/>
          </a:p>
        </p:txBody>
      </p:sp>
      <p:sp>
        <p:nvSpPr>
          <p:cNvPr id="30" name="Shape 28"/>
          <p:cNvSpPr/>
          <p:nvPr/>
        </p:nvSpPr>
        <p:spPr>
          <a:xfrm>
            <a:off x="8127797" y="1463040"/>
            <a:ext cx="3515258" cy="438912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1" name="Shape 29"/>
          <p:cNvSpPr/>
          <p:nvPr/>
        </p:nvSpPr>
        <p:spPr>
          <a:xfrm>
            <a:off x="8127797" y="1463040"/>
            <a:ext cx="3515258" cy="914400"/>
          </a:xfrm>
          <a:prstGeom prst="rect">
            <a:avLst/>
          </a:prstGeom>
          <a:solidFill>
            <a:srgbClr val="A5741A"/>
          </a:solidFill>
          <a:ln w="12700">
            <a:solidFill>
              <a:srgbClr val="A5741A"/>
            </a:solidFill>
            <a:prstDash val="solid"/>
          </a:ln>
        </p:spPr>
        <p:txBody>
          <a:bodyPr/>
          <a:lstStyle/>
          <a:p>
            <a:endParaRPr lang="en-US"/>
          </a:p>
        </p:txBody>
      </p:sp>
      <p:sp>
        <p:nvSpPr>
          <p:cNvPr id="32" name="Text 30"/>
          <p:cNvSpPr txBox="1"/>
          <p:nvPr/>
        </p:nvSpPr>
        <p:spPr>
          <a:xfrm>
            <a:off x="8310677" y="1536192"/>
            <a:ext cx="731520" cy="292608"/>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33" name="Text 31"/>
          <p:cNvSpPr txBox="1"/>
          <p:nvPr/>
        </p:nvSpPr>
        <p:spPr>
          <a:xfrm>
            <a:off x="8310677" y="1828800"/>
            <a:ext cx="3149498"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PHÊ DUYỆT QUA ĐIỆN THOẠI</a:t>
            </a:r>
            <a:endParaRPr lang="en-US" sz="1150" dirty="0"/>
          </a:p>
        </p:txBody>
      </p:sp>
      <p:sp>
        <p:nvSpPr>
          <p:cNvPr id="34" name="Text 32"/>
          <p:cNvSpPr txBox="1"/>
          <p:nvPr/>
        </p:nvSpPr>
        <p:spPr>
          <a:xfrm>
            <a:off x="8310677" y="2103120"/>
            <a:ext cx="3149498" cy="219456"/>
          </a:xfrm>
          <a:prstGeom prst="rect">
            <a:avLst/>
          </a:prstGeom>
          <a:noFill/>
          <a:ln/>
        </p:spPr>
        <p:txBody>
          <a:bodyPr wrap="square" lIns="0" tIns="0" rIns="0" bIns="0" rtlCol="0" anchor="t"/>
          <a:lstStyle/>
          <a:p>
            <a:pPr marL="0" indent="0">
              <a:buNone/>
            </a:pPr>
            <a:r>
              <a:rPr lang="en-US" sz="900" i="1" dirty="0">
                <a:solidFill>
                  <a:srgbClr val="FFFFFF"/>
                </a:solidFill>
                <a:latin typeface="Calibri" pitchFamily="34" charset="0"/>
                <a:ea typeface="Calibri" pitchFamily="34" charset="-122"/>
                <a:cs typeface="Calibri" pitchFamily="34" charset="-120"/>
              </a:rPr>
              <a:t>Giải quyết lãng phí Hold</a:t>
            </a:r>
            <a:endParaRPr lang="en-US" sz="900" dirty="0"/>
          </a:p>
        </p:txBody>
      </p:sp>
      <p:sp>
        <p:nvSpPr>
          <p:cNvPr id="35" name="Text 33"/>
          <p:cNvSpPr txBox="1"/>
          <p:nvPr/>
        </p:nvSpPr>
        <p:spPr>
          <a:xfrm>
            <a:off x="8310677" y="2542032"/>
            <a:ext cx="3149498" cy="201168"/>
          </a:xfrm>
          <a:prstGeom prst="rect">
            <a:avLst/>
          </a:prstGeom>
          <a:noFill/>
          <a:ln/>
        </p:spPr>
        <p:txBody>
          <a:bodyPr wrap="square" lIns="0" tIns="0" rIns="0" bIns="0" rtlCol="0" anchor="t"/>
          <a:lstStyle/>
          <a:p>
            <a:pPr marL="0" indent="0">
              <a:buNone/>
            </a:pPr>
            <a:r>
              <a:rPr lang="en-US" sz="900" b="1" kern="0" spc="80" dirty="0">
                <a:solidFill>
                  <a:srgbClr val="A5741A"/>
                </a:solidFill>
                <a:latin typeface="Calibri" pitchFamily="34" charset="0"/>
                <a:ea typeface="Calibri" pitchFamily="34" charset="-122"/>
                <a:cs typeface="Calibri" pitchFamily="34" charset="-120"/>
              </a:rPr>
              <a:t>VẤN ĐỀ</a:t>
            </a:r>
            <a:endParaRPr lang="en-US" sz="900" dirty="0"/>
          </a:p>
        </p:txBody>
      </p:sp>
      <p:sp>
        <p:nvSpPr>
          <p:cNvPr id="36" name="Text 34"/>
          <p:cNvSpPr txBox="1"/>
          <p:nvPr/>
        </p:nvSpPr>
        <p:spPr>
          <a:xfrm>
            <a:off x="8310677" y="2761488"/>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Phiếu nằm chờ 2–8 giờ vì quản lý phải mở máy tính, đăng nhập ITSM mới duyệt được — đi công tác thì kéo dài cả tuần.</a:t>
            </a:r>
            <a:endParaRPr lang="en-US" sz="950" dirty="0"/>
          </a:p>
        </p:txBody>
      </p:sp>
      <p:sp>
        <p:nvSpPr>
          <p:cNvPr id="37" name="Text 35"/>
          <p:cNvSpPr txBox="1"/>
          <p:nvPr/>
        </p:nvSpPr>
        <p:spPr>
          <a:xfrm>
            <a:off x="8310677" y="3657600"/>
            <a:ext cx="3149498" cy="201168"/>
          </a:xfrm>
          <a:prstGeom prst="rect">
            <a:avLst/>
          </a:prstGeom>
          <a:noFill/>
          <a:ln/>
        </p:spPr>
        <p:txBody>
          <a:bodyPr wrap="square" lIns="0" tIns="0" rIns="0" bIns="0" rtlCol="0" anchor="t"/>
          <a:lstStyle/>
          <a:p>
            <a:pPr marL="0" indent="0">
              <a:buNone/>
            </a:pPr>
            <a:r>
              <a:rPr lang="en-US" sz="900" b="1" kern="0" spc="80" dirty="0">
                <a:solidFill>
                  <a:srgbClr val="A5741A"/>
                </a:solidFill>
                <a:latin typeface="Calibri" pitchFamily="34" charset="0"/>
                <a:ea typeface="Calibri" pitchFamily="34" charset="-122"/>
                <a:cs typeface="Calibri" pitchFamily="34" charset="-120"/>
              </a:rPr>
              <a:t>GIẢI PHÁP</a:t>
            </a:r>
            <a:endParaRPr lang="en-US" sz="900" dirty="0"/>
          </a:p>
        </p:txBody>
      </p:sp>
      <p:sp>
        <p:nvSpPr>
          <p:cNvPr id="38" name="Text 36"/>
          <p:cNvSpPr txBox="1"/>
          <p:nvPr/>
        </p:nvSpPr>
        <p:spPr>
          <a:xfrm>
            <a:off x="8310677" y="3877056"/>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Gửi thông báo đẩy tới ứng dụng di động của quản lý và cho phép phê duyệt ngay trên điện thoại.</a:t>
            </a:r>
            <a:endParaRPr lang="en-US" sz="950" dirty="0"/>
          </a:p>
        </p:txBody>
      </p:sp>
      <p:sp>
        <p:nvSpPr>
          <p:cNvPr id="39" name="Text 37"/>
          <p:cNvSpPr txBox="1"/>
          <p:nvPr/>
        </p:nvSpPr>
        <p:spPr>
          <a:xfrm>
            <a:off x="8310677" y="4773168"/>
            <a:ext cx="3149498" cy="201168"/>
          </a:xfrm>
          <a:prstGeom prst="rect">
            <a:avLst/>
          </a:prstGeom>
          <a:noFill/>
          <a:ln/>
        </p:spPr>
        <p:txBody>
          <a:bodyPr wrap="square" lIns="0" tIns="0" rIns="0" bIns="0" rtlCol="0" anchor="t"/>
          <a:lstStyle/>
          <a:p>
            <a:pPr marL="0" indent="0">
              <a:buNone/>
            </a:pPr>
            <a:r>
              <a:rPr lang="en-US" sz="900" b="1" kern="0" spc="80" dirty="0">
                <a:solidFill>
                  <a:srgbClr val="A5741A"/>
                </a:solidFill>
                <a:latin typeface="Calibri" pitchFamily="34" charset="0"/>
                <a:ea typeface="Calibri" pitchFamily="34" charset="-122"/>
                <a:cs typeface="Calibri" pitchFamily="34" charset="-120"/>
              </a:rPr>
              <a:t>LỢI ÍCH</a:t>
            </a:r>
            <a:endParaRPr lang="en-US" sz="900" dirty="0"/>
          </a:p>
        </p:txBody>
      </p:sp>
      <p:sp>
        <p:nvSpPr>
          <p:cNvPr id="40" name="Text 38"/>
          <p:cNvSpPr txBox="1"/>
          <p:nvPr/>
        </p:nvSpPr>
        <p:spPr>
          <a:xfrm>
            <a:off x="8310677" y="4992624"/>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Cắt phần lớn thời gian chờ phê duyệt mà vẫn giữ nguyên quyền kiểm soát của cấp quản lý.</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59" name="Shape 0">
            <a:extLst>
              <a:ext uri="{FF2B5EF4-FFF2-40B4-BE49-F238E27FC236}">
                <a16:creationId xmlns:a16="http://schemas.microsoft.com/office/drawing/2014/main" id="{1A580EEE-632F-3CE9-CF27-FAA7B4246CA4}"/>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61" name="Text 1">
            <a:extLst>
              <a:ext uri="{FF2B5EF4-FFF2-40B4-BE49-F238E27FC236}">
                <a16:creationId xmlns:a16="http://schemas.microsoft.com/office/drawing/2014/main" id="{6E1B03B4-9E28-0B58-11AA-ECF04CD5D4D9}"/>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5 · 5.2 MÔ HÌNH TO-BE</a:t>
            </a:r>
            <a:endParaRPr lang="en-US" sz="1050" dirty="0"/>
          </a:p>
        </p:txBody>
      </p:sp>
      <p:sp>
        <p:nvSpPr>
          <p:cNvPr id="63" name="Text 2">
            <a:extLst>
              <a:ext uri="{FF2B5EF4-FFF2-40B4-BE49-F238E27FC236}">
                <a16:creationId xmlns:a16="http://schemas.microsoft.com/office/drawing/2014/main" id="{121C66D2-4716-7183-D8CA-250E34F988DE}"/>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NGUYÊN TẮC XÂY DỰNG MÔ HÌNH TO-BE</a:t>
            </a:r>
            <a:endParaRPr lang="en-US" sz="2500" dirty="0"/>
          </a:p>
        </p:txBody>
      </p:sp>
      <p:sp>
        <p:nvSpPr>
          <p:cNvPr id="65" name="Text 3">
            <a:extLst>
              <a:ext uri="{FF2B5EF4-FFF2-40B4-BE49-F238E27FC236}">
                <a16:creationId xmlns:a16="http://schemas.microsoft.com/office/drawing/2014/main" id="{62D42B72-FE95-E9BD-6CD0-9D87895F1E8A}"/>
              </a:ext>
            </a:extLst>
          </p:cNvPr>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7" name="Text 4">
            <a:extLst>
              <a:ext uri="{FF2B5EF4-FFF2-40B4-BE49-F238E27FC236}">
                <a16:creationId xmlns:a16="http://schemas.microsoft.com/office/drawing/2014/main" id="{3E91D004-825C-F903-CAF1-5FF17F1497A6}"/>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50</a:t>
            </a:r>
            <a:endParaRPr lang="en-US" sz="1100" dirty="0"/>
          </a:p>
        </p:txBody>
      </p:sp>
      <p:sp>
        <p:nvSpPr>
          <p:cNvPr id="69" name="Shape 5">
            <a:extLst>
              <a:ext uri="{FF2B5EF4-FFF2-40B4-BE49-F238E27FC236}">
                <a16:creationId xmlns:a16="http://schemas.microsoft.com/office/drawing/2014/main" id="{A87F3794-AC4D-8ADF-D983-77B2207B45E9}"/>
              </a:ext>
            </a:extLst>
          </p:cNvPr>
          <p:cNvSpPr/>
          <p:nvPr/>
        </p:nvSpPr>
        <p:spPr>
          <a:xfrm>
            <a:off x="548640" y="1572768"/>
            <a:ext cx="384048" cy="384048"/>
          </a:xfrm>
          <a:prstGeom prst="ellipse">
            <a:avLst/>
          </a:prstGeom>
          <a:solidFill>
            <a:srgbClr val="D9A227"/>
          </a:solidFill>
          <a:ln w="12700">
            <a:solidFill>
              <a:srgbClr val="D9A227"/>
            </a:solidFill>
            <a:prstDash val="solid"/>
          </a:ln>
        </p:spPr>
        <p:txBody>
          <a:bodyPr/>
          <a:lstStyle/>
          <a:p>
            <a:endParaRPr lang="en-US"/>
          </a:p>
        </p:txBody>
      </p:sp>
      <p:sp>
        <p:nvSpPr>
          <p:cNvPr id="71" name="Text 6">
            <a:extLst>
              <a:ext uri="{FF2B5EF4-FFF2-40B4-BE49-F238E27FC236}">
                <a16:creationId xmlns:a16="http://schemas.microsoft.com/office/drawing/2014/main" id="{058B8FB4-7A50-359F-563D-BE1E5F98278E}"/>
              </a:ext>
            </a:extLst>
          </p:cNvPr>
          <p:cNvSpPr txBox="1"/>
          <p:nvPr/>
        </p:nvSpPr>
        <p:spPr>
          <a:xfrm>
            <a:off x="548640" y="1609344"/>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1</a:t>
            </a:r>
            <a:endParaRPr lang="en-US" sz="1200" dirty="0"/>
          </a:p>
        </p:txBody>
      </p:sp>
      <p:sp>
        <p:nvSpPr>
          <p:cNvPr id="73" name="Text 7">
            <a:extLst>
              <a:ext uri="{FF2B5EF4-FFF2-40B4-BE49-F238E27FC236}">
                <a16:creationId xmlns:a16="http://schemas.microsoft.com/office/drawing/2014/main" id="{04568AD4-8485-17B1-F130-5BFBB97DFFE5}"/>
              </a:ext>
            </a:extLst>
          </p:cNvPr>
          <p:cNvSpPr txBox="1"/>
          <p:nvPr/>
        </p:nvSpPr>
        <p:spPr>
          <a:xfrm>
            <a:off x="1078992" y="1554480"/>
            <a:ext cx="45902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Chỉ sửa, không vẽ lại</a:t>
            </a:r>
            <a:endParaRPr lang="en-US" sz="1250" dirty="0"/>
          </a:p>
        </p:txBody>
      </p:sp>
      <p:sp>
        <p:nvSpPr>
          <p:cNvPr id="75" name="Text 8">
            <a:extLst>
              <a:ext uri="{FF2B5EF4-FFF2-40B4-BE49-F238E27FC236}">
                <a16:creationId xmlns:a16="http://schemas.microsoft.com/office/drawing/2014/main" id="{FC40B4A8-8CCA-B968-F4E1-9F6B272CDBC3}"/>
              </a:ext>
            </a:extLst>
          </p:cNvPr>
          <p:cNvSpPr txBox="1"/>
          <p:nvPr/>
        </p:nvSpPr>
        <p:spPr>
          <a:xfrm>
            <a:off x="1078992" y="1810512"/>
            <a:ext cx="45902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TO-BE giữ nguyên 03 pool và toàn bộ cấu trúc luồng của AS-IS; chỉ can thiệp đúng những điểm mà ba giải pháp ở mục 5.1 nhắm tới.</a:t>
            </a:r>
            <a:endParaRPr lang="en-US" sz="1000" dirty="0"/>
          </a:p>
        </p:txBody>
      </p:sp>
      <p:sp>
        <p:nvSpPr>
          <p:cNvPr id="77" name="Shape 9">
            <a:extLst>
              <a:ext uri="{FF2B5EF4-FFF2-40B4-BE49-F238E27FC236}">
                <a16:creationId xmlns:a16="http://schemas.microsoft.com/office/drawing/2014/main" id="{B11C1810-D32A-26EB-A915-4016F0B03210}"/>
              </a:ext>
            </a:extLst>
          </p:cNvPr>
          <p:cNvSpPr/>
          <p:nvPr/>
        </p:nvSpPr>
        <p:spPr>
          <a:xfrm>
            <a:off x="548640" y="2688336"/>
            <a:ext cx="384048" cy="384048"/>
          </a:xfrm>
          <a:prstGeom prst="ellipse">
            <a:avLst/>
          </a:prstGeom>
          <a:solidFill>
            <a:srgbClr val="D9A227"/>
          </a:solidFill>
          <a:ln w="12700">
            <a:solidFill>
              <a:srgbClr val="D9A227"/>
            </a:solidFill>
            <a:prstDash val="solid"/>
          </a:ln>
        </p:spPr>
        <p:txBody>
          <a:bodyPr/>
          <a:lstStyle/>
          <a:p>
            <a:endParaRPr lang="en-US"/>
          </a:p>
        </p:txBody>
      </p:sp>
      <p:sp>
        <p:nvSpPr>
          <p:cNvPr id="79" name="Text 10">
            <a:extLst>
              <a:ext uri="{FF2B5EF4-FFF2-40B4-BE49-F238E27FC236}">
                <a16:creationId xmlns:a16="http://schemas.microsoft.com/office/drawing/2014/main" id="{A40B152C-6770-443A-A5D0-D19BF0B65E69}"/>
              </a:ext>
            </a:extLst>
          </p:cNvPr>
          <p:cNvSpPr txBox="1"/>
          <p:nvPr/>
        </p:nvSpPr>
        <p:spPr>
          <a:xfrm>
            <a:off x="548640" y="2724912"/>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2</a:t>
            </a:r>
            <a:endParaRPr lang="en-US" sz="1200" dirty="0"/>
          </a:p>
        </p:txBody>
      </p:sp>
      <p:sp>
        <p:nvSpPr>
          <p:cNvPr id="81" name="Text 11">
            <a:extLst>
              <a:ext uri="{FF2B5EF4-FFF2-40B4-BE49-F238E27FC236}">
                <a16:creationId xmlns:a16="http://schemas.microsoft.com/office/drawing/2014/main" id="{56FAA675-D9B0-2025-61C2-843625398C11}"/>
              </a:ext>
            </a:extLst>
          </p:cNvPr>
          <p:cNvSpPr txBox="1"/>
          <p:nvPr/>
        </p:nvSpPr>
        <p:spPr>
          <a:xfrm>
            <a:off x="1078992" y="2670048"/>
            <a:ext cx="45902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Mỗi thay đổi gắn với một giải pháp</a:t>
            </a:r>
            <a:endParaRPr lang="en-US" sz="1250" dirty="0"/>
          </a:p>
        </p:txBody>
      </p:sp>
      <p:sp>
        <p:nvSpPr>
          <p:cNvPr id="83" name="Text 12">
            <a:extLst>
              <a:ext uri="{FF2B5EF4-FFF2-40B4-BE49-F238E27FC236}">
                <a16:creationId xmlns:a16="http://schemas.microsoft.com/office/drawing/2014/main" id="{AB6C9913-0EBB-B1B3-13BB-B100AABCFF11}"/>
              </a:ext>
            </a:extLst>
          </p:cNvPr>
          <p:cNvSpPr txBox="1"/>
          <p:nvPr/>
        </p:nvSpPr>
        <p:spPr>
          <a:xfrm>
            <a:off x="1078992" y="2926080"/>
            <a:ext cx="45902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Smart-Form, Đính kèm linh hoạt và Phê duyệt qua điện thoại — mỗi giải pháp để lại đúng một dấu vết có thể chỉ ra trên sơ đồ.</a:t>
            </a:r>
            <a:endParaRPr lang="en-US" sz="1000" dirty="0"/>
          </a:p>
        </p:txBody>
      </p:sp>
      <p:sp>
        <p:nvSpPr>
          <p:cNvPr id="85" name="Shape 13">
            <a:extLst>
              <a:ext uri="{FF2B5EF4-FFF2-40B4-BE49-F238E27FC236}">
                <a16:creationId xmlns:a16="http://schemas.microsoft.com/office/drawing/2014/main" id="{D4F2AF0E-F1F8-E408-9D7C-616BD830B9C0}"/>
              </a:ext>
            </a:extLst>
          </p:cNvPr>
          <p:cNvSpPr/>
          <p:nvPr/>
        </p:nvSpPr>
        <p:spPr>
          <a:xfrm>
            <a:off x="548640" y="3803904"/>
            <a:ext cx="384048" cy="384048"/>
          </a:xfrm>
          <a:prstGeom prst="ellipse">
            <a:avLst/>
          </a:prstGeom>
          <a:solidFill>
            <a:srgbClr val="D9A227"/>
          </a:solidFill>
          <a:ln w="12700">
            <a:solidFill>
              <a:srgbClr val="D9A227"/>
            </a:solidFill>
            <a:prstDash val="solid"/>
          </a:ln>
        </p:spPr>
        <p:txBody>
          <a:bodyPr/>
          <a:lstStyle/>
          <a:p>
            <a:endParaRPr lang="en-US"/>
          </a:p>
        </p:txBody>
      </p:sp>
      <p:sp>
        <p:nvSpPr>
          <p:cNvPr id="87" name="Text 14">
            <a:extLst>
              <a:ext uri="{FF2B5EF4-FFF2-40B4-BE49-F238E27FC236}">
                <a16:creationId xmlns:a16="http://schemas.microsoft.com/office/drawing/2014/main" id="{0BB91124-96E9-6652-85EF-E19174EB4437}"/>
              </a:ext>
            </a:extLst>
          </p:cNvPr>
          <p:cNvSpPr txBox="1"/>
          <p:nvPr/>
        </p:nvSpPr>
        <p:spPr>
          <a:xfrm>
            <a:off x="548640" y="3840480"/>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3</a:t>
            </a:r>
            <a:endParaRPr lang="en-US" sz="1200" dirty="0"/>
          </a:p>
        </p:txBody>
      </p:sp>
      <p:sp>
        <p:nvSpPr>
          <p:cNvPr id="89" name="Text 15">
            <a:extLst>
              <a:ext uri="{FF2B5EF4-FFF2-40B4-BE49-F238E27FC236}">
                <a16:creationId xmlns:a16="http://schemas.microsoft.com/office/drawing/2014/main" id="{A141E2B6-9062-3887-9E83-EA4D27449B85}"/>
              </a:ext>
            </a:extLst>
          </p:cNvPr>
          <p:cNvSpPr txBox="1"/>
          <p:nvPr/>
        </p:nvSpPr>
        <p:spPr>
          <a:xfrm>
            <a:off x="1078992" y="3785616"/>
            <a:ext cx="45902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Số liệu bám theo cấu trúc</a:t>
            </a:r>
            <a:endParaRPr lang="en-US" sz="1250" dirty="0"/>
          </a:p>
        </p:txBody>
      </p:sp>
      <p:sp>
        <p:nvSpPr>
          <p:cNvPr id="91" name="Text 16">
            <a:extLst>
              <a:ext uri="{FF2B5EF4-FFF2-40B4-BE49-F238E27FC236}">
                <a16:creationId xmlns:a16="http://schemas.microsoft.com/office/drawing/2014/main" id="{F7ECAC0A-2B72-D724-C0AB-FA46B90C3F3E}"/>
              </a:ext>
            </a:extLst>
          </p:cNvPr>
          <p:cNvSpPr txBox="1"/>
          <p:nvPr/>
        </p:nvSpPr>
        <p:spPr>
          <a:xfrm>
            <a:off x="1078992" y="4041648"/>
            <a:ext cx="45902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Vì khung luồng không đổi, thời gian từng khối ở Bảng 5.1 so sánh được trực tiếp với AS-IS mà không cần giả định thêm.</a:t>
            </a:r>
            <a:endParaRPr lang="en-US" sz="1000" dirty="0"/>
          </a:p>
        </p:txBody>
      </p:sp>
      <p:sp>
        <p:nvSpPr>
          <p:cNvPr id="501" name="Keep 501"/>
          <p:cNvSpPr/>
          <p:nvPr/>
        </p:nvSpPr>
        <p:spPr>
          <a:xfrm>
            <a:off x="6035040" y="1481328"/>
            <a:ext cx="5605272" cy="4261104"/>
          </a:xfrm>
          <a:prstGeom prst="roundRect">
            <a:avLst>
              <a:gd name="adj" fmla="val 5000"/>
            </a:avLst>
          </a:prstGeom>
          <a:solidFill>
            <a:srgbClr val="EFF4FB"/>
          </a:solidFill>
          <a:ln w="9525">
            <a:solidFill>
              <a:srgbClr val="D8E1EC"/>
            </a:solidFill>
          </a:ln>
        </p:spPr>
        <p:txBody>
          <a:bodyPr/>
          <a:lstStyle/>
          <a:p>
            <a:endParaRPr/>
          </a:p>
        </p:txBody>
      </p:sp>
      <p:sp>
        <p:nvSpPr>
          <p:cNvPr id="502" name="KTxt 502"/>
          <p:cNvSpPr txBox="1"/>
          <p:nvPr/>
        </p:nvSpPr>
        <p:spPr>
          <a:xfrm>
            <a:off x="6291072" y="1700784"/>
            <a:ext cx="5093208" cy="274320"/>
          </a:xfrm>
          <a:prstGeom prst="rect">
            <a:avLst/>
          </a:prstGeom>
          <a:noFill/>
        </p:spPr>
        <p:txBody>
          <a:bodyPr wrap="square" lIns="0" tIns="0" rIns="0" bIns="0" anchor="t"/>
          <a:lstStyle/>
          <a:p>
            <a:r>
              <a:rPr lang="en-US" sz="1100" b="1" dirty="0">
                <a:solidFill>
                  <a:srgbClr val="0B3B75"/>
                </a:solidFill>
                <a:latin typeface="Calibri"/>
              </a:rPr>
              <a:t>GIỮ NGUYÊN 100% SO VỚI AS-IS</a:t>
            </a:r>
          </a:p>
        </p:txBody>
      </p:sp>
      <p:sp>
        <p:nvSpPr>
          <p:cNvPr id="503" name="KTxt 503"/>
          <p:cNvSpPr txBox="1"/>
          <p:nvPr/>
        </p:nvSpPr>
        <p:spPr>
          <a:xfrm>
            <a:off x="6291072" y="2066544"/>
            <a:ext cx="5093208" cy="566928"/>
          </a:xfrm>
          <a:prstGeom prst="rect">
            <a:avLst/>
          </a:prstGeom>
          <a:noFill/>
        </p:spPr>
        <p:txBody>
          <a:bodyPr wrap="square" lIns="0" tIns="0" rIns="0" bIns="0" anchor="t"/>
          <a:lstStyle/>
          <a:p>
            <a:pPr marL="171450" indent="-171450">
              <a:buChar char="•"/>
            </a:pPr>
            <a:r>
              <a:rPr lang="en-US" sz="1000" dirty="0">
                <a:solidFill>
                  <a:srgbClr val="2A3442"/>
                </a:solidFill>
                <a:latin typeface="Calibri"/>
              </a:rPr>
              <a:t>Ba pool riêng biệt: End user · Hệ thống ITSM · Service Desk L1, nối bằng message flow nét đứt.</a:t>
            </a:r>
          </a:p>
        </p:txBody>
      </p:sp>
      <p:sp>
        <p:nvSpPr>
          <p:cNvPr id="504" name="KTxt 504"/>
          <p:cNvSpPr txBox="1"/>
          <p:nvPr/>
        </p:nvSpPr>
        <p:spPr>
          <a:xfrm>
            <a:off x="6291072" y="2633472"/>
            <a:ext cx="5093208" cy="566928"/>
          </a:xfrm>
          <a:prstGeom prst="rect">
            <a:avLst/>
          </a:prstGeom>
          <a:noFill/>
        </p:spPr>
        <p:txBody>
          <a:bodyPr wrap="square" lIns="0" tIns="0" rIns="0" bIns="0" anchor="t"/>
          <a:lstStyle/>
          <a:p>
            <a:pPr marL="171450" indent="-171450">
              <a:buChar char="•"/>
            </a:pPr>
            <a:r>
              <a:rPr lang="en-US" sz="1000" dirty="0">
                <a:solidFill>
                  <a:srgbClr val="2A3442"/>
                </a:solidFill>
                <a:latin typeface="Calibri"/>
              </a:rPr>
              <a:t>Toàn bộ nhánh escalate Level 2 và sub-process xử lý kỹ thuật.</a:t>
            </a:r>
          </a:p>
        </p:txBody>
      </p:sp>
      <p:sp>
        <p:nvSpPr>
          <p:cNvPr id="505" name="KTxt 505"/>
          <p:cNvSpPr txBox="1"/>
          <p:nvPr/>
        </p:nvSpPr>
        <p:spPr>
          <a:xfrm>
            <a:off x="6291072" y="3200400"/>
            <a:ext cx="5093208" cy="566928"/>
          </a:xfrm>
          <a:prstGeom prst="rect">
            <a:avLst/>
          </a:prstGeom>
          <a:noFill/>
        </p:spPr>
        <p:txBody>
          <a:bodyPr wrap="square" lIns="0" tIns="0" rIns="0" bIns="0" anchor="t"/>
          <a:lstStyle/>
          <a:p>
            <a:pPr marL="171450" indent="-171450">
              <a:buChar char="•"/>
            </a:pPr>
            <a:r>
              <a:rPr lang="en-US" sz="1000" dirty="0">
                <a:solidFill>
                  <a:srgbClr val="2A3442"/>
                </a:solidFill>
                <a:latin typeface="Calibri"/>
              </a:rPr>
              <a:t>Khối hoàn tất: cập nhật “Resolved”, người dùng xác nhận, cổng chờ sự kiện, timer auto-close và đóng ticket.</a:t>
            </a:r>
          </a:p>
        </p:txBody>
      </p:sp>
      <p:sp>
        <p:nvSpPr>
          <p:cNvPr id="506" name="KTxt 506"/>
          <p:cNvSpPr txBox="1"/>
          <p:nvPr/>
        </p:nvSpPr>
        <p:spPr>
          <a:xfrm>
            <a:off x="6291072" y="3767328"/>
            <a:ext cx="5093208" cy="566928"/>
          </a:xfrm>
          <a:prstGeom prst="rect">
            <a:avLst/>
          </a:prstGeom>
          <a:noFill/>
        </p:spPr>
        <p:txBody>
          <a:bodyPr wrap="square" lIns="0" tIns="0" rIns="0" bIns="0" anchor="t"/>
          <a:lstStyle/>
          <a:p>
            <a:pPr marL="171450" indent="-171450">
              <a:buChar char="•"/>
            </a:pPr>
            <a:r>
              <a:rPr lang="en-US" sz="1000" dirty="0">
                <a:solidFill>
                  <a:srgbClr val="2A3442"/>
                </a:solidFill>
                <a:latin typeface="Calibri"/>
              </a:rPr>
              <a:t>Hai sự kiện kết thúc: Reject kèm lý do và Kết thúc sau khi đóng phiếu.</a:t>
            </a:r>
          </a:p>
        </p:txBody>
      </p:sp>
      <p:sp>
        <p:nvSpPr>
          <p:cNvPr id="507" name="KTxt 507"/>
          <p:cNvSpPr txBox="1"/>
          <p:nvPr/>
        </p:nvSpPr>
        <p:spPr>
          <a:xfrm>
            <a:off x="6291072" y="4334256"/>
            <a:ext cx="5093208" cy="566928"/>
          </a:xfrm>
          <a:prstGeom prst="rect">
            <a:avLst/>
          </a:prstGeom>
          <a:noFill/>
        </p:spPr>
        <p:txBody>
          <a:bodyPr wrap="square" lIns="0" tIns="0" rIns="0" bIns="0" anchor="t"/>
          <a:lstStyle/>
          <a:p>
            <a:pPr marL="171450" indent="-171450">
              <a:buChar char="•"/>
            </a:pPr>
            <a:r>
              <a:rPr lang="en-US" sz="1000" dirty="0">
                <a:solidFill>
                  <a:srgbClr val="2A3442"/>
                </a:solidFill>
                <a:latin typeface="Calibri"/>
              </a:rPr>
              <a:t>Vị trí, tên và thứ tự của mọi hoạt động không nằm trong phạm vi ba giải pháp.</a:t>
            </a:r>
          </a:p>
        </p:txBody>
      </p:sp>
      <p:sp>
        <p:nvSpPr>
          <p:cNvPr id="508" name="Keep 508"/>
          <p:cNvSpPr/>
          <p:nvPr/>
        </p:nvSpPr>
        <p:spPr>
          <a:xfrm>
            <a:off x="6291072" y="4992624"/>
            <a:ext cx="5093208" cy="566928"/>
          </a:xfrm>
          <a:prstGeom prst="roundRect">
            <a:avLst>
              <a:gd name="adj" fmla="val 5000"/>
            </a:avLst>
          </a:prstGeom>
          <a:solidFill>
            <a:srgbClr val="F0F8F4"/>
          </a:solidFill>
          <a:ln w="9525">
            <a:solidFill>
              <a:srgbClr val="0E7A5F"/>
            </a:solidFill>
          </a:ln>
        </p:spPr>
        <p:txBody>
          <a:bodyPr/>
          <a:lstStyle/>
          <a:p>
            <a:endParaRPr/>
          </a:p>
        </p:txBody>
      </p:sp>
      <p:sp>
        <p:nvSpPr>
          <p:cNvPr id="509" name="KTxt 509"/>
          <p:cNvSpPr txBox="1"/>
          <p:nvPr/>
        </p:nvSpPr>
        <p:spPr>
          <a:xfrm>
            <a:off x="6437376" y="5102352"/>
            <a:ext cx="4800600" cy="402336"/>
          </a:xfrm>
          <a:prstGeom prst="rect">
            <a:avLst/>
          </a:prstGeom>
          <a:noFill/>
        </p:spPr>
        <p:txBody>
          <a:bodyPr wrap="square" lIns="0" tIns="0" rIns="0" bIns="0" anchor="t"/>
          <a:lstStyle/>
          <a:p>
            <a:r>
              <a:rPr lang="en-US" sz="950" dirty="0">
                <a:solidFill>
                  <a:srgbClr val="2A3442"/>
                </a:solidFill>
                <a:latin typeface="Calibri"/>
              </a:rPr>
              <a:t>Nhờ vậy </a:t>
            </a:r>
            <a:r>
              <a:rPr lang="en-US" sz="950" b="1" dirty="0">
                <a:solidFill>
                  <a:srgbClr val="0E7A5F"/>
                </a:solidFill>
                <a:latin typeface="Calibri"/>
              </a:rPr>
              <a:t>hai sơ đồ đặt cạnh nhau so sánh được từng khối</a:t>
            </a:r>
            <a:r>
              <a:rPr lang="en-US" sz="950" dirty="0">
                <a:solidFill>
                  <a:srgbClr val="2A3442"/>
                </a:solidFill>
                <a:latin typeface="Calibri"/>
              </a:rPr>
              <a:t> — đây là điều kiện để Bảng 5.1 có ý nghĩa.</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558B93E-02CE-FEBB-E670-D31D93AB1CDD}"/>
            </a:ext>
          </a:extLst>
        </p:cNvPr>
        <p:cNvGrpSpPr/>
        <p:nvPr/>
      </p:nvGrpSpPr>
      <p:grpSpPr>
        <a:xfrm>
          <a:off x="0" y="0"/>
          <a:ext cx="0" cy="0"/>
          <a:chOff x="0" y="0"/>
          <a:chExt cx="0" cy="0"/>
        </a:xfrm>
      </p:grpSpPr>
      <p:sp>
        <p:nvSpPr>
          <p:cNvPr id="10" name="Shape 0">
            <a:extLst>
              <a:ext uri="{FF2B5EF4-FFF2-40B4-BE49-F238E27FC236}">
                <a16:creationId xmlns:a16="http://schemas.microsoft.com/office/drawing/2014/main" id="{ED97E800-4C35-4F9A-A772-E4F5050DBB11}"/>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11" name="Text 1">
            <a:extLst>
              <a:ext uri="{FF2B5EF4-FFF2-40B4-BE49-F238E27FC236}">
                <a16:creationId xmlns:a16="http://schemas.microsoft.com/office/drawing/2014/main" id="{51BCD208-596B-056E-11A7-9115749D95F1}"/>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5 · 5.2.1 SƠ ĐỒ BPMN 2.0 SAU CẢI TIẾN</a:t>
            </a:r>
            <a:endParaRPr lang="en-US" sz="1050" dirty="0"/>
          </a:p>
        </p:txBody>
      </p:sp>
      <p:sp>
        <p:nvSpPr>
          <p:cNvPr id="12" name="Text 2">
            <a:extLst>
              <a:ext uri="{FF2B5EF4-FFF2-40B4-BE49-F238E27FC236}">
                <a16:creationId xmlns:a16="http://schemas.microsoft.com/office/drawing/2014/main" id="{75881DA1-5DE5-AB70-8251-E0737F49E7DF}"/>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MÔ HÌNH TO-BE — BA ĐIỂM ĐÃ SỬA SO VỚI AS-IS</a:t>
            </a:r>
            <a:endParaRPr lang="en-US" sz="2500" dirty="0"/>
          </a:p>
        </p:txBody>
      </p:sp>
      <p:sp>
        <p:nvSpPr>
          <p:cNvPr id="13" name="Text 3">
            <a:extLst>
              <a:ext uri="{FF2B5EF4-FFF2-40B4-BE49-F238E27FC236}">
                <a16:creationId xmlns:a16="http://schemas.microsoft.com/office/drawing/2014/main" id="{BF3385BB-7AD7-9731-7E3D-6D1464935903}"/>
              </a:ext>
            </a:extLst>
          </p:cNvPr>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14" name="Text 4">
            <a:extLst>
              <a:ext uri="{FF2B5EF4-FFF2-40B4-BE49-F238E27FC236}">
                <a16:creationId xmlns:a16="http://schemas.microsoft.com/office/drawing/2014/main" id="{A4480C8A-8CF9-D772-AFC8-BF1376B4F480}"/>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51</a:t>
            </a:r>
            <a:endParaRPr lang="en-US" sz="1100" dirty="0"/>
          </a:p>
        </p:txBody>
      </p:sp>
      <p:sp>
        <p:nvSpPr>
          <p:cNvPr id="16" name="Shape 17">
            <a:extLst>
              <a:ext uri="{FF2B5EF4-FFF2-40B4-BE49-F238E27FC236}">
                <a16:creationId xmlns:a16="http://schemas.microsoft.com/office/drawing/2014/main" id="{3446D747-F6D7-7DC8-0E06-7A928CC062B4}"/>
              </a:ext>
            </a:extLst>
          </p:cNvPr>
          <p:cNvSpPr/>
          <p:nvPr/>
        </p:nvSpPr>
        <p:spPr>
          <a:xfrm>
            <a:off x="491438" y="1110566"/>
            <a:ext cx="7754112" cy="5239512"/>
          </a:xfrm>
          <a:prstGeom prst="roundRect">
            <a:avLst>
              <a:gd name="adj" fmla="val 1500"/>
            </a:avLst>
          </a:prstGeom>
          <a:solidFill>
            <a:srgbClr val="FCF7EA"/>
          </a:solidFill>
          <a:ln w="15875">
            <a:solidFill>
              <a:srgbClr val="D9A227"/>
            </a:solidFill>
            <a:prstDash val="dash"/>
          </a:ln>
        </p:spPr>
        <p:txBody>
          <a:bodyPr/>
          <a:lstStyle/>
          <a:p>
            <a:endParaRPr lang="en-US"/>
          </a:p>
        </p:txBody>
      </p:sp>
      <p:sp>
        <p:nvSpPr>
          <p:cNvPr id="401" name="Legend 401"/>
          <p:cNvSpPr/>
          <p:nvPr/>
        </p:nvSpPr>
        <p:spPr>
          <a:xfrm>
            <a:off x="8284464" y="1188720"/>
            <a:ext cx="3355848" cy="5093208"/>
          </a:xfrm>
          <a:prstGeom prst="roundRect">
            <a:avLst>
              <a:gd name="adj" fmla="val 5000"/>
            </a:avLst>
          </a:prstGeom>
          <a:solidFill>
            <a:srgbClr val="EFF4FB"/>
          </a:solidFill>
          <a:ln w="9525">
            <a:solidFill>
              <a:srgbClr val="D8E1EC"/>
            </a:solidFill>
          </a:ln>
        </p:spPr>
        <p:txBody>
          <a:bodyPr/>
          <a:lstStyle/>
          <a:p>
            <a:endParaRPr/>
          </a:p>
        </p:txBody>
      </p:sp>
      <p:sp>
        <p:nvSpPr>
          <p:cNvPr id="402" name="LTxt 402"/>
          <p:cNvSpPr txBox="1"/>
          <p:nvPr/>
        </p:nvSpPr>
        <p:spPr>
          <a:xfrm>
            <a:off x="8503920" y="1371600"/>
            <a:ext cx="2916936" cy="256032"/>
          </a:xfrm>
          <a:prstGeom prst="rect">
            <a:avLst/>
          </a:prstGeom>
          <a:noFill/>
        </p:spPr>
        <p:txBody>
          <a:bodyPr wrap="square" lIns="0" tIns="0" rIns="0" bIns="0" anchor="t"/>
          <a:lstStyle/>
          <a:p>
            <a:pPr algn="l"/>
            <a:r>
              <a:rPr lang="en-US" sz="1100" b="1" dirty="0">
                <a:solidFill>
                  <a:srgbClr val="0B3B75"/>
                </a:solidFill>
                <a:latin typeface="Calibri"/>
                <a:cs typeface="Calibri"/>
              </a:rPr>
              <a:t>BA ĐIỂM ĐÃ SỬA</a:t>
            </a:r>
          </a:p>
        </p:txBody>
      </p:sp>
      <p:sp>
        <p:nvSpPr>
          <p:cNvPr id="403" name="Legend 403"/>
          <p:cNvSpPr/>
          <p:nvPr/>
        </p:nvSpPr>
        <p:spPr>
          <a:xfrm>
            <a:off x="8503920" y="1719072"/>
            <a:ext cx="164592" cy="164592"/>
          </a:xfrm>
          <a:prstGeom prst="rect">
            <a:avLst/>
          </a:prstGeom>
          <a:solidFill>
            <a:srgbClr val="D6F0E4"/>
          </a:solidFill>
          <a:ln w="9525">
            <a:solidFill>
              <a:srgbClr val="0E7A5F"/>
            </a:solidFill>
          </a:ln>
        </p:spPr>
        <p:txBody>
          <a:bodyPr/>
          <a:lstStyle/>
          <a:p>
            <a:endParaRPr/>
          </a:p>
        </p:txBody>
      </p:sp>
      <p:sp>
        <p:nvSpPr>
          <p:cNvPr id="404" name="LTxt 404"/>
          <p:cNvSpPr txBox="1"/>
          <p:nvPr/>
        </p:nvSpPr>
        <p:spPr>
          <a:xfrm>
            <a:off x="8741664" y="1700784"/>
            <a:ext cx="2679192" cy="219456"/>
          </a:xfrm>
          <a:prstGeom prst="rect">
            <a:avLst/>
          </a:prstGeom>
          <a:noFill/>
        </p:spPr>
        <p:txBody>
          <a:bodyPr wrap="square" lIns="0" tIns="0" rIns="0" bIns="0" anchor="t"/>
          <a:lstStyle/>
          <a:p>
            <a:pPr algn="l"/>
            <a:r>
              <a:rPr lang="en-US" sz="900" dirty="0">
                <a:solidFill>
                  <a:srgbClr val="0E7A5F"/>
                </a:solidFill>
                <a:latin typeface="Calibri"/>
                <a:cs typeface="Calibri"/>
              </a:rPr>
              <a:t>Phần tô xanh lá là phần thay đổi</a:t>
            </a:r>
          </a:p>
        </p:txBody>
      </p:sp>
      <p:sp>
        <p:nvSpPr>
          <p:cNvPr id="405" name="Dot 405"/>
          <p:cNvSpPr/>
          <p:nvPr/>
        </p:nvSpPr>
        <p:spPr>
          <a:xfrm>
            <a:off x="8503920" y="2139696"/>
            <a:ext cx="292608" cy="292608"/>
          </a:xfrm>
          <a:prstGeom prst="ellipse">
            <a:avLst/>
          </a:prstGeom>
          <a:solidFill>
            <a:srgbClr val="D9A227"/>
          </a:solidFill>
          <a:ln>
            <a:noFill/>
          </a:ln>
        </p:spPr>
        <p:txBody>
          <a:bodyPr/>
          <a:lstStyle/>
          <a:p>
            <a:endParaRPr/>
          </a:p>
        </p:txBody>
      </p:sp>
      <p:sp>
        <p:nvSpPr>
          <p:cNvPr id="406" name="LTxt 406"/>
          <p:cNvSpPr txBox="1"/>
          <p:nvPr/>
        </p:nvSpPr>
        <p:spPr>
          <a:xfrm>
            <a:off x="8503920" y="2180844"/>
            <a:ext cx="292608" cy="237744"/>
          </a:xfrm>
          <a:prstGeom prst="rect">
            <a:avLst/>
          </a:prstGeom>
          <a:noFill/>
        </p:spPr>
        <p:txBody>
          <a:bodyPr wrap="square" lIns="0" tIns="0" rIns="0" bIns="0" anchor="t"/>
          <a:lstStyle/>
          <a:p>
            <a:pPr algn="ctr"/>
            <a:r>
              <a:rPr lang="en-US" sz="1000" b="1" dirty="0">
                <a:solidFill>
                  <a:srgbClr val="0B3B75"/>
                </a:solidFill>
                <a:latin typeface="Calibri"/>
                <a:cs typeface="Calibri"/>
              </a:rPr>
              <a:t>1</a:t>
            </a:r>
          </a:p>
        </p:txBody>
      </p:sp>
      <p:sp>
        <p:nvSpPr>
          <p:cNvPr id="407" name="LTxt 407"/>
          <p:cNvSpPr txBox="1"/>
          <p:nvPr/>
        </p:nvSpPr>
        <p:spPr>
          <a:xfrm>
            <a:off x="8887968" y="2121408"/>
            <a:ext cx="2514600" cy="237744"/>
          </a:xfrm>
          <a:prstGeom prst="rect">
            <a:avLst/>
          </a:prstGeom>
          <a:noFill/>
        </p:spPr>
        <p:txBody>
          <a:bodyPr wrap="square" lIns="0" tIns="0" rIns="0" bIns="0" anchor="t"/>
          <a:lstStyle/>
          <a:p>
            <a:pPr algn="l"/>
            <a:r>
              <a:rPr lang="en-US" sz="1000" b="1" dirty="0">
                <a:solidFill>
                  <a:srgbClr val="0B3B75"/>
                </a:solidFill>
                <a:latin typeface="Calibri"/>
                <a:cs typeface="Calibri"/>
              </a:rPr>
              <a:t>Điền biểu mẫu PYC (Smart-Form)</a:t>
            </a:r>
          </a:p>
        </p:txBody>
      </p:sp>
      <p:sp>
        <p:nvSpPr>
          <p:cNvPr id="408" name="LTxt 408"/>
          <p:cNvSpPr txBox="1"/>
          <p:nvPr/>
        </p:nvSpPr>
        <p:spPr>
          <a:xfrm>
            <a:off x="8887968" y="2377440"/>
            <a:ext cx="2514600" cy="658368"/>
          </a:xfrm>
          <a:prstGeom prst="rect">
            <a:avLst/>
          </a:prstGeom>
          <a:noFill/>
        </p:spPr>
        <p:txBody>
          <a:bodyPr wrap="square" lIns="0" tIns="0" rIns="0" bIns="0" anchor="t"/>
          <a:lstStyle/>
          <a:p>
            <a:pPr algn="l"/>
            <a:r>
              <a:rPr lang="en-US" sz="900" dirty="0">
                <a:solidFill>
                  <a:srgbClr val="6E7A88"/>
                </a:solidFill>
                <a:latin typeface="Calibri"/>
                <a:cs typeface="Calibri"/>
              </a:rPr>
              <a:t>Biểu mẫu ràng buộc trường bắt buộc và dùng dropdown thay cho free-text — Giải pháp 1.</a:t>
            </a:r>
          </a:p>
        </p:txBody>
      </p:sp>
      <p:sp>
        <p:nvSpPr>
          <p:cNvPr id="409" name="Dot 409"/>
          <p:cNvSpPr/>
          <p:nvPr/>
        </p:nvSpPr>
        <p:spPr>
          <a:xfrm>
            <a:off x="8503920" y="3035808"/>
            <a:ext cx="292608" cy="292608"/>
          </a:xfrm>
          <a:prstGeom prst="ellipse">
            <a:avLst/>
          </a:prstGeom>
          <a:solidFill>
            <a:srgbClr val="D9A227"/>
          </a:solidFill>
          <a:ln>
            <a:noFill/>
          </a:ln>
        </p:spPr>
        <p:txBody>
          <a:bodyPr/>
          <a:lstStyle/>
          <a:p>
            <a:endParaRPr/>
          </a:p>
        </p:txBody>
      </p:sp>
      <p:sp>
        <p:nvSpPr>
          <p:cNvPr id="410" name="LTxt 410"/>
          <p:cNvSpPr txBox="1"/>
          <p:nvPr/>
        </p:nvSpPr>
        <p:spPr>
          <a:xfrm>
            <a:off x="8503920" y="3076956"/>
            <a:ext cx="292608" cy="237744"/>
          </a:xfrm>
          <a:prstGeom prst="rect">
            <a:avLst/>
          </a:prstGeom>
          <a:noFill/>
        </p:spPr>
        <p:txBody>
          <a:bodyPr wrap="square" lIns="0" tIns="0" rIns="0" bIns="0" anchor="t"/>
          <a:lstStyle/>
          <a:p>
            <a:pPr algn="ctr"/>
            <a:r>
              <a:rPr lang="en-US" sz="1000" b="1" dirty="0">
                <a:solidFill>
                  <a:srgbClr val="0B3B75"/>
                </a:solidFill>
                <a:latin typeface="Calibri"/>
                <a:cs typeface="Calibri"/>
              </a:rPr>
              <a:t>2</a:t>
            </a:r>
          </a:p>
        </p:txBody>
      </p:sp>
      <p:sp>
        <p:nvSpPr>
          <p:cNvPr id="411" name="LTxt 411"/>
          <p:cNvSpPr txBox="1"/>
          <p:nvPr/>
        </p:nvSpPr>
        <p:spPr>
          <a:xfrm>
            <a:off x="8887968" y="3017520"/>
            <a:ext cx="2514600" cy="237744"/>
          </a:xfrm>
          <a:prstGeom prst="rect">
            <a:avLst/>
          </a:prstGeom>
          <a:noFill/>
        </p:spPr>
        <p:txBody>
          <a:bodyPr wrap="square" lIns="0" tIns="0" rIns="0" bIns="0" anchor="t"/>
          <a:lstStyle/>
          <a:p>
            <a:pPr algn="l"/>
            <a:r>
              <a:rPr lang="en-US" sz="1000" b="1" dirty="0">
                <a:solidFill>
                  <a:srgbClr val="0B3B75"/>
                </a:solidFill>
                <a:latin typeface="Calibri"/>
                <a:cs typeface="Calibri"/>
              </a:rPr>
              <a:t>Cổng “Đính kèm” đổi AND → OR</a:t>
            </a:r>
          </a:p>
        </p:txBody>
      </p:sp>
      <p:sp>
        <p:nvSpPr>
          <p:cNvPr id="412" name="LTxt 412"/>
          <p:cNvSpPr txBox="1"/>
          <p:nvPr/>
        </p:nvSpPr>
        <p:spPr>
          <a:xfrm>
            <a:off x="8887968" y="3273552"/>
            <a:ext cx="2514600" cy="658368"/>
          </a:xfrm>
          <a:prstGeom prst="rect">
            <a:avLst/>
          </a:prstGeom>
          <a:noFill/>
        </p:spPr>
        <p:txBody>
          <a:bodyPr wrap="square" lIns="0" tIns="0" rIns="0" bIns="0" anchor="t"/>
          <a:lstStyle/>
          <a:p>
            <a:pPr algn="l"/>
            <a:r>
              <a:rPr lang="en-US" sz="900" dirty="0">
                <a:solidFill>
                  <a:srgbClr val="6E7A88"/>
                </a:solidFill>
                <a:latin typeface="Calibri"/>
                <a:cs typeface="Calibri"/>
              </a:rPr>
              <a:t>Chỉ đính kèm tệp thực sự cần thay vì bắt buộc đủ cả ba — xóa lãng phí Overdo số 2.</a:t>
            </a:r>
          </a:p>
        </p:txBody>
      </p:sp>
      <p:sp>
        <p:nvSpPr>
          <p:cNvPr id="413" name="Dot 413"/>
          <p:cNvSpPr/>
          <p:nvPr/>
        </p:nvSpPr>
        <p:spPr>
          <a:xfrm>
            <a:off x="8503920" y="3931920"/>
            <a:ext cx="292608" cy="292608"/>
          </a:xfrm>
          <a:prstGeom prst="ellipse">
            <a:avLst/>
          </a:prstGeom>
          <a:solidFill>
            <a:srgbClr val="D9A227"/>
          </a:solidFill>
          <a:ln>
            <a:noFill/>
          </a:ln>
        </p:spPr>
        <p:txBody>
          <a:bodyPr/>
          <a:lstStyle/>
          <a:p>
            <a:endParaRPr/>
          </a:p>
        </p:txBody>
      </p:sp>
      <p:sp>
        <p:nvSpPr>
          <p:cNvPr id="414" name="LTxt 414"/>
          <p:cNvSpPr txBox="1"/>
          <p:nvPr/>
        </p:nvSpPr>
        <p:spPr>
          <a:xfrm>
            <a:off x="8503920" y="3973068"/>
            <a:ext cx="292608" cy="237744"/>
          </a:xfrm>
          <a:prstGeom prst="rect">
            <a:avLst/>
          </a:prstGeom>
          <a:noFill/>
        </p:spPr>
        <p:txBody>
          <a:bodyPr wrap="square" lIns="0" tIns="0" rIns="0" bIns="0" anchor="t"/>
          <a:lstStyle/>
          <a:p>
            <a:pPr algn="ctr"/>
            <a:r>
              <a:rPr lang="en-US" sz="1000" b="1" dirty="0">
                <a:solidFill>
                  <a:srgbClr val="0B3B75"/>
                </a:solidFill>
                <a:latin typeface="Calibri"/>
                <a:cs typeface="Calibri"/>
              </a:rPr>
              <a:t>3</a:t>
            </a:r>
          </a:p>
        </p:txBody>
      </p:sp>
      <p:sp>
        <p:nvSpPr>
          <p:cNvPr id="415" name="LTxt 415"/>
          <p:cNvSpPr txBox="1"/>
          <p:nvPr/>
        </p:nvSpPr>
        <p:spPr>
          <a:xfrm>
            <a:off x="8887968" y="3913632"/>
            <a:ext cx="2514600" cy="237744"/>
          </a:xfrm>
          <a:prstGeom prst="rect">
            <a:avLst/>
          </a:prstGeom>
          <a:noFill/>
        </p:spPr>
        <p:txBody>
          <a:bodyPr wrap="square" lIns="0" tIns="0" rIns="0" bIns="0" anchor="t"/>
          <a:lstStyle/>
          <a:p>
            <a:pPr algn="l"/>
            <a:r>
              <a:rPr lang="en-US" sz="1000" b="1" dirty="0">
                <a:solidFill>
                  <a:srgbClr val="0B3B75"/>
                </a:solidFill>
                <a:latin typeface="Calibri"/>
                <a:cs typeface="Calibri"/>
              </a:rPr>
              <a:t>Phê duyệt qua điện thoại</a:t>
            </a:r>
          </a:p>
        </p:txBody>
      </p:sp>
      <p:sp>
        <p:nvSpPr>
          <p:cNvPr id="416" name="LTxt 416"/>
          <p:cNvSpPr txBox="1"/>
          <p:nvPr/>
        </p:nvSpPr>
        <p:spPr>
          <a:xfrm>
            <a:off x="8887968" y="4169664"/>
            <a:ext cx="2514600" cy="658368"/>
          </a:xfrm>
          <a:prstGeom prst="rect">
            <a:avLst/>
          </a:prstGeom>
          <a:noFill/>
        </p:spPr>
        <p:txBody>
          <a:bodyPr wrap="square" lIns="0" tIns="0" rIns="0" bIns="0" anchor="t"/>
          <a:lstStyle/>
          <a:p>
            <a:pPr algn="l"/>
            <a:r>
              <a:rPr lang="en-US" sz="900" dirty="0">
                <a:solidFill>
                  <a:srgbClr val="6E7A88"/>
                </a:solidFill>
                <a:latin typeface="Calibri"/>
                <a:cs typeface="Calibri"/>
              </a:rPr>
              <a:t>Thêm thông báo đẩy tới app di động và bước quản lý phê duyệt ngay trên điện thoại — Giải pháp 3.</a:t>
            </a:r>
          </a:p>
        </p:txBody>
      </p:sp>
      <p:pic>
        <p:nvPicPr>
          <p:cNvPr id="5" name="Picture 4">
            <a:extLst>
              <a:ext uri="{FF2B5EF4-FFF2-40B4-BE49-F238E27FC236}">
                <a16:creationId xmlns:a16="http://schemas.microsoft.com/office/drawing/2014/main" id="{F6CD50D8-BB54-017B-990C-887320D67F58}"/>
              </a:ext>
            </a:extLst>
          </p:cNvPr>
          <p:cNvPicPr>
            <a:picLocks noChangeAspect="1"/>
          </p:cNvPicPr>
          <p:nvPr/>
        </p:nvPicPr>
        <p:blipFill>
          <a:blip r:embed="rId3"/>
          <a:stretch>
            <a:fillRect/>
          </a:stretch>
        </p:blipFill>
        <p:spPr>
          <a:xfrm>
            <a:off x="541020" y="1186102"/>
            <a:ext cx="7657825" cy="5097350"/>
          </a:xfrm>
          <a:prstGeom prst="rect">
            <a:avLst/>
          </a:prstGeom>
        </p:spPr>
      </p:pic>
    </p:spTree>
    <p:extLst>
      <p:ext uri="{BB962C8B-B14F-4D97-AF65-F5344CB8AC3E}">
        <p14:creationId xmlns:p14="http://schemas.microsoft.com/office/powerpoint/2010/main" val="22600079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5 · 5.2.2 SO SÁNH AS-IS – TO-BE</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LƯỢNG HÓA MỨC CẢI THIỆN CỦA MÔ HÌNH TO-BE</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5.1 — So sánh Cycle Time từng khối giữa AS-IS và TO-BE  ·  giả định phê duyệt qua điện thoại cắt 70% thời gian chờ duyệt</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52</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1877668826"/>
              </p:ext>
            </p:extLst>
          </p:nvPr>
        </p:nvGraphicFramePr>
        <p:xfrm>
          <a:off x="548640" y="1517904"/>
          <a:ext cx="11091672" cy="2487168"/>
        </p:xfrm>
        <a:graphic>
          <a:graphicData uri="http://schemas.openxmlformats.org/drawingml/2006/table">
            <a:tbl>
              <a:tblPr/>
              <a:tblGrid>
                <a:gridCol w="23774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3959352">
                  <a:extLst>
                    <a:ext uri="{9D8B030D-6E8A-4147-A177-3AD203B41FA5}">
                      <a16:colId xmlns:a16="http://schemas.microsoft.com/office/drawing/2014/main" val="20004"/>
                    </a:ext>
                  </a:extLst>
                </a:gridCol>
              </a:tblGrid>
              <a:tr h="38404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KHỐI CÔNG VIỆC</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AS-IS (PT + WT)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TO-BE (PT + WT)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GIẢM</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THAY ĐỔI CHÍNH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1 · Khởi tạo &amp; Phê duyệt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7,50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3,90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−48,0%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Smart-Form và đính kèm linh hoạt rút PT 2,50 → 2,40; phê duyệt qua điện thoại rút WT 5,00 → 1,50.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2 · Sinh WO &amp; phân loại</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1,58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1,58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Không thay đổi — đã tự động hoàn toàn.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3 · Xử lý ticket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4,50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4,50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Không thay đổi — ba giải pháp không tác động tới khâu xử lý kỹ thuật.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4 · Hoàn tất &amp; Đóng phiếu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2,08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2,08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Không thay đổi — phụ thuộc phản hồi của người dùng.</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TỔNG CYCLE TIME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15,66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12,06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−23,0%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 1,96 ngày làm việc rút còn ≈ 1,51 ngày; CTE tăng từ 36,1% lên 46,1%.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Shape 6"/>
          <p:cNvSpPr/>
          <p:nvPr/>
        </p:nvSpPr>
        <p:spPr>
          <a:xfrm>
            <a:off x="548640" y="4169664"/>
            <a:ext cx="11094415" cy="621792"/>
          </a:xfrm>
          <a:prstGeom prst="roundRect">
            <a:avLst>
              <a:gd name="adj" fmla="val 10000"/>
            </a:avLst>
          </a:prstGeom>
          <a:solidFill>
            <a:srgbClr val="FFF3E0"/>
          </a:solidFill>
          <a:ln w="9525">
            <a:solidFill>
              <a:srgbClr val="B5730A"/>
            </a:solidFill>
            <a:prstDash val="solid"/>
          </a:ln>
        </p:spPr>
        <p:txBody>
          <a:bodyPr/>
          <a:lstStyle/>
          <a:p>
            <a:endParaRPr lang="en-US"/>
          </a:p>
        </p:txBody>
      </p:sp>
      <p:sp>
        <p:nvSpPr>
          <p:cNvPr id="10" name="Text 7"/>
          <p:cNvSpPr txBox="1"/>
          <p:nvPr/>
        </p:nvSpPr>
        <p:spPr>
          <a:xfrm>
            <a:off x="676656" y="4224528"/>
            <a:ext cx="10838383" cy="512064"/>
          </a:xfrm>
          <a:prstGeom prst="rect">
            <a:avLst/>
          </a:prstGeom>
          <a:noFill/>
          <a:ln/>
        </p:spPr>
        <p:txBody>
          <a:bodyPr wrap="square" lIns="0" tIns="0" rIns="0" bIns="0" rtlCol="0" anchor="t"/>
          <a:lstStyle/>
          <a:p>
            <a:pPr marL="0" indent="0">
              <a:buNone/>
            </a:pPr>
            <a:r>
              <a:rPr lang="en-US" sz="950" b="1" dirty="0">
                <a:solidFill>
                  <a:srgbClr val="B5730A"/>
                </a:solidFill>
                <a:latin typeface="Calibri" pitchFamily="34" charset="0"/>
                <a:ea typeface="Calibri" pitchFamily="34" charset="-122"/>
                <a:cs typeface="Calibri" pitchFamily="34" charset="-120"/>
              </a:rPr>
              <a:t>KẾT QUẢ  </a:t>
            </a:r>
            <a:r>
              <a:rPr lang="en-US" sz="950" dirty="0">
                <a:solidFill>
                  <a:srgbClr val="2A3442"/>
                </a:solidFill>
                <a:latin typeface="Calibri" pitchFamily="34" charset="0"/>
                <a:ea typeface="Calibri" pitchFamily="34" charset="-122"/>
                <a:cs typeface="Calibri" pitchFamily="34" charset="-120"/>
              </a:rPr>
              <a:t>Cycle Time giảm 23,0% (15,66 → 12,06 giờ) và CTE tăng từ 36,1% lên 46,1%. Toàn bộ mức giảm nằm ở Khối 1 — đúng nơi ba giải pháp tác động. Chi phí giờ công gần như không đổi (849.000 → 834.000 đồng) vì ba cải tiến nhắm vào thời gian chờ chứ không cắt giờ công; giá trị mang lại là tỷ lệ tuân thủ SLA và trải nghiệm người dùng.</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5 · 5.2.2 SO SÁNH AS-IS – TO-BE</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SO SÁNH CHỈ SỐ HIỆU QUẢ VẬN HÀNH GIỮA HAI MÔ HÌNH</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17 — So sánh chỉ số hiệu quả vận hành giữa mô hình AS-IS và TO-BE (kỳ vọng)</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53</a:t>
            </a:r>
            <a:endParaRPr lang="en-US" sz="11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517904"/>
          <a:ext cx="11091672" cy="3621024"/>
        </p:xfrm>
        <a:graphic>
          <a:graphicData uri="http://schemas.openxmlformats.org/drawingml/2006/table">
            <a:tbl>
              <a:tblPr/>
              <a:tblGrid>
                <a:gridCol w="29260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142232">
                  <a:extLst>
                    <a:ext uri="{9D8B030D-6E8A-4147-A177-3AD203B41FA5}">
                      <a16:colId xmlns:a16="http://schemas.microsoft.com/office/drawing/2014/main" val="20002"/>
                    </a:ext>
                  </a:extLst>
                </a:gridCol>
              </a:tblGrid>
              <a:tr h="603504">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TIÊU CHÍ</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MÔ HÌNH AS-IS</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MÔ HÌNH TO-BE (KỲ VỌNG)</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603504">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Bước phê duyệt thủ công</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Áp dụng cho 100% PYC, không phân biệt mức độ rủi ro</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Chỉ áp dụng cho nhóm “Rủi ro cao”; nhóm “Rủi ro thấp” tự động bypass</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603504">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Lãng phí Hold (chờ duyệt)</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Chiếm tỷ trọng lớn trong Lead Time do phụ thuộc thời gian phản hồi của quản lý</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Giảm đáng kể nhờ auto-approval cho các yêu cầu rủi ro thấp</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603504">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Lãng phí Move (rework do sai thông tin)</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Phát sinh do biểu mẫu free-text, gây vòng lặp “Bổ sung thông tin”</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Được kiểm soát ngay từ đầu vào nhờ Smart-Form bắt buộc và dropdown</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603504">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Ghi log bảo mật</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Thao tác thủ công, đồng bộ tại cổng gom luồng (Join Gateway)</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Tự động qua API (Service Task), không tạo điểm chờ</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603504">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Vai trò cấp quản lý</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Xử lý cả yêu cầu rủi ro thấp lẫn rủi ro cao</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Tập trung nguồn lực (VBA) vào các quyết định rủi ro cao, có giá trị kiểm soát thực sự</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4">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marL="0" indent="0">
              <a:buNone/>
            </a:pPr>
            <a:r>
              <a:rPr lang="en-US" sz="6600" b="1" dirty="0">
                <a:solidFill>
                  <a:srgbClr val="D9A227"/>
                </a:solidFill>
                <a:latin typeface="Calibri" pitchFamily="34" charset="0"/>
                <a:ea typeface="Calibri" pitchFamily="34" charset="-122"/>
                <a:cs typeface="Calibri" pitchFamily="34" charset="-120"/>
              </a:rPr>
              <a:t>06</a:t>
            </a:r>
            <a:endParaRPr lang="en-US" sz="6600" dirty="0"/>
          </a:p>
        </p:txBody>
      </p:sp>
      <p:sp>
        <p:nvSpPr>
          <p:cNvPr id="3" name="Text 1"/>
          <p:cNvSpPr txBox="1"/>
          <p:nvPr/>
        </p:nvSpPr>
        <p:spPr>
          <a:xfrm>
            <a:off x="548640" y="3072384"/>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PHẦN 6 · WRAP-UP</a:t>
            </a:r>
            <a:endParaRPr lang="en-US" sz="1100" dirty="0"/>
          </a:p>
        </p:txBody>
      </p:sp>
      <p:sp>
        <p:nvSpPr>
          <p:cNvPr id="4" name="Text 2"/>
          <p:cNvSpPr txBox="1"/>
          <p:nvPr/>
        </p:nvSpPr>
        <p:spPr>
          <a:xfrm>
            <a:off x="548640" y="3383280"/>
            <a:ext cx="11094415" cy="6400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Kết luận và hướng phát triển</a:t>
            </a:r>
            <a:endParaRPr lang="en-US" sz="3200" dirty="0"/>
          </a:p>
        </p:txBody>
      </p:sp>
      <p:sp>
        <p:nvSpPr>
          <p:cNvPr id="5" name="Text 3"/>
          <p:cNvSpPr txBox="1"/>
          <p:nvPr/>
        </p:nvSpPr>
        <p:spPr>
          <a:xfrm>
            <a:off x="548640" y="4114800"/>
            <a:ext cx="9722815" cy="365760"/>
          </a:xfrm>
          <a:prstGeom prst="rect">
            <a:avLst/>
          </a:prstGeom>
          <a:noFill/>
          <a:ln/>
        </p:spPr>
        <p:txBody>
          <a:bodyPr wrap="square" lIns="0" tIns="0" rIns="0" bIns="0" rtlCol="0" anchor="t"/>
          <a:lstStyle/>
          <a:p>
            <a:pPr marL="0" indent="0">
              <a:buNone/>
            </a:pPr>
            <a:r>
              <a:rPr lang="en-US" sz="1200" dirty="0">
                <a:solidFill>
                  <a:srgbClr val="9BB2D2"/>
                </a:solidFill>
                <a:latin typeface="Calibri" pitchFamily="34" charset="0"/>
                <a:ea typeface="Calibri" pitchFamily="34" charset="-122"/>
                <a:cs typeface="Calibri" pitchFamily="34" charset="-120"/>
              </a:rPr>
              <a:t>Kết quả đạt được  ·  Giá trị ứng dụng thực tiễn  ·  Ba hạn chế  ·  Ba hướng phát triển</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54</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6 · 6.1 – 6.2 KẾT LUẬN</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KẾT QUẢ ĐẠT ĐƯỢC VÀ GIÁ TRỊ ỨNG DỤNG THỰC TIỄN</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55</a:t>
            </a:r>
            <a:endParaRPr lang="en-US" sz="1100" dirty="0"/>
          </a:p>
        </p:txBody>
      </p:sp>
      <p:sp>
        <p:nvSpPr>
          <p:cNvPr id="7" name="Shape 5"/>
          <p:cNvSpPr/>
          <p:nvPr/>
        </p:nvSpPr>
        <p:spPr>
          <a:xfrm>
            <a:off x="548640" y="1463040"/>
            <a:ext cx="3515258" cy="1298448"/>
          </a:xfrm>
          <a:prstGeom prst="roundRect">
            <a:avLst>
              <a:gd name="adj" fmla="val 422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Text 6"/>
          <p:cNvSpPr txBox="1"/>
          <p:nvPr/>
        </p:nvSpPr>
        <p:spPr>
          <a:xfrm>
            <a:off x="731520" y="1591056"/>
            <a:ext cx="731520" cy="292608"/>
          </a:xfrm>
          <a:prstGeom prst="rect">
            <a:avLst/>
          </a:prstGeom>
          <a:noFill/>
          <a:ln/>
        </p:spPr>
        <p:txBody>
          <a:bodyPr wrap="square" lIns="0" tIns="0" rIns="0" bIns="0" rtlCol="0" anchor="t"/>
          <a:lstStyle/>
          <a:p>
            <a:pPr marL="0" indent="0">
              <a:buNone/>
            </a:pPr>
            <a:r>
              <a:rPr lang="en-US" sz="1600" b="1" dirty="0">
                <a:solidFill>
                  <a:srgbClr val="1660BF"/>
                </a:solidFill>
                <a:latin typeface="Calibri" pitchFamily="34" charset="0"/>
                <a:ea typeface="Calibri" pitchFamily="34" charset="-122"/>
                <a:cs typeface="Calibri" pitchFamily="34" charset="-120"/>
              </a:rPr>
              <a:t>01</a:t>
            </a:r>
            <a:endParaRPr lang="en-US" sz="1600" dirty="0"/>
          </a:p>
        </p:txBody>
      </p:sp>
      <p:sp>
        <p:nvSpPr>
          <p:cNvPr id="9" name="Text 7"/>
          <p:cNvSpPr txBox="1"/>
          <p:nvPr/>
        </p:nvSpPr>
        <p:spPr>
          <a:xfrm>
            <a:off x="731520" y="1920240"/>
            <a:ext cx="3149498" cy="274320"/>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Hệ thống hóa kiến trúc quy trình</a:t>
            </a:r>
            <a:endParaRPr lang="en-US" sz="1150" dirty="0"/>
          </a:p>
        </p:txBody>
      </p:sp>
      <p:sp>
        <p:nvSpPr>
          <p:cNvPr id="10" name="Text 8"/>
          <p:cNvSpPr txBox="1"/>
          <p:nvPr/>
        </p:nvSpPr>
        <p:spPr>
          <a:xfrm>
            <a:off x="731520" y="2212848"/>
            <a:ext cx="3149498" cy="47548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Danh mục 10 quy trình CNTT thuộc ba nhóm Quản lý – Cốt lõi – Hỗ trợ và quan hệ tương hỗ ba tầng.</a:t>
            </a:r>
            <a:endParaRPr lang="en-US" sz="950" dirty="0"/>
          </a:p>
        </p:txBody>
      </p:sp>
      <p:sp>
        <p:nvSpPr>
          <p:cNvPr id="11" name="Shape 9"/>
          <p:cNvSpPr/>
          <p:nvPr/>
        </p:nvSpPr>
        <p:spPr>
          <a:xfrm>
            <a:off x="4338218" y="1463040"/>
            <a:ext cx="3515258" cy="1298448"/>
          </a:xfrm>
          <a:prstGeom prst="roundRect">
            <a:avLst>
              <a:gd name="adj" fmla="val 422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4521098" y="1591056"/>
            <a:ext cx="731520" cy="292608"/>
          </a:xfrm>
          <a:prstGeom prst="rect">
            <a:avLst/>
          </a:prstGeom>
          <a:noFill/>
          <a:ln/>
        </p:spPr>
        <p:txBody>
          <a:bodyPr wrap="square" lIns="0" tIns="0" rIns="0" bIns="0" rtlCol="0" anchor="t"/>
          <a:lstStyle/>
          <a:p>
            <a:pPr marL="0" indent="0">
              <a:buNone/>
            </a:pPr>
            <a:r>
              <a:rPr lang="en-US" sz="1600" b="1" dirty="0">
                <a:solidFill>
                  <a:srgbClr val="1660BF"/>
                </a:solidFill>
                <a:latin typeface="Calibri" pitchFamily="34" charset="0"/>
                <a:ea typeface="Calibri" pitchFamily="34" charset="-122"/>
                <a:cs typeface="Calibri" pitchFamily="34" charset="-120"/>
              </a:rPr>
              <a:t>02</a:t>
            </a:r>
            <a:endParaRPr lang="en-US" sz="1600" dirty="0"/>
          </a:p>
        </p:txBody>
      </p:sp>
      <p:sp>
        <p:nvSpPr>
          <p:cNvPr id="13" name="Text 11"/>
          <p:cNvSpPr txBox="1"/>
          <p:nvPr/>
        </p:nvSpPr>
        <p:spPr>
          <a:xfrm>
            <a:off x="4521098" y="1920240"/>
            <a:ext cx="3149498" cy="274320"/>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Mô hình hóa 06 quy trình bằng BPMN 2.0</a:t>
            </a:r>
            <a:endParaRPr lang="en-US" sz="1150" dirty="0"/>
          </a:p>
        </p:txBody>
      </p:sp>
      <p:sp>
        <p:nvSpPr>
          <p:cNvPr id="14" name="Text 12"/>
          <p:cNvSpPr txBox="1"/>
          <p:nvPr/>
        </p:nvSpPr>
        <p:spPr>
          <a:xfrm>
            <a:off x="4521098" y="2212848"/>
            <a:ext cx="3149498" cy="47548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Hiện trạng AS-IS với đầy đủ pool, lane, gateway, task, event và message flow liên pool.</a:t>
            </a:r>
            <a:endParaRPr lang="en-US" sz="950" dirty="0"/>
          </a:p>
        </p:txBody>
      </p:sp>
      <p:sp>
        <p:nvSpPr>
          <p:cNvPr id="15" name="Shape 13"/>
          <p:cNvSpPr/>
          <p:nvPr/>
        </p:nvSpPr>
        <p:spPr>
          <a:xfrm>
            <a:off x="8127797" y="1463040"/>
            <a:ext cx="3515258" cy="1298448"/>
          </a:xfrm>
          <a:prstGeom prst="roundRect">
            <a:avLst>
              <a:gd name="adj" fmla="val 422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6" name="Text 14"/>
          <p:cNvSpPr txBox="1"/>
          <p:nvPr/>
        </p:nvSpPr>
        <p:spPr>
          <a:xfrm>
            <a:off x="8310677" y="1591056"/>
            <a:ext cx="731520" cy="292608"/>
          </a:xfrm>
          <a:prstGeom prst="rect">
            <a:avLst/>
          </a:prstGeom>
          <a:noFill/>
          <a:ln/>
        </p:spPr>
        <p:txBody>
          <a:bodyPr wrap="square" lIns="0" tIns="0" rIns="0" bIns="0" rtlCol="0" anchor="t"/>
          <a:lstStyle/>
          <a:p>
            <a:pPr marL="0" indent="0">
              <a:buNone/>
            </a:pPr>
            <a:r>
              <a:rPr lang="en-US" sz="1600" b="1" dirty="0">
                <a:solidFill>
                  <a:srgbClr val="1660BF"/>
                </a:solidFill>
                <a:latin typeface="Calibri" pitchFamily="34" charset="0"/>
                <a:ea typeface="Calibri" pitchFamily="34" charset="-122"/>
                <a:cs typeface="Calibri" pitchFamily="34" charset="-120"/>
              </a:rPr>
              <a:t>03</a:t>
            </a:r>
            <a:endParaRPr lang="en-US" sz="1600" dirty="0"/>
          </a:p>
        </p:txBody>
      </p:sp>
      <p:sp>
        <p:nvSpPr>
          <p:cNvPr id="17" name="Text 15"/>
          <p:cNvSpPr txBox="1"/>
          <p:nvPr/>
        </p:nvSpPr>
        <p:spPr>
          <a:xfrm>
            <a:off x="8310677" y="1920240"/>
            <a:ext cx="3149498" cy="274320"/>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Chuẩn hóa Process Discovery</a:t>
            </a:r>
            <a:endParaRPr lang="en-US" sz="1150" dirty="0"/>
          </a:p>
        </p:txBody>
      </p:sp>
      <p:sp>
        <p:nvSpPr>
          <p:cNvPr id="18" name="Text 16"/>
          <p:cNvSpPr txBox="1"/>
          <p:nvPr/>
        </p:nvSpPr>
        <p:spPr>
          <a:xfrm>
            <a:off x="8310677" y="2212848"/>
            <a:ext cx="3149498" cy="47548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Kết hợp bằng chứng và phỏng vấn với bộ 20 câu hỏi (10 định tính + 10 định lượng) cho 4 nhóm đối tượng.</a:t>
            </a:r>
            <a:endParaRPr lang="en-US" sz="950" dirty="0"/>
          </a:p>
        </p:txBody>
      </p:sp>
      <p:sp>
        <p:nvSpPr>
          <p:cNvPr id="19" name="Shape 17"/>
          <p:cNvSpPr/>
          <p:nvPr/>
        </p:nvSpPr>
        <p:spPr>
          <a:xfrm>
            <a:off x="548640" y="2926080"/>
            <a:ext cx="3515258" cy="1298448"/>
          </a:xfrm>
          <a:prstGeom prst="roundRect">
            <a:avLst>
              <a:gd name="adj" fmla="val 422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0" name="Text 18"/>
          <p:cNvSpPr txBox="1"/>
          <p:nvPr/>
        </p:nvSpPr>
        <p:spPr>
          <a:xfrm>
            <a:off x="731520" y="3054096"/>
            <a:ext cx="731520" cy="292608"/>
          </a:xfrm>
          <a:prstGeom prst="rect">
            <a:avLst/>
          </a:prstGeom>
          <a:noFill/>
          <a:ln/>
        </p:spPr>
        <p:txBody>
          <a:bodyPr wrap="square" lIns="0" tIns="0" rIns="0" bIns="0" rtlCol="0" anchor="t"/>
          <a:lstStyle/>
          <a:p>
            <a:pPr marL="0" indent="0">
              <a:buNone/>
            </a:pPr>
            <a:r>
              <a:rPr lang="en-US" sz="1600" b="1" dirty="0">
                <a:solidFill>
                  <a:srgbClr val="1660BF"/>
                </a:solidFill>
                <a:latin typeface="Calibri" pitchFamily="34" charset="0"/>
                <a:ea typeface="Calibri" pitchFamily="34" charset="-122"/>
                <a:cs typeface="Calibri" pitchFamily="34" charset="-120"/>
              </a:rPr>
              <a:t>04</a:t>
            </a:r>
            <a:endParaRPr lang="en-US" sz="1600" dirty="0"/>
          </a:p>
        </p:txBody>
      </p:sp>
      <p:sp>
        <p:nvSpPr>
          <p:cNvPr id="21" name="Text 19"/>
          <p:cNvSpPr txBox="1"/>
          <p:nvPr/>
        </p:nvSpPr>
        <p:spPr>
          <a:xfrm>
            <a:off x="731520" y="3383280"/>
            <a:ext cx="3149498" cy="274320"/>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Phân tích định tính</a:t>
            </a:r>
            <a:endParaRPr lang="en-US" sz="1150" dirty="0"/>
          </a:p>
        </p:txBody>
      </p:sp>
      <p:sp>
        <p:nvSpPr>
          <p:cNvPr id="22" name="Text 20"/>
          <p:cNvSpPr txBox="1"/>
          <p:nvPr/>
        </p:nvSpPr>
        <p:spPr>
          <a:xfrm>
            <a:off x="731520" y="3675888"/>
            <a:ext cx="3149498" cy="47548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Khung VA/NVA/VBA và ba loại lãng phí Move – Hold – Overdo; xác định 4 nhóm nguyên nhân gốc rễ.</a:t>
            </a:r>
            <a:endParaRPr lang="en-US" sz="950" dirty="0"/>
          </a:p>
        </p:txBody>
      </p:sp>
      <p:sp>
        <p:nvSpPr>
          <p:cNvPr id="23" name="Shape 21"/>
          <p:cNvSpPr/>
          <p:nvPr/>
        </p:nvSpPr>
        <p:spPr>
          <a:xfrm>
            <a:off x="4338218" y="2926080"/>
            <a:ext cx="3515258" cy="1298448"/>
          </a:xfrm>
          <a:prstGeom prst="roundRect">
            <a:avLst>
              <a:gd name="adj" fmla="val 422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4" name="Text 22"/>
          <p:cNvSpPr txBox="1"/>
          <p:nvPr/>
        </p:nvSpPr>
        <p:spPr>
          <a:xfrm>
            <a:off x="4521098" y="3054096"/>
            <a:ext cx="731520" cy="292608"/>
          </a:xfrm>
          <a:prstGeom prst="rect">
            <a:avLst/>
          </a:prstGeom>
          <a:noFill/>
          <a:ln/>
        </p:spPr>
        <p:txBody>
          <a:bodyPr wrap="square" lIns="0" tIns="0" rIns="0" bIns="0" rtlCol="0" anchor="t"/>
          <a:lstStyle/>
          <a:p>
            <a:pPr marL="0" indent="0">
              <a:buNone/>
            </a:pPr>
            <a:r>
              <a:rPr lang="en-US" sz="1600" b="1" dirty="0">
                <a:solidFill>
                  <a:srgbClr val="1660BF"/>
                </a:solidFill>
                <a:latin typeface="Calibri" pitchFamily="34" charset="0"/>
                <a:ea typeface="Calibri" pitchFamily="34" charset="-122"/>
                <a:cs typeface="Calibri" pitchFamily="34" charset="-120"/>
              </a:rPr>
              <a:t>05</a:t>
            </a:r>
            <a:endParaRPr lang="en-US" sz="1600" dirty="0"/>
          </a:p>
        </p:txBody>
      </p:sp>
      <p:sp>
        <p:nvSpPr>
          <p:cNvPr id="25" name="Text 23"/>
          <p:cNvSpPr txBox="1"/>
          <p:nvPr/>
        </p:nvSpPr>
        <p:spPr>
          <a:xfrm>
            <a:off x="4521098" y="3383280"/>
            <a:ext cx="3149498" cy="274320"/>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Phân tích định lượng</a:t>
            </a:r>
            <a:endParaRPr lang="en-US" sz="1150" dirty="0"/>
          </a:p>
        </p:txBody>
      </p:sp>
      <p:sp>
        <p:nvSpPr>
          <p:cNvPr id="26" name="Text 24"/>
          <p:cNvSpPr txBox="1"/>
          <p:nvPr/>
        </p:nvSpPr>
        <p:spPr>
          <a:xfrm>
            <a:off x="4521098" y="3675888"/>
            <a:ext cx="3149498" cy="47548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Thời gian kỳ vọng PYC 5,775 giờ và Incident 2,96 giờ; tỷ lệ vi phạm SLA 5–10%, rework 20–50%.</a:t>
            </a:r>
            <a:endParaRPr lang="en-US" sz="950" dirty="0"/>
          </a:p>
        </p:txBody>
      </p:sp>
      <p:sp>
        <p:nvSpPr>
          <p:cNvPr id="27" name="Shape 25"/>
          <p:cNvSpPr/>
          <p:nvPr/>
        </p:nvSpPr>
        <p:spPr>
          <a:xfrm>
            <a:off x="8127797" y="2926080"/>
            <a:ext cx="3515258" cy="1298448"/>
          </a:xfrm>
          <a:prstGeom prst="roundRect">
            <a:avLst>
              <a:gd name="adj" fmla="val 422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8" name="Text 26"/>
          <p:cNvSpPr txBox="1"/>
          <p:nvPr/>
        </p:nvSpPr>
        <p:spPr>
          <a:xfrm>
            <a:off x="8310677" y="3054096"/>
            <a:ext cx="731520" cy="292608"/>
          </a:xfrm>
          <a:prstGeom prst="rect">
            <a:avLst/>
          </a:prstGeom>
          <a:noFill/>
          <a:ln/>
        </p:spPr>
        <p:txBody>
          <a:bodyPr wrap="square" lIns="0" tIns="0" rIns="0" bIns="0" rtlCol="0" anchor="t"/>
          <a:lstStyle/>
          <a:p>
            <a:pPr marL="0" indent="0">
              <a:buNone/>
            </a:pPr>
            <a:r>
              <a:rPr lang="en-US" sz="1600" b="1" dirty="0">
                <a:solidFill>
                  <a:srgbClr val="1660BF"/>
                </a:solidFill>
                <a:latin typeface="Calibri" pitchFamily="34" charset="0"/>
                <a:ea typeface="Calibri" pitchFamily="34" charset="-122"/>
                <a:cs typeface="Calibri" pitchFamily="34" charset="-120"/>
              </a:rPr>
              <a:t>06</a:t>
            </a:r>
            <a:endParaRPr lang="en-US" sz="1600" dirty="0"/>
          </a:p>
        </p:txBody>
      </p:sp>
      <p:sp>
        <p:nvSpPr>
          <p:cNvPr id="29" name="Text 27"/>
          <p:cNvSpPr txBox="1"/>
          <p:nvPr/>
        </p:nvSpPr>
        <p:spPr>
          <a:xfrm>
            <a:off x="8310677" y="3383280"/>
            <a:ext cx="3149498" cy="274320"/>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Xây dựng mô hình TO-BE</a:t>
            </a:r>
            <a:endParaRPr lang="en-US" sz="1150" dirty="0"/>
          </a:p>
        </p:txBody>
      </p:sp>
      <p:sp>
        <p:nvSpPr>
          <p:cNvPr id="30" name="Text 28"/>
          <p:cNvSpPr txBox="1"/>
          <p:nvPr/>
        </p:nvSpPr>
        <p:spPr>
          <a:xfrm>
            <a:off x="8310677" y="3675888"/>
            <a:ext cx="3149498" cy="47548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Ba giải pháp: Smart-Form, Ma trận Auto-Approval và tích hợp API ghi log bảo mật.</a:t>
            </a:r>
            <a:endParaRPr lang="en-US" sz="950" dirty="0"/>
          </a:p>
        </p:txBody>
      </p:sp>
      <p:sp>
        <p:nvSpPr>
          <p:cNvPr id="31" name="Shape 29"/>
          <p:cNvSpPr/>
          <p:nvPr/>
        </p:nvSpPr>
        <p:spPr>
          <a:xfrm>
            <a:off x="548640" y="4443984"/>
            <a:ext cx="11094415" cy="1371600"/>
          </a:xfrm>
          <a:prstGeom prst="roundRect">
            <a:avLst>
              <a:gd name="adj" fmla="val 4000"/>
            </a:avLst>
          </a:prstGeom>
          <a:solidFill>
            <a:srgbClr val="0B3B75"/>
          </a:solidFill>
          <a:ln w="9525">
            <a:solidFill>
              <a:srgbClr val="0B3B75"/>
            </a:solidFill>
            <a:prstDash val="solid"/>
          </a:ln>
          <a:effectLst>
            <a:outerShdw blurRad="101600" dist="19050" dir="5400000" algn="bl" rotWithShape="0">
              <a:srgbClr val="9AAFC6">
                <a:alpha val="16000"/>
              </a:srgbClr>
            </a:outerShdw>
          </a:effectLst>
        </p:spPr>
        <p:txBody>
          <a:bodyPr/>
          <a:lstStyle/>
          <a:p>
            <a:endParaRPr lang="en-US"/>
          </a:p>
        </p:txBody>
      </p:sp>
      <p:sp>
        <p:nvSpPr>
          <p:cNvPr id="32" name="Text 30"/>
          <p:cNvSpPr txBox="1"/>
          <p:nvPr/>
        </p:nvSpPr>
        <p:spPr>
          <a:xfrm>
            <a:off x="804672" y="4608576"/>
            <a:ext cx="10582351" cy="274320"/>
          </a:xfrm>
          <a:prstGeom prst="rect">
            <a:avLst/>
          </a:prstGeom>
          <a:noFill/>
          <a:ln/>
        </p:spPr>
        <p:txBody>
          <a:bodyPr wrap="square" lIns="0" tIns="0" rIns="0" bIns="0" rtlCol="0" anchor="t"/>
          <a:lstStyle/>
          <a:p>
            <a:pPr marL="0" indent="0">
              <a:buNone/>
            </a:pPr>
            <a:r>
              <a:rPr lang="en-US" sz="1200" b="1" kern="0" spc="80" dirty="0">
                <a:solidFill>
                  <a:srgbClr val="D9A227"/>
                </a:solidFill>
                <a:latin typeface="Calibri" pitchFamily="34" charset="0"/>
                <a:ea typeface="Calibri" pitchFamily="34" charset="-122"/>
                <a:cs typeface="Calibri" pitchFamily="34" charset="-120"/>
              </a:rPr>
              <a:t>GIÁ TRỊ ỨNG DỤNG THỰC TIỄN CHO KHỐI CNTT SACOMBANK</a:t>
            </a:r>
            <a:endParaRPr lang="en-US" sz="1200" dirty="0"/>
          </a:p>
        </p:txBody>
      </p:sp>
      <p:sp>
        <p:nvSpPr>
          <p:cNvPr id="33" name="Text 31"/>
          <p:cNvSpPr txBox="1"/>
          <p:nvPr/>
        </p:nvSpPr>
        <p:spPr>
          <a:xfrm>
            <a:off x="804672" y="4919472"/>
            <a:ext cx="10582351" cy="786384"/>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Nếu được triển khai, mô hình TO-BE hứa hẹn rút ngắn đáng kể thời gian chờ đợi (Lead Time), tối ưu hóa nguồn lực (VBA) của cấp quản lý và nâng cao mức độ hài lòng (CSAT) của người dùng nội bộ. Việc chuẩn hóa và tự động hóa quy trình PYC còn là bước đệm đóng góp trực tiếp vào chiến lược Chuyển đổi số toàn diện mà Khối CNTT Sacombank đang hướng tới.</a:t>
            </a:r>
            <a:endParaRPr lang="en-US" sz="11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6 · 6.3 HẠN CHẾ VÀ HƯỚNG PHÁT TRIỂN</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HẠN CHẾ CỦA ĐỀ TÀI VÀ HƯỚNG PHÁT TRIỂN TIẾP THEO</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56</a:t>
            </a:r>
            <a:endParaRPr lang="en-US" sz="1100" dirty="0"/>
          </a:p>
        </p:txBody>
      </p:sp>
      <p:sp>
        <p:nvSpPr>
          <p:cNvPr id="7" name="Text 5"/>
          <p:cNvSpPr txBox="1"/>
          <p:nvPr/>
        </p:nvSpPr>
        <p:spPr>
          <a:xfrm>
            <a:off x="548640" y="1371600"/>
            <a:ext cx="5486400" cy="256032"/>
          </a:xfrm>
          <a:prstGeom prst="rect">
            <a:avLst/>
          </a:prstGeom>
          <a:noFill/>
          <a:ln/>
        </p:spPr>
        <p:txBody>
          <a:bodyPr wrap="square" lIns="0" tIns="0" rIns="0" bIns="0" rtlCol="0" anchor="t"/>
          <a:lstStyle/>
          <a:p>
            <a:pPr marL="0" indent="0">
              <a:buNone/>
            </a:pPr>
            <a:r>
              <a:rPr lang="en-US" sz="1100" b="1" kern="0" spc="80" dirty="0">
                <a:solidFill>
                  <a:srgbClr val="C0392B"/>
                </a:solidFill>
                <a:latin typeface="Calibri" pitchFamily="34" charset="0"/>
                <a:ea typeface="Calibri" pitchFamily="34" charset="-122"/>
                <a:cs typeface="Calibri" pitchFamily="34" charset="-120"/>
              </a:rPr>
              <a:t>BA HẠN CHẾ CẦN LƯU Ý KHI DIỄN GIẢI KẾT QUẢ</a:t>
            </a:r>
            <a:endParaRPr lang="en-US" sz="1100" dirty="0"/>
          </a:p>
        </p:txBody>
      </p:sp>
      <p:sp>
        <p:nvSpPr>
          <p:cNvPr id="8" name="Shape 6"/>
          <p:cNvSpPr/>
          <p:nvPr/>
        </p:nvSpPr>
        <p:spPr>
          <a:xfrm>
            <a:off x="548640" y="1700784"/>
            <a:ext cx="5486400" cy="914400"/>
          </a:xfrm>
          <a:prstGeom prst="roundRect">
            <a:avLst>
              <a:gd name="adj" fmla="val 6000"/>
            </a:avLst>
          </a:prstGeom>
          <a:solidFill>
            <a:srgbClr val="FEF3F2"/>
          </a:solidFill>
          <a:ln w="9525">
            <a:solidFill>
              <a:srgbClr val="C0392B"/>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49808" y="1792224"/>
            <a:ext cx="5120640" cy="256032"/>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Phạm vi mô hình hóa còn giới hạn</a:t>
            </a:r>
            <a:endParaRPr lang="en-US" sz="1150" dirty="0"/>
          </a:p>
        </p:txBody>
      </p:sp>
      <p:sp>
        <p:nvSpPr>
          <p:cNvPr id="10" name="Text 8"/>
          <p:cNvSpPr txBox="1"/>
          <p:nvPr/>
        </p:nvSpPr>
        <p:spPr>
          <a:xfrm>
            <a:off x="749808" y="2066544"/>
            <a:ext cx="5120640" cy="493776"/>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Chỉ mô hình hóa chi tiết 06/10 quy trình; các quy trình còn lại mới dừng ở mức mô tả tổng quan.</a:t>
            </a:r>
            <a:endParaRPr lang="en-US" sz="950" dirty="0"/>
          </a:p>
        </p:txBody>
      </p:sp>
      <p:sp>
        <p:nvSpPr>
          <p:cNvPr id="11" name="Shape 9"/>
          <p:cNvSpPr/>
          <p:nvPr/>
        </p:nvSpPr>
        <p:spPr>
          <a:xfrm>
            <a:off x="548640" y="2761488"/>
            <a:ext cx="5486400" cy="914400"/>
          </a:xfrm>
          <a:prstGeom prst="roundRect">
            <a:avLst>
              <a:gd name="adj" fmla="val 6000"/>
            </a:avLst>
          </a:prstGeom>
          <a:solidFill>
            <a:srgbClr val="FEF3F2"/>
          </a:solidFill>
          <a:ln w="9525">
            <a:solidFill>
              <a:srgbClr val="C0392B"/>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749808" y="2852928"/>
            <a:ext cx="5120640" cy="256032"/>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Số liệu định lượng chủ yếu từ khảo sát</a:t>
            </a:r>
            <a:endParaRPr lang="en-US" sz="1150" dirty="0"/>
          </a:p>
        </p:txBody>
      </p:sp>
      <p:sp>
        <p:nvSpPr>
          <p:cNvPr id="13" name="Text 11"/>
          <p:cNvSpPr txBox="1"/>
          <p:nvPr/>
        </p:nvSpPr>
        <p:spPr>
          <a:xfrm>
            <a:off x="749808" y="3127248"/>
            <a:ext cx="5120640" cy="493776"/>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Thời gian chờ duyệt, tỷ lệ trễ SLA và tỷ lệ rework tổng hợp qua phỏng vấn, chưa đối chiếu đầy đủ với dữ liệu xuất trực tiếp từ hệ thống ITSM trong thời gian dài.</a:t>
            </a:r>
            <a:endParaRPr lang="en-US" sz="950" dirty="0"/>
          </a:p>
        </p:txBody>
      </p:sp>
      <p:sp>
        <p:nvSpPr>
          <p:cNvPr id="14" name="Shape 12"/>
          <p:cNvSpPr/>
          <p:nvPr/>
        </p:nvSpPr>
        <p:spPr>
          <a:xfrm>
            <a:off x="548640" y="3822192"/>
            <a:ext cx="5486400" cy="914400"/>
          </a:xfrm>
          <a:prstGeom prst="roundRect">
            <a:avLst>
              <a:gd name="adj" fmla="val 6000"/>
            </a:avLst>
          </a:prstGeom>
          <a:solidFill>
            <a:srgbClr val="FEF3F2"/>
          </a:solidFill>
          <a:ln w="9525">
            <a:solidFill>
              <a:srgbClr val="C0392B"/>
            </a:solidFill>
            <a:prstDash val="solid"/>
          </a:ln>
          <a:effectLst>
            <a:outerShdw blurRad="101600" dist="19050" dir="5400000" algn="bl" rotWithShape="0">
              <a:srgbClr val="9AAFC6">
                <a:alpha val="16000"/>
              </a:srgbClr>
            </a:outerShdw>
          </a:effectLst>
        </p:spPr>
        <p:txBody>
          <a:bodyPr/>
          <a:lstStyle/>
          <a:p>
            <a:endParaRPr lang="en-US"/>
          </a:p>
        </p:txBody>
      </p:sp>
      <p:sp>
        <p:nvSpPr>
          <p:cNvPr id="15" name="Text 13"/>
          <p:cNvSpPr txBox="1"/>
          <p:nvPr/>
        </p:nvSpPr>
        <p:spPr>
          <a:xfrm>
            <a:off x="749808" y="3913632"/>
            <a:ext cx="5120640" cy="256032"/>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TO-BE mới ở mức thiết kế</a:t>
            </a:r>
            <a:endParaRPr lang="en-US" sz="1150" dirty="0"/>
          </a:p>
        </p:txBody>
      </p:sp>
      <p:sp>
        <p:nvSpPr>
          <p:cNvPr id="16" name="Text 14"/>
          <p:cNvSpPr txBox="1"/>
          <p:nvPr/>
        </p:nvSpPr>
        <p:spPr>
          <a:xfrm>
            <a:off x="749808" y="4187952"/>
            <a:ext cx="5120640" cy="493776"/>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Mô hình TO-BE chưa được triển khai thí điểm trên môi trường thực tế để đo lường hiệu quả cải thiện bằng số liệu cụ thể.</a:t>
            </a:r>
            <a:endParaRPr lang="en-US" sz="950" dirty="0"/>
          </a:p>
        </p:txBody>
      </p:sp>
      <p:sp>
        <p:nvSpPr>
          <p:cNvPr id="17" name="Text 15"/>
          <p:cNvSpPr txBox="1"/>
          <p:nvPr/>
        </p:nvSpPr>
        <p:spPr>
          <a:xfrm>
            <a:off x="6355080" y="1371600"/>
            <a:ext cx="5486400" cy="256032"/>
          </a:xfrm>
          <a:prstGeom prst="rect">
            <a:avLst/>
          </a:prstGeom>
          <a:noFill/>
          <a:ln/>
        </p:spPr>
        <p:txBody>
          <a:bodyPr wrap="square" lIns="0" tIns="0" rIns="0" bIns="0" rtlCol="0" anchor="t"/>
          <a:lstStyle/>
          <a:p>
            <a:pPr marL="0" indent="0">
              <a:buNone/>
            </a:pPr>
            <a:r>
              <a:rPr lang="en-US" sz="1100" b="1" kern="0" spc="80" dirty="0">
                <a:solidFill>
                  <a:srgbClr val="0E7A5F"/>
                </a:solidFill>
                <a:latin typeface="Calibri" pitchFamily="34" charset="0"/>
                <a:ea typeface="Calibri" pitchFamily="34" charset="-122"/>
                <a:cs typeface="Calibri" pitchFamily="34" charset="-120"/>
              </a:rPr>
              <a:t>BA HƯỚNG PHÁT TRIỂN TIẾP THEO</a:t>
            </a:r>
            <a:endParaRPr lang="en-US" sz="1100" dirty="0"/>
          </a:p>
        </p:txBody>
      </p:sp>
      <p:sp>
        <p:nvSpPr>
          <p:cNvPr id="18" name="Shape 16"/>
          <p:cNvSpPr/>
          <p:nvPr/>
        </p:nvSpPr>
        <p:spPr>
          <a:xfrm>
            <a:off x="6355080" y="1700784"/>
            <a:ext cx="5287975" cy="914400"/>
          </a:xfrm>
          <a:prstGeom prst="roundRect">
            <a:avLst>
              <a:gd name="adj" fmla="val 6000"/>
            </a:avLst>
          </a:prstGeom>
          <a:solidFill>
            <a:srgbClr val="F0F8F4"/>
          </a:solidFill>
          <a:ln w="9525">
            <a:solidFill>
              <a:srgbClr val="0E7A5F"/>
            </a:solidFill>
            <a:prstDash val="solid"/>
          </a:ln>
          <a:effectLst>
            <a:outerShdw blurRad="101600" dist="19050" dir="5400000" algn="bl" rotWithShape="0">
              <a:srgbClr val="9AAFC6">
                <a:alpha val="16000"/>
              </a:srgbClr>
            </a:outerShdw>
          </a:effectLst>
        </p:spPr>
        <p:txBody>
          <a:bodyPr/>
          <a:lstStyle/>
          <a:p>
            <a:endParaRPr lang="en-US"/>
          </a:p>
        </p:txBody>
      </p:sp>
      <p:sp>
        <p:nvSpPr>
          <p:cNvPr id="19" name="Text 17"/>
          <p:cNvSpPr txBox="1"/>
          <p:nvPr/>
        </p:nvSpPr>
        <p:spPr>
          <a:xfrm>
            <a:off x="6556248" y="1792224"/>
            <a:ext cx="640080" cy="256032"/>
          </a:xfrm>
          <a:prstGeom prst="rect">
            <a:avLst/>
          </a:prstGeom>
          <a:noFill/>
          <a:ln/>
        </p:spPr>
        <p:txBody>
          <a:bodyPr wrap="square" lIns="0" tIns="0" rIns="0" bIns="0" rtlCol="0" anchor="t"/>
          <a:lstStyle/>
          <a:p>
            <a:pPr marL="0" indent="0">
              <a:buNone/>
            </a:pPr>
            <a:r>
              <a:rPr lang="en-US" sz="1300" b="1" dirty="0">
                <a:solidFill>
                  <a:srgbClr val="0E7A5F"/>
                </a:solidFill>
                <a:latin typeface="Calibri" pitchFamily="34" charset="0"/>
                <a:ea typeface="Calibri" pitchFamily="34" charset="-122"/>
                <a:cs typeface="Calibri" pitchFamily="34" charset="-120"/>
              </a:rPr>
              <a:t>01</a:t>
            </a:r>
            <a:endParaRPr lang="en-US" sz="1300" dirty="0"/>
          </a:p>
        </p:txBody>
      </p:sp>
      <p:sp>
        <p:nvSpPr>
          <p:cNvPr id="20" name="Text 18"/>
          <p:cNvSpPr txBox="1"/>
          <p:nvPr/>
        </p:nvSpPr>
        <p:spPr>
          <a:xfrm>
            <a:off x="7132320" y="1792224"/>
            <a:ext cx="4327855" cy="256032"/>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Mở rộng mô hình hóa BPMN 2.0</a:t>
            </a:r>
            <a:endParaRPr lang="en-US" sz="1150" dirty="0"/>
          </a:p>
        </p:txBody>
      </p:sp>
      <p:sp>
        <p:nvSpPr>
          <p:cNvPr id="21" name="Text 19"/>
          <p:cNvSpPr txBox="1"/>
          <p:nvPr/>
        </p:nvSpPr>
        <p:spPr>
          <a:xfrm>
            <a:off x="7132320" y="2066544"/>
            <a:ext cx="4327855" cy="493776"/>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Cho toàn bộ các quy trình còn lại trong kiến trúc, ưu tiên các quy trình có mức tương đồng cao với PYC.</a:t>
            </a:r>
            <a:endParaRPr lang="en-US" sz="950" dirty="0"/>
          </a:p>
        </p:txBody>
      </p:sp>
      <p:sp>
        <p:nvSpPr>
          <p:cNvPr id="22" name="Shape 20"/>
          <p:cNvSpPr/>
          <p:nvPr/>
        </p:nvSpPr>
        <p:spPr>
          <a:xfrm>
            <a:off x="6355080" y="2761488"/>
            <a:ext cx="5287975" cy="914400"/>
          </a:xfrm>
          <a:prstGeom prst="roundRect">
            <a:avLst>
              <a:gd name="adj" fmla="val 6000"/>
            </a:avLst>
          </a:prstGeom>
          <a:solidFill>
            <a:srgbClr val="F0F8F4"/>
          </a:solidFill>
          <a:ln w="9525">
            <a:solidFill>
              <a:srgbClr val="0E7A5F"/>
            </a:solidFill>
            <a:prstDash val="solid"/>
          </a:ln>
          <a:effectLst>
            <a:outerShdw blurRad="101600" dist="19050" dir="5400000" algn="bl" rotWithShape="0">
              <a:srgbClr val="9AAFC6">
                <a:alpha val="16000"/>
              </a:srgbClr>
            </a:outerShdw>
          </a:effectLst>
        </p:spPr>
        <p:txBody>
          <a:bodyPr/>
          <a:lstStyle/>
          <a:p>
            <a:endParaRPr lang="en-US"/>
          </a:p>
        </p:txBody>
      </p:sp>
      <p:sp>
        <p:nvSpPr>
          <p:cNvPr id="23" name="Text 21"/>
          <p:cNvSpPr txBox="1"/>
          <p:nvPr/>
        </p:nvSpPr>
        <p:spPr>
          <a:xfrm>
            <a:off x="6556248" y="2852928"/>
            <a:ext cx="640080" cy="256032"/>
          </a:xfrm>
          <a:prstGeom prst="rect">
            <a:avLst/>
          </a:prstGeom>
          <a:noFill/>
          <a:ln/>
        </p:spPr>
        <p:txBody>
          <a:bodyPr wrap="square" lIns="0" tIns="0" rIns="0" bIns="0" rtlCol="0" anchor="t"/>
          <a:lstStyle/>
          <a:p>
            <a:pPr marL="0" indent="0">
              <a:buNone/>
            </a:pPr>
            <a:r>
              <a:rPr lang="en-US" sz="1300" b="1" dirty="0">
                <a:solidFill>
                  <a:srgbClr val="0E7A5F"/>
                </a:solidFill>
                <a:latin typeface="Calibri" pitchFamily="34" charset="0"/>
                <a:ea typeface="Calibri" pitchFamily="34" charset="-122"/>
                <a:cs typeface="Calibri" pitchFamily="34" charset="-120"/>
              </a:rPr>
              <a:t>02</a:t>
            </a:r>
            <a:endParaRPr lang="en-US" sz="1300" dirty="0"/>
          </a:p>
        </p:txBody>
      </p:sp>
      <p:sp>
        <p:nvSpPr>
          <p:cNvPr id="24" name="Text 22"/>
          <p:cNvSpPr txBox="1"/>
          <p:nvPr/>
        </p:nvSpPr>
        <p:spPr>
          <a:xfrm>
            <a:off x="7132320" y="2852928"/>
            <a:ext cx="4327855" cy="256032"/>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Triển khai thí điểm (pilot)</a:t>
            </a:r>
            <a:endParaRPr lang="en-US" sz="1150" dirty="0"/>
          </a:p>
        </p:txBody>
      </p:sp>
      <p:sp>
        <p:nvSpPr>
          <p:cNvPr id="25" name="Text 23"/>
          <p:cNvSpPr txBox="1"/>
          <p:nvPr/>
        </p:nvSpPr>
        <p:spPr>
          <a:xfrm>
            <a:off x="7132320" y="3127248"/>
            <a:ext cx="4327855" cy="493776"/>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Áp dụng Smart-Form và Ma trận Auto-Approval trên phạm vi phòng ban giới hạn, thu thập số liệu thực tế để kiểm chứng và tinh chỉnh TO-BE.</a:t>
            </a:r>
            <a:endParaRPr lang="en-US" sz="950" dirty="0"/>
          </a:p>
        </p:txBody>
      </p:sp>
      <p:sp>
        <p:nvSpPr>
          <p:cNvPr id="26" name="Shape 24"/>
          <p:cNvSpPr/>
          <p:nvPr/>
        </p:nvSpPr>
        <p:spPr>
          <a:xfrm>
            <a:off x="6355080" y="3822192"/>
            <a:ext cx="5287975" cy="914400"/>
          </a:xfrm>
          <a:prstGeom prst="roundRect">
            <a:avLst>
              <a:gd name="adj" fmla="val 6000"/>
            </a:avLst>
          </a:prstGeom>
          <a:solidFill>
            <a:srgbClr val="F0F8F4"/>
          </a:solidFill>
          <a:ln w="9525">
            <a:solidFill>
              <a:srgbClr val="0E7A5F"/>
            </a:solidFill>
            <a:prstDash val="solid"/>
          </a:ln>
          <a:effectLst>
            <a:outerShdw blurRad="101600" dist="19050" dir="5400000" algn="bl" rotWithShape="0">
              <a:srgbClr val="9AAFC6">
                <a:alpha val="16000"/>
              </a:srgbClr>
            </a:outerShdw>
          </a:effectLst>
        </p:spPr>
        <p:txBody>
          <a:bodyPr/>
          <a:lstStyle/>
          <a:p>
            <a:endParaRPr lang="en-US"/>
          </a:p>
        </p:txBody>
      </p:sp>
      <p:sp>
        <p:nvSpPr>
          <p:cNvPr id="27" name="Text 25"/>
          <p:cNvSpPr txBox="1"/>
          <p:nvPr/>
        </p:nvSpPr>
        <p:spPr>
          <a:xfrm>
            <a:off x="6556248" y="3913632"/>
            <a:ext cx="640080" cy="256032"/>
          </a:xfrm>
          <a:prstGeom prst="rect">
            <a:avLst/>
          </a:prstGeom>
          <a:noFill/>
          <a:ln/>
        </p:spPr>
        <p:txBody>
          <a:bodyPr wrap="square" lIns="0" tIns="0" rIns="0" bIns="0" rtlCol="0" anchor="t"/>
          <a:lstStyle/>
          <a:p>
            <a:pPr marL="0" indent="0">
              <a:buNone/>
            </a:pPr>
            <a:r>
              <a:rPr lang="en-US" sz="1300" b="1" dirty="0">
                <a:solidFill>
                  <a:srgbClr val="0E7A5F"/>
                </a:solidFill>
                <a:latin typeface="Calibri" pitchFamily="34" charset="0"/>
                <a:ea typeface="Calibri" pitchFamily="34" charset="-122"/>
                <a:cs typeface="Calibri" pitchFamily="34" charset="-120"/>
              </a:rPr>
              <a:t>03</a:t>
            </a:r>
            <a:endParaRPr lang="en-US" sz="1300" dirty="0"/>
          </a:p>
        </p:txBody>
      </p:sp>
      <p:sp>
        <p:nvSpPr>
          <p:cNvPr id="28" name="Text 26"/>
          <p:cNvSpPr txBox="1"/>
          <p:nvPr/>
        </p:nvSpPr>
        <p:spPr>
          <a:xfrm>
            <a:off x="7132320" y="3913632"/>
            <a:ext cx="4327855" cy="256032"/>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Dashboard giám sát thời gian thực</a:t>
            </a:r>
            <a:endParaRPr lang="en-US" sz="1150" dirty="0"/>
          </a:p>
        </p:txBody>
      </p:sp>
      <p:sp>
        <p:nvSpPr>
          <p:cNvPr id="29" name="Text 27"/>
          <p:cNvSpPr txBox="1"/>
          <p:nvPr/>
        </p:nvSpPr>
        <p:spPr>
          <a:xfrm>
            <a:off x="7132320" y="4187952"/>
            <a:ext cx="4327855" cy="493776"/>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Tích hợp Lead Time, SLA và Rework Rate vào một dashboard, phục vụ trực tiếp quy trình Quản lý Mức Dịch vụ (M01).</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47">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2011680"/>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HỆ THỐNG QUẢN TRỊ QUY TRÌNH NGHIỆP VỤ  ·  ĐỒ ÁN CUỐI KỲ</a:t>
            </a:r>
            <a:endParaRPr lang="en-US" sz="1100" dirty="0"/>
          </a:p>
        </p:txBody>
      </p:sp>
      <p:sp>
        <p:nvSpPr>
          <p:cNvPr id="3" name="Text 1"/>
          <p:cNvSpPr txBox="1"/>
          <p:nvPr/>
        </p:nvSpPr>
        <p:spPr>
          <a:xfrm>
            <a:off x="548640" y="2450592"/>
            <a:ext cx="11094415" cy="731520"/>
          </a:xfrm>
          <a:prstGeom prst="rect">
            <a:avLst/>
          </a:prstGeom>
          <a:noFill/>
          <a:ln/>
        </p:spPr>
        <p:txBody>
          <a:bodyPr wrap="square" lIns="0" tIns="0" rIns="0" bIns="0" rtlCol="0" anchor="t"/>
          <a:lstStyle/>
          <a:p>
            <a:pPr marL="0" indent="0">
              <a:buNone/>
            </a:pPr>
            <a:r>
              <a:rPr lang="en-US" sz="3600" b="1" dirty="0">
                <a:solidFill>
                  <a:srgbClr val="FFFFFF"/>
                </a:solidFill>
                <a:latin typeface="Calibri" pitchFamily="34" charset="0"/>
                <a:ea typeface="Calibri" pitchFamily="34" charset="-122"/>
                <a:cs typeface="Calibri" pitchFamily="34" charset="-120"/>
              </a:rPr>
              <a:t>CẢM ƠN THẦY VÀ CÁC BẠN ĐÃ LẮNG NGHE</a:t>
            </a:r>
            <a:endParaRPr lang="en-US" sz="3600" dirty="0"/>
          </a:p>
        </p:txBody>
      </p:sp>
      <p:sp>
        <p:nvSpPr>
          <p:cNvPr id="4" name="Text 2"/>
          <p:cNvSpPr txBox="1"/>
          <p:nvPr/>
        </p:nvSpPr>
        <p:spPr>
          <a:xfrm>
            <a:off x="548640" y="3255264"/>
            <a:ext cx="11094415" cy="329184"/>
          </a:xfrm>
          <a:prstGeom prst="rect">
            <a:avLst/>
          </a:prstGeom>
          <a:noFill/>
          <a:ln/>
        </p:spPr>
        <p:txBody>
          <a:bodyPr wrap="square" lIns="0" tIns="0" rIns="0" bIns="0" rtlCol="0" anchor="t"/>
          <a:lstStyle/>
          <a:p>
            <a:pPr marL="0" indent="0">
              <a:buNone/>
            </a:pPr>
            <a:r>
              <a:rPr lang="en-US" sz="1400" dirty="0">
                <a:solidFill>
                  <a:srgbClr val="9BB2D2"/>
                </a:solidFill>
                <a:latin typeface="Calibri" pitchFamily="34" charset="0"/>
                <a:ea typeface="Calibri" pitchFamily="34" charset="-122"/>
                <a:cs typeface="Calibri" pitchFamily="34" charset="-120"/>
              </a:rPr>
              <a:t>Rất mong nhận được câu hỏi và góp ý từ Thầy và các bạn</a:t>
            </a:r>
            <a:endParaRPr lang="en-US" sz="1400" dirty="0"/>
          </a:p>
        </p:txBody>
      </p:sp>
      <p:sp>
        <p:nvSpPr>
          <p:cNvPr id="5" name="Text 3"/>
          <p:cNvSpPr txBox="1"/>
          <p:nvPr/>
        </p:nvSpPr>
        <p:spPr>
          <a:xfrm>
            <a:off x="548640" y="4133088"/>
            <a:ext cx="11094415"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Lê Minh Trí · 25210225      |      Mai Thị Anh Đào · 25210078      |      Tăng Vĩ Thái · 25210191      |      Nguyễn Đăng Huy · 25210111</a:t>
            </a:r>
            <a:endParaRPr lang="en-US" sz="1200" dirty="0"/>
          </a:p>
        </p:txBody>
      </p:sp>
      <p:sp>
        <p:nvSpPr>
          <p:cNvPr id="6" name="Text 4"/>
          <p:cNvSpPr txBox="1"/>
          <p:nvPr/>
        </p:nvSpPr>
        <p:spPr>
          <a:xfrm>
            <a:off x="548640" y="4443984"/>
            <a:ext cx="11094415" cy="274320"/>
          </a:xfrm>
          <a:prstGeom prst="rect">
            <a:avLst/>
          </a:prstGeom>
          <a:noFill/>
          <a:ln/>
        </p:spPr>
        <p:txBody>
          <a:bodyPr wrap="square" lIns="0" tIns="0" rIns="0" bIns="0" rtlCol="0" anchor="t"/>
          <a:lstStyle/>
          <a:p>
            <a:pPr marL="0" indent="0">
              <a:buNone/>
            </a:pPr>
            <a:r>
              <a:rPr lang="en-US" sz="1100" dirty="0">
                <a:solidFill>
                  <a:srgbClr val="9BB2D2"/>
                </a:solidFill>
                <a:latin typeface="Calibri" pitchFamily="34" charset="0"/>
                <a:ea typeface="Calibri" pitchFamily="34" charset="-122"/>
                <a:cs typeface="Calibri" pitchFamily="34" charset="-120"/>
              </a:rPr>
              <a:t>GVHD: ThS. Hà Lê Hoài Trung  ·  TP. Hồ Chí Minh, </a:t>
            </a:r>
            <a:r>
              <a:rPr lang="en-US" sz="1100" dirty="0" err="1">
                <a:solidFill>
                  <a:srgbClr val="9BB2D2"/>
                </a:solidFill>
                <a:latin typeface="Calibri" pitchFamily="34" charset="0"/>
                <a:ea typeface="Calibri" pitchFamily="34" charset="-122"/>
                <a:cs typeface="Calibri" pitchFamily="34" charset="-120"/>
              </a:rPr>
              <a:t>tháng</a:t>
            </a:r>
            <a:r>
              <a:rPr lang="en-US" sz="1100" dirty="0">
                <a:solidFill>
                  <a:srgbClr val="9BB2D2"/>
                </a:solidFill>
                <a:latin typeface="Calibri" pitchFamily="34" charset="0"/>
                <a:ea typeface="Calibri" pitchFamily="34" charset="-122"/>
                <a:cs typeface="Calibri" pitchFamily="34" charset="-120"/>
              </a:rPr>
              <a:t> 09/2026</a:t>
            </a:r>
            <a:endParaRPr lang="en-US" sz="1100" dirty="0"/>
          </a:p>
        </p:txBody>
      </p:sp>
      <p:sp>
        <p:nvSpPr>
          <p:cNvPr id="7" name="Text 5"/>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8" name="Text 6"/>
          <p:cNvSpPr txBox="1"/>
          <p:nvPr/>
        </p:nvSpPr>
        <p:spPr>
          <a:xfrm>
            <a:off x="11247120" y="6419088"/>
            <a:ext cx="393192" cy="237744"/>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57</a:t>
            </a:r>
          </a:p>
          <a:p>
            <a:pPr marL="0" indent="0" algn="r">
              <a:buNone/>
            </a:pP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332</TotalTime>
  <Words>13570</Words>
  <Application>Microsoft Office PowerPoint</Application>
  <PresentationFormat>Widescreen</PresentationFormat>
  <Paragraphs>1524</Paragraphs>
  <Slides>57</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Phan tich va tai thiet ke quy trinh PYC - Sacombank</dc:title>
  <dc:subject/>
  <dc:creator/>
  <cp:lastModifiedBy>Dao Mai Thi Anh</cp:lastModifiedBy>
  <cp:revision>7</cp:revision>
  <dcterms:created xsi:type="dcterms:W3CDTF">2026-09-07T02:09:49Z</dcterms:created>
  <dcterms:modified xsi:type="dcterms:W3CDTF">2026-09-10T07:32:34Z</dcterms:modified>
</cp:coreProperties>
</file>