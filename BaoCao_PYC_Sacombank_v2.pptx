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7" r:id="rId22"/>
    <p:sldId id="278" r:id="rId23"/>
    <p:sldId id="279" r:id="rId24"/>
    <p:sldId id="304" r:id="rId25"/>
    <p:sldId id="281" r:id="rId26"/>
    <p:sldId id="305" r:id="rId27"/>
    <p:sldId id="283" r:id="rId28"/>
    <p:sldId id="285" r:id="rId29"/>
    <p:sldId id="286" r:id="rId30"/>
    <p:sldId id="287" r:id="rId31"/>
    <p:sldId id="288" r:id="rId32"/>
    <p:sldId id="306" r:id="rId33"/>
    <p:sldId id="289" r:id="rId34"/>
    <p:sldId id="312" r:id="rId35"/>
    <p:sldId id="290" r:id="rId36"/>
    <p:sldId id="313" r:id="rId37"/>
    <p:sldId id="307" r:id="rId38"/>
    <p:sldId id="291" r:id="rId39"/>
    <p:sldId id="314" r:id="rId40"/>
    <p:sldId id="308" r:id="rId41"/>
    <p:sldId id="292" r:id="rId42"/>
    <p:sldId id="309" r:id="rId43"/>
    <p:sldId id="316" r:id="rId44"/>
    <p:sldId id="293" r:id="rId45"/>
    <p:sldId id="310" r:id="rId46"/>
    <p:sldId id="294" r:id="rId47"/>
    <p:sldId id="295" r:id="rId48"/>
    <p:sldId id="296" r:id="rId49"/>
    <p:sldId id="297" r:id="rId50"/>
    <p:sldId id="315" r:id="rId51"/>
    <p:sldId id="311" r:id="rId52"/>
    <p:sldId id="298" r:id="rId53"/>
    <p:sldId id="299" r:id="rId54"/>
    <p:sldId id="300" r:id="rId55"/>
    <p:sldId id="301" r:id="rId56"/>
    <p:sldId id="302" r:id="rId5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FF4FB"/>
    <a:srgbClr val="0E7A5F"/>
    <a:srgbClr val="A5741A"/>
    <a:srgbClr val="1660BF"/>
    <a:srgbClr val="C0392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AC609C0-9963-42C2-972A-DA3811C59E80}" v="2" dt="2026-09-10T06:21:23.60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1" d="100"/>
          <a:sy n="111" d="100"/>
        </p:scale>
        <p:origin x="558" y="96"/>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microsoft.com/office/2015/10/relationships/revisionInfo" Target="revisionInfo.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o Mai Thi Anh" userId="ebc8666a-fc84-4633-b49c-9bd402549f17" providerId="ADAL" clId="{39BC3B3C-291E-408E-96F5-8D25A8373560}"/>
    <pc:docChg chg="undo custSel modSld">
      <pc:chgData name="Dao Mai Thi Anh" userId="ebc8666a-fc84-4633-b49c-9bd402549f17" providerId="ADAL" clId="{39BC3B3C-291E-408E-96F5-8D25A8373560}" dt="2026-09-10T06:48:44.789" v="32" actId="1076"/>
      <pc:docMkLst>
        <pc:docMk/>
      </pc:docMkLst>
      <pc:sldChg chg="modSp mod">
        <pc:chgData name="Dao Mai Thi Anh" userId="ebc8666a-fc84-4633-b49c-9bd402549f17" providerId="ADAL" clId="{39BC3B3C-291E-408E-96F5-8D25A8373560}" dt="2026-09-10T06:48:44.789" v="32" actId="1076"/>
        <pc:sldMkLst>
          <pc:docMk/>
          <pc:sldMk cId="0" sldId="297"/>
        </pc:sldMkLst>
        <pc:spChg chg="mod">
          <ac:chgData name="Dao Mai Thi Anh" userId="ebc8666a-fc84-4633-b49c-9bd402549f17" providerId="ADAL" clId="{39BC3B3C-291E-408E-96F5-8D25A8373560}" dt="2026-09-10T06:48:38.972" v="30" actId="1076"/>
          <ac:spMkLst>
            <pc:docMk/>
            <pc:sldMk cId="0" sldId="297"/>
            <ac:spMk id="71" creationId="{058B8FB4-7A50-359F-563D-BE1E5F98278E}"/>
          </ac:spMkLst>
        </pc:spChg>
        <pc:spChg chg="mod">
          <ac:chgData name="Dao Mai Thi Anh" userId="ebc8666a-fc84-4633-b49c-9bd402549f17" providerId="ADAL" clId="{39BC3B3C-291E-408E-96F5-8D25A8373560}" dt="2026-09-10T06:48:42.031" v="31" actId="1076"/>
          <ac:spMkLst>
            <pc:docMk/>
            <pc:sldMk cId="0" sldId="297"/>
            <ac:spMk id="79" creationId="{A40B152C-6770-443A-A5D0-D19BF0B65E69}"/>
          </ac:spMkLst>
        </pc:spChg>
        <pc:spChg chg="mod">
          <ac:chgData name="Dao Mai Thi Anh" userId="ebc8666a-fc84-4633-b49c-9bd402549f17" providerId="ADAL" clId="{39BC3B3C-291E-408E-96F5-8D25A8373560}" dt="2026-09-10T06:48:44.789" v="32" actId="1076"/>
          <ac:spMkLst>
            <pc:docMk/>
            <pc:sldMk cId="0" sldId="297"/>
            <ac:spMk id="87" creationId="{0BB91124-96E9-6652-85EF-E19174EB4437}"/>
          </ac:spMkLst>
        </pc:spChg>
      </pc:sldChg>
      <pc:sldChg chg="modSp mod">
        <pc:chgData name="Dao Mai Thi Anh" userId="ebc8666a-fc84-4633-b49c-9bd402549f17" providerId="ADAL" clId="{39BC3B3C-291E-408E-96F5-8D25A8373560}" dt="2026-09-10T06:21:46.394" v="29" actId="20577"/>
        <pc:sldMkLst>
          <pc:docMk/>
          <pc:sldMk cId="2260007931" sldId="315"/>
        </pc:sldMkLst>
        <pc:spChg chg="mod">
          <ac:chgData name="Dao Mai Thi Anh" userId="ebc8666a-fc84-4633-b49c-9bd402549f17" providerId="ADAL" clId="{39BC3B3C-291E-408E-96F5-8D25A8373560}" dt="2026-09-10T06:21:46.394" v="29" actId="20577"/>
          <ac:spMkLst>
            <pc:docMk/>
            <pc:sldMk cId="2260007931" sldId="315"/>
            <ac:spMk id="12" creationId="{75881DA1-5DE5-AB70-8251-E0737F49E7DF}"/>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266738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E6BB10-FAC7-8345-C8CD-7656D6C86D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CE3F76-D7C1-E9F4-07FE-72B16A449E2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795A6A6-04C6-2CDD-B039-3EFBD4106AB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CE47792-C195-A782-FE33-E6A1B1E14B2F}"/>
              </a:ext>
            </a:extLst>
          </p:cNvPr>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98492209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55E172-4068-DD57-477E-0C6898B70EE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59A94F-058A-06B8-AC3D-B0C6B932E78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FC48ADB-616D-AA52-015E-CAEEB6345EE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5CD990B-FF6A-3D63-8EBC-FD87E3BBA60D}"/>
              </a:ext>
            </a:extLst>
          </p:cNvPr>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85923472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EF8EB2-49ED-5BAE-C93B-26F981715F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425418-87E0-F53B-8F82-24483862DBE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A592F8-7202-2366-69FB-A6B90A9BD9C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5EEF452-A00A-E8D3-D1D7-ACCD53053716}"/>
              </a:ext>
            </a:extLst>
          </p:cNvPr>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408064927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3B75"/>
        </a:solidFill>
        <a:effectLst/>
      </p:bgPr>
    </p:bg>
    <p:spTree>
      <p:nvGrpSpPr>
        <p:cNvPr id="1" name=""/>
        <p:cNvGrpSpPr/>
        <p:nvPr/>
      </p:nvGrpSpPr>
      <p:grpSpPr>
        <a:xfrm>
          <a:off x="0" y="0"/>
          <a:ext cx="0" cy="0"/>
          <a:chOff x="0" y="0"/>
          <a:chExt cx="0" cy="0"/>
        </a:xfrm>
      </p:grpSpPr>
      <p:sp>
        <p:nvSpPr>
          <p:cNvPr id="2" name="Text 0"/>
          <p:cNvSpPr txBox="1"/>
          <p:nvPr/>
        </p:nvSpPr>
        <p:spPr>
          <a:xfrm>
            <a:off x="548640" y="777240"/>
            <a:ext cx="11094415" cy="274320"/>
          </a:xfrm>
          <a:prstGeom prst="rect">
            <a:avLst/>
          </a:prstGeom>
          <a:noFill/>
          <a:ln/>
        </p:spPr>
        <p:txBody>
          <a:bodyPr wrap="square" lIns="0" tIns="0" rIns="0" bIns="0" rtlCol="0" anchor="t"/>
          <a:lstStyle/>
          <a:p>
            <a:pPr marL="0" indent="0">
              <a:buNone/>
            </a:pPr>
            <a:r>
              <a:rPr lang="en-US" sz="1100" b="1" kern="0" spc="140" dirty="0">
                <a:solidFill>
                  <a:srgbClr val="D9A227"/>
                </a:solidFill>
                <a:latin typeface="Calibri" pitchFamily="34" charset="0"/>
                <a:ea typeface="Calibri" pitchFamily="34" charset="-122"/>
                <a:cs typeface="Calibri" pitchFamily="34" charset="-120"/>
              </a:rPr>
              <a:t>ĐỒ ÁN CUỐI KỲ  ·  HỆ THỐNG QUẢN TRỊ QUY TRÌNH NGHIỆP VỤ</a:t>
            </a:r>
            <a:endParaRPr lang="en-US" sz="1100" dirty="0"/>
          </a:p>
        </p:txBody>
      </p:sp>
      <p:sp>
        <p:nvSpPr>
          <p:cNvPr id="3" name="Text 1"/>
          <p:cNvSpPr txBox="1"/>
          <p:nvPr/>
        </p:nvSpPr>
        <p:spPr>
          <a:xfrm>
            <a:off x="548640" y="1371600"/>
            <a:ext cx="10545775" cy="1828800"/>
          </a:xfrm>
          <a:prstGeom prst="rect">
            <a:avLst/>
          </a:prstGeom>
          <a:noFill/>
          <a:ln/>
        </p:spPr>
        <p:txBody>
          <a:bodyPr wrap="square" lIns="0" tIns="0" rIns="0" bIns="0" rtlCol="0" anchor="t"/>
          <a:lstStyle/>
          <a:p>
            <a:pPr marL="0" indent="0">
              <a:lnSpc>
                <a:spcPts val="3800"/>
              </a:lnSpc>
              <a:buNone/>
            </a:pPr>
            <a:r>
              <a:rPr lang="en-US" sz="3000" b="1" dirty="0">
                <a:solidFill>
                  <a:srgbClr val="FFFFFF"/>
                </a:solidFill>
                <a:latin typeface="Calibri" pitchFamily="34" charset="0"/>
                <a:ea typeface="Calibri" pitchFamily="34" charset="-122"/>
                <a:cs typeface="Calibri" pitchFamily="34" charset="-120"/>
              </a:rPr>
              <a:t>PHÂN TÍCH VÀ TÁI THIẾT KẾ</a:t>
            </a:r>
            <a:endParaRPr lang="en-US" sz="3000" dirty="0"/>
          </a:p>
          <a:p>
            <a:pPr marL="0" indent="0">
              <a:lnSpc>
                <a:spcPts val="3800"/>
              </a:lnSpc>
              <a:buNone/>
            </a:pPr>
            <a:r>
              <a:rPr lang="en-US" sz="3000" b="1" dirty="0">
                <a:solidFill>
                  <a:srgbClr val="FFFFFF"/>
                </a:solidFill>
                <a:latin typeface="Calibri" pitchFamily="34" charset="0"/>
                <a:ea typeface="Calibri" pitchFamily="34" charset="-122"/>
                <a:cs typeface="Calibri" pitchFamily="34" charset="-120"/>
              </a:rPr>
              <a:t>QUY TRÌNH TIẾP NHẬN &amp; XỬ LÝ PHIẾU YÊU CẦU (PYC) CNTT</a:t>
            </a:r>
            <a:endParaRPr lang="en-US" sz="3000" dirty="0"/>
          </a:p>
          <a:p>
            <a:pPr marL="0" indent="0">
              <a:lnSpc>
                <a:spcPts val="3800"/>
              </a:lnSpc>
              <a:buNone/>
            </a:pPr>
            <a:r>
              <a:rPr lang="en-US" sz="3000" b="1" dirty="0">
                <a:solidFill>
                  <a:srgbClr val="FFFFFF"/>
                </a:solidFill>
                <a:latin typeface="Calibri" pitchFamily="34" charset="0"/>
                <a:ea typeface="Calibri" pitchFamily="34" charset="-122"/>
                <a:cs typeface="Calibri" pitchFamily="34" charset="-120"/>
              </a:rPr>
              <a:t>TẠI SACOMBANK</a:t>
            </a:r>
            <a:endParaRPr lang="en-US" sz="3000" dirty="0"/>
          </a:p>
        </p:txBody>
      </p:sp>
      <p:sp>
        <p:nvSpPr>
          <p:cNvPr id="4" name="Text 2"/>
          <p:cNvSpPr txBox="1"/>
          <p:nvPr/>
        </p:nvSpPr>
        <p:spPr>
          <a:xfrm>
            <a:off x="548640" y="3639312"/>
            <a:ext cx="4572000" cy="256032"/>
          </a:xfrm>
          <a:prstGeom prst="rect">
            <a:avLst/>
          </a:prstGeom>
          <a:noFill/>
          <a:ln/>
        </p:spPr>
        <p:txBody>
          <a:bodyPr wrap="square" lIns="0" tIns="0" rIns="0" bIns="0" rtlCol="0" anchor="t"/>
          <a:lstStyle/>
          <a:p>
            <a:pPr marL="0" indent="0">
              <a:buNone/>
            </a:pPr>
            <a:r>
              <a:rPr lang="en-US" sz="1300" dirty="0">
                <a:solidFill>
                  <a:srgbClr val="FFFFFF"/>
                </a:solidFill>
                <a:latin typeface="Calibri" pitchFamily="34" charset="0"/>
                <a:ea typeface="Calibri" pitchFamily="34" charset="-122"/>
                <a:cs typeface="Calibri" pitchFamily="34" charset="-120"/>
              </a:rPr>
              <a:t>GVHD:  ThS. Hà Lê Hoài Trung</a:t>
            </a:r>
            <a:endParaRPr lang="en-US" sz="1300" dirty="0"/>
          </a:p>
        </p:txBody>
      </p:sp>
      <p:sp>
        <p:nvSpPr>
          <p:cNvPr id="5" name="Text 3"/>
          <p:cNvSpPr txBox="1"/>
          <p:nvPr/>
        </p:nvSpPr>
        <p:spPr>
          <a:xfrm>
            <a:off x="548640" y="3931920"/>
            <a:ext cx="4572000" cy="256032"/>
          </a:xfrm>
          <a:prstGeom prst="rect">
            <a:avLst/>
          </a:prstGeom>
          <a:noFill/>
          <a:ln/>
        </p:spPr>
        <p:txBody>
          <a:bodyPr wrap="square" lIns="0" tIns="0" rIns="0" bIns="0" rtlCol="0" anchor="t"/>
          <a:lstStyle/>
          <a:p>
            <a:pPr marL="0" indent="0">
              <a:buNone/>
            </a:pPr>
            <a:r>
              <a:rPr lang="en-US" sz="1100" dirty="0">
                <a:solidFill>
                  <a:srgbClr val="9BB2D2"/>
                </a:solidFill>
                <a:latin typeface="Calibri" pitchFamily="34" charset="0"/>
                <a:ea typeface="Calibri" pitchFamily="34" charset="-122"/>
                <a:cs typeface="Calibri" pitchFamily="34" charset="-120"/>
              </a:rPr>
              <a:t>TP. Hồ Chí Minh,  tháng 08/2026</a:t>
            </a:r>
            <a:endParaRPr lang="en-US" sz="1100" dirty="0"/>
          </a:p>
        </p:txBody>
      </p:sp>
      <p:sp>
        <p:nvSpPr>
          <p:cNvPr id="6" name="Text 4"/>
          <p:cNvSpPr txBox="1"/>
          <p:nvPr/>
        </p:nvSpPr>
        <p:spPr>
          <a:xfrm>
            <a:off x="6858000" y="3639312"/>
            <a:ext cx="4754880" cy="237744"/>
          </a:xfrm>
          <a:prstGeom prst="rect">
            <a:avLst/>
          </a:prstGeom>
          <a:noFill/>
          <a:ln/>
        </p:spPr>
        <p:txBody>
          <a:bodyPr wrap="square" lIns="0" tIns="0" rIns="0" bIns="0" rtlCol="0" anchor="t"/>
          <a:lstStyle/>
          <a:p>
            <a:pPr marL="0" indent="0">
              <a:buNone/>
            </a:pPr>
            <a:r>
              <a:rPr lang="en-US" sz="1000" b="1" kern="0" spc="120" dirty="0">
                <a:solidFill>
                  <a:srgbClr val="D9A227"/>
                </a:solidFill>
                <a:latin typeface="Calibri" pitchFamily="34" charset="0"/>
                <a:ea typeface="Calibri" pitchFamily="34" charset="-122"/>
                <a:cs typeface="Calibri" pitchFamily="34" charset="-120"/>
              </a:rPr>
              <a:t>NHÓM THỰC HIỆN</a:t>
            </a:r>
            <a:endParaRPr lang="en-US" sz="1000" dirty="0"/>
          </a:p>
        </p:txBody>
      </p:sp>
      <p:sp>
        <p:nvSpPr>
          <p:cNvPr id="7" name="Text 5"/>
          <p:cNvSpPr txBox="1"/>
          <p:nvPr/>
        </p:nvSpPr>
        <p:spPr>
          <a:xfrm>
            <a:off x="6858000" y="3950208"/>
            <a:ext cx="2377440" cy="237744"/>
          </a:xfrm>
          <a:prstGeom prst="rect">
            <a:avLst/>
          </a:prstGeom>
          <a:noFill/>
          <a:ln/>
        </p:spPr>
        <p:txBody>
          <a:bodyPr wrap="square" lIns="0" tIns="0" rIns="0" bIns="0" rtlCol="0" anchor="t"/>
          <a:lstStyle/>
          <a:p>
            <a:pPr marL="0" indent="0">
              <a:buNone/>
            </a:pPr>
            <a:r>
              <a:rPr lang="en-US" sz="1200" b="1" dirty="0">
                <a:solidFill>
                  <a:srgbClr val="FFFFFF"/>
                </a:solidFill>
                <a:latin typeface="Calibri" pitchFamily="34" charset="0"/>
                <a:ea typeface="Calibri" pitchFamily="34" charset="-122"/>
                <a:cs typeface="Calibri" pitchFamily="34" charset="-120"/>
              </a:rPr>
              <a:t>Lê Minh Trí</a:t>
            </a:r>
            <a:endParaRPr lang="en-US" sz="1200" dirty="0"/>
          </a:p>
        </p:txBody>
      </p:sp>
      <p:sp>
        <p:nvSpPr>
          <p:cNvPr id="8" name="Text 6"/>
          <p:cNvSpPr txBox="1"/>
          <p:nvPr/>
        </p:nvSpPr>
        <p:spPr>
          <a:xfrm>
            <a:off x="9281160" y="3968496"/>
            <a:ext cx="2377440" cy="219456"/>
          </a:xfrm>
          <a:prstGeom prst="rect">
            <a:avLst/>
          </a:prstGeom>
          <a:noFill/>
          <a:ln/>
        </p:spPr>
        <p:txBody>
          <a:bodyPr wrap="square" lIns="0" tIns="0" rIns="0" bIns="0" rtlCol="0" anchor="t"/>
          <a:lstStyle/>
          <a:p>
            <a:pPr marL="0" indent="0">
              <a:buNone/>
            </a:pPr>
            <a:r>
              <a:rPr lang="en-US" sz="1000" dirty="0">
                <a:solidFill>
                  <a:srgbClr val="D9A227"/>
                </a:solidFill>
                <a:latin typeface="Calibri" pitchFamily="34" charset="0"/>
                <a:ea typeface="Calibri" pitchFamily="34" charset="-122"/>
                <a:cs typeface="Calibri" pitchFamily="34" charset="-120"/>
              </a:rPr>
              <a:t>25210225  ·  Nhóm trưởng</a:t>
            </a:r>
            <a:endParaRPr lang="en-US" sz="1000" dirty="0"/>
          </a:p>
        </p:txBody>
      </p:sp>
      <p:sp>
        <p:nvSpPr>
          <p:cNvPr id="9" name="Text 7"/>
          <p:cNvSpPr txBox="1"/>
          <p:nvPr/>
        </p:nvSpPr>
        <p:spPr>
          <a:xfrm>
            <a:off x="6858000" y="4352544"/>
            <a:ext cx="2377440" cy="237744"/>
          </a:xfrm>
          <a:prstGeom prst="rect">
            <a:avLst/>
          </a:prstGeom>
          <a:noFill/>
          <a:ln/>
        </p:spPr>
        <p:txBody>
          <a:bodyPr wrap="square" lIns="0" tIns="0" rIns="0" bIns="0" rtlCol="0" anchor="t"/>
          <a:lstStyle/>
          <a:p>
            <a:pPr marL="0" indent="0">
              <a:buNone/>
            </a:pPr>
            <a:r>
              <a:rPr lang="en-US" sz="1200" b="1" dirty="0">
                <a:solidFill>
                  <a:srgbClr val="FFFFFF"/>
                </a:solidFill>
                <a:latin typeface="Calibri" pitchFamily="34" charset="0"/>
                <a:ea typeface="Calibri" pitchFamily="34" charset="-122"/>
                <a:cs typeface="Calibri" pitchFamily="34" charset="-120"/>
              </a:rPr>
              <a:t>Mai Thị Anh Đào</a:t>
            </a:r>
            <a:endParaRPr lang="en-US" sz="1200" dirty="0"/>
          </a:p>
        </p:txBody>
      </p:sp>
      <p:sp>
        <p:nvSpPr>
          <p:cNvPr id="10" name="Text 8"/>
          <p:cNvSpPr txBox="1"/>
          <p:nvPr/>
        </p:nvSpPr>
        <p:spPr>
          <a:xfrm>
            <a:off x="9281160" y="4370832"/>
            <a:ext cx="2377440" cy="219456"/>
          </a:xfrm>
          <a:prstGeom prst="rect">
            <a:avLst/>
          </a:prstGeom>
          <a:noFill/>
          <a:ln/>
        </p:spPr>
        <p:txBody>
          <a:bodyPr wrap="square" lIns="0" tIns="0" rIns="0" bIns="0" rtlCol="0" anchor="t"/>
          <a:lstStyle/>
          <a:p>
            <a:pPr marL="0" indent="0">
              <a:buNone/>
            </a:pPr>
            <a:r>
              <a:rPr lang="en-US" sz="1000" dirty="0">
                <a:solidFill>
                  <a:srgbClr val="D9A227"/>
                </a:solidFill>
                <a:latin typeface="Calibri" pitchFamily="34" charset="0"/>
                <a:ea typeface="Calibri" pitchFamily="34" charset="-122"/>
                <a:cs typeface="Calibri" pitchFamily="34" charset="-120"/>
              </a:rPr>
              <a:t>25210078</a:t>
            </a:r>
            <a:endParaRPr lang="en-US" sz="1000" dirty="0"/>
          </a:p>
        </p:txBody>
      </p:sp>
      <p:sp>
        <p:nvSpPr>
          <p:cNvPr id="11" name="Text 9"/>
          <p:cNvSpPr txBox="1"/>
          <p:nvPr/>
        </p:nvSpPr>
        <p:spPr>
          <a:xfrm>
            <a:off x="6858000" y="4754880"/>
            <a:ext cx="2377440" cy="237744"/>
          </a:xfrm>
          <a:prstGeom prst="rect">
            <a:avLst/>
          </a:prstGeom>
          <a:noFill/>
          <a:ln/>
        </p:spPr>
        <p:txBody>
          <a:bodyPr wrap="square" lIns="0" tIns="0" rIns="0" bIns="0" rtlCol="0" anchor="t"/>
          <a:lstStyle/>
          <a:p>
            <a:pPr marL="0" indent="0">
              <a:buNone/>
            </a:pPr>
            <a:r>
              <a:rPr lang="en-US" sz="1200" b="1" dirty="0">
                <a:solidFill>
                  <a:srgbClr val="FFFFFF"/>
                </a:solidFill>
                <a:latin typeface="Calibri" pitchFamily="34" charset="0"/>
                <a:ea typeface="Calibri" pitchFamily="34" charset="-122"/>
                <a:cs typeface="Calibri" pitchFamily="34" charset="-120"/>
              </a:rPr>
              <a:t>Tăng Vĩ Thái</a:t>
            </a:r>
            <a:endParaRPr lang="en-US" sz="1200" dirty="0"/>
          </a:p>
        </p:txBody>
      </p:sp>
      <p:sp>
        <p:nvSpPr>
          <p:cNvPr id="12" name="Text 10"/>
          <p:cNvSpPr txBox="1"/>
          <p:nvPr/>
        </p:nvSpPr>
        <p:spPr>
          <a:xfrm>
            <a:off x="9281160" y="4773168"/>
            <a:ext cx="2377440" cy="219456"/>
          </a:xfrm>
          <a:prstGeom prst="rect">
            <a:avLst/>
          </a:prstGeom>
          <a:noFill/>
          <a:ln/>
        </p:spPr>
        <p:txBody>
          <a:bodyPr wrap="square" lIns="0" tIns="0" rIns="0" bIns="0" rtlCol="0" anchor="t"/>
          <a:lstStyle/>
          <a:p>
            <a:pPr marL="0" indent="0">
              <a:buNone/>
            </a:pPr>
            <a:r>
              <a:rPr lang="en-US" sz="1000" dirty="0">
                <a:solidFill>
                  <a:srgbClr val="D9A227"/>
                </a:solidFill>
                <a:latin typeface="Calibri" pitchFamily="34" charset="0"/>
                <a:ea typeface="Calibri" pitchFamily="34" charset="-122"/>
                <a:cs typeface="Calibri" pitchFamily="34" charset="-120"/>
              </a:rPr>
              <a:t>25210191</a:t>
            </a:r>
            <a:endParaRPr lang="en-US" sz="1000" dirty="0"/>
          </a:p>
        </p:txBody>
      </p:sp>
      <p:sp>
        <p:nvSpPr>
          <p:cNvPr id="13" name="Text 11"/>
          <p:cNvSpPr txBox="1"/>
          <p:nvPr/>
        </p:nvSpPr>
        <p:spPr>
          <a:xfrm>
            <a:off x="6858000" y="5157216"/>
            <a:ext cx="2377440" cy="237744"/>
          </a:xfrm>
          <a:prstGeom prst="rect">
            <a:avLst/>
          </a:prstGeom>
          <a:noFill/>
          <a:ln/>
        </p:spPr>
        <p:txBody>
          <a:bodyPr wrap="square" lIns="0" tIns="0" rIns="0" bIns="0" rtlCol="0" anchor="t"/>
          <a:lstStyle/>
          <a:p>
            <a:pPr marL="0" indent="0">
              <a:buNone/>
            </a:pPr>
            <a:r>
              <a:rPr lang="en-US" sz="1200" b="1" dirty="0">
                <a:solidFill>
                  <a:srgbClr val="FFFFFF"/>
                </a:solidFill>
                <a:latin typeface="Calibri" pitchFamily="34" charset="0"/>
                <a:ea typeface="Calibri" pitchFamily="34" charset="-122"/>
                <a:cs typeface="Calibri" pitchFamily="34" charset="-120"/>
              </a:rPr>
              <a:t>Nguyễn Đăng Huy</a:t>
            </a:r>
            <a:endParaRPr lang="en-US" sz="1200" dirty="0"/>
          </a:p>
        </p:txBody>
      </p:sp>
      <p:sp>
        <p:nvSpPr>
          <p:cNvPr id="14" name="Text 12"/>
          <p:cNvSpPr txBox="1"/>
          <p:nvPr/>
        </p:nvSpPr>
        <p:spPr>
          <a:xfrm>
            <a:off x="9281160" y="5175504"/>
            <a:ext cx="2377440" cy="219456"/>
          </a:xfrm>
          <a:prstGeom prst="rect">
            <a:avLst/>
          </a:prstGeom>
          <a:noFill/>
          <a:ln/>
        </p:spPr>
        <p:txBody>
          <a:bodyPr wrap="square" lIns="0" tIns="0" rIns="0" bIns="0" rtlCol="0" anchor="t"/>
          <a:lstStyle/>
          <a:p>
            <a:pPr marL="0" indent="0">
              <a:buNone/>
            </a:pPr>
            <a:r>
              <a:rPr lang="en-US" sz="1000" dirty="0">
                <a:solidFill>
                  <a:srgbClr val="D9A227"/>
                </a:solidFill>
                <a:latin typeface="Calibri" pitchFamily="34" charset="0"/>
                <a:ea typeface="Calibri" pitchFamily="34" charset="-122"/>
                <a:cs typeface="Calibri" pitchFamily="34" charset="-120"/>
              </a:rPr>
              <a:t>25210111</a:t>
            </a:r>
            <a:endParaRPr lang="en-US" sz="1000" dirty="0"/>
          </a:p>
        </p:txBody>
      </p:sp>
      <p:sp>
        <p:nvSpPr>
          <p:cNvPr id="15" name="Text 13"/>
          <p:cNvSpPr txBox="1"/>
          <p:nvPr/>
        </p:nvSpPr>
        <p:spPr>
          <a:xfrm>
            <a:off x="548640" y="6419088"/>
            <a:ext cx="8778240" cy="237744"/>
          </a:xfrm>
          <a:prstGeom prst="rect">
            <a:avLst/>
          </a:prstGeom>
          <a:noFill/>
          <a:ln/>
        </p:spPr>
        <p:txBody>
          <a:bodyPr wrap="square" lIns="0" tIns="0" rIns="0" bIns="0" rtlCol="0" anchor="t"/>
          <a:lstStyle/>
          <a:p>
            <a:pPr marL="0" indent="0">
              <a:buNone/>
            </a:pPr>
            <a:r>
              <a:rPr lang="en-US" sz="850" dirty="0">
                <a:solidFill>
                  <a:srgbClr val="7089AE"/>
                </a:solidFill>
                <a:latin typeface="Calibri" pitchFamily="34" charset="0"/>
                <a:ea typeface="Calibri" pitchFamily="34" charset="-122"/>
                <a:cs typeface="Calibri" pitchFamily="34" charset="-120"/>
              </a:rPr>
              <a:t>HỆ THỐNG QUẢN TRỊ QUY TRÌNH NGHIỆP VỤ  ·  SACOMBANK — QUY TRÌNH PYC</a:t>
            </a:r>
            <a:endParaRPr lang="en-US" sz="850" dirty="0"/>
          </a:p>
        </p:txBody>
      </p:sp>
      <p:sp>
        <p:nvSpPr>
          <p:cNvPr id="16" name="Text 14"/>
          <p:cNvSpPr txBox="1"/>
          <p:nvPr/>
        </p:nvSpPr>
        <p:spPr>
          <a:xfrm>
            <a:off x="11247120" y="6419088"/>
            <a:ext cx="393192" cy="237744"/>
          </a:xfrm>
          <a:prstGeom prst="rect">
            <a:avLst/>
          </a:prstGeom>
          <a:noFill/>
          <a:ln/>
        </p:spPr>
        <p:txBody>
          <a:bodyPr wrap="square" lIns="0" tIns="0" rIns="0" bIns="0" rtlCol="0" anchor="t"/>
          <a:lstStyle/>
          <a:p>
            <a:pPr marL="0" indent="0" algn="r">
              <a:buNone/>
            </a:pPr>
            <a:r>
              <a:rPr lang="en-US" sz="1100" b="1" dirty="0">
                <a:solidFill>
                  <a:srgbClr val="D9A227"/>
                </a:solidFill>
                <a:latin typeface="Calibri" pitchFamily="34" charset="0"/>
                <a:ea typeface="Calibri" pitchFamily="34" charset="-122"/>
                <a:cs typeface="Calibri" pitchFamily="34" charset="-120"/>
              </a:rPr>
              <a:t>1</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65760"/>
            <a:ext cx="123444" cy="123444"/>
          </a:xfrm>
          <a:prstGeom prst="ellipse">
            <a:avLst/>
          </a:prstGeom>
          <a:solidFill>
            <a:srgbClr val="D9A227"/>
          </a:solidFill>
          <a:ln w="12700">
            <a:solidFill>
              <a:srgbClr val="D9A227"/>
            </a:solidFill>
            <a:prstDash val="solid"/>
          </a:ln>
        </p:spPr>
        <p:txBody>
          <a:bodyPr/>
          <a:lstStyle/>
          <a:p>
            <a:endParaRPr lang="en-US"/>
          </a:p>
        </p:txBody>
      </p:sp>
      <p:sp>
        <p:nvSpPr>
          <p:cNvPr id="3" name="Text 1"/>
          <p:cNvSpPr txBox="1"/>
          <p:nvPr/>
        </p:nvSpPr>
        <p:spPr>
          <a:xfrm>
            <a:off x="804672" y="292608"/>
            <a:ext cx="10838383" cy="237744"/>
          </a:xfrm>
          <a:prstGeom prst="rect">
            <a:avLst/>
          </a:prstGeom>
          <a:noFill/>
          <a:ln/>
        </p:spPr>
        <p:txBody>
          <a:bodyPr wrap="square" lIns="0" tIns="0" rIns="0" bIns="0" rtlCol="0" anchor="t"/>
          <a:lstStyle/>
          <a:p>
            <a:pPr marL="0" indent="0">
              <a:buNone/>
            </a:pPr>
            <a:r>
              <a:rPr lang="en-US" sz="1050" b="1" kern="0" spc="120" dirty="0">
                <a:solidFill>
                  <a:srgbClr val="A5741A"/>
                </a:solidFill>
                <a:latin typeface="Calibri" pitchFamily="34" charset="0"/>
                <a:ea typeface="Calibri" pitchFamily="34" charset="-122"/>
                <a:cs typeface="Calibri" pitchFamily="34" charset="-120"/>
              </a:rPr>
              <a:t>AGENDA</a:t>
            </a:r>
            <a:endParaRPr lang="en-US" sz="1050" dirty="0"/>
          </a:p>
        </p:txBody>
      </p:sp>
      <p:sp>
        <p:nvSpPr>
          <p:cNvPr id="4" name="Text 2"/>
          <p:cNvSpPr txBox="1"/>
          <p:nvPr/>
        </p:nvSpPr>
        <p:spPr>
          <a:xfrm>
            <a:off x="548640" y="566928"/>
            <a:ext cx="11094415" cy="457200"/>
          </a:xfrm>
          <a:prstGeom prst="rect">
            <a:avLst/>
          </a:prstGeom>
          <a:noFill/>
          <a:ln/>
        </p:spPr>
        <p:txBody>
          <a:bodyPr wrap="square" lIns="0" tIns="0" rIns="0" bIns="0" rtlCol="0" anchor="t"/>
          <a:lstStyle/>
          <a:p>
            <a:pPr marL="0" indent="0">
              <a:buNone/>
            </a:pPr>
            <a:r>
              <a:rPr lang="en-US" sz="2500" b="1" dirty="0">
                <a:solidFill>
                  <a:srgbClr val="0B3B75"/>
                </a:solidFill>
                <a:latin typeface="Calibri" pitchFamily="34" charset="0"/>
                <a:ea typeface="Calibri" pitchFamily="34" charset="-122"/>
                <a:cs typeface="Calibri" pitchFamily="34" charset="-120"/>
              </a:rPr>
              <a:t>NỘI DUNG TRÌNH BÀY</a:t>
            </a:r>
            <a:endParaRPr lang="en-US" sz="2500" dirty="0"/>
          </a:p>
        </p:txBody>
      </p:sp>
      <p:sp>
        <p:nvSpPr>
          <p:cNvPr id="5" name="Text 3"/>
          <p:cNvSpPr txBox="1"/>
          <p:nvPr/>
        </p:nvSpPr>
        <p:spPr>
          <a:xfrm>
            <a:off x="548640" y="1024128"/>
            <a:ext cx="11094415" cy="274320"/>
          </a:xfrm>
          <a:prstGeom prst="rect">
            <a:avLst/>
          </a:prstGeom>
          <a:noFill/>
          <a:ln/>
        </p:spPr>
        <p:txBody>
          <a:bodyPr wrap="square" lIns="0" tIns="0" rIns="0" bIns="0" rtlCol="0" anchor="t"/>
          <a:lstStyle/>
          <a:p>
            <a:pPr marL="0" indent="0">
              <a:buNone/>
            </a:pPr>
            <a:r>
              <a:rPr lang="en-US" sz="1100" i="1" dirty="0">
                <a:solidFill>
                  <a:srgbClr val="6E7A88"/>
                </a:solidFill>
                <a:latin typeface="Calibri" pitchFamily="34" charset="0"/>
                <a:ea typeface="Calibri" pitchFamily="34" charset="-122"/>
                <a:cs typeface="Calibri" pitchFamily="34" charset="-120"/>
              </a:rPr>
              <a:t>Sáu chương theo cấu trúc báo cáo — trọng tâm là quy trình PYC thuộc nhóm Cốt lõi</a:t>
            </a:r>
            <a:endParaRPr lang="en-US" sz="1100" dirty="0"/>
          </a:p>
        </p:txBody>
      </p:sp>
      <p:sp>
        <p:nvSpPr>
          <p:cNvPr id="6" name="Text 4"/>
          <p:cNvSpPr txBox="1"/>
          <p:nvPr/>
        </p:nvSpPr>
        <p:spPr>
          <a:xfrm>
            <a:off x="548640" y="6419088"/>
            <a:ext cx="8778240" cy="237744"/>
          </a:xfrm>
          <a:prstGeom prst="rect">
            <a:avLst/>
          </a:prstGeom>
          <a:noFill/>
          <a:ln/>
        </p:spPr>
        <p:txBody>
          <a:bodyPr wrap="square" lIns="0" tIns="0" rIns="0" bIns="0" rtlCol="0" anchor="t"/>
          <a:lstStyle/>
          <a:p>
            <a:pPr marL="0" indent="0">
              <a:buNone/>
            </a:pPr>
            <a:r>
              <a:rPr lang="en-US" sz="850" dirty="0">
                <a:solidFill>
                  <a:srgbClr val="6E7A88"/>
                </a:solidFill>
                <a:latin typeface="Calibri" pitchFamily="34" charset="0"/>
                <a:ea typeface="Calibri" pitchFamily="34" charset="-122"/>
                <a:cs typeface="Calibri" pitchFamily="34" charset="-120"/>
              </a:rPr>
              <a:t>HỆ THỐNG QUẢN TRỊ QUY TRÌNH NGHIỆP VỤ  ·  SACOMBANK — QUY TRÌNH PYC</a:t>
            </a:r>
            <a:endParaRPr lang="en-US" sz="850" dirty="0"/>
          </a:p>
        </p:txBody>
      </p:sp>
      <p:sp>
        <p:nvSpPr>
          <p:cNvPr id="7" name="Text 5"/>
          <p:cNvSpPr txBox="1"/>
          <p:nvPr/>
        </p:nvSpPr>
        <p:spPr>
          <a:xfrm>
            <a:off x="11155680" y="6382512"/>
            <a:ext cx="484632" cy="274320"/>
          </a:xfrm>
          <a:prstGeom prst="rect">
            <a:avLst/>
          </a:prstGeom>
          <a:noFill/>
          <a:ln/>
        </p:spPr>
        <p:txBody>
          <a:bodyPr wrap="square" lIns="0" tIns="0" rIns="0" bIns="0" rtlCol="0" anchor="t"/>
          <a:lstStyle/>
          <a:p>
            <a:pPr marL="0" indent="0" algn="r">
              <a:buNone/>
            </a:pPr>
            <a:r>
              <a:rPr lang="en-US" sz="1100" b="1" dirty="0">
                <a:solidFill>
                  <a:srgbClr val="A5741A"/>
                </a:solidFill>
                <a:latin typeface="Calibri" pitchFamily="34" charset="0"/>
                <a:ea typeface="Calibri" pitchFamily="34" charset="-122"/>
                <a:cs typeface="Calibri" pitchFamily="34" charset="-120"/>
              </a:rPr>
              <a:t>2</a:t>
            </a:r>
            <a:endParaRPr lang="en-US" sz="1100" dirty="0"/>
          </a:p>
        </p:txBody>
      </p:sp>
      <p:sp>
        <p:nvSpPr>
          <p:cNvPr id="8" name="Shape 6"/>
          <p:cNvSpPr/>
          <p:nvPr/>
        </p:nvSpPr>
        <p:spPr>
          <a:xfrm>
            <a:off x="548640" y="1572768"/>
            <a:ext cx="5410048" cy="1371600"/>
          </a:xfrm>
          <a:prstGeom prst="roundRect">
            <a:avLst>
              <a:gd name="adj" fmla="val 4000"/>
            </a:avLst>
          </a:prstGeom>
          <a:solidFill>
            <a:srgbClr val="EFF4FB"/>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9" name="Text 7"/>
          <p:cNvSpPr txBox="1"/>
          <p:nvPr/>
        </p:nvSpPr>
        <p:spPr>
          <a:xfrm>
            <a:off x="749808" y="1737360"/>
            <a:ext cx="640080" cy="384048"/>
          </a:xfrm>
          <a:prstGeom prst="rect">
            <a:avLst/>
          </a:prstGeom>
          <a:noFill/>
          <a:ln/>
        </p:spPr>
        <p:txBody>
          <a:bodyPr wrap="square" lIns="0" tIns="0" rIns="0" bIns="0" rtlCol="0" anchor="t"/>
          <a:lstStyle/>
          <a:p>
            <a:pPr marL="0" indent="0">
              <a:buNone/>
            </a:pPr>
            <a:r>
              <a:rPr lang="en-US" sz="2400" b="1" dirty="0">
                <a:solidFill>
                  <a:srgbClr val="1660BF"/>
                </a:solidFill>
                <a:latin typeface="Calibri" pitchFamily="34" charset="0"/>
                <a:ea typeface="Calibri" pitchFamily="34" charset="-122"/>
                <a:cs typeface="Calibri" pitchFamily="34" charset="-120"/>
              </a:rPr>
              <a:t>01</a:t>
            </a:r>
            <a:endParaRPr lang="en-US" sz="2400" dirty="0"/>
          </a:p>
        </p:txBody>
      </p:sp>
      <p:sp>
        <p:nvSpPr>
          <p:cNvPr id="10" name="Text 8"/>
          <p:cNvSpPr txBox="1"/>
          <p:nvPr/>
        </p:nvSpPr>
        <p:spPr>
          <a:xfrm>
            <a:off x="4769968" y="1773936"/>
            <a:ext cx="1005840" cy="219456"/>
          </a:xfrm>
          <a:prstGeom prst="rect">
            <a:avLst/>
          </a:prstGeom>
          <a:noFill/>
          <a:ln/>
        </p:spPr>
        <p:txBody>
          <a:bodyPr wrap="square" lIns="0" tIns="0" rIns="0" bIns="0" rtlCol="0" anchor="t"/>
          <a:lstStyle/>
          <a:p>
            <a:pPr marL="0" indent="0" algn="r">
              <a:buNone/>
            </a:pPr>
            <a:r>
              <a:rPr lang="en-US" sz="950" b="1" dirty="0">
                <a:solidFill>
                  <a:srgbClr val="6E7A88"/>
                </a:solidFill>
                <a:latin typeface="Calibri" pitchFamily="34" charset="0"/>
                <a:ea typeface="Calibri" pitchFamily="34" charset="-122"/>
                <a:cs typeface="Calibri" pitchFamily="34" charset="-120"/>
              </a:rPr>
              <a:t>Chương 1</a:t>
            </a:r>
            <a:endParaRPr lang="en-US" sz="950" dirty="0"/>
          </a:p>
        </p:txBody>
      </p:sp>
      <p:sp>
        <p:nvSpPr>
          <p:cNvPr id="11" name="Text 9"/>
          <p:cNvSpPr txBox="1"/>
          <p:nvPr/>
        </p:nvSpPr>
        <p:spPr>
          <a:xfrm>
            <a:off x="1417320" y="1773936"/>
            <a:ext cx="3306928" cy="274320"/>
          </a:xfrm>
          <a:prstGeom prst="rect">
            <a:avLst/>
          </a:prstGeom>
          <a:noFill/>
          <a:ln/>
        </p:spPr>
        <p:txBody>
          <a:bodyPr wrap="square" lIns="0" tIns="0" rIns="0" bIns="0" rtlCol="0" anchor="t"/>
          <a:lstStyle/>
          <a:p>
            <a:pPr marL="0" indent="0">
              <a:buNone/>
            </a:pPr>
            <a:r>
              <a:rPr lang="en-US" sz="1200" b="1" dirty="0">
                <a:solidFill>
                  <a:srgbClr val="0B3B75"/>
                </a:solidFill>
                <a:latin typeface="Calibri" pitchFamily="34" charset="0"/>
                <a:ea typeface="Calibri" pitchFamily="34" charset="-122"/>
                <a:cs typeface="Calibri" pitchFamily="34" charset="-120"/>
              </a:rPr>
              <a:t>TỔNG QUAN &amp; KIẾN TRÚC QUY TRÌNH</a:t>
            </a:r>
            <a:endParaRPr lang="en-US" sz="1200" dirty="0"/>
          </a:p>
        </p:txBody>
      </p:sp>
      <p:sp>
        <p:nvSpPr>
          <p:cNvPr id="12" name="Text 10"/>
          <p:cNvSpPr txBox="1"/>
          <p:nvPr/>
        </p:nvSpPr>
        <p:spPr>
          <a:xfrm>
            <a:off x="1417320" y="2121408"/>
            <a:ext cx="4312768" cy="658368"/>
          </a:xfrm>
          <a:prstGeom prst="rect">
            <a:avLst/>
          </a:prstGeom>
          <a:noFill/>
          <a:ln/>
        </p:spPr>
        <p:txBody>
          <a:bodyPr wrap="square" lIns="0" tIns="0" rIns="0" bIns="0" rtlCol="0" anchor="t"/>
          <a:lstStyle/>
          <a:p>
            <a:pPr marL="0" indent="0">
              <a:buNone/>
            </a:pPr>
            <a:r>
              <a:rPr lang="en-US" sz="1000" dirty="0">
                <a:solidFill>
                  <a:srgbClr val="6E7A88"/>
                </a:solidFill>
                <a:latin typeface="Calibri" pitchFamily="34" charset="0"/>
                <a:ea typeface="Calibri" pitchFamily="34" charset="-122"/>
                <a:cs typeface="Calibri" pitchFamily="34" charset="-120"/>
              </a:rPr>
              <a:t>Khối CNTT Sacombank, danh mục 10 quy trình và kiến trúc ba tầng.</a:t>
            </a:r>
            <a:endParaRPr lang="en-US" sz="1000" dirty="0"/>
          </a:p>
        </p:txBody>
      </p:sp>
      <p:sp>
        <p:nvSpPr>
          <p:cNvPr id="13" name="Shape 11"/>
          <p:cNvSpPr/>
          <p:nvPr/>
        </p:nvSpPr>
        <p:spPr>
          <a:xfrm>
            <a:off x="6233008" y="1572768"/>
            <a:ext cx="5410048" cy="1371600"/>
          </a:xfrm>
          <a:prstGeom prst="roundRect">
            <a:avLst>
              <a:gd name="adj" fmla="val 4000"/>
            </a:avLst>
          </a:prstGeom>
          <a:solidFill>
            <a:srgbClr val="EFF4FB"/>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14" name="Text 12"/>
          <p:cNvSpPr txBox="1"/>
          <p:nvPr/>
        </p:nvSpPr>
        <p:spPr>
          <a:xfrm>
            <a:off x="6434176" y="1737360"/>
            <a:ext cx="640080" cy="384048"/>
          </a:xfrm>
          <a:prstGeom prst="rect">
            <a:avLst/>
          </a:prstGeom>
          <a:noFill/>
          <a:ln/>
        </p:spPr>
        <p:txBody>
          <a:bodyPr wrap="square" lIns="0" tIns="0" rIns="0" bIns="0" rtlCol="0" anchor="t"/>
          <a:lstStyle/>
          <a:p>
            <a:pPr marL="0" indent="0">
              <a:buNone/>
            </a:pPr>
            <a:r>
              <a:rPr lang="en-US" sz="2400" b="1" dirty="0">
                <a:solidFill>
                  <a:srgbClr val="1660BF"/>
                </a:solidFill>
                <a:latin typeface="Calibri" pitchFamily="34" charset="0"/>
                <a:ea typeface="Calibri" pitchFamily="34" charset="-122"/>
                <a:cs typeface="Calibri" pitchFamily="34" charset="-120"/>
              </a:rPr>
              <a:t>02</a:t>
            </a:r>
            <a:endParaRPr lang="en-US" sz="2400" dirty="0"/>
          </a:p>
        </p:txBody>
      </p:sp>
      <p:sp>
        <p:nvSpPr>
          <p:cNvPr id="15" name="Text 13"/>
          <p:cNvSpPr txBox="1"/>
          <p:nvPr/>
        </p:nvSpPr>
        <p:spPr>
          <a:xfrm>
            <a:off x="10454335" y="1773936"/>
            <a:ext cx="1005840" cy="219456"/>
          </a:xfrm>
          <a:prstGeom prst="rect">
            <a:avLst/>
          </a:prstGeom>
          <a:noFill/>
          <a:ln/>
        </p:spPr>
        <p:txBody>
          <a:bodyPr wrap="square" lIns="0" tIns="0" rIns="0" bIns="0" rtlCol="0" anchor="t"/>
          <a:lstStyle/>
          <a:p>
            <a:pPr marL="0" indent="0" algn="r">
              <a:buNone/>
            </a:pPr>
            <a:r>
              <a:rPr lang="en-US" sz="950" b="1" dirty="0">
                <a:solidFill>
                  <a:srgbClr val="6E7A88"/>
                </a:solidFill>
                <a:latin typeface="Calibri" pitchFamily="34" charset="0"/>
                <a:ea typeface="Calibri" pitchFamily="34" charset="-122"/>
                <a:cs typeface="Calibri" pitchFamily="34" charset="-120"/>
              </a:rPr>
              <a:t>Chương 2</a:t>
            </a:r>
            <a:endParaRPr lang="en-US" sz="950" dirty="0"/>
          </a:p>
        </p:txBody>
      </p:sp>
      <p:sp>
        <p:nvSpPr>
          <p:cNvPr id="16" name="Text 14"/>
          <p:cNvSpPr txBox="1"/>
          <p:nvPr/>
        </p:nvSpPr>
        <p:spPr>
          <a:xfrm>
            <a:off x="7101688" y="1773936"/>
            <a:ext cx="3306928" cy="274320"/>
          </a:xfrm>
          <a:prstGeom prst="rect">
            <a:avLst/>
          </a:prstGeom>
          <a:noFill/>
          <a:ln/>
        </p:spPr>
        <p:txBody>
          <a:bodyPr wrap="square" lIns="0" tIns="0" rIns="0" bIns="0" rtlCol="0" anchor="t"/>
          <a:lstStyle/>
          <a:p>
            <a:pPr marL="0" indent="0">
              <a:buNone/>
            </a:pPr>
            <a:r>
              <a:rPr lang="en-US" sz="1200" b="1" dirty="0">
                <a:solidFill>
                  <a:srgbClr val="0B3B75"/>
                </a:solidFill>
                <a:latin typeface="Calibri" pitchFamily="34" charset="0"/>
                <a:ea typeface="Calibri" pitchFamily="34" charset="-122"/>
                <a:cs typeface="Calibri" pitchFamily="34" charset="-120"/>
              </a:rPr>
              <a:t>PHƯƠNG PHÁP THỰC HIỆN</a:t>
            </a:r>
            <a:endParaRPr lang="en-US" sz="1200" dirty="0"/>
          </a:p>
        </p:txBody>
      </p:sp>
      <p:sp>
        <p:nvSpPr>
          <p:cNvPr id="17" name="Text 15"/>
          <p:cNvSpPr txBox="1"/>
          <p:nvPr/>
        </p:nvSpPr>
        <p:spPr>
          <a:xfrm>
            <a:off x="7101688" y="2121408"/>
            <a:ext cx="4312768" cy="658368"/>
          </a:xfrm>
          <a:prstGeom prst="rect">
            <a:avLst/>
          </a:prstGeom>
          <a:noFill/>
          <a:ln/>
        </p:spPr>
        <p:txBody>
          <a:bodyPr wrap="square" lIns="0" tIns="0" rIns="0" bIns="0" rtlCol="0" anchor="t"/>
          <a:lstStyle/>
          <a:p>
            <a:pPr marL="0" indent="0">
              <a:buNone/>
            </a:pPr>
            <a:r>
              <a:rPr lang="en-US" sz="1000" dirty="0">
                <a:solidFill>
                  <a:srgbClr val="6E7A88"/>
                </a:solidFill>
                <a:latin typeface="Calibri" pitchFamily="34" charset="0"/>
                <a:ea typeface="Calibri" pitchFamily="34" charset="-122"/>
                <a:cs typeface="Calibri" pitchFamily="34" charset="-120"/>
              </a:rPr>
              <a:t>Khám phá quy trình dựa trên bằng chứng và bộ 20 câu hỏi phỏng vấn.</a:t>
            </a:r>
            <a:endParaRPr lang="en-US" sz="1000" dirty="0"/>
          </a:p>
        </p:txBody>
      </p:sp>
      <p:sp>
        <p:nvSpPr>
          <p:cNvPr id="18" name="Shape 16"/>
          <p:cNvSpPr/>
          <p:nvPr/>
        </p:nvSpPr>
        <p:spPr>
          <a:xfrm>
            <a:off x="548640" y="3145536"/>
            <a:ext cx="5410048" cy="1371600"/>
          </a:xfrm>
          <a:prstGeom prst="roundRect">
            <a:avLst>
              <a:gd name="adj" fmla="val 4000"/>
            </a:avLst>
          </a:prstGeom>
          <a:solidFill>
            <a:srgbClr val="EFF4FB"/>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19" name="Text 17"/>
          <p:cNvSpPr txBox="1"/>
          <p:nvPr/>
        </p:nvSpPr>
        <p:spPr>
          <a:xfrm>
            <a:off x="749808" y="3310128"/>
            <a:ext cx="640080" cy="384048"/>
          </a:xfrm>
          <a:prstGeom prst="rect">
            <a:avLst/>
          </a:prstGeom>
          <a:noFill/>
          <a:ln/>
        </p:spPr>
        <p:txBody>
          <a:bodyPr wrap="square" lIns="0" tIns="0" rIns="0" bIns="0" rtlCol="0" anchor="t"/>
          <a:lstStyle/>
          <a:p>
            <a:pPr marL="0" indent="0">
              <a:buNone/>
            </a:pPr>
            <a:r>
              <a:rPr lang="en-US" sz="2400" b="1" dirty="0">
                <a:solidFill>
                  <a:srgbClr val="1660BF"/>
                </a:solidFill>
                <a:latin typeface="Calibri" pitchFamily="34" charset="0"/>
                <a:ea typeface="Calibri" pitchFamily="34" charset="-122"/>
                <a:cs typeface="Calibri" pitchFamily="34" charset="-120"/>
              </a:rPr>
              <a:t>03</a:t>
            </a:r>
            <a:endParaRPr lang="en-US" sz="2400" dirty="0"/>
          </a:p>
        </p:txBody>
      </p:sp>
      <p:sp>
        <p:nvSpPr>
          <p:cNvPr id="20" name="Text 18"/>
          <p:cNvSpPr txBox="1"/>
          <p:nvPr/>
        </p:nvSpPr>
        <p:spPr>
          <a:xfrm>
            <a:off x="4769968" y="3346704"/>
            <a:ext cx="1005840" cy="219456"/>
          </a:xfrm>
          <a:prstGeom prst="rect">
            <a:avLst/>
          </a:prstGeom>
          <a:noFill/>
          <a:ln/>
        </p:spPr>
        <p:txBody>
          <a:bodyPr wrap="square" lIns="0" tIns="0" rIns="0" bIns="0" rtlCol="0" anchor="t"/>
          <a:lstStyle/>
          <a:p>
            <a:pPr marL="0" indent="0" algn="r">
              <a:buNone/>
            </a:pPr>
            <a:r>
              <a:rPr lang="en-US" sz="950" b="1" dirty="0">
                <a:solidFill>
                  <a:srgbClr val="6E7A88"/>
                </a:solidFill>
                <a:latin typeface="Calibri" pitchFamily="34" charset="0"/>
                <a:ea typeface="Calibri" pitchFamily="34" charset="-122"/>
                <a:cs typeface="Calibri" pitchFamily="34" charset="-120"/>
              </a:rPr>
              <a:t>Chương 3</a:t>
            </a:r>
            <a:endParaRPr lang="en-US" sz="950" dirty="0"/>
          </a:p>
        </p:txBody>
      </p:sp>
      <p:sp>
        <p:nvSpPr>
          <p:cNvPr id="21" name="Text 19"/>
          <p:cNvSpPr txBox="1"/>
          <p:nvPr/>
        </p:nvSpPr>
        <p:spPr>
          <a:xfrm>
            <a:off x="1417320" y="3346704"/>
            <a:ext cx="3306928" cy="274320"/>
          </a:xfrm>
          <a:prstGeom prst="rect">
            <a:avLst/>
          </a:prstGeom>
          <a:noFill/>
          <a:ln/>
        </p:spPr>
        <p:txBody>
          <a:bodyPr wrap="square" lIns="0" tIns="0" rIns="0" bIns="0" rtlCol="0" anchor="t"/>
          <a:lstStyle/>
          <a:p>
            <a:pPr marL="0" indent="0">
              <a:buNone/>
            </a:pPr>
            <a:r>
              <a:rPr lang="en-US" sz="1200" b="1" dirty="0">
                <a:solidFill>
                  <a:srgbClr val="0B3B75"/>
                </a:solidFill>
                <a:latin typeface="Calibri" pitchFamily="34" charset="0"/>
                <a:ea typeface="Calibri" pitchFamily="34" charset="-122"/>
                <a:cs typeface="Calibri" pitchFamily="34" charset="-120"/>
              </a:rPr>
              <a:t>MÔ HÌNH HÓA AS-IS BẰNG BPMN 2.0</a:t>
            </a:r>
            <a:endParaRPr lang="en-US" sz="1200" dirty="0"/>
          </a:p>
        </p:txBody>
      </p:sp>
      <p:sp>
        <p:nvSpPr>
          <p:cNvPr id="22" name="Text 20"/>
          <p:cNvSpPr txBox="1"/>
          <p:nvPr/>
        </p:nvSpPr>
        <p:spPr>
          <a:xfrm>
            <a:off x="1417320" y="3694176"/>
            <a:ext cx="4312768" cy="658368"/>
          </a:xfrm>
          <a:prstGeom prst="rect">
            <a:avLst/>
          </a:prstGeom>
          <a:noFill/>
          <a:ln/>
        </p:spPr>
        <p:txBody>
          <a:bodyPr wrap="square" lIns="0" tIns="0" rIns="0" bIns="0" rtlCol="0" anchor="t"/>
          <a:lstStyle/>
          <a:p>
            <a:pPr marL="0" indent="0">
              <a:buNone/>
            </a:pPr>
            <a:r>
              <a:rPr lang="en-US" sz="1000" dirty="0">
                <a:solidFill>
                  <a:srgbClr val="6E7A88"/>
                </a:solidFill>
                <a:latin typeface="Calibri" pitchFamily="34" charset="0"/>
                <a:ea typeface="Calibri" pitchFamily="34" charset="-122"/>
                <a:cs typeface="Calibri" pitchFamily="34" charset="-120"/>
              </a:rPr>
              <a:t>Sáu mô hình BPMN hiện trạng và bảng đánh giá độ phức tạp.</a:t>
            </a:r>
            <a:endParaRPr lang="en-US" sz="1000" dirty="0"/>
          </a:p>
        </p:txBody>
      </p:sp>
      <p:sp>
        <p:nvSpPr>
          <p:cNvPr id="23" name="Shape 21"/>
          <p:cNvSpPr/>
          <p:nvPr/>
        </p:nvSpPr>
        <p:spPr>
          <a:xfrm>
            <a:off x="6233008" y="3145536"/>
            <a:ext cx="5410048" cy="1371600"/>
          </a:xfrm>
          <a:prstGeom prst="roundRect">
            <a:avLst>
              <a:gd name="adj" fmla="val 4000"/>
            </a:avLst>
          </a:prstGeom>
          <a:solidFill>
            <a:srgbClr val="EFF4FB"/>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24" name="Text 22"/>
          <p:cNvSpPr txBox="1"/>
          <p:nvPr/>
        </p:nvSpPr>
        <p:spPr>
          <a:xfrm>
            <a:off x="6434176" y="3310128"/>
            <a:ext cx="640080" cy="384048"/>
          </a:xfrm>
          <a:prstGeom prst="rect">
            <a:avLst/>
          </a:prstGeom>
          <a:noFill/>
          <a:ln/>
        </p:spPr>
        <p:txBody>
          <a:bodyPr wrap="square" lIns="0" tIns="0" rIns="0" bIns="0" rtlCol="0" anchor="t"/>
          <a:lstStyle/>
          <a:p>
            <a:pPr marL="0" indent="0">
              <a:buNone/>
            </a:pPr>
            <a:r>
              <a:rPr lang="en-US" sz="2400" b="1" dirty="0">
                <a:solidFill>
                  <a:srgbClr val="1660BF"/>
                </a:solidFill>
                <a:latin typeface="Calibri" pitchFamily="34" charset="0"/>
                <a:ea typeface="Calibri" pitchFamily="34" charset="-122"/>
                <a:cs typeface="Calibri" pitchFamily="34" charset="-120"/>
              </a:rPr>
              <a:t>04</a:t>
            </a:r>
            <a:endParaRPr lang="en-US" sz="2400" dirty="0"/>
          </a:p>
        </p:txBody>
      </p:sp>
      <p:sp>
        <p:nvSpPr>
          <p:cNvPr id="25" name="Text 23"/>
          <p:cNvSpPr txBox="1"/>
          <p:nvPr/>
        </p:nvSpPr>
        <p:spPr>
          <a:xfrm>
            <a:off x="10454335" y="3346704"/>
            <a:ext cx="1005840" cy="219456"/>
          </a:xfrm>
          <a:prstGeom prst="rect">
            <a:avLst/>
          </a:prstGeom>
          <a:noFill/>
          <a:ln/>
        </p:spPr>
        <p:txBody>
          <a:bodyPr wrap="square" lIns="0" tIns="0" rIns="0" bIns="0" rtlCol="0" anchor="t"/>
          <a:lstStyle/>
          <a:p>
            <a:pPr marL="0" indent="0" algn="r">
              <a:buNone/>
            </a:pPr>
            <a:r>
              <a:rPr lang="en-US" sz="950" b="1" dirty="0">
                <a:solidFill>
                  <a:srgbClr val="6E7A88"/>
                </a:solidFill>
                <a:latin typeface="Calibri" pitchFamily="34" charset="0"/>
                <a:ea typeface="Calibri" pitchFamily="34" charset="-122"/>
                <a:cs typeface="Calibri" pitchFamily="34" charset="-120"/>
              </a:rPr>
              <a:t>Chương 4</a:t>
            </a:r>
            <a:endParaRPr lang="en-US" sz="950" dirty="0"/>
          </a:p>
        </p:txBody>
      </p:sp>
      <p:sp>
        <p:nvSpPr>
          <p:cNvPr id="26" name="Text 24"/>
          <p:cNvSpPr txBox="1"/>
          <p:nvPr/>
        </p:nvSpPr>
        <p:spPr>
          <a:xfrm>
            <a:off x="7101688" y="3346704"/>
            <a:ext cx="3306928" cy="274320"/>
          </a:xfrm>
          <a:prstGeom prst="rect">
            <a:avLst/>
          </a:prstGeom>
          <a:noFill/>
          <a:ln/>
        </p:spPr>
        <p:txBody>
          <a:bodyPr wrap="square" lIns="0" tIns="0" rIns="0" bIns="0" rtlCol="0" anchor="t"/>
          <a:lstStyle/>
          <a:p>
            <a:pPr marL="0" indent="0">
              <a:buNone/>
            </a:pPr>
            <a:r>
              <a:rPr lang="en-US" sz="1200" b="1" dirty="0">
                <a:solidFill>
                  <a:srgbClr val="0B3B75"/>
                </a:solidFill>
                <a:latin typeface="Calibri" pitchFamily="34" charset="0"/>
                <a:ea typeface="Calibri" pitchFamily="34" charset="-122"/>
                <a:cs typeface="Calibri" pitchFamily="34" charset="-120"/>
              </a:rPr>
              <a:t>PHÂN TÍCH HIỆU SUẤT QUY TRÌNH</a:t>
            </a:r>
            <a:endParaRPr lang="en-US" sz="1200" dirty="0"/>
          </a:p>
        </p:txBody>
      </p:sp>
      <p:sp>
        <p:nvSpPr>
          <p:cNvPr id="27" name="Text 25"/>
          <p:cNvSpPr txBox="1"/>
          <p:nvPr/>
        </p:nvSpPr>
        <p:spPr>
          <a:xfrm>
            <a:off x="7101688" y="3694176"/>
            <a:ext cx="4312768" cy="658368"/>
          </a:xfrm>
          <a:prstGeom prst="rect">
            <a:avLst/>
          </a:prstGeom>
          <a:noFill/>
          <a:ln/>
        </p:spPr>
        <p:txBody>
          <a:bodyPr wrap="square" lIns="0" tIns="0" rIns="0" bIns="0" rtlCol="0" anchor="t"/>
          <a:lstStyle/>
          <a:p>
            <a:pPr marL="0" indent="0">
              <a:buNone/>
            </a:pPr>
            <a:r>
              <a:rPr lang="en-US" sz="1000" dirty="0">
                <a:solidFill>
                  <a:srgbClr val="6E7A88"/>
                </a:solidFill>
                <a:latin typeface="Calibri" pitchFamily="34" charset="0"/>
                <a:ea typeface="Calibri" pitchFamily="34" charset="-122"/>
                <a:cs typeface="Calibri" pitchFamily="34" charset="-120"/>
              </a:rPr>
              <a:t>Định tính VA–NVA–VBA, lãng phí Move–Hold–Overdo và định lượng thời gian.</a:t>
            </a:r>
            <a:endParaRPr lang="en-US" sz="1000" dirty="0"/>
          </a:p>
        </p:txBody>
      </p:sp>
      <p:sp>
        <p:nvSpPr>
          <p:cNvPr id="28" name="Shape 26"/>
          <p:cNvSpPr/>
          <p:nvPr/>
        </p:nvSpPr>
        <p:spPr>
          <a:xfrm>
            <a:off x="548640" y="4718304"/>
            <a:ext cx="5410048" cy="1371600"/>
          </a:xfrm>
          <a:prstGeom prst="roundRect">
            <a:avLst>
              <a:gd name="adj" fmla="val 4000"/>
            </a:avLst>
          </a:prstGeom>
          <a:solidFill>
            <a:srgbClr val="EFF4FB"/>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29" name="Text 27"/>
          <p:cNvSpPr txBox="1"/>
          <p:nvPr/>
        </p:nvSpPr>
        <p:spPr>
          <a:xfrm>
            <a:off x="749808" y="4882896"/>
            <a:ext cx="640080" cy="384048"/>
          </a:xfrm>
          <a:prstGeom prst="rect">
            <a:avLst/>
          </a:prstGeom>
          <a:noFill/>
          <a:ln/>
        </p:spPr>
        <p:txBody>
          <a:bodyPr wrap="square" lIns="0" tIns="0" rIns="0" bIns="0" rtlCol="0" anchor="t"/>
          <a:lstStyle/>
          <a:p>
            <a:pPr marL="0" indent="0">
              <a:buNone/>
            </a:pPr>
            <a:r>
              <a:rPr lang="en-US" sz="2400" b="1" dirty="0">
                <a:solidFill>
                  <a:srgbClr val="1660BF"/>
                </a:solidFill>
                <a:latin typeface="Calibri" pitchFamily="34" charset="0"/>
                <a:ea typeface="Calibri" pitchFamily="34" charset="-122"/>
                <a:cs typeface="Calibri" pitchFamily="34" charset="-120"/>
              </a:rPr>
              <a:t>05</a:t>
            </a:r>
            <a:endParaRPr lang="en-US" sz="2400" dirty="0"/>
          </a:p>
        </p:txBody>
      </p:sp>
      <p:sp>
        <p:nvSpPr>
          <p:cNvPr id="30" name="Text 28"/>
          <p:cNvSpPr txBox="1"/>
          <p:nvPr/>
        </p:nvSpPr>
        <p:spPr>
          <a:xfrm>
            <a:off x="4769968" y="4919472"/>
            <a:ext cx="1005840" cy="219456"/>
          </a:xfrm>
          <a:prstGeom prst="rect">
            <a:avLst/>
          </a:prstGeom>
          <a:noFill/>
          <a:ln/>
        </p:spPr>
        <p:txBody>
          <a:bodyPr wrap="square" lIns="0" tIns="0" rIns="0" bIns="0" rtlCol="0" anchor="t"/>
          <a:lstStyle/>
          <a:p>
            <a:pPr marL="0" indent="0" algn="r">
              <a:buNone/>
            </a:pPr>
            <a:r>
              <a:rPr lang="en-US" sz="950" b="1" dirty="0">
                <a:solidFill>
                  <a:srgbClr val="6E7A88"/>
                </a:solidFill>
                <a:latin typeface="Calibri" pitchFamily="34" charset="0"/>
                <a:ea typeface="Calibri" pitchFamily="34" charset="-122"/>
                <a:cs typeface="Calibri" pitchFamily="34" charset="-120"/>
              </a:rPr>
              <a:t>Chương 5</a:t>
            </a:r>
            <a:endParaRPr lang="en-US" sz="950" dirty="0"/>
          </a:p>
        </p:txBody>
      </p:sp>
      <p:sp>
        <p:nvSpPr>
          <p:cNvPr id="31" name="Text 29"/>
          <p:cNvSpPr txBox="1"/>
          <p:nvPr/>
        </p:nvSpPr>
        <p:spPr>
          <a:xfrm>
            <a:off x="1417320" y="4919472"/>
            <a:ext cx="3306928" cy="274320"/>
          </a:xfrm>
          <a:prstGeom prst="rect">
            <a:avLst/>
          </a:prstGeom>
          <a:noFill/>
          <a:ln/>
        </p:spPr>
        <p:txBody>
          <a:bodyPr wrap="square" lIns="0" tIns="0" rIns="0" bIns="0" rtlCol="0" anchor="t"/>
          <a:lstStyle/>
          <a:p>
            <a:pPr marL="0" indent="0">
              <a:buNone/>
            </a:pPr>
            <a:r>
              <a:rPr lang="en-US" sz="1200" b="1" dirty="0">
                <a:solidFill>
                  <a:srgbClr val="0B3B75"/>
                </a:solidFill>
                <a:latin typeface="Calibri" pitchFamily="34" charset="0"/>
                <a:ea typeface="Calibri" pitchFamily="34" charset="-122"/>
                <a:cs typeface="Calibri" pitchFamily="34" charset="-120"/>
              </a:rPr>
              <a:t>GIẢI PHÁP CẢI TIẾN &amp; MÔ HÌNH TO-BE</a:t>
            </a:r>
            <a:endParaRPr lang="en-US" sz="1200" dirty="0"/>
          </a:p>
        </p:txBody>
      </p:sp>
      <p:sp>
        <p:nvSpPr>
          <p:cNvPr id="32" name="Text 30"/>
          <p:cNvSpPr txBox="1"/>
          <p:nvPr/>
        </p:nvSpPr>
        <p:spPr>
          <a:xfrm>
            <a:off x="1417320" y="5266944"/>
            <a:ext cx="4312768" cy="658368"/>
          </a:xfrm>
          <a:prstGeom prst="rect">
            <a:avLst/>
          </a:prstGeom>
          <a:noFill/>
          <a:ln/>
        </p:spPr>
        <p:txBody>
          <a:bodyPr wrap="square" lIns="0" tIns="0" rIns="0" bIns="0" rtlCol="0" anchor="t"/>
          <a:lstStyle/>
          <a:p>
            <a:pPr marL="0" indent="0">
              <a:buNone/>
            </a:pPr>
            <a:r>
              <a:rPr lang="en-US" sz="1000" dirty="0">
                <a:solidFill>
                  <a:srgbClr val="6E7A88"/>
                </a:solidFill>
                <a:latin typeface="Calibri" pitchFamily="34" charset="0"/>
                <a:ea typeface="Calibri" pitchFamily="34" charset="-122"/>
                <a:cs typeface="Calibri" pitchFamily="34" charset="-120"/>
              </a:rPr>
              <a:t>Ba giải pháp cải tiến và so sánh chỉ số vận hành AS-IS – TO-BE.</a:t>
            </a:r>
            <a:endParaRPr lang="en-US" sz="1000" dirty="0"/>
          </a:p>
        </p:txBody>
      </p:sp>
      <p:sp>
        <p:nvSpPr>
          <p:cNvPr id="33" name="Shape 31"/>
          <p:cNvSpPr/>
          <p:nvPr/>
        </p:nvSpPr>
        <p:spPr>
          <a:xfrm>
            <a:off x="6233008" y="4718304"/>
            <a:ext cx="5410048" cy="1371600"/>
          </a:xfrm>
          <a:prstGeom prst="roundRect">
            <a:avLst>
              <a:gd name="adj" fmla="val 4000"/>
            </a:avLst>
          </a:prstGeom>
          <a:solidFill>
            <a:srgbClr val="EFF4FB"/>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34" name="Text 32"/>
          <p:cNvSpPr txBox="1"/>
          <p:nvPr/>
        </p:nvSpPr>
        <p:spPr>
          <a:xfrm>
            <a:off x="6434176" y="4882896"/>
            <a:ext cx="640080" cy="384048"/>
          </a:xfrm>
          <a:prstGeom prst="rect">
            <a:avLst/>
          </a:prstGeom>
          <a:noFill/>
          <a:ln/>
        </p:spPr>
        <p:txBody>
          <a:bodyPr wrap="square" lIns="0" tIns="0" rIns="0" bIns="0" rtlCol="0" anchor="t"/>
          <a:lstStyle/>
          <a:p>
            <a:pPr marL="0" indent="0">
              <a:buNone/>
            </a:pPr>
            <a:r>
              <a:rPr lang="en-US" sz="2400" b="1" dirty="0">
                <a:solidFill>
                  <a:srgbClr val="1660BF"/>
                </a:solidFill>
                <a:latin typeface="Calibri" pitchFamily="34" charset="0"/>
                <a:ea typeface="Calibri" pitchFamily="34" charset="-122"/>
                <a:cs typeface="Calibri" pitchFamily="34" charset="-120"/>
              </a:rPr>
              <a:t>06</a:t>
            </a:r>
            <a:endParaRPr lang="en-US" sz="2400" dirty="0"/>
          </a:p>
        </p:txBody>
      </p:sp>
      <p:sp>
        <p:nvSpPr>
          <p:cNvPr id="35" name="Text 33"/>
          <p:cNvSpPr txBox="1"/>
          <p:nvPr/>
        </p:nvSpPr>
        <p:spPr>
          <a:xfrm>
            <a:off x="10454335" y="4919472"/>
            <a:ext cx="1005840" cy="219456"/>
          </a:xfrm>
          <a:prstGeom prst="rect">
            <a:avLst/>
          </a:prstGeom>
          <a:noFill/>
          <a:ln/>
        </p:spPr>
        <p:txBody>
          <a:bodyPr wrap="square" lIns="0" tIns="0" rIns="0" bIns="0" rtlCol="0" anchor="t"/>
          <a:lstStyle/>
          <a:p>
            <a:pPr marL="0" indent="0" algn="r">
              <a:buNone/>
            </a:pPr>
            <a:r>
              <a:rPr lang="en-US" sz="950" b="1" dirty="0">
                <a:solidFill>
                  <a:srgbClr val="6E7A88"/>
                </a:solidFill>
                <a:latin typeface="Calibri" pitchFamily="34" charset="0"/>
                <a:ea typeface="Calibri" pitchFamily="34" charset="-122"/>
                <a:cs typeface="Calibri" pitchFamily="34" charset="-120"/>
              </a:rPr>
              <a:t>Chương 6</a:t>
            </a:r>
            <a:endParaRPr lang="en-US" sz="950" dirty="0"/>
          </a:p>
        </p:txBody>
      </p:sp>
      <p:sp>
        <p:nvSpPr>
          <p:cNvPr id="36" name="Text 34"/>
          <p:cNvSpPr txBox="1"/>
          <p:nvPr/>
        </p:nvSpPr>
        <p:spPr>
          <a:xfrm>
            <a:off x="7101688" y="4919472"/>
            <a:ext cx="3306928" cy="274320"/>
          </a:xfrm>
          <a:prstGeom prst="rect">
            <a:avLst/>
          </a:prstGeom>
          <a:noFill/>
          <a:ln/>
        </p:spPr>
        <p:txBody>
          <a:bodyPr wrap="square" lIns="0" tIns="0" rIns="0" bIns="0" rtlCol="0" anchor="t"/>
          <a:lstStyle/>
          <a:p>
            <a:pPr marL="0" indent="0">
              <a:buNone/>
            </a:pPr>
            <a:r>
              <a:rPr lang="en-US" sz="1200" b="1" dirty="0">
                <a:solidFill>
                  <a:srgbClr val="0B3B75"/>
                </a:solidFill>
                <a:latin typeface="Calibri" pitchFamily="34" charset="0"/>
                <a:ea typeface="Calibri" pitchFamily="34" charset="-122"/>
                <a:cs typeface="Calibri" pitchFamily="34" charset="-120"/>
              </a:rPr>
              <a:t>KẾT LUẬN &amp; HƯỚNG PHÁT TRIỂN</a:t>
            </a:r>
            <a:endParaRPr lang="en-US" sz="1200" dirty="0"/>
          </a:p>
        </p:txBody>
      </p:sp>
      <p:sp>
        <p:nvSpPr>
          <p:cNvPr id="37" name="Text 35"/>
          <p:cNvSpPr txBox="1"/>
          <p:nvPr/>
        </p:nvSpPr>
        <p:spPr>
          <a:xfrm>
            <a:off x="7101688" y="5266944"/>
            <a:ext cx="4312768" cy="658368"/>
          </a:xfrm>
          <a:prstGeom prst="rect">
            <a:avLst/>
          </a:prstGeom>
          <a:noFill/>
          <a:ln/>
        </p:spPr>
        <p:txBody>
          <a:bodyPr wrap="square" lIns="0" tIns="0" rIns="0" bIns="0" rtlCol="0" anchor="t"/>
          <a:lstStyle/>
          <a:p>
            <a:pPr marL="0" indent="0">
              <a:buNone/>
            </a:pPr>
            <a:r>
              <a:rPr lang="en-US" sz="1000" dirty="0">
                <a:solidFill>
                  <a:srgbClr val="6E7A88"/>
                </a:solidFill>
                <a:latin typeface="Calibri" pitchFamily="34" charset="0"/>
                <a:ea typeface="Calibri" pitchFamily="34" charset="-122"/>
                <a:cs typeface="Calibri" pitchFamily="34" charset="-120"/>
              </a:rPr>
              <a:t>Kết quả đạt được, ba hạn chế và ba hướng phát triển tiếp theo.</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3B75"/>
        </a:solidFill>
        <a:effectLst/>
      </p:bgPr>
    </p:bg>
    <p:spTree>
      <p:nvGrpSpPr>
        <p:cNvPr id="1" name=""/>
        <p:cNvGrpSpPr/>
        <p:nvPr/>
      </p:nvGrpSpPr>
      <p:grpSpPr>
        <a:xfrm>
          <a:off x="0" y="0"/>
          <a:ext cx="0" cy="0"/>
          <a:chOff x="0" y="0"/>
          <a:chExt cx="0" cy="0"/>
        </a:xfrm>
      </p:grpSpPr>
      <p:sp>
        <p:nvSpPr>
          <p:cNvPr id="2" name="Text 0"/>
          <p:cNvSpPr txBox="1"/>
          <p:nvPr/>
        </p:nvSpPr>
        <p:spPr>
          <a:xfrm>
            <a:off x="548640" y="1920240"/>
            <a:ext cx="1828800" cy="1097280"/>
          </a:xfrm>
          <a:prstGeom prst="rect">
            <a:avLst/>
          </a:prstGeom>
          <a:noFill/>
          <a:ln/>
        </p:spPr>
        <p:txBody>
          <a:bodyPr wrap="square" lIns="0" tIns="0" rIns="0" bIns="0" rtlCol="0" anchor="t"/>
          <a:lstStyle/>
          <a:p>
            <a:pPr marL="0" indent="0">
              <a:buNone/>
            </a:pPr>
            <a:r>
              <a:rPr lang="en-US" sz="6600" b="1" dirty="0">
                <a:solidFill>
                  <a:srgbClr val="D9A227"/>
                </a:solidFill>
                <a:latin typeface="Calibri" pitchFamily="34" charset="0"/>
                <a:ea typeface="Calibri" pitchFamily="34" charset="-122"/>
                <a:cs typeface="Calibri" pitchFamily="34" charset="-120"/>
              </a:rPr>
              <a:t>01</a:t>
            </a:r>
            <a:endParaRPr lang="en-US" sz="6600" dirty="0"/>
          </a:p>
        </p:txBody>
      </p:sp>
      <p:sp>
        <p:nvSpPr>
          <p:cNvPr id="3" name="Text 1"/>
          <p:cNvSpPr txBox="1"/>
          <p:nvPr/>
        </p:nvSpPr>
        <p:spPr>
          <a:xfrm>
            <a:off x="548640" y="3072384"/>
            <a:ext cx="11094415" cy="274320"/>
          </a:xfrm>
          <a:prstGeom prst="rect">
            <a:avLst/>
          </a:prstGeom>
          <a:noFill/>
          <a:ln/>
        </p:spPr>
        <p:txBody>
          <a:bodyPr wrap="square" lIns="0" tIns="0" rIns="0" bIns="0" rtlCol="0" anchor="t"/>
          <a:lstStyle/>
          <a:p>
            <a:pPr marL="0" indent="0">
              <a:buNone/>
            </a:pPr>
            <a:r>
              <a:rPr lang="en-US" sz="1100" b="1" kern="0" spc="140" dirty="0">
                <a:solidFill>
                  <a:srgbClr val="AFC6E4"/>
                </a:solidFill>
                <a:latin typeface="Calibri" pitchFamily="34" charset="0"/>
                <a:ea typeface="Calibri" pitchFamily="34" charset="-122"/>
                <a:cs typeface="Calibri" pitchFamily="34" charset="-120"/>
              </a:rPr>
              <a:t>PHẦN 1 · COMPANY &amp; PROCESS LANDSCAPE</a:t>
            </a:r>
            <a:endParaRPr lang="en-US" sz="1100" dirty="0"/>
          </a:p>
        </p:txBody>
      </p:sp>
      <p:sp>
        <p:nvSpPr>
          <p:cNvPr id="4" name="Text 2"/>
          <p:cNvSpPr txBox="1"/>
          <p:nvPr/>
        </p:nvSpPr>
        <p:spPr>
          <a:xfrm>
            <a:off x="548640" y="3383280"/>
            <a:ext cx="11094415" cy="640080"/>
          </a:xfrm>
          <a:prstGeom prst="rect">
            <a:avLst/>
          </a:prstGeom>
          <a:noFill/>
          <a:ln/>
        </p:spPr>
        <p:txBody>
          <a:bodyPr wrap="square" lIns="0" tIns="0" rIns="0" bIns="0" rtlCol="0" anchor="t"/>
          <a:lstStyle/>
          <a:p>
            <a:pPr marL="0" indent="0">
              <a:buNone/>
            </a:pPr>
            <a:r>
              <a:rPr lang="en-US" sz="3200" b="1" dirty="0">
                <a:solidFill>
                  <a:srgbClr val="FFFFFF"/>
                </a:solidFill>
                <a:latin typeface="Calibri" pitchFamily="34" charset="0"/>
                <a:ea typeface="Calibri" pitchFamily="34" charset="-122"/>
                <a:cs typeface="Calibri" pitchFamily="34" charset="-120"/>
              </a:rPr>
              <a:t>Tổng quan doanh nghiệp và kiến trúc quy trình</a:t>
            </a:r>
            <a:endParaRPr lang="en-US" sz="3200" dirty="0"/>
          </a:p>
        </p:txBody>
      </p:sp>
      <p:sp>
        <p:nvSpPr>
          <p:cNvPr id="5" name="Text 3"/>
          <p:cNvSpPr txBox="1"/>
          <p:nvPr/>
        </p:nvSpPr>
        <p:spPr>
          <a:xfrm>
            <a:off x="548640" y="4114800"/>
            <a:ext cx="9722815" cy="365760"/>
          </a:xfrm>
          <a:prstGeom prst="rect">
            <a:avLst/>
          </a:prstGeom>
          <a:noFill/>
          <a:ln/>
        </p:spPr>
        <p:txBody>
          <a:bodyPr wrap="square" lIns="0" tIns="0" rIns="0" bIns="0" rtlCol="0" anchor="t"/>
          <a:lstStyle/>
          <a:p>
            <a:pPr marL="0" indent="0">
              <a:buNone/>
            </a:pPr>
            <a:r>
              <a:rPr lang="en-US" sz="1200" dirty="0">
                <a:solidFill>
                  <a:srgbClr val="9BB2D2"/>
                </a:solidFill>
                <a:latin typeface="Calibri" pitchFamily="34" charset="0"/>
                <a:ea typeface="Calibri" pitchFamily="34" charset="-122"/>
                <a:cs typeface="Calibri" pitchFamily="34" charset="-120"/>
              </a:rPr>
              <a:t>Bối cảnh đề tài  ·  Mục tiêu và phạm vi  ·  Danh mục 10 quy trình CNTT  ·  Kiến trúc ba tầng</a:t>
            </a:r>
            <a:endParaRPr lang="en-US" sz="1200" dirty="0"/>
          </a:p>
        </p:txBody>
      </p:sp>
      <p:sp>
        <p:nvSpPr>
          <p:cNvPr id="6" name="Text 4"/>
          <p:cNvSpPr txBox="1"/>
          <p:nvPr/>
        </p:nvSpPr>
        <p:spPr>
          <a:xfrm>
            <a:off x="548640" y="6419088"/>
            <a:ext cx="8778240" cy="237744"/>
          </a:xfrm>
          <a:prstGeom prst="rect">
            <a:avLst/>
          </a:prstGeom>
          <a:noFill/>
          <a:ln/>
        </p:spPr>
        <p:txBody>
          <a:bodyPr wrap="square" lIns="0" tIns="0" rIns="0" bIns="0" rtlCol="0" anchor="t"/>
          <a:lstStyle/>
          <a:p>
            <a:pPr marL="0" indent="0">
              <a:buNone/>
            </a:pPr>
            <a:r>
              <a:rPr lang="en-US" sz="850" dirty="0">
                <a:solidFill>
                  <a:srgbClr val="7089AE"/>
                </a:solidFill>
                <a:latin typeface="Calibri" pitchFamily="34" charset="0"/>
                <a:ea typeface="Calibri" pitchFamily="34" charset="-122"/>
                <a:cs typeface="Calibri" pitchFamily="34" charset="-120"/>
              </a:rPr>
              <a:t>HỆ THỐNG QUẢN TRỊ QUY TRÌNH NGHIỆP VỤ  ·  SACOMBANK — QUY TRÌNH PYC</a:t>
            </a:r>
            <a:endParaRPr lang="en-US" sz="850" dirty="0"/>
          </a:p>
        </p:txBody>
      </p:sp>
      <p:sp>
        <p:nvSpPr>
          <p:cNvPr id="7" name="Text 5"/>
          <p:cNvSpPr txBox="1"/>
          <p:nvPr/>
        </p:nvSpPr>
        <p:spPr>
          <a:xfrm>
            <a:off x="11155680" y="6382512"/>
            <a:ext cx="484632" cy="274320"/>
          </a:xfrm>
          <a:prstGeom prst="rect">
            <a:avLst/>
          </a:prstGeom>
          <a:noFill/>
          <a:ln/>
        </p:spPr>
        <p:txBody>
          <a:bodyPr wrap="square" lIns="0" tIns="0" rIns="0" bIns="0" rtlCol="0" anchor="t"/>
          <a:lstStyle/>
          <a:p>
            <a:pPr marL="0" indent="0" algn="r">
              <a:buNone/>
            </a:pPr>
            <a:r>
              <a:rPr lang="en-US" sz="1100" b="1" dirty="0">
                <a:solidFill>
                  <a:srgbClr val="D9A227"/>
                </a:solidFill>
                <a:latin typeface="Calibri" pitchFamily="34" charset="0"/>
                <a:ea typeface="Calibri" pitchFamily="34" charset="-122"/>
                <a:cs typeface="Calibri" pitchFamily="34" charset="-120"/>
              </a:rPr>
              <a:t>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65760"/>
            <a:ext cx="123444" cy="123444"/>
          </a:xfrm>
          <a:prstGeom prst="ellipse">
            <a:avLst/>
          </a:prstGeom>
          <a:solidFill>
            <a:srgbClr val="D9A227"/>
          </a:solidFill>
          <a:ln w="12700">
            <a:solidFill>
              <a:srgbClr val="D9A227"/>
            </a:solidFill>
            <a:prstDash val="solid"/>
          </a:ln>
        </p:spPr>
        <p:txBody>
          <a:bodyPr/>
          <a:lstStyle/>
          <a:p>
            <a:endParaRPr lang="en-US"/>
          </a:p>
        </p:txBody>
      </p:sp>
      <p:sp>
        <p:nvSpPr>
          <p:cNvPr id="3" name="Text 1"/>
          <p:cNvSpPr txBox="1"/>
          <p:nvPr/>
        </p:nvSpPr>
        <p:spPr>
          <a:xfrm>
            <a:off x="804672" y="292608"/>
            <a:ext cx="10838383" cy="237744"/>
          </a:xfrm>
          <a:prstGeom prst="rect">
            <a:avLst/>
          </a:prstGeom>
          <a:noFill/>
          <a:ln/>
        </p:spPr>
        <p:txBody>
          <a:bodyPr wrap="square" lIns="0" tIns="0" rIns="0" bIns="0" rtlCol="0" anchor="t"/>
          <a:lstStyle/>
          <a:p>
            <a:pPr marL="0" indent="0">
              <a:buNone/>
            </a:pPr>
            <a:r>
              <a:rPr lang="en-US" sz="1050" b="1" kern="0" spc="120" dirty="0">
                <a:solidFill>
                  <a:srgbClr val="A5741A"/>
                </a:solidFill>
                <a:latin typeface="Calibri" pitchFamily="34" charset="0"/>
                <a:ea typeface="Calibri" pitchFamily="34" charset="-122"/>
                <a:cs typeface="Calibri" pitchFamily="34" charset="-120"/>
              </a:rPr>
              <a:t>MỞ ĐẦU · LÝ DO CHỌN ĐỀ TÀI</a:t>
            </a:r>
            <a:endParaRPr lang="en-US" sz="1050" dirty="0"/>
          </a:p>
        </p:txBody>
      </p:sp>
      <p:sp>
        <p:nvSpPr>
          <p:cNvPr id="4" name="Text 2"/>
          <p:cNvSpPr txBox="1"/>
          <p:nvPr/>
        </p:nvSpPr>
        <p:spPr>
          <a:xfrm>
            <a:off x="548640" y="566928"/>
            <a:ext cx="11094415" cy="457200"/>
          </a:xfrm>
          <a:prstGeom prst="rect">
            <a:avLst/>
          </a:prstGeom>
          <a:noFill/>
          <a:ln/>
        </p:spPr>
        <p:txBody>
          <a:bodyPr wrap="square" lIns="0" tIns="0" rIns="0" bIns="0" rtlCol="0" anchor="t"/>
          <a:lstStyle/>
          <a:p>
            <a:pPr marL="0" indent="0">
              <a:buNone/>
            </a:pPr>
            <a:r>
              <a:rPr lang="en-US" sz="2500" b="1" dirty="0">
                <a:solidFill>
                  <a:srgbClr val="0B3B75"/>
                </a:solidFill>
                <a:latin typeface="Calibri" pitchFamily="34" charset="0"/>
                <a:ea typeface="Calibri" pitchFamily="34" charset="-122"/>
                <a:cs typeface="Calibri" pitchFamily="34" charset="-120"/>
              </a:rPr>
              <a:t>BA ĐIỂM NGHẼN THỰC TẾ CỦA QUY TRÌNH PYC</a:t>
            </a:r>
            <a:endParaRPr lang="en-US" sz="2500" dirty="0"/>
          </a:p>
        </p:txBody>
      </p:sp>
      <p:sp>
        <p:nvSpPr>
          <p:cNvPr id="5" name="Text 3"/>
          <p:cNvSpPr txBox="1"/>
          <p:nvPr/>
        </p:nvSpPr>
        <p:spPr>
          <a:xfrm>
            <a:off x="548640" y="1024128"/>
            <a:ext cx="11094415" cy="274320"/>
          </a:xfrm>
          <a:prstGeom prst="rect">
            <a:avLst/>
          </a:prstGeom>
          <a:noFill/>
          <a:ln/>
        </p:spPr>
        <p:txBody>
          <a:bodyPr wrap="square" lIns="0" tIns="0" rIns="0" bIns="0" rtlCol="0" anchor="t"/>
          <a:lstStyle/>
          <a:p>
            <a:pPr marL="0" indent="0">
              <a:buNone/>
            </a:pPr>
            <a:r>
              <a:rPr lang="en-US" sz="1100" i="1" dirty="0">
                <a:solidFill>
                  <a:srgbClr val="6E7A88"/>
                </a:solidFill>
                <a:latin typeface="Calibri" pitchFamily="34" charset="0"/>
                <a:ea typeface="Calibri" pitchFamily="34" charset="-122"/>
                <a:cs typeface="Calibri" pitchFamily="34" charset="-120"/>
              </a:rPr>
              <a:t>Khối CNTT vận hành như một đơn vị cung cấp dịch vụ nội bộ — PYC là điểm chạm thường xuyên nhất với hàng nghìn CBNV</a:t>
            </a:r>
            <a:endParaRPr lang="en-US" sz="1100" dirty="0"/>
          </a:p>
        </p:txBody>
      </p:sp>
      <p:sp>
        <p:nvSpPr>
          <p:cNvPr id="6" name="Text 4"/>
          <p:cNvSpPr txBox="1"/>
          <p:nvPr/>
        </p:nvSpPr>
        <p:spPr>
          <a:xfrm>
            <a:off x="548640" y="6419088"/>
            <a:ext cx="8778240" cy="237744"/>
          </a:xfrm>
          <a:prstGeom prst="rect">
            <a:avLst/>
          </a:prstGeom>
          <a:noFill/>
          <a:ln/>
        </p:spPr>
        <p:txBody>
          <a:bodyPr wrap="square" lIns="0" tIns="0" rIns="0" bIns="0" rtlCol="0" anchor="t"/>
          <a:lstStyle/>
          <a:p>
            <a:pPr marL="0" indent="0">
              <a:buNone/>
            </a:pPr>
            <a:r>
              <a:rPr lang="en-US" sz="850" dirty="0">
                <a:solidFill>
                  <a:srgbClr val="6E7A88"/>
                </a:solidFill>
                <a:latin typeface="Calibri" pitchFamily="34" charset="0"/>
                <a:ea typeface="Calibri" pitchFamily="34" charset="-122"/>
                <a:cs typeface="Calibri" pitchFamily="34" charset="-120"/>
              </a:rPr>
              <a:t>HỆ THỐNG QUẢN TRỊ QUY TRÌNH NGHIỆP VỤ  ·  SACOMBANK — QUY TRÌNH PYC</a:t>
            </a:r>
            <a:endParaRPr lang="en-US" sz="850" dirty="0"/>
          </a:p>
        </p:txBody>
      </p:sp>
      <p:sp>
        <p:nvSpPr>
          <p:cNvPr id="7" name="Text 5"/>
          <p:cNvSpPr txBox="1"/>
          <p:nvPr/>
        </p:nvSpPr>
        <p:spPr>
          <a:xfrm>
            <a:off x="11155680" y="6382512"/>
            <a:ext cx="484632" cy="274320"/>
          </a:xfrm>
          <a:prstGeom prst="rect">
            <a:avLst/>
          </a:prstGeom>
          <a:noFill/>
          <a:ln/>
        </p:spPr>
        <p:txBody>
          <a:bodyPr wrap="square" lIns="0" tIns="0" rIns="0" bIns="0" rtlCol="0" anchor="t"/>
          <a:lstStyle/>
          <a:p>
            <a:pPr marL="0" indent="0" algn="r">
              <a:buNone/>
            </a:pPr>
            <a:r>
              <a:rPr lang="en-US" sz="1100" b="1" dirty="0">
                <a:solidFill>
                  <a:srgbClr val="A5741A"/>
                </a:solidFill>
                <a:latin typeface="Calibri" pitchFamily="34" charset="0"/>
                <a:ea typeface="Calibri" pitchFamily="34" charset="-122"/>
                <a:cs typeface="Calibri" pitchFamily="34" charset="-120"/>
              </a:rPr>
              <a:t>4</a:t>
            </a:r>
            <a:endParaRPr lang="en-US" sz="1100" dirty="0"/>
          </a:p>
        </p:txBody>
      </p:sp>
      <p:sp>
        <p:nvSpPr>
          <p:cNvPr id="8" name="Shape 6"/>
          <p:cNvSpPr/>
          <p:nvPr/>
        </p:nvSpPr>
        <p:spPr>
          <a:xfrm>
            <a:off x="548640" y="1481328"/>
            <a:ext cx="3515258" cy="1481328"/>
          </a:xfrm>
          <a:prstGeom prst="roundRect">
            <a:avLst>
              <a:gd name="adj" fmla="val 3704"/>
            </a:avLst>
          </a:prstGeom>
          <a:solidFill>
            <a:srgbClr val="EFF4FB"/>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9" name="Text 7"/>
          <p:cNvSpPr txBox="1"/>
          <p:nvPr/>
        </p:nvSpPr>
        <p:spPr>
          <a:xfrm>
            <a:off x="731520" y="1609344"/>
            <a:ext cx="3149498" cy="475488"/>
          </a:xfrm>
          <a:prstGeom prst="rect">
            <a:avLst/>
          </a:prstGeom>
          <a:noFill/>
          <a:ln/>
        </p:spPr>
        <p:txBody>
          <a:bodyPr wrap="square" lIns="0" tIns="0" rIns="0" bIns="0" rtlCol="0" anchor="t"/>
          <a:lstStyle/>
          <a:p>
            <a:pPr marL="0" indent="0">
              <a:buNone/>
            </a:pPr>
            <a:r>
              <a:rPr lang="en-US" sz="3000" b="1" dirty="0">
                <a:solidFill>
                  <a:srgbClr val="1660BF"/>
                </a:solidFill>
                <a:latin typeface="Calibri" pitchFamily="34" charset="0"/>
                <a:ea typeface="Calibri" pitchFamily="34" charset="-122"/>
                <a:cs typeface="Calibri" pitchFamily="34" charset="-120"/>
              </a:rPr>
              <a:t>&gt; 8 giờ</a:t>
            </a:r>
            <a:endParaRPr lang="en-US" sz="3000" dirty="0"/>
          </a:p>
        </p:txBody>
      </p:sp>
      <p:sp>
        <p:nvSpPr>
          <p:cNvPr id="10" name="Text 8"/>
          <p:cNvSpPr txBox="1"/>
          <p:nvPr/>
        </p:nvSpPr>
        <p:spPr>
          <a:xfrm>
            <a:off x="731520" y="2084832"/>
            <a:ext cx="3149498" cy="237744"/>
          </a:xfrm>
          <a:prstGeom prst="rect">
            <a:avLst/>
          </a:prstGeom>
          <a:noFill/>
          <a:ln/>
        </p:spPr>
        <p:txBody>
          <a:bodyPr wrap="square" lIns="0" tIns="0" rIns="0" bIns="0" rtlCol="0" anchor="t"/>
          <a:lstStyle/>
          <a:p>
            <a:pPr marL="0" indent="0">
              <a:buNone/>
            </a:pPr>
            <a:r>
              <a:rPr lang="en-US" sz="950" b="1" kern="0" spc="80" dirty="0">
                <a:solidFill>
                  <a:srgbClr val="0B3B75"/>
                </a:solidFill>
                <a:latin typeface="Calibri" pitchFamily="34" charset="0"/>
                <a:ea typeface="Calibri" pitchFamily="34" charset="-122"/>
                <a:cs typeface="Calibri" pitchFamily="34" charset="-120"/>
              </a:rPr>
              <a:t>CHỜ PHÊ DUYỆT</a:t>
            </a:r>
            <a:endParaRPr lang="en-US" sz="950" dirty="0"/>
          </a:p>
        </p:txBody>
      </p:sp>
      <p:sp>
        <p:nvSpPr>
          <p:cNvPr id="11" name="Text 9"/>
          <p:cNvSpPr txBox="1"/>
          <p:nvPr/>
        </p:nvSpPr>
        <p:spPr>
          <a:xfrm>
            <a:off x="731520" y="2340864"/>
            <a:ext cx="3149498" cy="548640"/>
          </a:xfrm>
          <a:prstGeom prst="rect">
            <a:avLst/>
          </a:prstGeom>
          <a:noFill/>
          <a:ln/>
        </p:spPr>
        <p:txBody>
          <a:bodyPr wrap="square" lIns="0" tIns="0" rIns="0" bIns="0" rtlCol="0" anchor="t"/>
          <a:lstStyle/>
          <a:p>
            <a:pPr marL="0" indent="0">
              <a:buNone/>
            </a:pPr>
            <a:r>
              <a:rPr lang="en-US" sz="950" dirty="0">
                <a:solidFill>
                  <a:srgbClr val="6E7A88"/>
                </a:solidFill>
                <a:latin typeface="Calibri" pitchFamily="34" charset="0"/>
                <a:ea typeface="Calibri" pitchFamily="34" charset="-122"/>
                <a:cs typeface="Calibri" pitchFamily="34" charset="-120"/>
              </a:rPr>
              <a:t>Yêu cầu thông thường; riêng yêu cầu liên quan hệ thống lõi T24 có thể kéo dài cả tuần.</a:t>
            </a:r>
            <a:endParaRPr lang="en-US" sz="950" dirty="0"/>
          </a:p>
        </p:txBody>
      </p:sp>
      <p:sp>
        <p:nvSpPr>
          <p:cNvPr id="12" name="Shape 10"/>
          <p:cNvSpPr/>
          <p:nvPr/>
        </p:nvSpPr>
        <p:spPr>
          <a:xfrm>
            <a:off x="4338218" y="1481328"/>
            <a:ext cx="3515258" cy="1481328"/>
          </a:xfrm>
          <a:prstGeom prst="roundRect">
            <a:avLst>
              <a:gd name="adj" fmla="val 3704"/>
            </a:avLst>
          </a:prstGeom>
          <a:solidFill>
            <a:srgbClr val="EFF4FB"/>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13" name="Text 11"/>
          <p:cNvSpPr txBox="1"/>
          <p:nvPr/>
        </p:nvSpPr>
        <p:spPr>
          <a:xfrm>
            <a:off x="4521098" y="1609344"/>
            <a:ext cx="3149498" cy="475488"/>
          </a:xfrm>
          <a:prstGeom prst="rect">
            <a:avLst/>
          </a:prstGeom>
          <a:noFill/>
          <a:ln/>
        </p:spPr>
        <p:txBody>
          <a:bodyPr wrap="square" lIns="0" tIns="0" rIns="0" bIns="0" rtlCol="0" anchor="t"/>
          <a:lstStyle/>
          <a:p>
            <a:pPr marL="0" indent="0">
              <a:buNone/>
            </a:pPr>
            <a:r>
              <a:rPr lang="en-US" sz="3000" b="1" dirty="0">
                <a:solidFill>
                  <a:srgbClr val="C0392B"/>
                </a:solidFill>
                <a:latin typeface="Calibri" pitchFamily="34" charset="0"/>
                <a:ea typeface="Calibri" pitchFamily="34" charset="-122"/>
                <a:cs typeface="Calibri" pitchFamily="34" charset="-120"/>
              </a:rPr>
              <a:t>5 – 10%</a:t>
            </a:r>
            <a:endParaRPr lang="en-US" sz="3000" dirty="0"/>
          </a:p>
        </p:txBody>
      </p:sp>
      <p:sp>
        <p:nvSpPr>
          <p:cNvPr id="14" name="Text 12"/>
          <p:cNvSpPr txBox="1"/>
          <p:nvPr/>
        </p:nvSpPr>
        <p:spPr>
          <a:xfrm>
            <a:off x="4521098" y="2084832"/>
            <a:ext cx="3149498" cy="237744"/>
          </a:xfrm>
          <a:prstGeom prst="rect">
            <a:avLst/>
          </a:prstGeom>
          <a:noFill/>
          <a:ln/>
        </p:spPr>
        <p:txBody>
          <a:bodyPr wrap="square" lIns="0" tIns="0" rIns="0" bIns="0" rtlCol="0" anchor="t"/>
          <a:lstStyle/>
          <a:p>
            <a:pPr marL="0" indent="0">
              <a:buNone/>
            </a:pPr>
            <a:r>
              <a:rPr lang="en-US" sz="950" b="1" kern="0" spc="80" dirty="0">
                <a:solidFill>
                  <a:srgbClr val="0B3B75"/>
                </a:solidFill>
                <a:latin typeface="Calibri" pitchFamily="34" charset="0"/>
                <a:ea typeface="Calibri" pitchFamily="34" charset="-122"/>
                <a:cs typeface="Calibri" pitchFamily="34" charset="-120"/>
              </a:rPr>
              <a:t>PYC VI PHẠM SLA</a:t>
            </a:r>
            <a:endParaRPr lang="en-US" sz="950" dirty="0"/>
          </a:p>
        </p:txBody>
      </p:sp>
      <p:sp>
        <p:nvSpPr>
          <p:cNvPr id="15" name="Text 13"/>
          <p:cNvSpPr txBox="1"/>
          <p:nvPr/>
        </p:nvSpPr>
        <p:spPr>
          <a:xfrm>
            <a:off x="4521098" y="2340864"/>
            <a:ext cx="3149498" cy="548640"/>
          </a:xfrm>
          <a:prstGeom prst="rect">
            <a:avLst/>
          </a:prstGeom>
          <a:noFill/>
          <a:ln/>
        </p:spPr>
        <p:txBody>
          <a:bodyPr wrap="square" lIns="0" tIns="0" rIns="0" bIns="0" rtlCol="0" anchor="t"/>
          <a:lstStyle/>
          <a:p>
            <a:pPr marL="0" indent="0">
              <a:buNone/>
            </a:pPr>
            <a:r>
              <a:rPr lang="en-US" sz="950" dirty="0">
                <a:solidFill>
                  <a:srgbClr val="6E7A88"/>
                </a:solidFill>
                <a:latin typeface="Calibri" pitchFamily="34" charset="0"/>
                <a:ea typeface="Calibri" pitchFamily="34" charset="-122"/>
                <a:cs typeface="Calibri" pitchFamily="34" charset="-120"/>
              </a:rPr>
              <a:t>Tỷ lệ trễ hạn cam kết, tăng cao vào mùa cao điểm triển khai dự án hoặc quyết toán hệ thống.</a:t>
            </a:r>
            <a:endParaRPr lang="en-US" sz="950" dirty="0"/>
          </a:p>
        </p:txBody>
      </p:sp>
      <p:sp>
        <p:nvSpPr>
          <p:cNvPr id="16" name="Shape 14"/>
          <p:cNvSpPr/>
          <p:nvPr/>
        </p:nvSpPr>
        <p:spPr>
          <a:xfrm>
            <a:off x="8127797" y="1481328"/>
            <a:ext cx="3515258" cy="1481328"/>
          </a:xfrm>
          <a:prstGeom prst="roundRect">
            <a:avLst>
              <a:gd name="adj" fmla="val 3704"/>
            </a:avLst>
          </a:prstGeom>
          <a:solidFill>
            <a:srgbClr val="EFF4FB"/>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17" name="Text 15"/>
          <p:cNvSpPr txBox="1"/>
          <p:nvPr/>
        </p:nvSpPr>
        <p:spPr>
          <a:xfrm>
            <a:off x="8310677" y="1609344"/>
            <a:ext cx="3149498" cy="475488"/>
          </a:xfrm>
          <a:prstGeom prst="rect">
            <a:avLst/>
          </a:prstGeom>
          <a:noFill/>
          <a:ln/>
        </p:spPr>
        <p:txBody>
          <a:bodyPr wrap="square" lIns="0" tIns="0" rIns="0" bIns="0" rtlCol="0" anchor="t"/>
          <a:lstStyle/>
          <a:p>
            <a:pPr marL="0" indent="0">
              <a:buNone/>
            </a:pPr>
            <a:r>
              <a:rPr lang="en-US" sz="3000" b="1" dirty="0">
                <a:solidFill>
                  <a:srgbClr val="A5741A"/>
                </a:solidFill>
                <a:latin typeface="Calibri" pitchFamily="34" charset="0"/>
                <a:ea typeface="Calibri" pitchFamily="34" charset="-122"/>
                <a:cs typeface="Calibri" pitchFamily="34" charset="-120"/>
              </a:rPr>
              <a:t>20 – 50%</a:t>
            </a:r>
            <a:endParaRPr lang="en-US" sz="3000" dirty="0"/>
          </a:p>
        </p:txBody>
      </p:sp>
      <p:sp>
        <p:nvSpPr>
          <p:cNvPr id="18" name="Text 16"/>
          <p:cNvSpPr txBox="1"/>
          <p:nvPr/>
        </p:nvSpPr>
        <p:spPr>
          <a:xfrm>
            <a:off x="8310677" y="2084832"/>
            <a:ext cx="3149498" cy="237744"/>
          </a:xfrm>
          <a:prstGeom prst="rect">
            <a:avLst/>
          </a:prstGeom>
          <a:noFill/>
          <a:ln/>
        </p:spPr>
        <p:txBody>
          <a:bodyPr wrap="square" lIns="0" tIns="0" rIns="0" bIns="0" rtlCol="0" anchor="t"/>
          <a:lstStyle/>
          <a:p>
            <a:pPr marL="0" indent="0">
              <a:buNone/>
            </a:pPr>
            <a:r>
              <a:rPr lang="en-US" sz="950" b="1" kern="0" spc="80" dirty="0">
                <a:solidFill>
                  <a:srgbClr val="0B3B75"/>
                </a:solidFill>
                <a:latin typeface="Calibri" pitchFamily="34" charset="0"/>
                <a:ea typeface="Calibri" pitchFamily="34" charset="-122"/>
                <a:cs typeface="Calibri" pitchFamily="34" charset="-120"/>
              </a:rPr>
              <a:t>HỒ SƠ BỊ TRẢ VỀ</a:t>
            </a:r>
            <a:endParaRPr lang="en-US" sz="950" dirty="0"/>
          </a:p>
        </p:txBody>
      </p:sp>
      <p:sp>
        <p:nvSpPr>
          <p:cNvPr id="19" name="Text 17"/>
          <p:cNvSpPr txBox="1"/>
          <p:nvPr/>
        </p:nvSpPr>
        <p:spPr>
          <a:xfrm>
            <a:off x="8310677" y="2340864"/>
            <a:ext cx="3149498" cy="548640"/>
          </a:xfrm>
          <a:prstGeom prst="rect">
            <a:avLst/>
          </a:prstGeom>
          <a:noFill/>
          <a:ln/>
        </p:spPr>
        <p:txBody>
          <a:bodyPr wrap="square" lIns="0" tIns="0" rIns="0" bIns="0" rtlCol="0" anchor="t"/>
          <a:lstStyle/>
          <a:p>
            <a:pPr marL="0" indent="0">
              <a:buNone/>
            </a:pPr>
            <a:r>
              <a:rPr lang="en-US" sz="950" dirty="0">
                <a:solidFill>
                  <a:srgbClr val="6E7A88"/>
                </a:solidFill>
                <a:latin typeface="Calibri" pitchFamily="34" charset="0"/>
                <a:ea typeface="Calibri" pitchFamily="34" charset="-122"/>
                <a:cs typeface="Calibri" pitchFamily="34" charset="-120"/>
              </a:rPr>
              <a:t>PYC phải quay lại người dùng để bổ sung thông tin — vòng lặp rework tốn thời gian nhất.</a:t>
            </a:r>
            <a:endParaRPr lang="en-US" sz="950" dirty="0"/>
          </a:p>
        </p:txBody>
      </p:sp>
      <p:sp>
        <p:nvSpPr>
          <p:cNvPr id="20" name="Shape 18"/>
          <p:cNvSpPr/>
          <p:nvPr/>
        </p:nvSpPr>
        <p:spPr>
          <a:xfrm>
            <a:off x="548640" y="3218688"/>
            <a:ext cx="11094415" cy="1207008"/>
          </a:xfrm>
          <a:prstGeom prst="roundRect">
            <a:avLst>
              <a:gd name="adj" fmla="val 4545"/>
            </a:avLst>
          </a:prstGeom>
          <a:solidFill>
            <a:srgbClr val="EFF4FB"/>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21" name="Text 19"/>
          <p:cNvSpPr txBox="1"/>
          <p:nvPr/>
        </p:nvSpPr>
        <p:spPr>
          <a:xfrm>
            <a:off x="768096" y="3364992"/>
            <a:ext cx="3657600" cy="237744"/>
          </a:xfrm>
          <a:prstGeom prst="rect">
            <a:avLst/>
          </a:prstGeom>
          <a:noFill/>
          <a:ln/>
        </p:spPr>
        <p:txBody>
          <a:bodyPr wrap="square" lIns="0" tIns="0" rIns="0" bIns="0" rtlCol="0" anchor="t"/>
          <a:lstStyle/>
          <a:p>
            <a:pPr marL="0" indent="0">
              <a:buNone/>
            </a:pPr>
            <a:r>
              <a:rPr lang="en-US" sz="1000" b="1" kern="0" spc="100" dirty="0">
                <a:solidFill>
                  <a:srgbClr val="1660BF"/>
                </a:solidFill>
                <a:latin typeface="Calibri" pitchFamily="34" charset="0"/>
                <a:ea typeface="Calibri" pitchFamily="34" charset="-122"/>
                <a:cs typeface="Calibri" pitchFamily="34" charset="-120"/>
              </a:rPr>
              <a:t>NGUỒN GỐC VẤN ĐỀ</a:t>
            </a:r>
            <a:endParaRPr lang="en-US" sz="1000" dirty="0"/>
          </a:p>
        </p:txBody>
      </p:sp>
      <p:sp>
        <p:nvSpPr>
          <p:cNvPr id="22" name="Text 20"/>
          <p:cNvSpPr txBox="1"/>
          <p:nvPr/>
        </p:nvSpPr>
        <p:spPr>
          <a:xfrm>
            <a:off x="768096" y="3639312"/>
            <a:ext cx="10655503" cy="676656"/>
          </a:xfrm>
          <a:prstGeom prst="rect">
            <a:avLst/>
          </a:prstGeom>
          <a:noFill/>
          <a:ln/>
        </p:spPr>
        <p:txBody>
          <a:bodyPr wrap="square" lIns="0" tIns="0" rIns="0" bIns="0" rtlCol="0" anchor="t"/>
          <a:lstStyle/>
          <a:p>
            <a:pPr marL="0" indent="0">
              <a:buNone/>
            </a:pPr>
            <a:r>
              <a:rPr lang="en-US" sz="1150" dirty="0">
                <a:solidFill>
                  <a:srgbClr val="2A3442"/>
                </a:solidFill>
                <a:latin typeface="Calibri" pitchFamily="34" charset="0"/>
                <a:ea typeface="Calibri" pitchFamily="34" charset="-122"/>
                <a:cs typeface="Calibri" pitchFamily="34" charset="-120"/>
              </a:rPr>
              <a:t>Một quy trình còn nặng tính thủ công, thiếu chuẩn hóa và chưa được mô hình hóa bài bản. Đề tài vận dụng chuẩn BPMN 2.0 kết hợp tư duy quản lý tinh gọn (Lean Management) để phân tích căn nguyên lãng phí và đề xuất mô hình cải tiến TO-BE khả thi cho Khối CNTT Sacombank.</a:t>
            </a:r>
            <a:endParaRPr lang="en-US" sz="1150" dirty="0"/>
          </a:p>
        </p:txBody>
      </p:sp>
      <p:sp>
        <p:nvSpPr>
          <p:cNvPr id="23" name="Text 21"/>
          <p:cNvSpPr txBox="1"/>
          <p:nvPr/>
        </p:nvSpPr>
        <p:spPr>
          <a:xfrm>
            <a:off x="548640" y="4626864"/>
            <a:ext cx="4572000" cy="237744"/>
          </a:xfrm>
          <a:prstGeom prst="rect">
            <a:avLst/>
          </a:prstGeom>
          <a:noFill/>
          <a:ln/>
        </p:spPr>
        <p:txBody>
          <a:bodyPr wrap="square" lIns="0" tIns="0" rIns="0" bIns="0" rtlCol="0" anchor="t"/>
          <a:lstStyle/>
          <a:p>
            <a:pPr marL="0" indent="0">
              <a:buNone/>
            </a:pPr>
            <a:r>
              <a:rPr lang="en-US" sz="1000" b="1" kern="0" spc="100" dirty="0">
                <a:solidFill>
                  <a:srgbClr val="1660BF"/>
                </a:solidFill>
                <a:latin typeface="Calibri" pitchFamily="34" charset="0"/>
                <a:ea typeface="Calibri" pitchFamily="34" charset="-122"/>
                <a:cs typeface="Calibri" pitchFamily="34" charset="-120"/>
              </a:rPr>
              <a:t>ĐỐI TƯỢNG NGHIÊN CỨU</a:t>
            </a:r>
            <a:endParaRPr lang="en-US" sz="1000" dirty="0"/>
          </a:p>
        </p:txBody>
      </p:sp>
      <p:sp>
        <p:nvSpPr>
          <p:cNvPr id="24" name="Text 22"/>
          <p:cNvSpPr txBox="1"/>
          <p:nvPr/>
        </p:nvSpPr>
        <p:spPr>
          <a:xfrm>
            <a:off x="548640" y="4882896"/>
            <a:ext cx="5364328" cy="548640"/>
          </a:xfrm>
          <a:prstGeom prst="rect">
            <a:avLst/>
          </a:prstGeom>
          <a:noFill/>
          <a:ln/>
        </p:spPr>
        <p:txBody>
          <a:bodyPr wrap="square" lIns="0" tIns="0" rIns="0" bIns="0" rtlCol="0" anchor="t"/>
          <a:lstStyle/>
          <a:p>
            <a:pPr marL="0" indent="0">
              <a:buNone/>
            </a:pPr>
            <a:r>
              <a:rPr lang="en-US" sz="1100" dirty="0">
                <a:solidFill>
                  <a:srgbClr val="2A3442"/>
                </a:solidFill>
                <a:latin typeface="Calibri" pitchFamily="34" charset="0"/>
                <a:ea typeface="Calibri" pitchFamily="34" charset="-122"/>
                <a:cs typeface="Calibri" pitchFamily="34" charset="-120"/>
              </a:rPr>
              <a:t>Quy trình Quản lý Yêu cầu Dịch vụ (PYC) — quy trình cốt lõi trong hệ thống 10 quy trình nghiệp vụ của Khối CNTT Sacombank.</a:t>
            </a:r>
            <a:endParaRPr lang="en-US" sz="1100" dirty="0"/>
          </a:p>
        </p:txBody>
      </p:sp>
      <p:sp>
        <p:nvSpPr>
          <p:cNvPr id="25" name="Text 23"/>
          <p:cNvSpPr txBox="1"/>
          <p:nvPr/>
        </p:nvSpPr>
        <p:spPr>
          <a:xfrm>
            <a:off x="6278728" y="4626864"/>
            <a:ext cx="4572000" cy="237744"/>
          </a:xfrm>
          <a:prstGeom prst="rect">
            <a:avLst/>
          </a:prstGeom>
          <a:noFill/>
          <a:ln/>
        </p:spPr>
        <p:txBody>
          <a:bodyPr wrap="square" lIns="0" tIns="0" rIns="0" bIns="0" rtlCol="0" anchor="t"/>
          <a:lstStyle/>
          <a:p>
            <a:pPr marL="0" indent="0">
              <a:buNone/>
            </a:pPr>
            <a:r>
              <a:rPr lang="en-US" sz="1000" b="1" kern="0" spc="100" dirty="0">
                <a:solidFill>
                  <a:srgbClr val="1660BF"/>
                </a:solidFill>
                <a:latin typeface="Calibri" pitchFamily="34" charset="0"/>
                <a:ea typeface="Calibri" pitchFamily="34" charset="-122"/>
                <a:cs typeface="Calibri" pitchFamily="34" charset="-120"/>
              </a:rPr>
              <a:t>BỐN BÊN LIÊN QUAN TRONG PHẠM VI</a:t>
            </a:r>
            <a:endParaRPr lang="en-US" sz="1000" dirty="0"/>
          </a:p>
        </p:txBody>
      </p:sp>
      <p:sp>
        <p:nvSpPr>
          <p:cNvPr id="26" name="Text 24"/>
          <p:cNvSpPr txBox="1"/>
          <p:nvPr/>
        </p:nvSpPr>
        <p:spPr>
          <a:xfrm>
            <a:off x="6278728" y="4882896"/>
            <a:ext cx="5364328" cy="548640"/>
          </a:xfrm>
          <a:prstGeom prst="rect">
            <a:avLst/>
          </a:prstGeom>
          <a:noFill/>
          <a:ln/>
        </p:spPr>
        <p:txBody>
          <a:bodyPr wrap="square" lIns="0" tIns="0" rIns="0" bIns="0" rtlCol="0" anchor="t"/>
          <a:lstStyle/>
          <a:p>
            <a:pPr marL="0" indent="0">
              <a:buNone/>
            </a:pPr>
            <a:r>
              <a:rPr lang="en-US" sz="1100" dirty="0">
                <a:solidFill>
                  <a:srgbClr val="2A3442"/>
                </a:solidFill>
                <a:latin typeface="Calibri" pitchFamily="34" charset="0"/>
                <a:ea typeface="Calibri" pitchFamily="34" charset="-122"/>
                <a:cs typeface="Calibri" pitchFamily="34" charset="-120"/>
              </a:rPr>
              <a:t>Người dùng cuối (End-user)  ·  Quản lý trực tiếp  ·  Service Desk Level 1  ·  Đội ngũ kỹ thuật Level 2 — từ khi khởi tạo yêu cầu đến khi phiếu được đóng và xác nhận hoàn thành.</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65760"/>
            <a:ext cx="123444" cy="123444"/>
          </a:xfrm>
          <a:prstGeom prst="ellipse">
            <a:avLst/>
          </a:prstGeom>
          <a:solidFill>
            <a:srgbClr val="D9A227"/>
          </a:solidFill>
          <a:ln w="12700">
            <a:solidFill>
              <a:srgbClr val="D9A227"/>
            </a:solidFill>
            <a:prstDash val="solid"/>
          </a:ln>
        </p:spPr>
        <p:txBody>
          <a:bodyPr/>
          <a:lstStyle/>
          <a:p>
            <a:endParaRPr lang="en-US"/>
          </a:p>
        </p:txBody>
      </p:sp>
      <p:sp>
        <p:nvSpPr>
          <p:cNvPr id="3" name="Text 1"/>
          <p:cNvSpPr txBox="1"/>
          <p:nvPr/>
        </p:nvSpPr>
        <p:spPr>
          <a:xfrm>
            <a:off x="804672" y="292608"/>
            <a:ext cx="10838383" cy="237744"/>
          </a:xfrm>
          <a:prstGeom prst="rect">
            <a:avLst/>
          </a:prstGeom>
          <a:noFill/>
          <a:ln/>
        </p:spPr>
        <p:txBody>
          <a:bodyPr wrap="square" lIns="0" tIns="0" rIns="0" bIns="0" rtlCol="0" anchor="t"/>
          <a:lstStyle/>
          <a:p>
            <a:pPr marL="0" indent="0">
              <a:buNone/>
            </a:pPr>
            <a:r>
              <a:rPr lang="en-US" sz="1050" b="1" kern="0" spc="120" dirty="0">
                <a:solidFill>
                  <a:srgbClr val="A5741A"/>
                </a:solidFill>
                <a:latin typeface="Calibri" pitchFamily="34" charset="0"/>
                <a:ea typeface="Calibri" pitchFamily="34" charset="-122"/>
                <a:cs typeface="Calibri" pitchFamily="34" charset="-120"/>
              </a:rPr>
              <a:t>MỞ ĐẦU · MỤC TIÊU VÀ PHẠM VI</a:t>
            </a:r>
            <a:endParaRPr lang="en-US" sz="1050" dirty="0"/>
          </a:p>
        </p:txBody>
      </p:sp>
      <p:sp>
        <p:nvSpPr>
          <p:cNvPr id="4" name="Text 2"/>
          <p:cNvSpPr txBox="1"/>
          <p:nvPr/>
        </p:nvSpPr>
        <p:spPr>
          <a:xfrm>
            <a:off x="548640" y="566928"/>
            <a:ext cx="11094415" cy="457200"/>
          </a:xfrm>
          <a:prstGeom prst="rect">
            <a:avLst/>
          </a:prstGeom>
          <a:noFill/>
          <a:ln/>
        </p:spPr>
        <p:txBody>
          <a:bodyPr wrap="square" lIns="0" tIns="0" rIns="0" bIns="0" rtlCol="0" anchor="t"/>
          <a:lstStyle/>
          <a:p>
            <a:pPr marL="0" indent="0">
              <a:buNone/>
            </a:pPr>
            <a:r>
              <a:rPr lang="en-US" sz="2500" b="1" dirty="0">
                <a:solidFill>
                  <a:srgbClr val="0B3B75"/>
                </a:solidFill>
                <a:latin typeface="Calibri" pitchFamily="34" charset="0"/>
                <a:ea typeface="Calibri" pitchFamily="34" charset="-122"/>
                <a:cs typeface="Calibri" pitchFamily="34" charset="-120"/>
              </a:rPr>
              <a:t>MỤC TIÊU NGHIÊN CỨU VÀ RANH GIỚI ĐỀ TÀI</a:t>
            </a:r>
            <a:endParaRPr lang="en-US" sz="2500" dirty="0"/>
          </a:p>
        </p:txBody>
      </p:sp>
      <p:sp>
        <p:nvSpPr>
          <p:cNvPr id="5" name="Text 3"/>
          <p:cNvSpPr txBox="1"/>
          <p:nvPr/>
        </p:nvSpPr>
        <p:spPr>
          <a:xfrm>
            <a:off x="548640" y="6419088"/>
            <a:ext cx="8778240" cy="237744"/>
          </a:xfrm>
          <a:prstGeom prst="rect">
            <a:avLst/>
          </a:prstGeom>
          <a:noFill/>
          <a:ln/>
        </p:spPr>
        <p:txBody>
          <a:bodyPr wrap="square" lIns="0" tIns="0" rIns="0" bIns="0" rtlCol="0" anchor="t"/>
          <a:lstStyle/>
          <a:p>
            <a:pPr marL="0" indent="0">
              <a:buNone/>
            </a:pPr>
            <a:r>
              <a:rPr lang="en-US" sz="850" dirty="0">
                <a:solidFill>
                  <a:srgbClr val="6E7A88"/>
                </a:solidFill>
                <a:latin typeface="Calibri" pitchFamily="34" charset="0"/>
                <a:ea typeface="Calibri" pitchFamily="34" charset="-122"/>
                <a:cs typeface="Calibri" pitchFamily="34" charset="-120"/>
              </a:rPr>
              <a:t>HỆ THỐNG QUẢN TRỊ QUY TRÌNH NGHIỆP VỤ  ·  SACOMBANK — QUY TRÌNH PYC</a:t>
            </a:r>
            <a:endParaRPr lang="en-US" sz="850" dirty="0"/>
          </a:p>
        </p:txBody>
      </p:sp>
      <p:sp>
        <p:nvSpPr>
          <p:cNvPr id="6" name="Text 4"/>
          <p:cNvSpPr txBox="1"/>
          <p:nvPr/>
        </p:nvSpPr>
        <p:spPr>
          <a:xfrm>
            <a:off x="11155680" y="6382512"/>
            <a:ext cx="484632" cy="274320"/>
          </a:xfrm>
          <a:prstGeom prst="rect">
            <a:avLst/>
          </a:prstGeom>
          <a:noFill/>
          <a:ln/>
        </p:spPr>
        <p:txBody>
          <a:bodyPr wrap="square" lIns="0" tIns="0" rIns="0" bIns="0" rtlCol="0" anchor="t"/>
          <a:lstStyle/>
          <a:p>
            <a:pPr marL="0" indent="0" algn="r">
              <a:buNone/>
            </a:pPr>
            <a:r>
              <a:rPr lang="en-US" sz="1100" b="1" dirty="0">
                <a:solidFill>
                  <a:srgbClr val="A5741A"/>
                </a:solidFill>
                <a:latin typeface="Calibri" pitchFamily="34" charset="0"/>
                <a:ea typeface="Calibri" pitchFamily="34" charset="-122"/>
                <a:cs typeface="Calibri" pitchFamily="34" charset="-120"/>
              </a:rPr>
              <a:t>5</a:t>
            </a:r>
            <a:endParaRPr lang="en-US" sz="1100" dirty="0"/>
          </a:p>
        </p:txBody>
      </p:sp>
      <p:sp>
        <p:nvSpPr>
          <p:cNvPr id="7" name="Text 5"/>
          <p:cNvSpPr txBox="1"/>
          <p:nvPr/>
        </p:nvSpPr>
        <p:spPr>
          <a:xfrm>
            <a:off x="548640" y="1371600"/>
            <a:ext cx="5486400" cy="256032"/>
          </a:xfrm>
          <a:prstGeom prst="rect">
            <a:avLst/>
          </a:prstGeom>
          <a:noFill/>
          <a:ln/>
        </p:spPr>
        <p:txBody>
          <a:bodyPr wrap="square" lIns="0" tIns="0" rIns="0" bIns="0" rtlCol="0" anchor="t"/>
          <a:lstStyle/>
          <a:p>
            <a:pPr marL="0" indent="0">
              <a:buNone/>
            </a:pPr>
            <a:r>
              <a:rPr lang="en-US" sz="1100" b="1" kern="0" spc="100" dirty="0">
                <a:solidFill>
                  <a:srgbClr val="1660BF"/>
                </a:solidFill>
                <a:latin typeface="Calibri" pitchFamily="34" charset="0"/>
                <a:ea typeface="Calibri" pitchFamily="34" charset="-122"/>
                <a:cs typeface="Calibri" pitchFamily="34" charset="-120"/>
              </a:rPr>
              <a:t>BỐN MỤC TIÊU NGHIÊN CỨU</a:t>
            </a:r>
            <a:endParaRPr lang="en-US" sz="1100" dirty="0"/>
          </a:p>
        </p:txBody>
      </p:sp>
      <p:sp>
        <p:nvSpPr>
          <p:cNvPr id="8" name="Shape 6"/>
          <p:cNvSpPr/>
          <p:nvPr/>
        </p:nvSpPr>
        <p:spPr>
          <a:xfrm>
            <a:off x="548640" y="1737360"/>
            <a:ext cx="384048" cy="384048"/>
          </a:xfrm>
          <a:prstGeom prst="ellipse">
            <a:avLst/>
          </a:prstGeom>
          <a:solidFill>
            <a:srgbClr val="D9A227"/>
          </a:solidFill>
          <a:ln w="12700">
            <a:solidFill>
              <a:srgbClr val="D9A227"/>
            </a:solidFill>
            <a:prstDash val="solid"/>
          </a:ln>
        </p:spPr>
        <p:txBody>
          <a:bodyPr/>
          <a:lstStyle/>
          <a:p>
            <a:endParaRPr lang="en-US"/>
          </a:p>
        </p:txBody>
      </p:sp>
      <p:sp>
        <p:nvSpPr>
          <p:cNvPr id="9" name="Text 7"/>
          <p:cNvSpPr txBox="1"/>
          <p:nvPr/>
        </p:nvSpPr>
        <p:spPr>
          <a:xfrm>
            <a:off x="548640" y="1773936"/>
            <a:ext cx="384048" cy="310896"/>
          </a:xfrm>
          <a:prstGeom prst="rect">
            <a:avLst/>
          </a:prstGeom>
          <a:noFill/>
          <a:ln/>
        </p:spPr>
        <p:txBody>
          <a:bodyPr wrap="square" lIns="0" tIns="0" rIns="0" bIns="0" rtlCol="0" anchor="t"/>
          <a:lstStyle/>
          <a:p>
            <a:pPr marL="0" indent="0" algn="ctr">
              <a:buNone/>
            </a:pPr>
            <a:r>
              <a:rPr lang="en-US" sz="1200" b="1" dirty="0">
                <a:solidFill>
                  <a:srgbClr val="0B3B75"/>
                </a:solidFill>
                <a:latin typeface="Calibri" pitchFamily="34" charset="0"/>
                <a:ea typeface="Calibri" pitchFamily="34" charset="-122"/>
                <a:cs typeface="Calibri" pitchFamily="34" charset="-120"/>
              </a:rPr>
              <a:t>1</a:t>
            </a:r>
            <a:endParaRPr lang="en-US" sz="1200" dirty="0"/>
          </a:p>
        </p:txBody>
      </p:sp>
      <p:sp>
        <p:nvSpPr>
          <p:cNvPr id="10" name="Text 8"/>
          <p:cNvSpPr txBox="1"/>
          <p:nvPr/>
        </p:nvSpPr>
        <p:spPr>
          <a:xfrm>
            <a:off x="1078992" y="1719072"/>
            <a:ext cx="5504688" cy="256032"/>
          </a:xfrm>
          <a:prstGeom prst="rect">
            <a:avLst/>
          </a:prstGeom>
          <a:noFill/>
          <a:ln/>
        </p:spPr>
        <p:txBody>
          <a:bodyPr wrap="square" lIns="0" tIns="0" rIns="0" bIns="0" rtlCol="0" anchor="t"/>
          <a:lstStyle/>
          <a:p>
            <a:pPr marL="0" indent="0">
              <a:buNone/>
            </a:pPr>
            <a:r>
              <a:rPr lang="en-US" sz="1250" b="1" dirty="0">
                <a:solidFill>
                  <a:srgbClr val="0B3B75"/>
                </a:solidFill>
                <a:latin typeface="Calibri" pitchFamily="34" charset="0"/>
                <a:ea typeface="Calibri" pitchFamily="34" charset="-122"/>
                <a:cs typeface="Calibri" pitchFamily="34" charset="-120"/>
              </a:rPr>
              <a:t>Hệ thống hóa kiến trúc quy trình</a:t>
            </a:r>
            <a:endParaRPr lang="en-US" sz="1250" dirty="0"/>
          </a:p>
        </p:txBody>
      </p:sp>
      <p:sp>
        <p:nvSpPr>
          <p:cNvPr id="11" name="Text 9"/>
          <p:cNvSpPr txBox="1"/>
          <p:nvPr/>
        </p:nvSpPr>
        <p:spPr>
          <a:xfrm>
            <a:off x="1078992" y="1975104"/>
            <a:ext cx="5504688" cy="457200"/>
          </a:xfrm>
          <a:prstGeom prst="rect">
            <a:avLst/>
          </a:prstGeom>
          <a:noFill/>
          <a:ln/>
        </p:spPr>
        <p:txBody>
          <a:bodyPr wrap="square" lIns="0" tIns="0" rIns="0" bIns="0" rtlCol="0" anchor="t"/>
          <a:lstStyle/>
          <a:p>
            <a:pPr marL="0" indent="0">
              <a:buNone/>
            </a:pPr>
            <a:r>
              <a:rPr lang="en-US" sz="1000" dirty="0">
                <a:solidFill>
                  <a:srgbClr val="6E7A88"/>
                </a:solidFill>
                <a:latin typeface="Calibri" pitchFamily="34" charset="0"/>
                <a:ea typeface="Calibri" pitchFamily="34" charset="-122"/>
                <a:cs typeface="Calibri" pitchFamily="34" charset="-120"/>
              </a:rPr>
              <a:t>Xác định vị trí và quan hệ tương hỗ của PYC trong tổng thể 10 quy trình thuộc ba nhóm Quản lý – Cốt lõi – Hỗ trợ.</a:t>
            </a:r>
            <a:endParaRPr lang="en-US" sz="1000" dirty="0"/>
          </a:p>
        </p:txBody>
      </p:sp>
      <p:sp>
        <p:nvSpPr>
          <p:cNvPr id="12" name="Shape 10"/>
          <p:cNvSpPr/>
          <p:nvPr/>
        </p:nvSpPr>
        <p:spPr>
          <a:xfrm>
            <a:off x="548640" y="2523744"/>
            <a:ext cx="384048" cy="384048"/>
          </a:xfrm>
          <a:prstGeom prst="ellipse">
            <a:avLst/>
          </a:prstGeom>
          <a:solidFill>
            <a:srgbClr val="D9A227"/>
          </a:solidFill>
          <a:ln w="12700">
            <a:solidFill>
              <a:srgbClr val="D9A227"/>
            </a:solidFill>
            <a:prstDash val="solid"/>
          </a:ln>
        </p:spPr>
        <p:txBody>
          <a:bodyPr/>
          <a:lstStyle/>
          <a:p>
            <a:endParaRPr lang="en-US"/>
          </a:p>
        </p:txBody>
      </p:sp>
      <p:sp>
        <p:nvSpPr>
          <p:cNvPr id="13" name="Text 11"/>
          <p:cNvSpPr txBox="1"/>
          <p:nvPr/>
        </p:nvSpPr>
        <p:spPr>
          <a:xfrm>
            <a:off x="548640" y="2560320"/>
            <a:ext cx="384048" cy="310896"/>
          </a:xfrm>
          <a:prstGeom prst="rect">
            <a:avLst/>
          </a:prstGeom>
          <a:noFill/>
          <a:ln/>
        </p:spPr>
        <p:txBody>
          <a:bodyPr wrap="square" lIns="0" tIns="0" rIns="0" bIns="0" rtlCol="0" anchor="t"/>
          <a:lstStyle/>
          <a:p>
            <a:pPr marL="0" indent="0" algn="ctr">
              <a:buNone/>
            </a:pPr>
            <a:r>
              <a:rPr lang="en-US" sz="1200" b="1" dirty="0">
                <a:solidFill>
                  <a:srgbClr val="0B3B75"/>
                </a:solidFill>
                <a:latin typeface="Calibri" pitchFamily="34" charset="0"/>
                <a:ea typeface="Calibri" pitchFamily="34" charset="-122"/>
                <a:cs typeface="Calibri" pitchFamily="34" charset="-120"/>
              </a:rPr>
              <a:t>2</a:t>
            </a:r>
            <a:endParaRPr lang="en-US" sz="1200" dirty="0"/>
          </a:p>
        </p:txBody>
      </p:sp>
      <p:sp>
        <p:nvSpPr>
          <p:cNvPr id="14" name="Text 12"/>
          <p:cNvSpPr txBox="1"/>
          <p:nvPr/>
        </p:nvSpPr>
        <p:spPr>
          <a:xfrm>
            <a:off x="1078992" y="2505456"/>
            <a:ext cx="5504688" cy="256032"/>
          </a:xfrm>
          <a:prstGeom prst="rect">
            <a:avLst/>
          </a:prstGeom>
          <a:noFill/>
          <a:ln/>
        </p:spPr>
        <p:txBody>
          <a:bodyPr wrap="square" lIns="0" tIns="0" rIns="0" bIns="0" rtlCol="0" anchor="t"/>
          <a:lstStyle/>
          <a:p>
            <a:pPr marL="0" indent="0">
              <a:buNone/>
            </a:pPr>
            <a:r>
              <a:rPr lang="en-US" sz="1250" b="1" dirty="0">
                <a:solidFill>
                  <a:srgbClr val="0B3B75"/>
                </a:solidFill>
                <a:latin typeface="Calibri" pitchFamily="34" charset="0"/>
                <a:ea typeface="Calibri" pitchFamily="34" charset="-122"/>
                <a:cs typeface="Calibri" pitchFamily="34" charset="-120"/>
              </a:rPr>
              <a:t>Mô hình hóa hiện trạng AS-IS</a:t>
            </a:r>
            <a:endParaRPr lang="en-US" sz="1250" dirty="0"/>
          </a:p>
        </p:txBody>
      </p:sp>
      <p:sp>
        <p:nvSpPr>
          <p:cNvPr id="15" name="Text 13"/>
          <p:cNvSpPr txBox="1"/>
          <p:nvPr/>
        </p:nvSpPr>
        <p:spPr>
          <a:xfrm>
            <a:off x="1078992" y="2761488"/>
            <a:ext cx="5504688" cy="457200"/>
          </a:xfrm>
          <a:prstGeom prst="rect">
            <a:avLst/>
          </a:prstGeom>
          <a:noFill/>
          <a:ln/>
        </p:spPr>
        <p:txBody>
          <a:bodyPr wrap="square" lIns="0" tIns="0" rIns="0" bIns="0" rtlCol="0" anchor="t"/>
          <a:lstStyle/>
          <a:p>
            <a:pPr marL="0" indent="0">
              <a:buNone/>
            </a:pPr>
            <a:r>
              <a:rPr lang="en-US" sz="1000" dirty="0">
                <a:solidFill>
                  <a:srgbClr val="6E7A88"/>
                </a:solidFill>
                <a:latin typeface="Calibri" pitchFamily="34" charset="0"/>
                <a:ea typeface="Calibri" pitchFamily="34" charset="-122"/>
                <a:cs typeface="Calibri" pitchFamily="34" charset="-120"/>
              </a:rPr>
              <a:t>Phản ánh trung thực luồng nghiệp vụ đang vận hành theo chuẩn BPMN 2.0 (công cụ Camunda).</a:t>
            </a:r>
            <a:endParaRPr lang="en-US" sz="1000" dirty="0"/>
          </a:p>
        </p:txBody>
      </p:sp>
      <p:sp>
        <p:nvSpPr>
          <p:cNvPr id="16" name="Shape 14"/>
          <p:cNvSpPr/>
          <p:nvPr/>
        </p:nvSpPr>
        <p:spPr>
          <a:xfrm>
            <a:off x="548640" y="3310128"/>
            <a:ext cx="384048" cy="384048"/>
          </a:xfrm>
          <a:prstGeom prst="ellipse">
            <a:avLst/>
          </a:prstGeom>
          <a:solidFill>
            <a:srgbClr val="D9A227"/>
          </a:solidFill>
          <a:ln w="12700">
            <a:solidFill>
              <a:srgbClr val="D9A227"/>
            </a:solidFill>
            <a:prstDash val="solid"/>
          </a:ln>
        </p:spPr>
        <p:txBody>
          <a:bodyPr/>
          <a:lstStyle/>
          <a:p>
            <a:endParaRPr lang="en-US"/>
          </a:p>
        </p:txBody>
      </p:sp>
      <p:sp>
        <p:nvSpPr>
          <p:cNvPr id="17" name="Text 15"/>
          <p:cNvSpPr txBox="1"/>
          <p:nvPr/>
        </p:nvSpPr>
        <p:spPr>
          <a:xfrm>
            <a:off x="548640" y="3346704"/>
            <a:ext cx="384048" cy="310896"/>
          </a:xfrm>
          <a:prstGeom prst="rect">
            <a:avLst/>
          </a:prstGeom>
          <a:noFill/>
          <a:ln/>
        </p:spPr>
        <p:txBody>
          <a:bodyPr wrap="square" lIns="0" tIns="0" rIns="0" bIns="0" rtlCol="0" anchor="t"/>
          <a:lstStyle/>
          <a:p>
            <a:pPr marL="0" indent="0" algn="ctr">
              <a:buNone/>
            </a:pPr>
            <a:r>
              <a:rPr lang="en-US" sz="1200" b="1" dirty="0">
                <a:solidFill>
                  <a:srgbClr val="0B3B75"/>
                </a:solidFill>
                <a:latin typeface="Calibri" pitchFamily="34" charset="0"/>
                <a:ea typeface="Calibri" pitchFamily="34" charset="-122"/>
                <a:cs typeface="Calibri" pitchFamily="34" charset="-120"/>
              </a:rPr>
              <a:t>3</a:t>
            </a:r>
            <a:endParaRPr lang="en-US" sz="1200" dirty="0"/>
          </a:p>
        </p:txBody>
      </p:sp>
      <p:sp>
        <p:nvSpPr>
          <p:cNvPr id="18" name="Text 16"/>
          <p:cNvSpPr txBox="1"/>
          <p:nvPr/>
        </p:nvSpPr>
        <p:spPr>
          <a:xfrm>
            <a:off x="1078992" y="3291840"/>
            <a:ext cx="5504688" cy="256032"/>
          </a:xfrm>
          <a:prstGeom prst="rect">
            <a:avLst/>
          </a:prstGeom>
          <a:noFill/>
          <a:ln/>
        </p:spPr>
        <p:txBody>
          <a:bodyPr wrap="square" lIns="0" tIns="0" rIns="0" bIns="0" rtlCol="0" anchor="t"/>
          <a:lstStyle/>
          <a:p>
            <a:pPr marL="0" indent="0">
              <a:buNone/>
            </a:pPr>
            <a:r>
              <a:rPr lang="en-US" sz="1250" b="1" dirty="0">
                <a:solidFill>
                  <a:srgbClr val="0B3B75"/>
                </a:solidFill>
                <a:latin typeface="Calibri" pitchFamily="34" charset="0"/>
                <a:ea typeface="Calibri" pitchFamily="34" charset="-122"/>
                <a:cs typeface="Calibri" pitchFamily="34" charset="-120"/>
              </a:rPr>
              <a:t>Phân tích và định lượng hiệu suất</a:t>
            </a:r>
            <a:endParaRPr lang="en-US" sz="1250" dirty="0"/>
          </a:p>
        </p:txBody>
      </p:sp>
      <p:sp>
        <p:nvSpPr>
          <p:cNvPr id="19" name="Text 17"/>
          <p:cNvSpPr txBox="1"/>
          <p:nvPr/>
        </p:nvSpPr>
        <p:spPr>
          <a:xfrm>
            <a:off x="1078992" y="3547872"/>
            <a:ext cx="5504688" cy="457200"/>
          </a:xfrm>
          <a:prstGeom prst="rect">
            <a:avLst/>
          </a:prstGeom>
          <a:noFill/>
          <a:ln/>
        </p:spPr>
        <p:txBody>
          <a:bodyPr wrap="square" lIns="0" tIns="0" rIns="0" bIns="0" rtlCol="0" anchor="t"/>
          <a:lstStyle/>
          <a:p>
            <a:pPr marL="0" indent="0">
              <a:buNone/>
            </a:pPr>
            <a:r>
              <a:rPr lang="en-US" sz="1000" dirty="0">
                <a:solidFill>
                  <a:srgbClr val="6E7A88"/>
                </a:solidFill>
                <a:latin typeface="Calibri" pitchFamily="34" charset="0"/>
                <a:ea typeface="Calibri" pitchFamily="34" charset="-122"/>
                <a:cs typeface="Calibri" pitchFamily="34" charset="-120"/>
              </a:rPr>
              <a:t>Khung giá trị gia tăng VA/NVA/VBA và nhận diện lãng phí Move – Hold – Overdo theo tư duy Lean.</a:t>
            </a:r>
            <a:endParaRPr lang="en-US" sz="1000" dirty="0"/>
          </a:p>
        </p:txBody>
      </p:sp>
      <p:sp>
        <p:nvSpPr>
          <p:cNvPr id="20" name="Shape 18"/>
          <p:cNvSpPr/>
          <p:nvPr/>
        </p:nvSpPr>
        <p:spPr>
          <a:xfrm>
            <a:off x="548640" y="4096512"/>
            <a:ext cx="384048" cy="384048"/>
          </a:xfrm>
          <a:prstGeom prst="ellipse">
            <a:avLst/>
          </a:prstGeom>
          <a:solidFill>
            <a:srgbClr val="D9A227"/>
          </a:solidFill>
          <a:ln w="12700">
            <a:solidFill>
              <a:srgbClr val="D9A227"/>
            </a:solidFill>
            <a:prstDash val="solid"/>
          </a:ln>
        </p:spPr>
        <p:txBody>
          <a:bodyPr/>
          <a:lstStyle/>
          <a:p>
            <a:endParaRPr lang="en-US"/>
          </a:p>
        </p:txBody>
      </p:sp>
      <p:sp>
        <p:nvSpPr>
          <p:cNvPr id="21" name="Text 19"/>
          <p:cNvSpPr txBox="1"/>
          <p:nvPr/>
        </p:nvSpPr>
        <p:spPr>
          <a:xfrm>
            <a:off x="548640" y="4133088"/>
            <a:ext cx="384048" cy="310896"/>
          </a:xfrm>
          <a:prstGeom prst="rect">
            <a:avLst/>
          </a:prstGeom>
          <a:noFill/>
          <a:ln/>
        </p:spPr>
        <p:txBody>
          <a:bodyPr wrap="square" lIns="0" tIns="0" rIns="0" bIns="0" rtlCol="0" anchor="t"/>
          <a:lstStyle/>
          <a:p>
            <a:pPr marL="0" indent="0" algn="ctr">
              <a:buNone/>
            </a:pPr>
            <a:r>
              <a:rPr lang="en-US" sz="1200" b="1" dirty="0">
                <a:solidFill>
                  <a:srgbClr val="0B3B75"/>
                </a:solidFill>
                <a:latin typeface="Calibri" pitchFamily="34" charset="0"/>
                <a:ea typeface="Calibri" pitchFamily="34" charset="-122"/>
                <a:cs typeface="Calibri" pitchFamily="34" charset="-120"/>
              </a:rPr>
              <a:t>4</a:t>
            </a:r>
            <a:endParaRPr lang="en-US" sz="1200" dirty="0"/>
          </a:p>
        </p:txBody>
      </p:sp>
      <p:sp>
        <p:nvSpPr>
          <p:cNvPr id="22" name="Text 20"/>
          <p:cNvSpPr txBox="1"/>
          <p:nvPr/>
        </p:nvSpPr>
        <p:spPr>
          <a:xfrm>
            <a:off x="1078992" y="4078224"/>
            <a:ext cx="5504688" cy="256032"/>
          </a:xfrm>
          <a:prstGeom prst="rect">
            <a:avLst/>
          </a:prstGeom>
          <a:noFill/>
          <a:ln/>
        </p:spPr>
        <p:txBody>
          <a:bodyPr wrap="square" lIns="0" tIns="0" rIns="0" bIns="0" rtlCol="0" anchor="t"/>
          <a:lstStyle/>
          <a:p>
            <a:pPr marL="0" indent="0">
              <a:buNone/>
            </a:pPr>
            <a:r>
              <a:rPr lang="en-US" sz="1250" b="1" dirty="0">
                <a:solidFill>
                  <a:srgbClr val="0B3B75"/>
                </a:solidFill>
                <a:latin typeface="Calibri" pitchFamily="34" charset="0"/>
                <a:ea typeface="Calibri" pitchFamily="34" charset="-122"/>
                <a:cs typeface="Calibri" pitchFamily="34" charset="-120"/>
              </a:rPr>
              <a:t>Đề xuất mô hình cải tiến TO-BE</a:t>
            </a:r>
            <a:endParaRPr lang="en-US" sz="1250" dirty="0"/>
          </a:p>
        </p:txBody>
      </p:sp>
      <p:sp>
        <p:nvSpPr>
          <p:cNvPr id="23" name="Text 21"/>
          <p:cNvSpPr txBox="1"/>
          <p:nvPr/>
        </p:nvSpPr>
        <p:spPr>
          <a:xfrm>
            <a:off x="1078992" y="4334256"/>
            <a:ext cx="5504688" cy="457200"/>
          </a:xfrm>
          <a:prstGeom prst="rect">
            <a:avLst/>
          </a:prstGeom>
          <a:noFill/>
          <a:ln/>
        </p:spPr>
        <p:txBody>
          <a:bodyPr wrap="square" lIns="0" tIns="0" rIns="0" bIns="0" rtlCol="0" anchor="t"/>
          <a:lstStyle/>
          <a:p>
            <a:pPr marL="0" indent="0">
              <a:buNone/>
            </a:pPr>
            <a:r>
              <a:rPr lang="en-US" sz="1000" dirty="0">
                <a:solidFill>
                  <a:srgbClr val="6E7A88"/>
                </a:solidFill>
                <a:latin typeface="Calibri" pitchFamily="34" charset="0"/>
                <a:ea typeface="Calibri" pitchFamily="34" charset="-122"/>
                <a:cs typeface="Calibri" pitchFamily="34" charset="-120"/>
              </a:rPr>
              <a:t>Chuẩn hóa biểu mẫu, tự động hóa phê duyệt, tích hợp API ghi log nhằm rút ngắn Lead Time và nâng tỷ lệ tuân thủ SLA.</a:t>
            </a:r>
            <a:endParaRPr lang="en-US" sz="1000" dirty="0"/>
          </a:p>
        </p:txBody>
      </p:sp>
      <p:sp>
        <p:nvSpPr>
          <p:cNvPr id="24" name="Shape 22"/>
          <p:cNvSpPr/>
          <p:nvPr/>
        </p:nvSpPr>
        <p:spPr>
          <a:xfrm>
            <a:off x="6903720" y="1371600"/>
            <a:ext cx="4739335" cy="1920240"/>
          </a:xfrm>
          <a:prstGeom prst="roundRect">
            <a:avLst>
              <a:gd name="adj" fmla="val 2857"/>
            </a:avLst>
          </a:prstGeom>
          <a:solidFill>
            <a:srgbClr val="F0F8F4"/>
          </a:solidFill>
          <a:ln w="9525">
            <a:solidFill>
              <a:srgbClr val="0E7A5F"/>
            </a:solidFill>
            <a:prstDash val="solid"/>
          </a:ln>
          <a:effectLst>
            <a:outerShdw blurRad="101600" dist="19050" dir="5400000" algn="bl" rotWithShape="0">
              <a:srgbClr val="9AAFC6">
                <a:alpha val="16000"/>
              </a:srgbClr>
            </a:outerShdw>
          </a:effectLst>
        </p:spPr>
        <p:txBody>
          <a:bodyPr/>
          <a:lstStyle/>
          <a:p>
            <a:endParaRPr lang="en-US"/>
          </a:p>
        </p:txBody>
      </p:sp>
      <p:sp>
        <p:nvSpPr>
          <p:cNvPr id="25" name="Text 23"/>
          <p:cNvSpPr txBox="1"/>
          <p:nvPr/>
        </p:nvSpPr>
        <p:spPr>
          <a:xfrm>
            <a:off x="7104888" y="1517904"/>
            <a:ext cx="4114800" cy="256032"/>
          </a:xfrm>
          <a:prstGeom prst="rect">
            <a:avLst/>
          </a:prstGeom>
          <a:noFill/>
          <a:ln/>
        </p:spPr>
        <p:txBody>
          <a:bodyPr wrap="square" lIns="0" tIns="0" rIns="0" bIns="0" rtlCol="0" anchor="t"/>
          <a:lstStyle/>
          <a:p>
            <a:pPr marL="0" indent="0">
              <a:buNone/>
            </a:pPr>
            <a:r>
              <a:rPr lang="en-US" sz="1100" b="1" kern="0" spc="80" dirty="0">
                <a:solidFill>
                  <a:srgbClr val="0E7A5F"/>
                </a:solidFill>
                <a:latin typeface="Calibri" pitchFamily="34" charset="0"/>
                <a:ea typeface="Calibri" pitchFamily="34" charset="-122"/>
                <a:cs typeface="Calibri" pitchFamily="34" charset="-120"/>
              </a:rPr>
              <a:t>✓   TRONG PHẠM VI</a:t>
            </a:r>
            <a:endParaRPr lang="en-US" sz="1100" dirty="0"/>
          </a:p>
        </p:txBody>
      </p:sp>
      <p:sp>
        <p:nvSpPr>
          <p:cNvPr id="26" name="Text 24"/>
          <p:cNvSpPr txBox="1"/>
          <p:nvPr/>
        </p:nvSpPr>
        <p:spPr>
          <a:xfrm>
            <a:off x="7104888" y="1810512"/>
            <a:ext cx="4327855" cy="1371600"/>
          </a:xfrm>
          <a:prstGeom prst="rect">
            <a:avLst/>
          </a:prstGeom>
          <a:noFill/>
          <a:ln/>
        </p:spPr>
        <p:txBody>
          <a:bodyPr wrap="square" lIns="0" tIns="0" rIns="0" bIns="0" rtlCol="0" anchor="t"/>
          <a:lstStyle/>
          <a:p>
            <a:pPr marL="342900" indent="-342900">
              <a:spcAft>
                <a:spcPts val="600"/>
              </a:spcAft>
              <a:buSzPct val="100000"/>
              <a:buChar char="•"/>
            </a:pPr>
            <a:r>
              <a:rPr lang="en-US" sz="1050" dirty="0">
                <a:solidFill>
                  <a:srgbClr val="2A3442"/>
                </a:solidFill>
                <a:latin typeface="Calibri" pitchFamily="34" charset="0"/>
                <a:ea typeface="Calibri" pitchFamily="34" charset="-122"/>
                <a:cs typeface="Calibri" pitchFamily="34" charset="-120"/>
              </a:rPr>
              <a:t>Nội bộ Khối Công nghệ thông tin Sacombank.</a:t>
            </a:r>
            <a:endParaRPr lang="en-US" sz="1050" dirty="0"/>
          </a:p>
          <a:p>
            <a:pPr marL="342900" indent="-342900">
              <a:spcAft>
                <a:spcPts val="600"/>
              </a:spcAft>
              <a:buSzPct val="100000"/>
              <a:buChar char="•"/>
            </a:pPr>
            <a:r>
              <a:rPr lang="en-US" sz="1050" dirty="0">
                <a:solidFill>
                  <a:srgbClr val="2A3442"/>
                </a:solidFill>
                <a:latin typeface="Calibri" pitchFamily="34" charset="0"/>
                <a:ea typeface="Calibri" pitchFamily="34" charset="-122"/>
                <a:cs typeface="Calibri" pitchFamily="34" charset="-120"/>
              </a:rPr>
              <a:t>Luồng từ khi người dùng khởi tạo yêu cầu đến khi phiếu được đóng và xác nhận.</a:t>
            </a:r>
            <a:endParaRPr lang="en-US" sz="1050" dirty="0"/>
          </a:p>
          <a:p>
            <a:pPr marL="342900" indent="-342900">
              <a:spcAft>
                <a:spcPts val="600"/>
              </a:spcAft>
              <a:buSzPct val="100000"/>
              <a:buChar char="•"/>
            </a:pPr>
            <a:r>
              <a:rPr lang="en-US" sz="1050" dirty="0">
                <a:solidFill>
                  <a:srgbClr val="2A3442"/>
                </a:solidFill>
                <a:latin typeface="Calibri" pitchFamily="34" charset="0"/>
                <a:ea typeface="Calibri" pitchFamily="34" charset="-122"/>
                <a:cs typeface="Calibri" pitchFamily="34" charset="-120"/>
              </a:rPr>
              <a:t>Khảo sát bằng chứng (mô tả quy trình, sơ đồ tổ chức, sổ tay, biểu mẫu) và phỏng vấn.</a:t>
            </a:r>
            <a:endParaRPr lang="en-US" sz="1050" dirty="0"/>
          </a:p>
          <a:p>
            <a:pPr marL="342900" indent="-342900">
              <a:spcAft>
                <a:spcPts val="600"/>
              </a:spcAft>
              <a:buSzPct val="100000"/>
              <a:buChar char="•"/>
            </a:pPr>
            <a:r>
              <a:rPr lang="en-US" sz="1050" dirty="0">
                <a:solidFill>
                  <a:srgbClr val="2A3442"/>
                </a:solidFill>
                <a:latin typeface="Calibri" pitchFamily="34" charset="0"/>
                <a:ea typeface="Calibri" pitchFamily="34" charset="-122"/>
                <a:cs typeface="Calibri" pitchFamily="34" charset="-120"/>
              </a:rPr>
              <a:t>Mô hình hóa BPMN 2.0, phân tích định tính – định lượng và thiết kế TO-BE.</a:t>
            </a:r>
            <a:endParaRPr lang="en-US" sz="1050" dirty="0"/>
          </a:p>
        </p:txBody>
      </p:sp>
      <p:sp>
        <p:nvSpPr>
          <p:cNvPr id="27" name="Shape 25"/>
          <p:cNvSpPr/>
          <p:nvPr/>
        </p:nvSpPr>
        <p:spPr>
          <a:xfrm>
            <a:off x="6903720" y="3419856"/>
            <a:ext cx="4739335" cy="1572768"/>
          </a:xfrm>
          <a:prstGeom prst="roundRect">
            <a:avLst>
              <a:gd name="adj" fmla="val 3488"/>
            </a:avLst>
          </a:prstGeom>
          <a:solidFill>
            <a:srgbClr val="FEF3F2"/>
          </a:solidFill>
          <a:ln w="9525">
            <a:solidFill>
              <a:srgbClr val="C0392B"/>
            </a:solidFill>
            <a:prstDash val="solid"/>
          </a:ln>
          <a:effectLst>
            <a:outerShdw blurRad="101600" dist="19050" dir="5400000" algn="bl" rotWithShape="0">
              <a:srgbClr val="9AAFC6">
                <a:alpha val="16000"/>
              </a:srgbClr>
            </a:outerShdw>
          </a:effectLst>
        </p:spPr>
        <p:txBody>
          <a:bodyPr/>
          <a:lstStyle/>
          <a:p>
            <a:endParaRPr lang="en-US"/>
          </a:p>
        </p:txBody>
      </p:sp>
      <p:sp>
        <p:nvSpPr>
          <p:cNvPr id="28" name="Text 26"/>
          <p:cNvSpPr txBox="1"/>
          <p:nvPr/>
        </p:nvSpPr>
        <p:spPr>
          <a:xfrm>
            <a:off x="7104888" y="3566160"/>
            <a:ext cx="4114800" cy="256032"/>
          </a:xfrm>
          <a:prstGeom prst="rect">
            <a:avLst/>
          </a:prstGeom>
          <a:noFill/>
          <a:ln/>
        </p:spPr>
        <p:txBody>
          <a:bodyPr wrap="square" lIns="0" tIns="0" rIns="0" bIns="0" rtlCol="0" anchor="t"/>
          <a:lstStyle/>
          <a:p>
            <a:pPr marL="0" indent="0">
              <a:buNone/>
            </a:pPr>
            <a:r>
              <a:rPr lang="en-US" sz="1100" b="1" kern="0" spc="80" dirty="0">
                <a:solidFill>
                  <a:srgbClr val="C0392B"/>
                </a:solidFill>
                <a:latin typeface="Calibri" pitchFamily="34" charset="0"/>
                <a:ea typeface="Calibri" pitchFamily="34" charset="-122"/>
                <a:cs typeface="Calibri" pitchFamily="34" charset="-120"/>
              </a:rPr>
              <a:t>✕   NGOÀI PHẠM VI</a:t>
            </a:r>
            <a:endParaRPr lang="en-US" sz="1100" dirty="0"/>
          </a:p>
        </p:txBody>
      </p:sp>
      <p:sp>
        <p:nvSpPr>
          <p:cNvPr id="29" name="Text 27"/>
          <p:cNvSpPr txBox="1"/>
          <p:nvPr/>
        </p:nvSpPr>
        <p:spPr>
          <a:xfrm>
            <a:off x="7104888" y="3858768"/>
            <a:ext cx="4327855" cy="1005840"/>
          </a:xfrm>
          <a:prstGeom prst="rect">
            <a:avLst/>
          </a:prstGeom>
          <a:noFill/>
          <a:ln/>
        </p:spPr>
        <p:txBody>
          <a:bodyPr wrap="square" lIns="0" tIns="0" rIns="0" bIns="0" rtlCol="0" anchor="t"/>
          <a:lstStyle/>
          <a:p>
            <a:pPr marL="342900" indent="-342900">
              <a:spcAft>
                <a:spcPts val="600"/>
              </a:spcAft>
              <a:buSzPct val="100000"/>
              <a:buChar char="•"/>
            </a:pPr>
            <a:r>
              <a:rPr lang="en-US" sz="1050" dirty="0">
                <a:solidFill>
                  <a:srgbClr val="2A3442"/>
                </a:solidFill>
                <a:latin typeface="Calibri" pitchFamily="34" charset="0"/>
                <a:ea typeface="Calibri" pitchFamily="34" charset="-122"/>
                <a:cs typeface="Calibri" pitchFamily="34" charset="-120"/>
              </a:rPr>
              <a:t>Mô hình hóa chi tiết 04 quy trình còn lại ngoài 06 quy trình đã chọn.</a:t>
            </a:r>
            <a:endParaRPr lang="en-US" sz="1050" dirty="0"/>
          </a:p>
          <a:p>
            <a:pPr marL="342900" indent="-342900">
              <a:spcAft>
                <a:spcPts val="600"/>
              </a:spcAft>
              <a:buSzPct val="100000"/>
              <a:buChar char="•"/>
            </a:pPr>
            <a:r>
              <a:rPr lang="en-US" sz="1050" dirty="0">
                <a:solidFill>
                  <a:srgbClr val="2A3442"/>
                </a:solidFill>
                <a:latin typeface="Calibri" pitchFamily="34" charset="0"/>
                <a:ea typeface="Calibri" pitchFamily="34" charset="-122"/>
                <a:cs typeface="Calibri" pitchFamily="34" charset="-120"/>
              </a:rPr>
              <a:t>Xây dựng và lập trình hệ thống ITSM.</a:t>
            </a:r>
            <a:endParaRPr lang="en-US" sz="1050" dirty="0"/>
          </a:p>
          <a:p>
            <a:pPr marL="342900" indent="-342900">
              <a:spcAft>
                <a:spcPts val="600"/>
              </a:spcAft>
              <a:buSzPct val="100000"/>
              <a:buChar char="•"/>
            </a:pPr>
            <a:r>
              <a:rPr lang="en-US" sz="1050" dirty="0">
                <a:solidFill>
                  <a:srgbClr val="2A3442"/>
                </a:solidFill>
                <a:latin typeface="Calibri" pitchFamily="34" charset="0"/>
                <a:ea typeface="Calibri" pitchFamily="34" charset="-122"/>
                <a:cs typeface="Calibri" pitchFamily="34" charset="-120"/>
              </a:rPr>
              <a:t>Triển khai thí điểm (pilot) mô hình TO-BE trên môi trường thật.</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65760"/>
            <a:ext cx="123444" cy="123444"/>
          </a:xfrm>
          <a:prstGeom prst="ellipse">
            <a:avLst/>
          </a:prstGeom>
          <a:solidFill>
            <a:srgbClr val="D9A227"/>
          </a:solidFill>
          <a:ln w="12700">
            <a:solidFill>
              <a:srgbClr val="D9A227"/>
            </a:solidFill>
            <a:prstDash val="solid"/>
          </a:ln>
        </p:spPr>
        <p:txBody>
          <a:bodyPr/>
          <a:lstStyle/>
          <a:p>
            <a:endParaRPr lang="en-US"/>
          </a:p>
        </p:txBody>
      </p:sp>
      <p:sp>
        <p:nvSpPr>
          <p:cNvPr id="3" name="Text 1"/>
          <p:cNvSpPr txBox="1"/>
          <p:nvPr/>
        </p:nvSpPr>
        <p:spPr>
          <a:xfrm>
            <a:off x="804672" y="292608"/>
            <a:ext cx="10838383" cy="237744"/>
          </a:xfrm>
          <a:prstGeom prst="rect">
            <a:avLst/>
          </a:prstGeom>
          <a:noFill/>
          <a:ln/>
        </p:spPr>
        <p:txBody>
          <a:bodyPr wrap="square" lIns="0" tIns="0" rIns="0" bIns="0" rtlCol="0" anchor="t"/>
          <a:lstStyle/>
          <a:p>
            <a:pPr marL="0" indent="0">
              <a:buNone/>
            </a:pPr>
            <a:r>
              <a:rPr lang="en-US" sz="1050" b="1" kern="0" spc="120" dirty="0">
                <a:solidFill>
                  <a:srgbClr val="A5741A"/>
                </a:solidFill>
                <a:latin typeface="Calibri" pitchFamily="34" charset="0"/>
                <a:ea typeface="Calibri" pitchFamily="34" charset="-122"/>
                <a:cs typeface="Calibri" pitchFamily="34" charset="-120"/>
              </a:rPr>
              <a:t>CHƯƠNG 1 · 1.1 TỔNG QUAN DOANH NGHIỆP</a:t>
            </a:r>
            <a:endParaRPr lang="en-US" sz="1050" dirty="0"/>
          </a:p>
        </p:txBody>
      </p:sp>
      <p:sp>
        <p:nvSpPr>
          <p:cNvPr id="4" name="Text 2"/>
          <p:cNvSpPr txBox="1"/>
          <p:nvPr/>
        </p:nvSpPr>
        <p:spPr>
          <a:xfrm>
            <a:off x="548640" y="566928"/>
            <a:ext cx="11094415" cy="457200"/>
          </a:xfrm>
          <a:prstGeom prst="rect">
            <a:avLst/>
          </a:prstGeom>
          <a:noFill/>
          <a:ln/>
        </p:spPr>
        <p:txBody>
          <a:bodyPr wrap="square" lIns="0" tIns="0" rIns="0" bIns="0" rtlCol="0" anchor="t"/>
          <a:lstStyle/>
          <a:p>
            <a:pPr marL="0" indent="0">
              <a:buNone/>
            </a:pPr>
            <a:r>
              <a:rPr lang="en-US" sz="2500" b="1" dirty="0">
                <a:solidFill>
                  <a:srgbClr val="0B3B75"/>
                </a:solidFill>
                <a:latin typeface="Calibri" pitchFamily="34" charset="0"/>
                <a:ea typeface="Calibri" pitchFamily="34" charset="-122"/>
                <a:cs typeface="Calibri" pitchFamily="34" charset="-120"/>
              </a:rPr>
              <a:t>KHỐI CNTT SACOMBANK — MÔ HÌNH NHÀ CUNG CẤP DỊCH VỤ NỘI BỘ</a:t>
            </a:r>
            <a:endParaRPr lang="en-US" sz="2500" dirty="0"/>
          </a:p>
        </p:txBody>
      </p:sp>
      <p:sp>
        <p:nvSpPr>
          <p:cNvPr id="5" name="Text 3"/>
          <p:cNvSpPr txBox="1"/>
          <p:nvPr/>
        </p:nvSpPr>
        <p:spPr>
          <a:xfrm>
            <a:off x="548640" y="6011720"/>
            <a:ext cx="8778240" cy="237744"/>
          </a:xfrm>
          <a:prstGeom prst="rect">
            <a:avLst/>
          </a:prstGeom>
          <a:noFill/>
          <a:ln/>
        </p:spPr>
        <p:txBody>
          <a:bodyPr wrap="square" lIns="0" tIns="0" rIns="0" bIns="0" rtlCol="0" anchor="t"/>
          <a:lstStyle/>
          <a:p>
            <a:pPr marL="0" indent="0">
              <a:buNone/>
            </a:pPr>
            <a:r>
              <a:rPr lang="en-US" sz="850" dirty="0">
                <a:solidFill>
                  <a:srgbClr val="6E7A88"/>
                </a:solidFill>
                <a:latin typeface="Calibri" pitchFamily="34" charset="0"/>
                <a:ea typeface="Calibri" pitchFamily="34" charset="-122"/>
                <a:cs typeface="Calibri" pitchFamily="34" charset="-120"/>
              </a:rPr>
              <a:t>HỆ THỐNG QUẢN TRỊ QUY TRÌNH NGHIỆP VỤ  ·  SACOMBANK — QUY TRÌNH PYC</a:t>
            </a:r>
            <a:endParaRPr lang="en-US" sz="850" dirty="0"/>
          </a:p>
        </p:txBody>
      </p:sp>
      <p:sp>
        <p:nvSpPr>
          <p:cNvPr id="7" name="Shape 5"/>
          <p:cNvSpPr/>
          <p:nvPr/>
        </p:nvSpPr>
        <p:spPr>
          <a:xfrm>
            <a:off x="548640" y="1081810"/>
            <a:ext cx="2567864" cy="2048256"/>
          </a:xfrm>
          <a:prstGeom prst="roundRect">
            <a:avLst>
              <a:gd name="adj" fmla="val 2679"/>
            </a:avLst>
          </a:prstGeom>
          <a:solidFill>
            <a:srgbClr val="EFF4FB"/>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dirty="0"/>
          </a:p>
        </p:txBody>
      </p:sp>
      <p:sp>
        <p:nvSpPr>
          <p:cNvPr id="8" name="Shape 6"/>
          <p:cNvSpPr/>
          <p:nvPr/>
        </p:nvSpPr>
        <p:spPr>
          <a:xfrm>
            <a:off x="749808" y="1275128"/>
            <a:ext cx="310896" cy="310896"/>
          </a:xfrm>
          <a:prstGeom prst="ellipse">
            <a:avLst/>
          </a:prstGeom>
          <a:solidFill>
            <a:srgbClr val="1660BF"/>
          </a:solidFill>
          <a:ln/>
        </p:spPr>
        <p:txBody>
          <a:bodyPr/>
          <a:lstStyle/>
          <a:p>
            <a:endParaRPr lang="en-US"/>
          </a:p>
        </p:txBody>
      </p:sp>
      <p:sp>
        <p:nvSpPr>
          <p:cNvPr id="9" name="Text 7"/>
          <p:cNvSpPr txBox="1"/>
          <p:nvPr/>
        </p:nvSpPr>
        <p:spPr>
          <a:xfrm>
            <a:off x="768096" y="1335120"/>
            <a:ext cx="274320" cy="274320"/>
          </a:xfrm>
          <a:prstGeom prst="rect">
            <a:avLst/>
          </a:prstGeom>
          <a:noFill/>
          <a:ln/>
        </p:spPr>
        <p:txBody>
          <a:bodyPr wrap="square" lIns="0" tIns="0" rIns="0" bIns="0" rtlCol="0" anchor="t"/>
          <a:lstStyle/>
          <a:p>
            <a:pPr marL="0" indent="0" algn="ctr">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0" name="Text 8"/>
          <p:cNvSpPr txBox="1"/>
          <p:nvPr/>
        </p:nvSpPr>
        <p:spPr>
          <a:xfrm>
            <a:off x="749808" y="1695752"/>
            <a:ext cx="2165528" cy="603504"/>
          </a:xfrm>
          <a:prstGeom prst="rect">
            <a:avLst/>
          </a:prstGeom>
          <a:noFill/>
          <a:ln/>
        </p:spPr>
        <p:txBody>
          <a:bodyPr wrap="square" lIns="0" tIns="0" rIns="0" bIns="0" rtlCol="0" anchor="t"/>
          <a:lstStyle/>
          <a:p>
            <a:pPr marL="0" indent="0">
              <a:buNone/>
            </a:pPr>
            <a:r>
              <a:rPr lang="en-US" sz="1400" b="1" dirty="0">
                <a:solidFill>
                  <a:srgbClr val="0B3B75"/>
                </a:solidFill>
                <a:latin typeface="Calibri" pitchFamily="34" charset="0"/>
                <a:ea typeface="Calibri" pitchFamily="34" charset="-122"/>
                <a:cs typeface="Calibri" pitchFamily="34" charset="-120"/>
              </a:rPr>
              <a:t>Internal</a:t>
            </a:r>
            <a:endParaRPr lang="en-US" sz="1400" dirty="0"/>
          </a:p>
          <a:p>
            <a:pPr marL="0" indent="0">
              <a:buNone/>
            </a:pPr>
            <a:r>
              <a:rPr lang="en-US" sz="1400" b="1" dirty="0">
                <a:solidFill>
                  <a:srgbClr val="0B3B75"/>
                </a:solidFill>
                <a:latin typeface="Calibri" pitchFamily="34" charset="0"/>
                <a:ea typeface="Calibri" pitchFamily="34" charset="-122"/>
                <a:cs typeface="Calibri" pitchFamily="34" charset="-120"/>
              </a:rPr>
              <a:t>Service Provider</a:t>
            </a:r>
            <a:endParaRPr lang="en-US" sz="1400" dirty="0"/>
          </a:p>
        </p:txBody>
      </p:sp>
      <p:sp>
        <p:nvSpPr>
          <p:cNvPr id="11" name="Text 9"/>
          <p:cNvSpPr txBox="1"/>
          <p:nvPr/>
        </p:nvSpPr>
        <p:spPr>
          <a:xfrm>
            <a:off x="749808" y="2335832"/>
            <a:ext cx="2165528" cy="694944"/>
          </a:xfrm>
          <a:prstGeom prst="rect">
            <a:avLst/>
          </a:prstGeom>
          <a:noFill/>
          <a:ln/>
        </p:spPr>
        <p:txBody>
          <a:bodyPr wrap="square" lIns="0" tIns="0" rIns="0" bIns="0" rtlCol="0" anchor="t"/>
          <a:lstStyle/>
          <a:p>
            <a:pPr marL="0" indent="0">
              <a:buNone/>
            </a:pPr>
            <a:r>
              <a:rPr lang="en-US" sz="1000" dirty="0">
                <a:solidFill>
                  <a:srgbClr val="6E7A88"/>
                </a:solidFill>
                <a:latin typeface="Calibri" pitchFamily="34" charset="0"/>
                <a:ea typeface="Calibri" pitchFamily="34" charset="-122"/>
                <a:cs typeface="Calibri" pitchFamily="34" charset="-120"/>
              </a:rPr>
              <a:t>Vận hành như một đơn vị “bán dịch vụ” cho chính các phòng ban khác trong ngân hàng.</a:t>
            </a:r>
            <a:endParaRPr lang="en-US" sz="1000" dirty="0"/>
          </a:p>
        </p:txBody>
      </p:sp>
      <p:sp>
        <p:nvSpPr>
          <p:cNvPr id="12" name="Shape 10"/>
          <p:cNvSpPr/>
          <p:nvPr/>
        </p:nvSpPr>
        <p:spPr>
          <a:xfrm>
            <a:off x="3390824" y="1073960"/>
            <a:ext cx="2567864" cy="2048256"/>
          </a:xfrm>
          <a:prstGeom prst="roundRect">
            <a:avLst>
              <a:gd name="adj" fmla="val 2679"/>
            </a:avLst>
          </a:prstGeom>
          <a:solidFill>
            <a:srgbClr val="EFF4FB"/>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13" name="Shape 11"/>
          <p:cNvSpPr/>
          <p:nvPr/>
        </p:nvSpPr>
        <p:spPr>
          <a:xfrm>
            <a:off x="3591992" y="1275128"/>
            <a:ext cx="310896" cy="310896"/>
          </a:xfrm>
          <a:prstGeom prst="ellipse">
            <a:avLst/>
          </a:prstGeom>
          <a:solidFill>
            <a:srgbClr val="1660BF"/>
          </a:solidFill>
          <a:ln/>
        </p:spPr>
        <p:txBody>
          <a:bodyPr/>
          <a:lstStyle/>
          <a:p>
            <a:endParaRPr lang="en-US"/>
          </a:p>
        </p:txBody>
      </p:sp>
      <p:sp>
        <p:nvSpPr>
          <p:cNvPr id="14" name="Text 12"/>
          <p:cNvSpPr txBox="1"/>
          <p:nvPr/>
        </p:nvSpPr>
        <p:spPr>
          <a:xfrm>
            <a:off x="3591992" y="1348280"/>
            <a:ext cx="310896" cy="256032"/>
          </a:xfrm>
          <a:prstGeom prst="rect">
            <a:avLst/>
          </a:prstGeom>
          <a:noFill/>
          <a:ln/>
        </p:spPr>
        <p:txBody>
          <a:bodyPr wrap="square" lIns="0" tIns="0" rIns="0" bIns="0" rtlCol="0" anchor="t"/>
          <a:lstStyle/>
          <a:p>
            <a:pPr marL="0" indent="0" algn="ctr">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5" name="Text 13"/>
          <p:cNvSpPr txBox="1"/>
          <p:nvPr/>
        </p:nvSpPr>
        <p:spPr>
          <a:xfrm>
            <a:off x="3591992" y="1695752"/>
            <a:ext cx="2165528" cy="603504"/>
          </a:xfrm>
          <a:prstGeom prst="rect">
            <a:avLst/>
          </a:prstGeom>
          <a:noFill/>
          <a:ln/>
        </p:spPr>
        <p:txBody>
          <a:bodyPr wrap="square" lIns="0" tIns="0" rIns="0" bIns="0" rtlCol="0" anchor="t"/>
          <a:lstStyle/>
          <a:p>
            <a:pPr marL="0" indent="0">
              <a:buNone/>
            </a:pPr>
            <a:r>
              <a:rPr lang="en-US" sz="1400" b="1" dirty="0">
                <a:solidFill>
                  <a:srgbClr val="0B3B75"/>
                </a:solidFill>
                <a:latin typeface="Calibri" pitchFamily="34" charset="0"/>
                <a:ea typeface="Calibri" pitchFamily="34" charset="-122"/>
                <a:cs typeface="Calibri" pitchFamily="34" charset="-120"/>
              </a:rPr>
              <a:t>Sản phẩm</a:t>
            </a:r>
            <a:endParaRPr lang="en-US" sz="1400" dirty="0"/>
          </a:p>
          <a:p>
            <a:pPr marL="0" indent="0">
              <a:buNone/>
            </a:pPr>
            <a:r>
              <a:rPr lang="en-US" sz="1400" b="1" dirty="0">
                <a:solidFill>
                  <a:srgbClr val="0B3B75"/>
                </a:solidFill>
                <a:latin typeface="Calibri" pitchFamily="34" charset="0"/>
                <a:ea typeface="Calibri" pitchFamily="34" charset="-122"/>
                <a:cs typeface="Calibri" pitchFamily="34" charset="-120"/>
              </a:rPr>
              <a:t>dịch vụ</a:t>
            </a:r>
            <a:endParaRPr lang="en-US" sz="1400" dirty="0"/>
          </a:p>
        </p:txBody>
      </p:sp>
      <p:sp>
        <p:nvSpPr>
          <p:cNvPr id="16" name="Text 14"/>
          <p:cNvSpPr txBox="1"/>
          <p:nvPr/>
        </p:nvSpPr>
        <p:spPr>
          <a:xfrm>
            <a:off x="3591992" y="2335832"/>
            <a:ext cx="2165528" cy="694944"/>
          </a:xfrm>
          <a:prstGeom prst="rect">
            <a:avLst/>
          </a:prstGeom>
          <a:noFill/>
          <a:ln/>
        </p:spPr>
        <p:txBody>
          <a:bodyPr wrap="square" lIns="0" tIns="0" rIns="0" bIns="0" rtlCol="0" anchor="t"/>
          <a:lstStyle/>
          <a:p>
            <a:pPr marL="0" indent="0">
              <a:buNone/>
            </a:pPr>
            <a:r>
              <a:rPr lang="en-US" sz="1000" dirty="0">
                <a:solidFill>
                  <a:srgbClr val="6E7A88"/>
                </a:solidFill>
                <a:latin typeface="Calibri" pitchFamily="34" charset="0"/>
                <a:ea typeface="Calibri" pitchFamily="34" charset="-122"/>
                <a:cs typeface="Calibri" pitchFamily="34" charset="-120"/>
              </a:rPr>
              <a:t>Cung cấp, duy trì và hỗ trợ vận hành các hệ thống CNTT phục vụ hoạt động kinh doanh.</a:t>
            </a:r>
            <a:endParaRPr lang="en-US" sz="1000" dirty="0"/>
          </a:p>
        </p:txBody>
      </p:sp>
      <p:sp>
        <p:nvSpPr>
          <p:cNvPr id="17" name="Shape 15"/>
          <p:cNvSpPr/>
          <p:nvPr/>
        </p:nvSpPr>
        <p:spPr>
          <a:xfrm>
            <a:off x="6233008" y="1073960"/>
            <a:ext cx="2567864" cy="2048256"/>
          </a:xfrm>
          <a:prstGeom prst="roundRect">
            <a:avLst>
              <a:gd name="adj" fmla="val 2679"/>
            </a:avLst>
          </a:prstGeom>
          <a:solidFill>
            <a:srgbClr val="EFF4FB"/>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18" name="Shape 16"/>
          <p:cNvSpPr/>
          <p:nvPr/>
        </p:nvSpPr>
        <p:spPr>
          <a:xfrm>
            <a:off x="6434176" y="1275128"/>
            <a:ext cx="310896" cy="310896"/>
          </a:xfrm>
          <a:prstGeom prst="ellipse">
            <a:avLst/>
          </a:prstGeom>
          <a:solidFill>
            <a:srgbClr val="1660BF"/>
          </a:solidFill>
          <a:ln/>
        </p:spPr>
        <p:txBody>
          <a:bodyPr/>
          <a:lstStyle/>
          <a:p>
            <a:endParaRPr lang="en-US"/>
          </a:p>
        </p:txBody>
      </p:sp>
      <p:sp>
        <p:nvSpPr>
          <p:cNvPr id="19" name="Text 17"/>
          <p:cNvSpPr txBox="1"/>
          <p:nvPr/>
        </p:nvSpPr>
        <p:spPr>
          <a:xfrm>
            <a:off x="6434176" y="1352205"/>
            <a:ext cx="310896" cy="256032"/>
          </a:xfrm>
          <a:prstGeom prst="rect">
            <a:avLst/>
          </a:prstGeom>
          <a:noFill/>
          <a:ln/>
        </p:spPr>
        <p:txBody>
          <a:bodyPr wrap="square" lIns="0" tIns="0" rIns="0" bIns="0" rtlCol="0" anchor="t"/>
          <a:lstStyle/>
          <a:p>
            <a:pPr marL="0" indent="0" algn="ctr">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20" name="Text 18"/>
          <p:cNvSpPr txBox="1"/>
          <p:nvPr/>
        </p:nvSpPr>
        <p:spPr>
          <a:xfrm>
            <a:off x="6434176" y="1695752"/>
            <a:ext cx="2165528" cy="603504"/>
          </a:xfrm>
          <a:prstGeom prst="rect">
            <a:avLst/>
          </a:prstGeom>
          <a:noFill/>
          <a:ln/>
        </p:spPr>
        <p:txBody>
          <a:bodyPr wrap="square" lIns="0" tIns="0" rIns="0" bIns="0" rtlCol="0" anchor="t"/>
          <a:lstStyle/>
          <a:p>
            <a:pPr marL="0" indent="0">
              <a:buNone/>
            </a:pPr>
            <a:r>
              <a:rPr lang="en-US" sz="1400" b="1" dirty="0">
                <a:solidFill>
                  <a:srgbClr val="0B3B75"/>
                </a:solidFill>
                <a:latin typeface="Calibri" pitchFamily="34" charset="0"/>
                <a:ea typeface="Calibri" pitchFamily="34" charset="-122"/>
                <a:cs typeface="Calibri" pitchFamily="34" charset="-120"/>
              </a:rPr>
              <a:t>Khách hàng</a:t>
            </a:r>
            <a:endParaRPr lang="en-US" sz="1400" dirty="0"/>
          </a:p>
          <a:p>
            <a:pPr marL="0" indent="0">
              <a:buNone/>
            </a:pPr>
            <a:r>
              <a:rPr lang="en-US" sz="1400" b="1" dirty="0">
                <a:solidFill>
                  <a:srgbClr val="0B3B75"/>
                </a:solidFill>
                <a:latin typeface="Calibri" pitchFamily="34" charset="0"/>
                <a:ea typeface="Calibri" pitchFamily="34" charset="-122"/>
                <a:cs typeface="Calibri" pitchFamily="34" charset="-120"/>
              </a:rPr>
              <a:t>nội bộ</a:t>
            </a:r>
            <a:endParaRPr lang="en-US" sz="1400" dirty="0"/>
          </a:p>
        </p:txBody>
      </p:sp>
      <p:sp>
        <p:nvSpPr>
          <p:cNvPr id="21" name="Text 19"/>
          <p:cNvSpPr txBox="1"/>
          <p:nvPr/>
        </p:nvSpPr>
        <p:spPr>
          <a:xfrm>
            <a:off x="6434176" y="2335832"/>
            <a:ext cx="2165528" cy="694944"/>
          </a:xfrm>
          <a:prstGeom prst="rect">
            <a:avLst/>
          </a:prstGeom>
          <a:noFill/>
          <a:ln/>
        </p:spPr>
        <p:txBody>
          <a:bodyPr wrap="square" lIns="0" tIns="0" rIns="0" bIns="0" rtlCol="0" anchor="t"/>
          <a:lstStyle/>
          <a:p>
            <a:pPr marL="0" indent="0">
              <a:buNone/>
            </a:pPr>
            <a:r>
              <a:rPr lang="en-US" sz="1000" dirty="0">
                <a:solidFill>
                  <a:srgbClr val="6E7A88"/>
                </a:solidFill>
                <a:latin typeface="Calibri" pitchFamily="34" charset="0"/>
                <a:ea typeface="Calibri" pitchFamily="34" charset="-122"/>
                <a:cs typeface="Calibri" pitchFamily="34" charset="-120"/>
              </a:rPr>
              <a:t>Toàn thể CBNV và các phòng ban — nhân viên giao dịch chi nhánh, nhân viên hội sở, cán bộ quản lý các cấp.</a:t>
            </a:r>
            <a:endParaRPr lang="en-US" sz="1000" dirty="0"/>
          </a:p>
        </p:txBody>
      </p:sp>
      <p:sp>
        <p:nvSpPr>
          <p:cNvPr id="22" name="Shape 20"/>
          <p:cNvSpPr/>
          <p:nvPr/>
        </p:nvSpPr>
        <p:spPr>
          <a:xfrm>
            <a:off x="9075191" y="1073960"/>
            <a:ext cx="2567864" cy="2048256"/>
          </a:xfrm>
          <a:prstGeom prst="roundRect">
            <a:avLst>
              <a:gd name="adj" fmla="val 2679"/>
            </a:avLst>
          </a:prstGeom>
          <a:solidFill>
            <a:srgbClr val="EFF4FB"/>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23" name="Shape 21"/>
          <p:cNvSpPr/>
          <p:nvPr/>
        </p:nvSpPr>
        <p:spPr>
          <a:xfrm>
            <a:off x="9276359" y="1275128"/>
            <a:ext cx="310896" cy="310896"/>
          </a:xfrm>
          <a:prstGeom prst="ellipse">
            <a:avLst/>
          </a:prstGeom>
          <a:solidFill>
            <a:srgbClr val="1660BF"/>
          </a:solidFill>
          <a:ln/>
        </p:spPr>
        <p:txBody>
          <a:bodyPr/>
          <a:lstStyle/>
          <a:p>
            <a:endParaRPr lang="en-US"/>
          </a:p>
        </p:txBody>
      </p:sp>
      <p:sp>
        <p:nvSpPr>
          <p:cNvPr id="24" name="Text 22"/>
          <p:cNvSpPr txBox="1"/>
          <p:nvPr/>
        </p:nvSpPr>
        <p:spPr>
          <a:xfrm>
            <a:off x="9276359" y="1348280"/>
            <a:ext cx="310896" cy="256032"/>
          </a:xfrm>
          <a:prstGeom prst="rect">
            <a:avLst/>
          </a:prstGeom>
          <a:noFill/>
          <a:ln/>
        </p:spPr>
        <p:txBody>
          <a:bodyPr wrap="square" lIns="0" tIns="0" rIns="0" bIns="0" rtlCol="0" anchor="t"/>
          <a:lstStyle/>
          <a:p>
            <a:pPr marL="0" indent="0" algn="ctr">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5" name="Text 23"/>
          <p:cNvSpPr txBox="1"/>
          <p:nvPr/>
        </p:nvSpPr>
        <p:spPr>
          <a:xfrm>
            <a:off x="9276359" y="1695752"/>
            <a:ext cx="2165528" cy="603504"/>
          </a:xfrm>
          <a:prstGeom prst="rect">
            <a:avLst/>
          </a:prstGeom>
          <a:noFill/>
          <a:ln/>
        </p:spPr>
        <p:txBody>
          <a:bodyPr wrap="square" lIns="0" tIns="0" rIns="0" bIns="0" rtlCol="0" anchor="t"/>
          <a:lstStyle/>
          <a:p>
            <a:pPr marL="0" indent="0">
              <a:buNone/>
            </a:pPr>
            <a:r>
              <a:rPr lang="en-US" sz="1400" b="1" dirty="0">
                <a:solidFill>
                  <a:srgbClr val="0B3B75"/>
                </a:solidFill>
                <a:latin typeface="Calibri" pitchFamily="34" charset="0"/>
                <a:ea typeface="Calibri" pitchFamily="34" charset="-122"/>
                <a:cs typeface="Calibri" pitchFamily="34" charset="-120"/>
              </a:rPr>
              <a:t>Cam kết</a:t>
            </a:r>
            <a:endParaRPr lang="en-US" sz="1400" dirty="0"/>
          </a:p>
          <a:p>
            <a:pPr marL="0" indent="0">
              <a:buNone/>
            </a:pPr>
            <a:r>
              <a:rPr lang="en-US" sz="1400" b="1" dirty="0">
                <a:solidFill>
                  <a:srgbClr val="0B3B75"/>
                </a:solidFill>
                <a:latin typeface="Calibri" pitchFamily="34" charset="0"/>
                <a:ea typeface="Calibri" pitchFamily="34" charset="-122"/>
                <a:cs typeface="Calibri" pitchFamily="34" charset="-120"/>
              </a:rPr>
              <a:t>SLA</a:t>
            </a:r>
            <a:endParaRPr lang="en-US" sz="1400" dirty="0"/>
          </a:p>
        </p:txBody>
      </p:sp>
      <p:sp>
        <p:nvSpPr>
          <p:cNvPr id="26" name="Text 24"/>
          <p:cNvSpPr txBox="1"/>
          <p:nvPr/>
        </p:nvSpPr>
        <p:spPr>
          <a:xfrm>
            <a:off x="9276359" y="2335832"/>
            <a:ext cx="2165528" cy="694944"/>
          </a:xfrm>
          <a:prstGeom prst="rect">
            <a:avLst/>
          </a:prstGeom>
          <a:noFill/>
          <a:ln/>
        </p:spPr>
        <p:txBody>
          <a:bodyPr wrap="square" lIns="0" tIns="0" rIns="0" bIns="0" rtlCol="0" anchor="t"/>
          <a:lstStyle/>
          <a:p>
            <a:pPr marL="0" indent="0">
              <a:buNone/>
            </a:pPr>
            <a:r>
              <a:rPr lang="en-US" sz="1000" dirty="0">
                <a:solidFill>
                  <a:srgbClr val="6E7A88"/>
                </a:solidFill>
                <a:latin typeface="Calibri" pitchFamily="34" charset="0"/>
                <a:ea typeface="Calibri" pitchFamily="34" charset="-122"/>
                <a:cs typeface="Calibri" pitchFamily="34" charset="-120"/>
              </a:rPr>
              <a:t>Mỗi dịch vụ đi kèm cam kết chất lượng và thời gian xử lý giữa Khối IT và các phòng ban nghiệp vụ.</a:t>
            </a:r>
            <a:endParaRPr lang="en-US" sz="1000" dirty="0"/>
          </a:p>
        </p:txBody>
      </p:sp>
      <p:sp>
        <p:nvSpPr>
          <p:cNvPr id="27" name="Shape 25"/>
          <p:cNvSpPr/>
          <p:nvPr/>
        </p:nvSpPr>
        <p:spPr>
          <a:xfrm>
            <a:off x="548640" y="3305096"/>
            <a:ext cx="11094415" cy="914400"/>
          </a:xfrm>
          <a:prstGeom prst="roundRect">
            <a:avLst>
              <a:gd name="adj" fmla="val 6000"/>
            </a:avLst>
          </a:prstGeom>
          <a:solidFill>
            <a:srgbClr val="FFFFFF"/>
          </a:solidFill>
          <a:ln w="9525">
            <a:solidFill>
              <a:srgbClr val="1660BF"/>
            </a:solidFill>
            <a:prstDash val="solid"/>
          </a:ln>
          <a:effectLst>
            <a:outerShdw blurRad="101600" dist="19050" dir="5400000" algn="bl" rotWithShape="0">
              <a:srgbClr val="9AAFC6">
                <a:alpha val="16000"/>
              </a:srgbClr>
            </a:outerShdw>
          </a:effectLst>
        </p:spPr>
        <p:txBody>
          <a:bodyPr/>
          <a:lstStyle/>
          <a:p>
            <a:endParaRPr lang="en-US"/>
          </a:p>
        </p:txBody>
      </p:sp>
      <p:sp>
        <p:nvSpPr>
          <p:cNvPr id="28" name="Text 26"/>
          <p:cNvSpPr txBox="1"/>
          <p:nvPr/>
        </p:nvSpPr>
        <p:spPr>
          <a:xfrm>
            <a:off x="768096" y="3469688"/>
            <a:ext cx="10655503" cy="621792"/>
          </a:xfrm>
          <a:prstGeom prst="rect">
            <a:avLst/>
          </a:prstGeom>
          <a:noFill/>
          <a:ln/>
        </p:spPr>
        <p:txBody>
          <a:bodyPr wrap="square" lIns="0" tIns="0" rIns="0" bIns="0" rtlCol="0" anchor="t"/>
          <a:lstStyle/>
          <a:p>
            <a:pPr marL="0" indent="0">
              <a:buNone/>
            </a:pPr>
            <a:r>
              <a:rPr lang="en-US" sz="1100" b="1" dirty="0">
                <a:solidFill>
                  <a:srgbClr val="1660BF"/>
                </a:solidFill>
                <a:latin typeface="Calibri" pitchFamily="34" charset="0"/>
                <a:ea typeface="Calibri" pitchFamily="34" charset="-122"/>
                <a:cs typeface="Calibri" pitchFamily="34" charset="-120"/>
              </a:rPr>
              <a:t>CHUỖI CUNG ỨNG DỊCH VỤ CNTT   </a:t>
            </a:r>
            <a:r>
              <a:rPr lang="en-US" sz="1100" dirty="0">
                <a:solidFill>
                  <a:srgbClr val="2A3442"/>
                </a:solidFill>
                <a:latin typeface="Calibri" pitchFamily="34" charset="0"/>
                <a:ea typeface="Calibri" pitchFamily="34" charset="-122"/>
                <a:cs typeface="Calibri" pitchFamily="34" charset="-120"/>
              </a:rPr>
              <a:t>Sản phẩm/dịch vụ đầu ra  →  Khách hàng nội bộ  →  Cam kết chất lượng dịch vụ (SLA) — ba yếu tố đầy đủ của một đơn vị cung cấp dịch vụ độc lập trong lòng ngân hàng.</a:t>
            </a:r>
            <a:endParaRPr lang="en-US" sz="1100" dirty="0"/>
          </a:p>
        </p:txBody>
      </p:sp>
      <p:grpSp>
        <p:nvGrpSpPr>
          <p:cNvPr id="35" name="Group 34">
            <a:extLst>
              <a:ext uri="{FF2B5EF4-FFF2-40B4-BE49-F238E27FC236}">
                <a16:creationId xmlns:a16="http://schemas.microsoft.com/office/drawing/2014/main" id="{FFD37304-274E-273C-A08A-82D1FBEB5563}"/>
              </a:ext>
            </a:extLst>
          </p:cNvPr>
          <p:cNvGrpSpPr/>
          <p:nvPr/>
        </p:nvGrpSpPr>
        <p:grpSpPr>
          <a:xfrm>
            <a:off x="358325" y="4368388"/>
            <a:ext cx="11475043" cy="1755648"/>
            <a:chOff x="358478" y="4809744"/>
            <a:chExt cx="11475043" cy="1755648"/>
          </a:xfrm>
        </p:grpSpPr>
        <p:sp>
          <p:nvSpPr>
            <p:cNvPr id="29" name="Shape 27"/>
            <p:cNvSpPr/>
            <p:nvPr/>
          </p:nvSpPr>
          <p:spPr>
            <a:xfrm>
              <a:off x="358478" y="4809744"/>
              <a:ext cx="11475043" cy="1755648"/>
            </a:xfrm>
            <a:prstGeom prst="roundRect">
              <a:avLst>
                <a:gd name="adj" fmla="val 4225"/>
              </a:avLst>
            </a:prstGeom>
            <a:solidFill>
              <a:srgbClr val="FCF7EA"/>
            </a:solidFill>
            <a:ln w="15875">
              <a:solidFill>
                <a:srgbClr val="D9A227"/>
              </a:solidFill>
              <a:prstDash val="dash"/>
            </a:ln>
          </p:spPr>
          <p:txBody>
            <a:bodyPr/>
            <a:lstStyle/>
            <a:p>
              <a:endParaRPr lang="en-US"/>
            </a:p>
          </p:txBody>
        </p:sp>
        <p:pic>
          <p:nvPicPr>
            <p:cNvPr id="34" name="Picture 33">
              <a:extLst>
                <a:ext uri="{FF2B5EF4-FFF2-40B4-BE49-F238E27FC236}">
                  <a16:creationId xmlns:a16="http://schemas.microsoft.com/office/drawing/2014/main" id="{6F8AE5E8-0891-D552-F0EE-0AE1AD58A932}"/>
                </a:ext>
              </a:extLst>
            </p:cNvPr>
            <p:cNvPicPr>
              <a:picLocks noChangeAspect="1"/>
            </p:cNvPicPr>
            <p:nvPr/>
          </p:nvPicPr>
          <p:blipFill>
            <a:blip r:embed="rId3"/>
            <a:stretch>
              <a:fillRect/>
            </a:stretch>
          </p:blipFill>
          <p:spPr>
            <a:xfrm>
              <a:off x="427487" y="4896698"/>
              <a:ext cx="11333459" cy="1563797"/>
            </a:xfrm>
            <a:prstGeom prst="rect">
              <a:avLst/>
            </a:prstGeom>
          </p:spPr>
        </p:pic>
      </p:grpSp>
      <p:sp>
        <p:nvSpPr>
          <p:cNvPr id="33" name="Text 4">
            <a:extLst>
              <a:ext uri="{FF2B5EF4-FFF2-40B4-BE49-F238E27FC236}">
                <a16:creationId xmlns:a16="http://schemas.microsoft.com/office/drawing/2014/main" id="{C01BE82F-97BA-419D-62DB-D82B98F1B2CC}"/>
              </a:ext>
            </a:extLst>
          </p:cNvPr>
          <p:cNvSpPr txBox="1"/>
          <p:nvPr/>
        </p:nvSpPr>
        <p:spPr>
          <a:xfrm>
            <a:off x="11155680" y="6382512"/>
            <a:ext cx="484632" cy="274320"/>
          </a:xfrm>
          <a:prstGeom prst="rect">
            <a:avLst/>
          </a:prstGeom>
          <a:noFill/>
          <a:ln/>
        </p:spPr>
        <p:txBody>
          <a:bodyPr wrap="square" lIns="0" tIns="0" rIns="0" bIns="0" rtlCol="0" anchor="t"/>
          <a:lstStyle/>
          <a:p>
            <a:pPr marL="0" indent="0" algn="r">
              <a:buNone/>
            </a:pPr>
            <a:r>
              <a:rPr lang="en-US" sz="1100" b="1" dirty="0">
                <a:solidFill>
                  <a:srgbClr val="A5741A"/>
                </a:solidFill>
                <a:latin typeface="Calibri" pitchFamily="34" charset="0"/>
                <a:ea typeface="Calibri" pitchFamily="34" charset="-122"/>
                <a:cs typeface="Calibri" pitchFamily="34" charset="-120"/>
              </a:rPr>
              <a:t>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65760"/>
            <a:ext cx="123444" cy="123444"/>
          </a:xfrm>
          <a:prstGeom prst="ellipse">
            <a:avLst/>
          </a:prstGeom>
          <a:solidFill>
            <a:srgbClr val="D9A227"/>
          </a:solidFill>
          <a:ln w="12700">
            <a:solidFill>
              <a:srgbClr val="D9A227"/>
            </a:solidFill>
            <a:prstDash val="solid"/>
          </a:ln>
        </p:spPr>
        <p:txBody>
          <a:bodyPr/>
          <a:lstStyle/>
          <a:p>
            <a:endParaRPr lang="en-US"/>
          </a:p>
        </p:txBody>
      </p:sp>
      <p:sp>
        <p:nvSpPr>
          <p:cNvPr id="3" name="Text 1"/>
          <p:cNvSpPr txBox="1"/>
          <p:nvPr/>
        </p:nvSpPr>
        <p:spPr>
          <a:xfrm>
            <a:off x="804672" y="292608"/>
            <a:ext cx="10838383" cy="237744"/>
          </a:xfrm>
          <a:prstGeom prst="rect">
            <a:avLst/>
          </a:prstGeom>
          <a:noFill/>
          <a:ln/>
        </p:spPr>
        <p:txBody>
          <a:bodyPr wrap="square" lIns="0" tIns="0" rIns="0" bIns="0" rtlCol="0" anchor="t"/>
          <a:lstStyle/>
          <a:p>
            <a:pPr marL="0" indent="0">
              <a:buNone/>
            </a:pPr>
            <a:r>
              <a:rPr lang="en-US" sz="1050" b="1" kern="0" spc="120" dirty="0">
                <a:solidFill>
                  <a:srgbClr val="A5741A"/>
                </a:solidFill>
                <a:latin typeface="Calibri" pitchFamily="34" charset="0"/>
                <a:ea typeface="Calibri" pitchFamily="34" charset="-122"/>
                <a:cs typeface="Calibri" pitchFamily="34" charset="-120"/>
              </a:rPr>
              <a:t>CHƯƠNG 1 · 1.3 KIẾN TRÚC QUY TRÌNH</a:t>
            </a:r>
            <a:endParaRPr lang="en-US" sz="1050" dirty="0"/>
          </a:p>
        </p:txBody>
      </p:sp>
      <p:sp>
        <p:nvSpPr>
          <p:cNvPr id="4" name="Text 2"/>
          <p:cNvSpPr txBox="1"/>
          <p:nvPr/>
        </p:nvSpPr>
        <p:spPr>
          <a:xfrm>
            <a:off x="548640" y="566928"/>
            <a:ext cx="11094415" cy="457200"/>
          </a:xfrm>
          <a:prstGeom prst="rect">
            <a:avLst/>
          </a:prstGeom>
          <a:noFill/>
          <a:ln/>
        </p:spPr>
        <p:txBody>
          <a:bodyPr wrap="square" lIns="0" tIns="0" rIns="0" bIns="0" rtlCol="0" anchor="t"/>
          <a:lstStyle/>
          <a:p>
            <a:pPr marL="0" indent="0">
              <a:buNone/>
            </a:pPr>
            <a:r>
              <a:rPr lang="en-US" sz="2500" b="1" dirty="0">
                <a:solidFill>
                  <a:srgbClr val="0B3B75"/>
                </a:solidFill>
                <a:latin typeface="Calibri" pitchFamily="34" charset="0"/>
                <a:ea typeface="Calibri" pitchFamily="34" charset="-122"/>
                <a:cs typeface="Calibri" pitchFamily="34" charset="-120"/>
              </a:rPr>
              <a:t>KIẾN TRÚC QUY TRÌNH BA TẦNG CỦA KHỐI CNTT</a:t>
            </a:r>
            <a:endParaRPr lang="en-US" sz="2500" dirty="0"/>
          </a:p>
        </p:txBody>
      </p:sp>
      <p:sp>
        <p:nvSpPr>
          <p:cNvPr id="5" name="Text 3"/>
          <p:cNvSpPr txBox="1"/>
          <p:nvPr/>
        </p:nvSpPr>
        <p:spPr>
          <a:xfrm>
            <a:off x="548640" y="1024128"/>
            <a:ext cx="11094415" cy="274320"/>
          </a:xfrm>
          <a:prstGeom prst="rect">
            <a:avLst/>
          </a:prstGeom>
          <a:noFill/>
          <a:ln/>
        </p:spPr>
        <p:txBody>
          <a:bodyPr wrap="square" lIns="0" tIns="0" rIns="0" bIns="0" rtlCol="0" anchor="t"/>
          <a:lstStyle/>
          <a:p>
            <a:pPr marL="0" indent="0">
              <a:buNone/>
            </a:pPr>
            <a:r>
              <a:rPr lang="en-US" sz="1100" i="1" dirty="0">
                <a:solidFill>
                  <a:srgbClr val="6E7A88"/>
                </a:solidFill>
                <a:latin typeface="Calibri" pitchFamily="34" charset="0"/>
                <a:ea typeface="Calibri" pitchFamily="34" charset="-122"/>
                <a:cs typeface="Calibri" pitchFamily="34" charset="-120"/>
              </a:rPr>
              <a:t>“Ba nhóm quy trình không tồn tại độc lập mà vận hành theo một cấu trúc phân tầng chặt chẽ.”</a:t>
            </a:r>
            <a:endParaRPr lang="en-US" sz="1100" dirty="0"/>
          </a:p>
        </p:txBody>
      </p:sp>
      <p:sp>
        <p:nvSpPr>
          <p:cNvPr id="6" name="Text 4"/>
          <p:cNvSpPr txBox="1"/>
          <p:nvPr/>
        </p:nvSpPr>
        <p:spPr>
          <a:xfrm>
            <a:off x="548640" y="6419088"/>
            <a:ext cx="8778240" cy="237744"/>
          </a:xfrm>
          <a:prstGeom prst="rect">
            <a:avLst/>
          </a:prstGeom>
          <a:noFill/>
          <a:ln/>
        </p:spPr>
        <p:txBody>
          <a:bodyPr wrap="square" lIns="0" tIns="0" rIns="0" bIns="0" rtlCol="0" anchor="t"/>
          <a:lstStyle/>
          <a:p>
            <a:pPr marL="0" indent="0">
              <a:buNone/>
            </a:pPr>
            <a:r>
              <a:rPr lang="en-US" sz="850" dirty="0">
                <a:solidFill>
                  <a:srgbClr val="6E7A88"/>
                </a:solidFill>
                <a:latin typeface="Calibri" pitchFamily="34" charset="0"/>
                <a:ea typeface="Calibri" pitchFamily="34" charset="-122"/>
                <a:cs typeface="Calibri" pitchFamily="34" charset="-120"/>
              </a:rPr>
              <a:t>HỆ THỐNG QUẢN TRỊ QUY TRÌNH NGHIỆP VỤ  ·  SACOMBANK — QUY TRÌNH PYC</a:t>
            </a:r>
            <a:endParaRPr lang="en-US" sz="850" dirty="0"/>
          </a:p>
        </p:txBody>
      </p:sp>
      <p:sp>
        <p:nvSpPr>
          <p:cNvPr id="7" name="Text 5"/>
          <p:cNvSpPr txBox="1"/>
          <p:nvPr/>
        </p:nvSpPr>
        <p:spPr>
          <a:xfrm>
            <a:off x="11155680" y="6382512"/>
            <a:ext cx="484632" cy="274320"/>
          </a:xfrm>
          <a:prstGeom prst="rect">
            <a:avLst/>
          </a:prstGeom>
          <a:noFill/>
          <a:ln/>
        </p:spPr>
        <p:txBody>
          <a:bodyPr wrap="square" lIns="0" tIns="0" rIns="0" bIns="0" rtlCol="0" anchor="t"/>
          <a:lstStyle/>
          <a:p>
            <a:pPr marL="0" indent="0" algn="r">
              <a:buNone/>
            </a:pPr>
            <a:r>
              <a:rPr lang="en-US" sz="1100" b="1" dirty="0">
                <a:solidFill>
                  <a:srgbClr val="A5741A"/>
                </a:solidFill>
                <a:latin typeface="Calibri" pitchFamily="34" charset="0"/>
                <a:ea typeface="Calibri" pitchFamily="34" charset="-122"/>
                <a:cs typeface="Calibri" pitchFamily="34" charset="-120"/>
              </a:rPr>
              <a:t>7</a:t>
            </a:r>
            <a:endParaRPr lang="en-US" sz="1100" dirty="0"/>
          </a:p>
        </p:txBody>
      </p:sp>
      <p:sp>
        <p:nvSpPr>
          <p:cNvPr id="8" name="Shape 6"/>
          <p:cNvSpPr/>
          <p:nvPr/>
        </p:nvSpPr>
        <p:spPr>
          <a:xfrm>
            <a:off x="548640" y="1517904"/>
            <a:ext cx="5943600" cy="841248"/>
          </a:xfrm>
          <a:prstGeom prst="roundRect">
            <a:avLst>
              <a:gd name="adj" fmla="val 6522"/>
            </a:avLst>
          </a:prstGeom>
          <a:solidFill>
            <a:srgbClr val="EFF4FB"/>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9" name="Shape 7"/>
          <p:cNvSpPr/>
          <p:nvPr/>
        </p:nvSpPr>
        <p:spPr>
          <a:xfrm>
            <a:off x="768096" y="1819656"/>
            <a:ext cx="237744" cy="237744"/>
          </a:xfrm>
          <a:prstGeom prst="ellipse">
            <a:avLst/>
          </a:prstGeom>
          <a:solidFill>
            <a:srgbClr val="1660BF"/>
          </a:solidFill>
          <a:ln w="12700">
            <a:solidFill>
              <a:srgbClr val="1660BF"/>
            </a:solidFill>
            <a:prstDash val="solid"/>
          </a:ln>
        </p:spPr>
        <p:txBody>
          <a:bodyPr/>
          <a:lstStyle/>
          <a:p>
            <a:endParaRPr lang="en-US" dirty="0"/>
          </a:p>
        </p:txBody>
      </p:sp>
      <p:sp>
        <p:nvSpPr>
          <p:cNvPr id="10" name="Text 8"/>
          <p:cNvSpPr txBox="1"/>
          <p:nvPr/>
        </p:nvSpPr>
        <p:spPr>
          <a:xfrm>
            <a:off x="1133856" y="1609344"/>
            <a:ext cx="1920240" cy="274320"/>
          </a:xfrm>
          <a:prstGeom prst="rect">
            <a:avLst/>
          </a:prstGeom>
          <a:noFill/>
          <a:ln/>
        </p:spPr>
        <p:txBody>
          <a:bodyPr wrap="square" lIns="0" tIns="0" rIns="0" bIns="0" rtlCol="0" anchor="t"/>
          <a:lstStyle/>
          <a:p>
            <a:pPr marL="0" indent="0">
              <a:buNone/>
            </a:pPr>
            <a:r>
              <a:rPr lang="en-US" sz="1300" b="1" dirty="0">
                <a:solidFill>
                  <a:srgbClr val="0B3B75"/>
                </a:solidFill>
                <a:latin typeface="Calibri" pitchFamily="34" charset="0"/>
                <a:ea typeface="Calibri" pitchFamily="34" charset="-122"/>
                <a:cs typeface="Calibri" pitchFamily="34" charset="-120"/>
              </a:rPr>
              <a:t>NHÓM QUẢN LÝ</a:t>
            </a:r>
            <a:endParaRPr lang="en-US" sz="1300" dirty="0"/>
          </a:p>
        </p:txBody>
      </p:sp>
      <p:sp>
        <p:nvSpPr>
          <p:cNvPr id="11" name="Text 9"/>
          <p:cNvSpPr txBox="1"/>
          <p:nvPr/>
        </p:nvSpPr>
        <p:spPr>
          <a:xfrm>
            <a:off x="1133856" y="1901952"/>
            <a:ext cx="1920240" cy="237744"/>
          </a:xfrm>
          <a:prstGeom prst="rect">
            <a:avLst/>
          </a:prstGeom>
          <a:noFill/>
          <a:ln/>
        </p:spPr>
        <p:txBody>
          <a:bodyPr wrap="square" lIns="0" tIns="0" rIns="0" bIns="0" rtlCol="0" anchor="t"/>
          <a:lstStyle/>
          <a:p>
            <a:pPr marL="0" indent="0">
              <a:buNone/>
            </a:pPr>
            <a:r>
              <a:rPr lang="en-US" sz="950" b="1" dirty="0">
                <a:solidFill>
                  <a:srgbClr val="1660BF"/>
                </a:solidFill>
                <a:latin typeface="Calibri" pitchFamily="34" charset="0"/>
                <a:ea typeface="Calibri" pitchFamily="34" charset="-122"/>
                <a:cs typeface="Calibri" pitchFamily="34" charset="-120"/>
              </a:rPr>
              <a:t>Management  ·  03 quy trình</a:t>
            </a:r>
            <a:endParaRPr lang="en-US" sz="950" dirty="0"/>
          </a:p>
        </p:txBody>
      </p:sp>
      <p:sp>
        <p:nvSpPr>
          <p:cNvPr id="12" name="Text 10"/>
          <p:cNvSpPr txBox="1"/>
          <p:nvPr/>
        </p:nvSpPr>
        <p:spPr>
          <a:xfrm>
            <a:off x="3200400" y="1645920"/>
            <a:ext cx="3154680" cy="621792"/>
          </a:xfrm>
          <a:prstGeom prst="rect">
            <a:avLst/>
          </a:prstGeom>
          <a:noFill/>
          <a:ln/>
        </p:spPr>
        <p:txBody>
          <a:bodyPr wrap="square" lIns="0" tIns="0" rIns="0" bIns="0" rtlCol="0" anchor="t"/>
          <a:lstStyle/>
          <a:p>
            <a:pPr marL="0" indent="0">
              <a:buNone/>
            </a:pPr>
            <a:r>
              <a:rPr lang="en-US" sz="1000" dirty="0">
                <a:solidFill>
                  <a:srgbClr val="6E7A88"/>
                </a:solidFill>
                <a:latin typeface="Calibri" pitchFamily="34" charset="0"/>
                <a:ea typeface="Calibri" pitchFamily="34" charset="-122"/>
                <a:cs typeface="Calibri" pitchFamily="34" charset="-120"/>
              </a:rPr>
              <a:t>Giám sát, đo lường rủi ro và đánh giá hiệu suất (SLA) — đảm bảo hoạt động của Khối bám sát chiến lược Ngân hàng.</a:t>
            </a:r>
            <a:endParaRPr lang="en-US" sz="1000" dirty="0"/>
          </a:p>
        </p:txBody>
      </p:sp>
      <p:sp>
        <p:nvSpPr>
          <p:cNvPr id="13" name="Shape 11"/>
          <p:cNvSpPr/>
          <p:nvPr/>
        </p:nvSpPr>
        <p:spPr>
          <a:xfrm>
            <a:off x="548640" y="2487168"/>
            <a:ext cx="5943600" cy="841248"/>
          </a:xfrm>
          <a:prstGeom prst="roundRect">
            <a:avLst>
              <a:gd name="adj" fmla="val 6522"/>
            </a:avLst>
          </a:prstGeom>
          <a:solidFill>
            <a:srgbClr val="EFF4FB"/>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14" name="Shape 12"/>
          <p:cNvSpPr/>
          <p:nvPr/>
        </p:nvSpPr>
        <p:spPr>
          <a:xfrm>
            <a:off x="768096" y="2788920"/>
            <a:ext cx="237744" cy="237744"/>
          </a:xfrm>
          <a:prstGeom prst="ellipse">
            <a:avLst/>
          </a:prstGeom>
          <a:solidFill>
            <a:srgbClr val="A5741A"/>
          </a:solidFill>
          <a:ln w="12700">
            <a:solidFill>
              <a:srgbClr val="A5741A"/>
            </a:solidFill>
            <a:prstDash val="solid"/>
          </a:ln>
        </p:spPr>
        <p:txBody>
          <a:bodyPr/>
          <a:lstStyle/>
          <a:p>
            <a:endParaRPr lang="en-US"/>
          </a:p>
        </p:txBody>
      </p:sp>
      <p:sp>
        <p:nvSpPr>
          <p:cNvPr id="15" name="Text 13"/>
          <p:cNvSpPr txBox="1"/>
          <p:nvPr/>
        </p:nvSpPr>
        <p:spPr>
          <a:xfrm>
            <a:off x="1133856" y="2578608"/>
            <a:ext cx="1920240" cy="274320"/>
          </a:xfrm>
          <a:prstGeom prst="rect">
            <a:avLst/>
          </a:prstGeom>
          <a:noFill/>
          <a:ln/>
        </p:spPr>
        <p:txBody>
          <a:bodyPr wrap="square" lIns="0" tIns="0" rIns="0" bIns="0" rtlCol="0" anchor="t"/>
          <a:lstStyle/>
          <a:p>
            <a:pPr marL="0" indent="0">
              <a:buNone/>
            </a:pPr>
            <a:r>
              <a:rPr lang="en-US" sz="1300" b="1" dirty="0">
                <a:solidFill>
                  <a:srgbClr val="0B3B75"/>
                </a:solidFill>
                <a:latin typeface="Calibri" pitchFamily="34" charset="0"/>
                <a:ea typeface="Calibri" pitchFamily="34" charset="-122"/>
                <a:cs typeface="Calibri" pitchFamily="34" charset="-120"/>
              </a:rPr>
              <a:t>NHÓM CỐT LÕI</a:t>
            </a:r>
            <a:endParaRPr lang="en-US" sz="1300" dirty="0"/>
          </a:p>
        </p:txBody>
      </p:sp>
      <p:sp>
        <p:nvSpPr>
          <p:cNvPr id="16" name="Text 14"/>
          <p:cNvSpPr txBox="1"/>
          <p:nvPr/>
        </p:nvSpPr>
        <p:spPr>
          <a:xfrm>
            <a:off x="1133856" y="2871216"/>
            <a:ext cx="1920240" cy="237744"/>
          </a:xfrm>
          <a:prstGeom prst="rect">
            <a:avLst/>
          </a:prstGeom>
          <a:noFill/>
          <a:ln/>
        </p:spPr>
        <p:txBody>
          <a:bodyPr wrap="square" lIns="0" tIns="0" rIns="0" bIns="0" rtlCol="0" anchor="t"/>
          <a:lstStyle/>
          <a:p>
            <a:pPr marL="0" indent="0">
              <a:buNone/>
            </a:pPr>
            <a:r>
              <a:rPr lang="en-US" sz="950" b="1" dirty="0">
                <a:solidFill>
                  <a:srgbClr val="A5741A"/>
                </a:solidFill>
                <a:latin typeface="Calibri" pitchFamily="34" charset="0"/>
                <a:ea typeface="Calibri" pitchFamily="34" charset="-122"/>
                <a:cs typeface="Calibri" pitchFamily="34" charset="-120"/>
              </a:rPr>
              <a:t>Core  ·  03 quy trình</a:t>
            </a:r>
            <a:endParaRPr lang="en-US" sz="950" dirty="0"/>
          </a:p>
        </p:txBody>
      </p:sp>
      <p:sp>
        <p:nvSpPr>
          <p:cNvPr id="17" name="Text 15"/>
          <p:cNvSpPr txBox="1"/>
          <p:nvPr/>
        </p:nvSpPr>
        <p:spPr>
          <a:xfrm>
            <a:off x="3200400" y="2615184"/>
            <a:ext cx="3154680" cy="621792"/>
          </a:xfrm>
          <a:prstGeom prst="rect">
            <a:avLst/>
          </a:prstGeom>
          <a:noFill/>
          <a:ln/>
        </p:spPr>
        <p:txBody>
          <a:bodyPr wrap="square" lIns="0" tIns="0" rIns="0" bIns="0" rtlCol="0" anchor="t"/>
          <a:lstStyle/>
          <a:p>
            <a:pPr marL="0" indent="0">
              <a:buNone/>
            </a:pPr>
            <a:r>
              <a:rPr lang="en-US" sz="1000" dirty="0">
                <a:solidFill>
                  <a:srgbClr val="6E7A88"/>
                </a:solidFill>
                <a:latin typeface="Calibri" pitchFamily="34" charset="0"/>
                <a:ea typeface="Calibri" pitchFamily="34" charset="-122"/>
                <a:cs typeface="Calibri" pitchFamily="34" charset="-120"/>
              </a:rPr>
              <a:t>“Nhà máy” trực tiếp tiếp nhận và xử lý yêu cầu nghiệp vụ (tạo PYC, báo lỗi) từ người dùng nội bộ Sacombank.</a:t>
            </a:r>
            <a:endParaRPr lang="en-US" sz="1000" dirty="0"/>
          </a:p>
        </p:txBody>
      </p:sp>
      <p:sp>
        <p:nvSpPr>
          <p:cNvPr id="18" name="Shape 16"/>
          <p:cNvSpPr/>
          <p:nvPr/>
        </p:nvSpPr>
        <p:spPr>
          <a:xfrm>
            <a:off x="548640" y="3456432"/>
            <a:ext cx="5943600" cy="841248"/>
          </a:xfrm>
          <a:prstGeom prst="roundRect">
            <a:avLst>
              <a:gd name="adj" fmla="val 6522"/>
            </a:avLst>
          </a:prstGeom>
          <a:solidFill>
            <a:srgbClr val="EFF4FB"/>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19" name="Shape 17"/>
          <p:cNvSpPr/>
          <p:nvPr/>
        </p:nvSpPr>
        <p:spPr>
          <a:xfrm>
            <a:off x="768096" y="3758184"/>
            <a:ext cx="237744" cy="237744"/>
          </a:xfrm>
          <a:prstGeom prst="ellipse">
            <a:avLst/>
          </a:prstGeom>
          <a:solidFill>
            <a:srgbClr val="0E7A5F"/>
          </a:solidFill>
          <a:ln w="12700">
            <a:solidFill>
              <a:srgbClr val="0E7A5F"/>
            </a:solidFill>
            <a:prstDash val="solid"/>
          </a:ln>
        </p:spPr>
        <p:txBody>
          <a:bodyPr/>
          <a:lstStyle/>
          <a:p>
            <a:endParaRPr lang="en-US"/>
          </a:p>
        </p:txBody>
      </p:sp>
      <p:sp>
        <p:nvSpPr>
          <p:cNvPr id="20" name="Text 18"/>
          <p:cNvSpPr txBox="1"/>
          <p:nvPr/>
        </p:nvSpPr>
        <p:spPr>
          <a:xfrm>
            <a:off x="1133856" y="3547872"/>
            <a:ext cx="1920240" cy="274320"/>
          </a:xfrm>
          <a:prstGeom prst="rect">
            <a:avLst/>
          </a:prstGeom>
          <a:noFill/>
          <a:ln/>
        </p:spPr>
        <p:txBody>
          <a:bodyPr wrap="square" lIns="0" tIns="0" rIns="0" bIns="0" rtlCol="0" anchor="t"/>
          <a:lstStyle/>
          <a:p>
            <a:pPr marL="0" indent="0">
              <a:buNone/>
            </a:pPr>
            <a:r>
              <a:rPr lang="en-US" sz="1300" b="1" dirty="0">
                <a:solidFill>
                  <a:srgbClr val="0B3B75"/>
                </a:solidFill>
                <a:latin typeface="Calibri" pitchFamily="34" charset="0"/>
                <a:ea typeface="Calibri" pitchFamily="34" charset="-122"/>
                <a:cs typeface="Calibri" pitchFamily="34" charset="-120"/>
              </a:rPr>
              <a:t>NHÓM HỖ TRỢ</a:t>
            </a:r>
            <a:endParaRPr lang="en-US" sz="1300" dirty="0"/>
          </a:p>
        </p:txBody>
      </p:sp>
      <p:sp>
        <p:nvSpPr>
          <p:cNvPr id="21" name="Text 19"/>
          <p:cNvSpPr txBox="1"/>
          <p:nvPr/>
        </p:nvSpPr>
        <p:spPr>
          <a:xfrm>
            <a:off x="1133856" y="3840480"/>
            <a:ext cx="1920240" cy="237744"/>
          </a:xfrm>
          <a:prstGeom prst="rect">
            <a:avLst/>
          </a:prstGeom>
          <a:noFill/>
          <a:ln/>
        </p:spPr>
        <p:txBody>
          <a:bodyPr wrap="square" lIns="0" tIns="0" rIns="0" bIns="0" rtlCol="0" anchor="t"/>
          <a:lstStyle/>
          <a:p>
            <a:pPr marL="0" indent="0">
              <a:buNone/>
            </a:pPr>
            <a:r>
              <a:rPr lang="en-US" sz="950" b="1" dirty="0">
                <a:solidFill>
                  <a:srgbClr val="0E7A5F"/>
                </a:solidFill>
                <a:latin typeface="Calibri" pitchFamily="34" charset="0"/>
                <a:ea typeface="Calibri" pitchFamily="34" charset="-122"/>
                <a:cs typeface="Calibri" pitchFamily="34" charset="-120"/>
              </a:rPr>
              <a:t>Support  ·  04 quy trình</a:t>
            </a:r>
            <a:endParaRPr lang="en-US" sz="950" dirty="0"/>
          </a:p>
        </p:txBody>
      </p:sp>
      <p:sp>
        <p:nvSpPr>
          <p:cNvPr id="22" name="Text 20"/>
          <p:cNvSpPr txBox="1"/>
          <p:nvPr/>
        </p:nvSpPr>
        <p:spPr>
          <a:xfrm>
            <a:off x="3200400" y="3584448"/>
            <a:ext cx="3154680" cy="621792"/>
          </a:xfrm>
          <a:prstGeom prst="rect">
            <a:avLst/>
          </a:prstGeom>
          <a:noFill/>
          <a:ln/>
        </p:spPr>
        <p:txBody>
          <a:bodyPr wrap="square" lIns="0" tIns="0" rIns="0" bIns="0" rtlCol="0" anchor="t"/>
          <a:lstStyle/>
          <a:p>
            <a:pPr marL="0" indent="0">
              <a:buNone/>
            </a:pPr>
            <a:r>
              <a:rPr lang="en-US" sz="1000" dirty="0">
                <a:solidFill>
                  <a:srgbClr val="6E7A88"/>
                </a:solidFill>
                <a:latin typeface="Calibri" pitchFamily="34" charset="0"/>
                <a:ea typeface="Calibri" pitchFamily="34" charset="-122"/>
                <a:cs typeface="Calibri" pitchFamily="34" charset="-120"/>
              </a:rPr>
              <a:t>Cung cấp tài sản, nền tảng tri thức và kiểm soát thay đổi hạ tầng để nhóm Cốt lõi vận hành hiệu quả.</a:t>
            </a:r>
            <a:endParaRPr lang="en-US" sz="1000" dirty="0"/>
          </a:p>
        </p:txBody>
      </p:sp>
      <p:sp>
        <p:nvSpPr>
          <p:cNvPr id="23" name="Shape 21"/>
          <p:cNvSpPr/>
          <p:nvPr/>
        </p:nvSpPr>
        <p:spPr>
          <a:xfrm>
            <a:off x="548640" y="4517136"/>
            <a:ext cx="5943600" cy="1371600"/>
          </a:xfrm>
          <a:prstGeom prst="roundRect">
            <a:avLst>
              <a:gd name="adj" fmla="val 4000"/>
            </a:avLst>
          </a:prstGeom>
          <a:solidFill>
            <a:srgbClr val="FFFFFF"/>
          </a:solidFill>
          <a:ln w="9525">
            <a:solidFill>
              <a:srgbClr val="1660BF"/>
            </a:solidFill>
            <a:prstDash val="solid"/>
          </a:ln>
          <a:effectLst>
            <a:outerShdw blurRad="101600" dist="19050" dir="5400000" algn="bl" rotWithShape="0">
              <a:srgbClr val="9AAFC6">
                <a:alpha val="16000"/>
              </a:srgbClr>
            </a:outerShdw>
          </a:effectLst>
        </p:spPr>
        <p:txBody>
          <a:bodyPr/>
          <a:lstStyle/>
          <a:p>
            <a:endParaRPr lang="en-US"/>
          </a:p>
        </p:txBody>
      </p:sp>
      <p:sp>
        <p:nvSpPr>
          <p:cNvPr id="24" name="Text 22"/>
          <p:cNvSpPr txBox="1"/>
          <p:nvPr/>
        </p:nvSpPr>
        <p:spPr>
          <a:xfrm>
            <a:off x="768096" y="4645152"/>
            <a:ext cx="4572000" cy="237744"/>
          </a:xfrm>
          <a:prstGeom prst="rect">
            <a:avLst/>
          </a:prstGeom>
          <a:noFill/>
          <a:ln/>
        </p:spPr>
        <p:txBody>
          <a:bodyPr wrap="square" lIns="0" tIns="0" rIns="0" bIns="0" rtlCol="0" anchor="t"/>
          <a:lstStyle/>
          <a:p>
            <a:pPr marL="0" indent="0">
              <a:buNone/>
            </a:pPr>
            <a:r>
              <a:rPr lang="en-US" sz="1000" b="1" kern="0" spc="100" dirty="0">
                <a:solidFill>
                  <a:srgbClr val="1660BF"/>
                </a:solidFill>
                <a:latin typeface="Calibri" pitchFamily="34" charset="0"/>
                <a:ea typeface="Calibri" pitchFamily="34" charset="-122"/>
                <a:cs typeface="Calibri" pitchFamily="34" charset="-120"/>
              </a:rPr>
              <a:t>Ý NGHĨA VỚI ĐỀ TÀI</a:t>
            </a:r>
            <a:endParaRPr lang="en-US" sz="1000" dirty="0"/>
          </a:p>
        </p:txBody>
      </p:sp>
      <p:sp>
        <p:nvSpPr>
          <p:cNvPr id="25" name="Text 23"/>
          <p:cNvSpPr txBox="1"/>
          <p:nvPr/>
        </p:nvSpPr>
        <p:spPr>
          <a:xfrm>
            <a:off x="768096" y="4901184"/>
            <a:ext cx="5486400" cy="859536"/>
          </a:xfrm>
          <a:prstGeom prst="rect">
            <a:avLst/>
          </a:prstGeom>
          <a:noFill/>
          <a:ln/>
        </p:spPr>
        <p:txBody>
          <a:bodyPr wrap="square" lIns="0" tIns="0" rIns="0" bIns="0" rtlCol="0" anchor="t"/>
          <a:lstStyle/>
          <a:p>
            <a:pPr marL="0" indent="0">
              <a:buNone/>
            </a:pPr>
            <a:r>
              <a:rPr lang="en-US" sz="1050" dirty="0">
                <a:solidFill>
                  <a:srgbClr val="2A3442"/>
                </a:solidFill>
                <a:latin typeface="Calibri" pitchFamily="34" charset="0"/>
                <a:ea typeface="Calibri" pitchFamily="34" charset="-122"/>
                <a:cs typeface="Calibri" pitchFamily="34" charset="-120"/>
              </a:rPr>
              <a:t>Mọi cải tiến với PYC (nhóm Cốt lõi) đều phải xem xét trong tương quan với cơ chế giám sát SLA (nhóm Quản lý) và nền tảng tri thức – tài sản hỗ trợ (nhóm Hỗ trợ). Đây là định hướng xuyên suốt các chương phân tích.</a:t>
            </a:r>
            <a:endParaRPr lang="en-US" sz="1050" dirty="0"/>
          </a:p>
        </p:txBody>
      </p:sp>
      <p:sp>
        <p:nvSpPr>
          <p:cNvPr id="26" name="Shape 24"/>
          <p:cNvSpPr/>
          <p:nvPr/>
        </p:nvSpPr>
        <p:spPr>
          <a:xfrm>
            <a:off x="6893051" y="937641"/>
            <a:ext cx="4355650" cy="5375687"/>
          </a:xfrm>
          <a:prstGeom prst="roundRect">
            <a:avLst>
              <a:gd name="adj" fmla="val 1667"/>
            </a:avLst>
          </a:prstGeom>
          <a:solidFill>
            <a:srgbClr val="FCF7EA"/>
          </a:solidFill>
          <a:ln w="15875">
            <a:solidFill>
              <a:srgbClr val="D9A227"/>
            </a:solidFill>
            <a:prstDash val="dash"/>
          </a:ln>
        </p:spPr>
        <p:txBody>
          <a:bodyPr/>
          <a:lstStyle/>
          <a:p>
            <a:endParaRPr lang="en-US"/>
          </a:p>
        </p:txBody>
      </p:sp>
      <p:pic>
        <p:nvPicPr>
          <p:cNvPr id="28" name="Picture 27">
            <a:extLst>
              <a:ext uri="{FF2B5EF4-FFF2-40B4-BE49-F238E27FC236}">
                <a16:creationId xmlns:a16="http://schemas.microsoft.com/office/drawing/2014/main" id="{9804DE84-5D8A-4334-EF19-095036575F7B}"/>
              </a:ext>
            </a:extLst>
          </p:cNvPr>
          <p:cNvPicPr>
            <a:picLocks noChangeAspect="1"/>
          </p:cNvPicPr>
          <p:nvPr/>
        </p:nvPicPr>
        <p:blipFill>
          <a:blip r:embed="rId3"/>
          <a:stretch>
            <a:fillRect/>
          </a:stretch>
        </p:blipFill>
        <p:spPr>
          <a:xfrm>
            <a:off x="6988682" y="937640"/>
            <a:ext cx="4260019" cy="5391991"/>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65760"/>
            <a:ext cx="123444" cy="123444"/>
          </a:xfrm>
          <a:prstGeom prst="ellipse">
            <a:avLst/>
          </a:prstGeom>
          <a:solidFill>
            <a:srgbClr val="D9A227"/>
          </a:solidFill>
          <a:ln w="12700">
            <a:solidFill>
              <a:srgbClr val="D9A227"/>
            </a:solidFill>
            <a:prstDash val="solid"/>
          </a:ln>
        </p:spPr>
        <p:txBody>
          <a:bodyPr/>
          <a:lstStyle/>
          <a:p>
            <a:endParaRPr lang="en-US"/>
          </a:p>
        </p:txBody>
      </p:sp>
      <p:sp>
        <p:nvSpPr>
          <p:cNvPr id="3" name="Text 1"/>
          <p:cNvSpPr txBox="1"/>
          <p:nvPr/>
        </p:nvSpPr>
        <p:spPr>
          <a:xfrm>
            <a:off x="804672" y="292608"/>
            <a:ext cx="10838383" cy="237744"/>
          </a:xfrm>
          <a:prstGeom prst="rect">
            <a:avLst/>
          </a:prstGeom>
          <a:noFill/>
          <a:ln/>
        </p:spPr>
        <p:txBody>
          <a:bodyPr wrap="square" lIns="0" tIns="0" rIns="0" bIns="0" rtlCol="0" anchor="t"/>
          <a:lstStyle/>
          <a:p>
            <a:pPr marL="0" indent="0">
              <a:buNone/>
            </a:pPr>
            <a:r>
              <a:rPr lang="en-US" sz="1050" b="1" kern="0" spc="120" dirty="0">
                <a:solidFill>
                  <a:srgbClr val="A5741A"/>
                </a:solidFill>
                <a:latin typeface="Calibri" pitchFamily="34" charset="0"/>
                <a:ea typeface="Calibri" pitchFamily="34" charset="-122"/>
                <a:cs typeface="Calibri" pitchFamily="34" charset="-120"/>
              </a:rPr>
              <a:t>CHƯƠNG 1 · 1.2 KHẢO SÁT QUY TRÌNH</a:t>
            </a:r>
            <a:endParaRPr lang="en-US" sz="1050" dirty="0"/>
          </a:p>
        </p:txBody>
      </p:sp>
      <p:sp>
        <p:nvSpPr>
          <p:cNvPr id="4" name="Text 2"/>
          <p:cNvSpPr txBox="1"/>
          <p:nvPr/>
        </p:nvSpPr>
        <p:spPr>
          <a:xfrm>
            <a:off x="548640" y="566928"/>
            <a:ext cx="11094415" cy="457200"/>
          </a:xfrm>
          <a:prstGeom prst="rect">
            <a:avLst/>
          </a:prstGeom>
          <a:noFill/>
          <a:ln/>
        </p:spPr>
        <p:txBody>
          <a:bodyPr wrap="square" lIns="0" tIns="0" rIns="0" bIns="0" rtlCol="0" anchor="t"/>
          <a:lstStyle/>
          <a:p>
            <a:pPr marL="0" indent="0">
              <a:buNone/>
            </a:pPr>
            <a:r>
              <a:rPr lang="en-US" sz="2500" b="1" dirty="0">
                <a:solidFill>
                  <a:srgbClr val="0B3B75"/>
                </a:solidFill>
                <a:latin typeface="Calibri" pitchFamily="34" charset="0"/>
                <a:ea typeface="Calibri" pitchFamily="34" charset="-122"/>
                <a:cs typeface="Calibri" pitchFamily="34" charset="-120"/>
              </a:rPr>
              <a:t>DANH MỤC 10 QUY TRÌNH NGHIỆP VỤ CNTT</a:t>
            </a:r>
            <a:endParaRPr lang="en-US" sz="2500" dirty="0"/>
          </a:p>
        </p:txBody>
      </p:sp>
      <p:sp>
        <p:nvSpPr>
          <p:cNvPr id="5" name="Text 3"/>
          <p:cNvSpPr txBox="1"/>
          <p:nvPr/>
        </p:nvSpPr>
        <p:spPr>
          <a:xfrm>
            <a:off x="548640" y="1024128"/>
            <a:ext cx="11094415" cy="274320"/>
          </a:xfrm>
          <a:prstGeom prst="rect">
            <a:avLst/>
          </a:prstGeom>
          <a:noFill/>
          <a:ln/>
        </p:spPr>
        <p:txBody>
          <a:bodyPr wrap="square" lIns="0" tIns="0" rIns="0" bIns="0" rtlCol="0" anchor="t"/>
          <a:lstStyle/>
          <a:p>
            <a:pPr marL="0" indent="0">
              <a:buNone/>
            </a:pPr>
            <a:r>
              <a:rPr lang="en-US" sz="1100" i="1" dirty="0">
                <a:solidFill>
                  <a:srgbClr val="6E7A88"/>
                </a:solidFill>
                <a:latin typeface="Calibri" pitchFamily="34" charset="0"/>
                <a:ea typeface="Calibri" pitchFamily="34" charset="-122"/>
                <a:cs typeface="Calibri" pitchFamily="34" charset="-120"/>
              </a:rPr>
              <a:t>Bảng 1.1 — Danh mục quy trình tại Khối CNTT Sacombank  ·  Mã quy trình do nhóm đặt để tiện tham chiếu</a:t>
            </a:r>
            <a:endParaRPr lang="en-US" sz="1100" dirty="0"/>
          </a:p>
        </p:txBody>
      </p:sp>
      <p:sp>
        <p:nvSpPr>
          <p:cNvPr id="6" name="Text 4"/>
          <p:cNvSpPr txBox="1"/>
          <p:nvPr/>
        </p:nvSpPr>
        <p:spPr>
          <a:xfrm>
            <a:off x="548640" y="6419088"/>
            <a:ext cx="8778240" cy="237744"/>
          </a:xfrm>
          <a:prstGeom prst="rect">
            <a:avLst/>
          </a:prstGeom>
          <a:noFill/>
          <a:ln/>
        </p:spPr>
        <p:txBody>
          <a:bodyPr wrap="square" lIns="0" tIns="0" rIns="0" bIns="0" rtlCol="0" anchor="t"/>
          <a:lstStyle/>
          <a:p>
            <a:pPr marL="0" indent="0">
              <a:buNone/>
            </a:pPr>
            <a:r>
              <a:rPr lang="en-US" sz="850" dirty="0">
                <a:solidFill>
                  <a:srgbClr val="6E7A88"/>
                </a:solidFill>
                <a:latin typeface="Calibri" pitchFamily="34" charset="0"/>
                <a:ea typeface="Calibri" pitchFamily="34" charset="-122"/>
                <a:cs typeface="Calibri" pitchFamily="34" charset="-120"/>
              </a:rPr>
              <a:t>HỆ THỐNG QUẢN TRỊ QUY TRÌNH NGHIỆP VỤ  ·  SACOMBANK — QUY TRÌNH PYC</a:t>
            </a:r>
            <a:endParaRPr lang="en-US" sz="850" dirty="0"/>
          </a:p>
        </p:txBody>
      </p:sp>
      <p:sp>
        <p:nvSpPr>
          <p:cNvPr id="7" name="Text 5"/>
          <p:cNvSpPr txBox="1"/>
          <p:nvPr/>
        </p:nvSpPr>
        <p:spPr>
          <a:xfrm>
            <a:off x="11155680" y="6382512"/>
            <a:ext cx="484632" cy="274320"/>
          </a:xfrm>
          <a:prstGeom prst="rect">
            <a:avLst/>
          </a:prstGeom>
          <a:noFill/>
          <a:ln/>
        </p:spPr>
        <p:txBody>
          <a:bodyPr wrap="square" lIns="0" tIns="0" rIns="0" bIns="0" rtlCol="0" anchor="t"/>
          <a:lstStyle/>
          <a:p>
            <a:pPr marL="0" indent="0" algn="r">
              <a:buNone/>
            </a:pPr>
            <a:r>
              <a:rPr lang="en-US" sz="1100" b="1" dirty="0">
                <a:solidFill>
                  <a:srgbClr val="A5741A"/>
                </a:solidFill>
                <a:latin typeface="Calibri" pitchFamily="34" charset="0"/>
                <a:ea typeface="Calibri" pitchFamily="34" charset="-122"/>
                <a:cs typeface="Calibri" pitchFamily="34" charset="-120"/>
              </a:rPr>
              <a:t>8</a:t>
            </a:r>
            <a:endParaRPr lang="en-US" sz="1100" dirty="0"/>
          </a:p>
        </p:txBody>
      </p:sp>
      <p:graphicFrame>
        <p:nvGraphicFramePr>
          <p:cNvPr id="9" name="Table 0"/>
          <p:cNvGraphicFramePr>
            <a:graphicFrameLocks noGrp="1"/>
          </p:cNvGraphicFramePr>
          <p:nvPr>
            <p:extLst>
              <p:ext uri="{D42A27DB-BD31-4B8C-83A1-F6EECF244321}">
                <p14:modId xmlns:p14="http://schemas.microsoft.com/office/powerpoint/2010/main" val="3699974898"/>
              </p:ext>
            </p:extLst>
          </p:nvPr>
        </p:nvGraphicFramePr>
        <p:xfrm>
          <a:off x="548640" y="1426464"/>
          <a:ext cx="11091672" cy="4319909"/>
        </p:xfrm>
        <a:graphic>
          <a:graphicData uri="http://schemas.openxmlformats.org/drawingml/2006/table">
            <a:tbl>
              <a:tblPr/>
              <a:tblGrid>
                <a:gridCol w="685800">
                  <a:extLst>
                    <a:ext uri="{9D8B030D-6E8A-4147-A177-3AD203B41FA5}">
                      <a16:colId xmlns:a16="http://schemas.microsoft.com/office/drawing/2014/main" val="20000"/>
                    </a:ext>
                  </a:extLst>
                </a:gridCol>
                <a:gridCol w="1325880">
                  <a:extLst>
                    <a:ext uri="{9D8B030D-6E8A-4147-A177-3AD203B41FA5}">
                      <a16:colId xmlns:a16="http://schemas.microsoft.com/office/drawing/2014/main" val="20001"/>
                    </a:ext>
                  </a:extLst>
                </a:gridCol>
                <a:gridCol w="3200400">
                  <a:extLst>
                    <a:ext uri="{9D8B030D-6E8A-4147-A177-3AD203B41FA5}">
                      <a16:colId xmlns:a16="http://schemas.microsoft.com/office/drawing/2014/main" val="20002"/>
                    </a:ext>
                  </a:extLst>
                </a:gridCol>
                <a:gridCol w="3291840">
                  <a:extLst>
                    <a:ext uri="{9D8B030D-6E8A-4147-A177-3AD203B41FA5}">
                      <a16:colId xmlns:a16="http://schemas.microsoft.com/office/drawing/2014/main" val="20003"/>
                    </a:ext>
                  </a:extLst>
                </a:gridCol>
                <a:gridCol w="2587752">
                  <a:extLst>
                    <a:ext uri="{9D8B030D-6E8A-4147-A177-3AD203B41FA5}">
                      <a16:colId xmlns:a16="http://schemas.microsoft.com/office/drawing/2014/main" val="20004"/>
                    </a:ext>
                  </a:extLst>
                </a:gridCol>
              </a:tblGrid>
              <a:tr h="392719">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MÃ</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0B3B75"/>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NHÓM</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0B3B75"/>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QUY TRÌNH NGHIỆP VỤ</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0B3B75"/>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THUẬT NGỮ TIẾNG ANH</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0B3B75"/>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Process Owner</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0B3B75"/>
                    </a:solidFill>
                  </a:tcPr>
                </a:tc>
                <a:extLst>
                  <a:ext uri="{0D108BD9-81ED-4DB2-BD59-A6C34878D82A}">
                    <a16:rowId xmlns:a16="http://schemas.microsoft.com/office/drawing/2014/main" val="10000"/>
                  </a:ext>
                </a:extLst>
              </a:tr>
              <a:tr h="392719">
                <a:tc>
                  <a:txBody>
                    <a:bodyPr/>
                    <a:lstStyle/>
                    <a:p>
                      <a:pPr marL="0" indent="0" algn="ctr">
                        <a:buNone/>
                      </a:pPr>
                      <a:r>
                        <a:rPr lang="en-US" sz="1000" dirty="0">
                          <a:solidFill>
                            <a:srgbClr val="2A3442"/>
                          </a:solidFill>
                          <a:latin typeface="Calibri" pitchFamily="34" charset="0"/>
                          <a:ea typeface="Calibri" pitchFamily="34" charset="-122"/>
                          <a:cs typeface="Calibri" pitchFamily="34" charset="-120"/>
                        </a:rPr>
                        <a:t>M01</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Management</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Quản lý Mức Dịch vụ</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Service Level Management (SLA)</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Service Level Manager</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extLst>
                  <a:ext uri="{0D108BD9-81ED-4DB2-BD59-A6C34878D82A}">
                    <a16:rowId xmlns:a16="http://schemas.microsoft.com/office/drawing/2014/main" val="10001"/>
                  </a:ext>
                </a:extLst>
              </a:tr>
              <a:tr h="392719">
                <a:tc>
                  <a:txBody>
                    <a:bodyPr/>
                    <a:lstStyle/>
                    <a:p>
                      <a:pPr marL="0" indent="0" algn="ctr">
                        <a:buNone/>
                      </a:pPr>
                      <a:r>
                        <a:rPr lang="en-US" sz="1000" dirty="0">
                          <a:solidFill>
                            <a:srgbClr val="2A3442"/>
                          </a:solidFill>
                          <a:latin typeface="Calibri" pitchFamily="34" charset="0"/>
                          <a:ea typeface="Calibri" pitchFamily="34" charset="-122"/>
                          <a:cs typeface="Calibri" pitchFamily="34" charset="-120"/>
                        </a:rPr>
                        <a:t>M02</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Management</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Quản lý Rủi ro &amp; An toàn Thông tin</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Risk &amp; Information Security Management</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Trung tâm ATTT</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extLst>
                  <a:ext uri="{0D108BD9-81ED-4DB2-BD59-A6C34878D82A}">
                    <a16:rowId xmlns:a16="http://schemas.microsoft.com/office/drawing/2014/main" val="10002"/>
                  </a:ext>
                </a:extLst>
              </a:tr>
              <a:tr h="392719">
                <a:tc>
                  <a:txBody>
                    <a:bodyPr/>
                    <a:lstStyle/>
                    <a:p>
                      <a:pPr marL="0" indent="0" algn="ctr">
                        <a:buNone/>
                      </a:pPr>
                      <a:r>
                        <a:rPr lang="en-US" sz="1000" dirty="0">
                          <a:solidFill>
                            <a:srgbClr val="2A3442"/>
                          </a:solidFill>
                          <a:latin typeface="Calibri" pitchFamily="34" charset="0"/>
                          <a:ea typeface="Calibri" pitchFamily="34" charset="-122"/>
                          <a:cs typeface="Calibri" pitchFamily="34" charset="-120"/>
                        </a:rPr>
                        <a:t>M03</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Management</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Quản lý Ngân sách &amp; Nguồn lực CNTT</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IT Budget &amp; Resource Management</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Phòng Kế hoạch – Tài chính IT</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extLst>
                  <a:ext uri="{0D108BD9-81ED-4DB2-BD59-A6C34878D82A}">
                    <a16:rowId xmlns:a16="http://schemas.microsoft.com/office/drawing/2014/main" val="10003"/>
                  </a:ext>
                </a:extLst>
              </a:tr>
              <a:tr h="392719">
                <a:tc>
                  <a:txBody>
                    <a:bodyPr/>
                    <a:lstStyle/>
                    <a:p>
                      <a:pPr marL="0" indent="0" algn="ctr">
                        <a:buNone/>
                      </a:pPr>
                      <a:r>
                        <a:rPr lang="en-US" sz="1000" dirty="0">
                          <a:solidFill>
                            <a:srgbClr val="2A3442"/>
                          </a:solidFill>
                          <a:latin typeface="Calibri" pitchFamily="34" charset="0"/>
                          <a:ea typeface="Calibri" pitchFamily="34" charset="-122"/>
                          <a:cs typeface="Calibri" pitchFamily="34" charset="-120"/>
                        </a:rPr>
                        <a:t>C01</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Core</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Quản lý Yêu cầu Dịch vụ (PYC)</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Service Request Management</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Service Desk L1 / L2</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extLst>
                  <a:ext uri="{0D108BD9-81ED-4DB2-BD59-A6C34878D82A}">
                    <a16:rowId xmlns:a16="http://schemas.microsoft.com/office/drawing/2014/main" val="10004"/>
                  </a:ext>
                </a:extLst>
              </a:tr>
              <a:tr h="392719">
                <a:tc>
                  <a:txBody>
                    <a:bodyPr/>
                    <a:lstStyle/>
                    <a:p>
                      <a:pPr marL="0" indent="0" algn="ctr">
                        <a:buNone/>
                      </a:pPr>
                      <a:r>
                        <a:rPr lang="en-US" sz="1000" dirty="0">
                          <a:solidFill>
                            <a:srgbClr val="2A3442"/>
                          </a:solidFill>
                          <a:latin typeface="Calibri" pitchFamily="34" charset="0"/>
                          <a:ea typeface="Calibri" pitchFamily="34" charset="-122"/>
                          <a:cs typeface="Calibri" pitchFamily="34" charset="-120"/>
                        </a:rPr>
                        <a:t>C02</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Core</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Quản lý Sự cố</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Incident Management</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Service Desk L1 / Major Incident Manager</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extLst>
                  <a:ext uri="{0D108BD9-81ED-4DB2-BD59-A6C34878D82A}">
                    <a16:rowId xmlns:a16="http://schemas.microsoft.com/office/drawing/2014/main" val="10005"/>
                  </a:ext>
                </a:extLst>
              </a:tr>
              <a:tr h="392719">
                <a:tc>
                  <a:txBody>
                    <a:bodyPr/>
                    <a:lstStyle/>
                    <a:p>
                      <a:pPr marL="0" indent="0" algn="ctr">
                        <a:buNone/>
                      </a:pPr>
                      <a:r>
                        <a:rPr lang="en-US" sz="1000" dirty="0">
                          <a:solidFill>
                            <a:srgbClr val="2A3442"/>
                          </a:solidFill>
                          <a:latin typeface="Calibri" pitchFamily="34" charset="0"/>
                          <a:ea typeface="Calibri" pitchFamily="34" charset="-122"/>
                          <a:cs typeface="Calibri" pitchFamily="34" charset="-120"/>
                        </a:rPr>
                        <a:t>C03</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Core</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Quản lý Phát hành Phần mềm</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Release Management</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Release Coordinator</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extLst>
                  <a:ext uri="{0D108BD9-81ED-4DB2-BD59-A6C34878D82A}">
                    <a16:rowId xmlns:a16="http://schemas.microsoft.com/office/drawing/2014/main" val="10006"/>
                  </a:ext>
                </a:extLst>
              </a:tr>
              <a:tr h="392719">
                <a:tc>
                  <a:txBody>
                    <a:bodyPr/>
                    <a:lstStyle/>
                    <a:p>
                      <a:pPr marL="0" indent="0" algn="ctr">
                        <a:buNone/>
                      </a:pPr>
                      <a:r>
                        <a:rPr lang="en-US" sz="1000" dirty="0">
                          <a:solidFill>
                            <a:srgbClr val="2A3442"/>
                          </a:solidFill>
                          <a:latin typeface="Calibri" pitchFamily="34" charset="0"/>
                          <a:ea typeface="Calibri" pitchFamily="34" charset="-122"/>
                          <a:cs typeface="Calibri" pitchFamily="34" charset="-120"/>
                        </a:rPr>
                        <a:t>S01</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Support</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Quản lý Vấn đề</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Problem Management</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Problem Manager / SME</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extLst>
                  <a:ext uri="{0D108BD9-81ED-4DB2-BD59-A6C34878D82A}">
                    <a16:rowId xmlns:a16="http://schemas.microsoft.com/office/drawing/2014/main" val="10007"/>
                  </a:ext>
                </a:extLst>
              </a:tr>
              <a:tr h="392719">
                <a:tc>
                  <a:txBody>
                    <a:bodyPr/>
                    <a:lstStyle/>
                    <a:p>
                      <a:pPr marL="0" indent="0" algn="ctr">
                        <a:buNone/>
                      </a:pPr>
                      <a:r>
                        <a:rPr lang="en-US" sz="1000" dirty="0">
                          <a:solidFill>
                            <a:srgbClr val="2A3442"/>
                          </a:solidFill>
                          <a:latin typeface="Calibri" pitchFamily="34" charset="0"/>
                          <a:ea typeface="Calibri" pitchFamily="34" charset="-122"/>
                          <a:cs typeface="Calibri" pitchFamily="34" charset="-120"/>
                        </a:rPr>
                        <a:t>S02</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Support</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Quản lý Thay đổi</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Change Management</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Change Manager / Ban CAB</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extLst>
                  <a:ext uri="{0D108BD9-81ED-4DB2-BD59-A6C34878D82A}">
                    <a16:rowId xmlns:a16="http://schemas.microsoft.com/office/drawing/2014/main" val="10008"/>
                  </a:ext>
                </a:extLst>
              </a:tr>
              <a:tr h="392719">
                <a:tc>
                  <a:txBody>
                    <a:bodyPr/>
                    <a:lstStyle/>
                    <a:p>
                      <a:pPr marL="0" indent="0" algn="ctr">
                        <a:buNone/>
                      </a:pPr>
                      <a:r>
                        <a:rPr lang="en-US" sz="1000" dirty="0">
                          <a:solidFill>
                            <a:srgbClr val="2A3442"/>
                          </a:solidFill>
                          <a:latin typeface="Calibri" pitchFamily="34" charset="0"/>
                          <a:ea typeface="Calibri" pitchFamily="34" charset="-122"/>
                          <a:cs typeface="Calibri" pitchFamily="34" charset="-120"/>
                        </a:rPr>
                        <a:t>S03</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Support</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Quản lý Tài sản CNTT</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IT Asset Management</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Asset Administrator</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extLst>
                  <a:ext uri="{0D108BD9-81ED-4DB2-BD59-A6C34878D82A}">
                    <a16:rowId xmlns:a16="http://schemas.microsoft.com/office/drawing/2014/main" val="10009"/>
                  </a:ext>
                </a:extLst>
              </a:tr>
              <a:tr h="392719">
                <a:tc>
                  <a:txBody>
                    <a:bodyPr/>
                    <a:lstStyle/>
                    <a:p>
                      <a:pPr marL="0" indent="0" algn="ctr">
                        <a:buNone/>
                      </a:pPr>
                      <a:r>
                        <a:rPr lang="en-US" sz="1000" dirty="0">
                          <a:solidFill>
                            <a:srgbClr val="2A3442"/>
                          </a:solidFill>
                          <a:latin typeface="Calibri" pitchFamily="34" charset="0"/>
                          <a:ea typeface="Calibri" pitchFamily="34" charset="-122"/>
                          <a:cs typeface="Calibri" pitchFamily="34" charset="-120"/>
                        </a:rPr>
                        <a:t>S04</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Support</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Quản lý Tri thức</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Knowledge Management</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Knowledge Manager</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extLst>
                  <a:ext uri="{0D108BD9-81ED-4DB2-BD59-A6C34878D82A}">
                    <a16:rowId xmlns:a16="http://schemas.microsoft.com/office/drawing/2014/main" val="10010"/>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65760"/>
            <a:ext cx="123444" cy="123444"/>
          </a:xfrm>
          <a:prstGeom prst="ellipse">
            <a:avLst/>
          </a:prstGeom>
          <a:solidFill>
            <a:srgbClr val="D9A227"/>
          </a:solidFill>
          <a:ln w="12700">
            <a:solidFill>
              <a:srgbClr val="D9A227"/>
            </a:solidFill>
            <a:prstDash val="solid"/>
          </a:ln>
        </p:spPr>
        <p:txBody>
          <a:bodyPr/>
          <a:lstStyle/>
          <a:p>
            <a:endParaRPr lang="en-US"/>
          </a:p>
        </p:txBody>
      </p:sp>
      <p:sp>
        <p:nvSpPr>
          <p:cNvPr id="3" name="Text 1"/>
          <p:cNvSpPr txBox="1"/>
          <p:nvPr/>
        </p:nvSpPr>
        <p:spPr>
          <a:xfrm>
            <a:off x="804672" y="292608"/>
            <a:ext cx="10838383" cy="237744"/>
          </a:xfrm>
          <a:prstGeom prst="rect">
            <a:avLst/>
          </a:prstGeom>
          <a:noFill/>
          <a:ln/>
        </p:spPr>
        <p:txBody>
          <a:bodyPr wrap="square" lIns="0" tIns="0" rIns="0" bIns="0" rtlCol="0" anchor="t"/>
          <a:lstStyle/>
          <a:p>
            <a:pPr marL="0" indent="0">
              <a:buNone/>
            </a:pPr>
            <a:r>
              <a:rPr lang="en-US" sz="1050" b="1" kern="0" spc="120" dirty="0">
                <a:solidFill>
                  <a:srgbClr val="A5741A"/>
                </a:solidFill>
                <a:latin typeface="Calibri" pitchFamily="34" charset="0"/>
                <a:ea typeface="Calibri" pitchFamily="34" charset="-122"/>
                <a:cs typeface="Calibri" pitchFamily="34" charset="-120"/>
              </a:rPr>
              <a:t>CHƯƠNG 1 · NHÓM QUY TRÌNH QUẢN LÝ</a:t>
            </a:r>
            <a:endParaRPr lang="en-US" sz="1050" dirty="0"/>
          </a:p>
        </p:txBody>
      </p:sp>
      <p:sp>
        <p:nvSpPr>
          <p:cNvPr id="4" name="Text 2"/>
          <p:cNvSpPr txBox="1"/>
          <p:nvPr/>
        </p:nvSpPr>
        <p:spPr>
          <a:xfrm>
            <a:off x="548640" y="566928"/>
            <a:ext cx="11094415" cy="457200"/>
          </a:xfrm>
          <a:prstGeom prst="rect">
            <a:avLst/>
          </a:prstGeom>
          <a:noFill/>
          <a:ln/>
        </p:spPr>
        <p:txBody>
          <a:bodyPr wrap="square" lIns="0" tIns="0" rIns="0" bIns="0" rtlCol="0" anchor="t"/>
          <a:lstStyle/>
          <a:p>
            <a:pPr marL="0" indent="0">
              <a:buNone/>
            </a:pPr>
            <a:r>
              <a:rPr lang="en-US" sz="2500" b="1" dirty="0">
                <a:solidFill>
                  <a:srgbClr val="0B3B75"/>
                </a:solidFill>
                <a:latin typeface="Calibri" pitchFamily="34" charset="0"/>
                <a:ea typeface="Calibri" pitchFamily="34" charset="-122"/>
                <a:cs typeface="Calibri" pitchFamily="34" charset="-120"/>
              </a:rPr>
              <a:t>M01 – M02 – M03  ·  TÁC NHÂN, KHÁCH HÀNG VÀ KẾT QUẢ ĐẦU RA</a:t>
            </a:r>
            <a:endParaRPr lang="en-US" sz="2500" dirty="0"/>
          </a:p>
        </p:txBody>
      </p:sp>
      <p:sp>
        <p:nvSpPr>
          <p:cNvPr id="5" name="Text 3"/>
          <p:cNvSpPr txBox="1"/>
          <p:nvPr/>
        </p:nvSpPr>
        <p:spPr>
          <a:xfrm>
            <a:off x="548640" y="1024128"/>
            <a:ext cx="11094415" cy="274320"/>
          </a:xfrm>
          <a:prstGeom prst="rect">
            <a:avLst/>
          </a:prstGeom>
          <a:noFill/>
          <a:ln/>
        </p:spPr>
        <p:txBody>
          <a:bodyPr wrap="square" lIns="0" tIns="0" rIns="0" bIns="0" rtlCol="0" anchor="t"/>
          <a:lstStyle/>
          <a:p>
            <a:pPr marL="0" indent="0">
              <a:buNone/>
            </a:pPr>
            <a:r>
              <a:rPr lang="en-US" sz="1100" i="1" dirty="0">
                <a:solidFill>
                  <a:srgbClr val="6E7A88"/>
                </a:solidFill>
                <a:latin typeface="Calibri" pitchFamily="34" charset="0"/>
                <a:ea typeface="Calibri" pitchFamily="34" charset="-122"/>
                <a:cs typeface="Calibri" pitchFamily="34" charset="-120"/>
              </a:rPr>
              <a:t>Phản ánh cách Ban Giám đốc Khối IT quản trị và điều hành hoạt động chung của toàn Khối</a:t>
            </a:r>
            <a:endParaRPr lang="en-US" sz="1100" dirty="0"/>
          </a:p>
        </p:txBody>
      </p:sp>
      <p:sp>
        <p:nvSpPr>
          <p:cNvPr id="6" name="Text 4"/>
          <p:cNvSpPr txBox="1"/>
          <p:nvPr/>
        </p:nvSpPr>
        <p:spPr>
          <a:xfrm>
            <a:off x="548640" y="6419088"/>
            <a:ext cx="8778240" cy="237744"/>
          </a:xfrm>
          <a:prstGeom prst="rect">
            <a:avLst/>
          </a:prstGeom>
          <a:noFill/>
          <a:ln/>
        </p:spPr>
        <p:txBody>
          <a:bodyPr wrap="square" lIns="0" tIns="0" rIns="0" bIns="0" rtlCol="0" anchor="t"/>
          <a:lstStyle/>
          <a:p>
            <a:pPr marL="0" indent="0">
              <a:buNone/>
            </a:pPr>
            <a:r>
              <a:rPr lang="en-US" sz="850" dirty="0">
                <a:solidFill>
                  <a:srgbClr val="6E7A88"/>
                </a:solidFill>
                <a:latin typeface="Calibri" pitchFamily="34" charset="0"/>
                <a:ea typeface="Calibri" pitchFamily="34" charset="-122"/>
                <a:cs typeface="Calibri" pitchFamily="34" charset="-120"/>
              </a:rPr>
              <a:t>HỆ THỐNG QUẢN TRỊ QUY TRÌNH NGHIỆP VỤ  ·  SACOMBANK — QUY TRÌNH PYC</a:t>
            </a:r>
            <a:endParaRPr lang="en-US" sz="850" dirty="0"/>
          </a:p>
        </p:txBody>
      </p:sp>
      <p:sp>
        <p:nvSpPr>
          <p:cNvPr id="7" name="Text 5"/>
          <p:cNvSpPr txBox="1"/>
          <p:nvPr/>
        </p:nvSpPr>
        <p:spPr>
          <a:xfrm>
            <a:off x="11155680" y="6382512"/>
            <a:ext cx="484632" cy="274320"/>
          </a:xfrm>
          <a:prstGeom prst="rect">
            <a:avLst/>
          </a:prstGeom>
          <a:noFill/>
          <a:ln/>
        </p:spPr>
        <p:txBody>
          <a:bodyPr wrap="square" lIns="0" tIns="0" rIns="0" bIns="0" rtlCol="0" anchor="t"/>
          <a:lstStyle/>
          <a:p>
            <a:pPr marL="0" indent="0" algn="r">
              <a:buNone/>
            </a:pPr>
            <a:r>
              <a:rPr lang="en-US" sz="1100" b="1" dirty="0">
                <a:solidFill>
                  <a:srgbClr val="A5741A"/>
                </a:solidFill>
                <a:latin typeface="Calibri" pitchFamily="34" charset="0"/>
                <a:ea typeface="Calibri" pitchFamily="34" charset="-122"/>
                <a:cs typeface="Calibri" pitchFamily="34" charset="-120"/>
              </a:rPr>
              <a:t>9</a:t>
            </a:r>
            <a:endParaRPr lang="en-US" sz="1100" dirty="0"/>
          </a:p>
        </p:txBody>
      </p:sp>
      <p:sp>
        <p:nvSpPr>
          <p:cNvPr id="8" name="Shape 6"/>
          <p:cNvSpPr/>
          <p:nvPr/>
        </p:nvSpPr>
        <p:spPr>
          <a:xfrm>
            <a:off x="548640" y="1463040"/>
            <a:ext cx="3515258" cy="4343400"/>
          </a:xfrm>
          <a:prstGeom prst="roundRect">
            <a:avLst>
              <a:gd name="adj" fmla="val 1561"/>
            </a:avLst>
          </a:prstGeom>
          <a:solidFill>
            <a:srgbClr val="FFFFFF"/>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9" name="Shape 7"/>
          <p:cNvSpPr/>
          <p:nvPr/>
        </p:nvSpPr>
        <p:spPr>
          <a:xfrm>
            <a:off x="548640" y="1463040"/>
            <a:ext cx="3515258" cy="475488"/>
          </a:xfrm>
          <a:prstGeom prst="rect">
            <a:avLst/>
          </a:prstGeom>
          <a:solidFill>
            <a:srgbClr val="0B3B75"/>
          </a:solidFill>
          <a:ln w="12700">
            <a:solidFill>
              <a:srgbClr val="0B3B75"/>
            </a:solidFill>
            <a:prstDash val="solid"/>
          </a:ln>
        </p:spPr>
        <p:txBody>
          <a:bodyPr/>
          <a:lstStyle/>
          <a:p>
            <a:endParaRPr lang="en-US"/>
          </a:p>
        </p:txBody>
      </p:sp>
      <p:sp>
        <p:nvSpPr>
          <p:cNvPr id="10" name="Text 8"/>
          <p:cNvSpPr txBox="1"/>
          <p:nvPr/>
        </p:nvSpPr>
        <p:spPr>
          <a:xfrm>
            <a:off x="713232" y="1536192"/>
            <a:ext cx="3186074" cy="347472"/>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M01   Quản lý Mức Dịch vụ (SLA)</a:t>
            </a:r>
            <a:endParaRPr lang="en-US" sz="1150" dirty="0"/>
          </a:p>
        </p:txBody>
      </p:sp>
      <p:sp>
        <p:nvSpPr>
          <p:cNvPr id="11" name="Text 9"/>
          <p:cNvSpPr txBox="1"/>
          <p:nvPr/>
        </p:nvSpPr>
        <p:spPr>
          <a:xfrm>
            <a:off x="713232" y="2048256"/>
            <a:ext cx="3186074" cy="201168"/>
          </a:xfrm>
          <a:prstGeom prst="rect">
            <a:avLst/>
          </a:prstGeom>
          <a:noFill/>
          <a:ln/>
        </p:spPr>
        <p:txBody>
          <a:bodyPr wrap="square" lIns="0" tIns="0" rIns="0" bIns="0" rtlCol="0" anchor="t"/>
          <a:lstStyle/>
          <a:p>
            <a:pPr marL="0" indent="0">
              <a:buNone/>
            </a:pPr>
            <a:r>
              <a:rPr lang="en-US" sz="850" b="1" kern="0" spc="80" dirty="0">
                <a:solidFill>
                  <a:srgbClr val="1660BF"/>
                </a:solidFill>
                <a:latin typeface="Calibri" pitchFamily="34" charset="0"/>
                <a:ea typeface="Calibri" pitchFamily="34" charset="-122"/>
                <a:cs typeface="Calibri" pitchFamily="34" charset="-120"/>
              </a:rPr>
              <a:t>TÁC NHÂN CHÍNH</a:t>
            </a:r>
            <a:endParaRPr lang="en-US" sz="850" dirty="0"/>
          </a:p>
        </p:txBody>
      </p:sp>
      <p:sp>
        <p:nvSpPr>
          <p:cNvPr id="12" name="Text 10"/>
          <p:cNvSpPr txBox="1"/>
          <p:nvPr/>
        </p:nvSpPr>
        <p:spPr>
          <a:xfrm>
            <a:off x="713232" y="2267712"/>
            <a:ext cx="3186074" cy="1060704"/>
          </a:xfrm>
          <a:prstGeom prst="rect">
            <a:avLst/>
          </a:prstGeom>
          <a:noFill/>
          <a:ln/>
        </p:spPr>
        <p:txBody>
          <a:bodyPr wrap="square" lIns="0" tIns="0" rIns="0" bIns="0" rtlCol="0" anchor="t"/>
          <a:lstStyle/>
          <a:p>
            <a:pPr marL="342900" indent="-342900">
              <a:spcAft>
                <a:spcPts val="300"/>
              </a:spcAft>
              <a:buSzPct val="100000"/>
              <a:buChar char="•"/>
            </a:pPr>
            <a:r>
              <a:rPr lang="en-US" sz="950" dirty="0">
                <a:solidFill>
                  <a:srgbClr val="2A3442"/>
                </a:solidFill>
                <a:latin typeface="Calibri" pitchFamily="34" charset="0"/>
                <a:ea typeface="Calibri" pitchFamily="34" charset="-122"/>
                <a:cs typeface="Calibri" pitchFamily="34" charset="-120"/>
              </a:rPr>
              <a:t>Service Level Manager</a:t>
            </a:r>
            <a:endParaRPr lang="en-US" sz="950" dirty="0"/>
          </a:p>
          <a:p>
            <a:pPr marL="342900" indent="-342900">
              <a:spcAft>
                <a:spcPts val="300"/>
              </a:spcAft>
              <a:buSzPct val="100000"/>
              <a:buChar char="•"/>
            </a:pPr>
            <a:r>
              <a:rPr lang="en-US" sz="950" dirty="0">
                <a:solidFill>
                  <a:srgbClr val="2A3442"/>
                </a:solidFill>
                <a:latin typeface="Calibri" pitchFamily="34" charset="0"/>
                <a:ea typeface="Calibri" pitchFamily="34" charset="-122"/>
                <a:cs typeface="Calibri" pitchFamily="34" charset="-120"/>
              </a:rPr>
              <a:t>Nhân viên phân tích dữ liệu vận hành</a:t>
            </a:r>
            <a:endParaRPr lang="en-US" sz="950" dirty="0"/>
          </a:p>
          <a:p>
            <a:pPr marL="342900" indent="-342900">
              <a:spcAft>
                <a:spcPts val="300"/>
              </a:spcAft>
              <a:buSzPct val="100000"/>
              <a:buChar char="•"/>
            </a:pPr>
            <a:r>
              <a:rPr lang="en-US" sz="950" dirty="0">
                <a:solidFill>
                  <a:srgbClr val="2A3442"/>
                </a:solidFill>
                <a:latin typeface="Calibri" pitchFamily="34" charset="0"/>
                <a:ea typeface="Calibri" pitchFamily="34" charset="-122"/>
                <a:cs typeface="Calibri" pitchFamily="34" charset="-120"/>
              </a:rPr>
              <a:t>Ban Giám đốc Khối IT (phê duyệt)</a:t>
            </a:r>
            <a:endParaRPr lang="en-US" sz="950" dirty="0"/>
          </a:p>
          <a:p>
            <a:pPr marL="342900" indent="-342900">
              <a:spcAft>
                <a:spcPts val="300"/>
              </a:spcAft>
              <a:buSzPct val="100000"/>
              <a:buChar char="•"/>
            </a:pPr>
            <a:r>
              <a:rPr lang="en-US" sz="950" dirty="0">
                <a:solidFill>
                  <a:srgbClr val="2A3442"/>
                </a:solidFill>
                <a:latin typeface="Calibri" pitchFamily="34" charset="0"/>
                <a:ea typeface="Calibri" pitchFamily="34" charset="-122"/>
                <a:cs typeface="Calibri" pitchFamily="34" charset="-120"/>
              </a:rPr>
              <a:t>Hệ thống ITSM (nguồn dữ liệu tự động)</a:t>
            </a:r>
            <a:endParaRPr lang="en-US" sz="950" dirty="0"/>
          </a:p>
        </p:txBody>
      </p:sp>
      <p:sp>
        <p:nvSpPr>
          <p:cNvPr id="13" name="Text 11"/>
          <p:cNvSpPr txBox="1"/>
          <p:nvPr/>
        </p:nvSpPr>
        <p:spPr>
          <a:xfrm>
            <a:off x="713232" y="3401568"/>
            <a:ext cx="3186074" cy="201168"/>
          </a:xfrm>
          <a:prstGeom prst="rect">
            <a:avLst/>
          </a:prstGeom>
          <a:noFill/>
          <a:ln/>
        </p:spPr>
        <p:txBody>
          <a:bodyPr wrap="square" lIns="0" tIns="0" rIns="0" bIns="0" rtlCol="0" anchor="t"/>
          <a:lstStyle/>
          <a:p>
            <a:pPr marL="0" indent="0">
              <a:buNone/>
            </a:pPr>
            <a:r>
              <a:rPr lang="en-US" sz="850" b="1" kern="0" spc="80" dirty="0">
                <a:solidFill>
                  <a:srgbClr val="1660BF"/>
                </a:solidFill>
                <a:latin typeface="Calibri" pitchFamily="34" charset="0"/>
                <a:ea typeface="Calibri" pitchFamily="34" charset="-122"/>
                <a:cs typeface="Calibri" pitchFamily="34" charset="-120"/>
              </a:rPr>
              <a:t>ĐỐI TƯỢNG KHÁCH HÀNG</a:t>
            </a:r>
            <a:endParaRPr lang="en-US" sz="850" dirty="0"/>
          </a:p>
        </p:txBody>
      </p:sp>
      <p:sp>
        <p:nvSpPr>
          <p:cNvPr id="14" name="Text 12"/>
          <p:cNvSpPr txBox="1"/>
          <p:nvPr/>
        </p:nvSpPr>
        <p:spPr>
          <a:xfrm>
            <a:off x="713232" y="3621024"/>
            <a:ext cx="3186074" cy="841248"/>
          </a:xfrm>
          <a:prstGeom prst="rect">
            <a:avLst/>
          </a:prstGeom>
          <a:noFill/>
          <a:ln/>
        </p:spPr>
        <p:txBody>
          <a:bodyPr wrap="square" lIns="0" tIns="0" rIns="0" bIns="0" rtlCol="0" anchor="t"/>
          <a:lstStyle/>
          <a:p>
            <a:pPr marL="342900" indent="-342900">
              <a:spcAft>
                <a:spcPts val="300"/>
              </a:spcAft>
              <a:buSzPct val="100000"/>
              <a:buChar char="•"/>
            </a:pPr>
            <a:r>
              <a:rPr lang="en-US" sz="950" dirty="0">
                <a:solidFill>
                  <a:srgbClr val="2A3442"/>
                </a:solidFill>
                <a:latin typeface="Calibri" pitchFamily="34" charset="0"/>
                <a:ea typeface="Calibri" pitchFamily="34" charset="-122"/>
                <a:cs typeface="Calibri" pitchFamily="34" charset="-120"/>
              </a:rPr>
              <a:t>Trưởng phòng ban IT — nhận kết quả đánh giá KPI</a:t>
            </a:r>
            <a:endParaRPr lang="en-US" sz="950" dirty="0"/>
          </a:p>
          <a:p>
            <a:pPr marL="342900" indent="-342900">
              <a:spcAft>
                <a:spcPts val="300"/>
              </a:spcAft>
              <a:buSzPct val="100000"/>
              <a:buChar char="•"/>
            </a:pPr>
            <a:r>
              <a:rPr lang="en-US" sz="950" dirty="0">
                <a:solidFill>
                  <a:srgbClr val="2A3442"/>
                </a:solidFill>
                <a:latin typeface="Calibri" pitchFamily="34" charset="0"/>
                <a:ea typeface="Calibri" pitchFamily="34" charset="-122"/>
                <a:cs typeface="Calibri" pitchFamily="34" charset="-120"/>
              </a:rPr>
              <a:t>Ban Giám đốc Khối CNTT</a:t>
            </a:r>
            <a:endParaRPr lang="en-US" sz="950" dirty="0"/>
          </a:p>
          <a:p>
            <a:pPr marL="342900" indent="-342900">
              <a:spcAft>
                <a:spcPts val="300"/>
              </a:spcAft>
              <a:buSzPct val="100000"/>
              <a:buChar char="•"/>
            </a:pPr>
            <a:r>
              <a:rPr lang="en-US" sz="950" dirty="0">
                <a:solidFill>
                  <a:srgbClr val="2A3442"/>
                </a:solidFill>
                <a:latin typeface="Calibri" pitchFamily="34" charset="0"/>
                <a:ea typeface="Calibri" pitchFamily="34" charset="-122"/>
                <a:cs typeface="Calibri" pitchFamily="34" charset="-120"/>
              </a:rPr>
              <a:t>Gián tiếp: toàn thể CBNV end-user</a:t>
            </a:r>
            <a:endParaRPr lang="en-US" sz="950" dirty="0"/>
          </a:p>
        </p:txBody>
      </p:sp>
      <p:sp>
        <p:nvSpPr>
          <p:cNvPr id="15" name="Text 13"/>
          <p:cNvSpPr txBox="1"/>
          <p:nvPr/>
        </p:nvSpPr>
        <p:spPr>
          <a:xfrm>
            <a:off x="713232" y="4517136"/>
            <a:ext cx="3186074" cy="201168"/>
          </a:xfrm>
          <a:prstGeom prst="rect">
            <a:avLst/>
          </a:prstGeom>
          <a:noFill/>
          <a:ln/>
        </p:spPr>
        <p:txBody>
          <a:bodyPr wrap="square" lIns="0" tIns="0" rIns="0" bIns="0" rtlCol="0" anchor="t"/>
          <a:lstStyle/>
          <a:p>
            <a:pPr marL="0" indent="0">
              <a:buNone/>
            </a:pPr>
            <a:r>
              <a:rPr lang="en-US" sz="850" b="1" kern="0" spc="80" dirty="0">
                <a:solidFill>
                  <a:srgbClr val="1660BF"/>
                </a:solidFill>
                <a:latin typeface="Calibri" pitchFamily="34" charset="0"/>
                <a:ea typeface="Calibri" pitchFamily="34" charset="-122"/>
                <a:cs typeface="Calibri" pitchFamily="34" charset="-120"/>
              </a:rPr>
              <a:t>KẾT QUẢ ĐẦU RA</a:t>
            </a:r>
            <a:endParaRPr lang="en-US" sz="850" dirty="0"/>
          </a:p>
        </p:txBody>
      </p:sp>
      <p:sp>
        <p:nvSpPr>
          <p:cNvPr id="16" name="Text 14"/>
          <p:cNvSpPr txBox="1"/>
          <p:nvPr/>
        </p:nvSpPr>
        <p:spPr>
          <a:xfrm>
            <a:off x="713232" y="4736592"/>
            <a:ext cx="3186074" cy="1097280"/>
          </a:xfrm>
          <a:prstGeom prst="rect">
            <a:avLst/>
          </a:prstGeom>
          <a:noFill/>
          <a:ln/>
        </p:spPr>
        <p:txBody>
          <a:bodyPr wrap="square" lIns="0" tIns="0" rIns="0" bIns="0" rtlCol="0" anchor="t"/>
          <a:lstStyle/>
          <a:p>
            <a:pPr marL="0" indent="0">
              <a:spcAft>
                <a:spcPts val="400"/>
              </a:spcAft>
              <a:buNone/>
            </a:pPr>
            <a:r>
              <a:rPr lang="en-US" sz="900" dirty="0">
                <a:solidFill>
                  <a:srgbClr val="0E7A5F"/>
                </a:solidFill>
                <a:latin typeface="Calibri" pitchFamily="34" charset="0"/>
                <a:ea typeface="Calibri" pitchFamily="34" charset="-122"/>
                <a:cs typeface="Calibri" pitchFamily="34" charset="-120"/>
              </a:rPr>
              <a:t>▲ </a:t>
            </a:r>
            <a:r>
              <a:rPr lang="en-US" sz="950" dirty="0">
                <a:solidFill>
                  <a:srgbClr val="2A3442"/>
                </a:solidFill>
                <a:latin typeface="Calibri" pitchFamily="34" charset="0"/>
                <a:ea typeface="Calibri" pitchFamily="34" charset="-122"/>
                <a:cs typeface="Calibri" pitchFamily="34" charset="-120"/>
              </a:rPr>
              <a:t>Báo cáo SLA được phê duyệt, chỉ số đạt ngưỡng cam kết; giải pháp cải tiến được duyệt triển khai.</a:t>
            </a:r>
            <a:endParaRPr lang="en-US" sz="900" dirty="0"/>
          </a:p>
          <a:p>
            <a:pPr marL="0" indent="0">
              <a:spcAft>
                <a:spcPts val="400"/>
              </a:spcAft>
              <a:buNone/>
            </a:pPr>
            <a:r>
              <a:rPr lang="en-US" sz="900" dirty="0">
                <a:solidFill>
                  <a:srgbClr val="C0392B"/>
                </a:solidFill>
                <a:latin typeface="Calibri" pitchFamily="34" charset="0"/>
                <a:ea typeface="Calibri" pitchFamily="34" charset="-122"/>
                <a:cs typeface="Calibri" pitchFamily="34" charset="-120"/>
              </a:rPr>
              <a:t>▼ </a:t>
            </a:r>
            <a:r>
              <a:rPr lang="en-US" sz="950" dirty="0">
                <a:solidFill>
                  <a:srgbClr val="2A3442"/>
                </a:solidFill>
                <a:latin typeface="Calibri" pitchFamily="34" charset="0"/>
                <a:ea typeface="Calibri" pitchFamily="34" charset="-122"/>
                <a:cs typeface="Calibri" pitchFamily="34" charset="-120"/>
              </a:rPr>
              <a:t>Đề xuất cải tiến bị từ chối do thiếu nguồn lực; dữ liệu bất thường khiến kỳ đánh giá bị gia hạn.</a:t>
            </a:r>
            <a:endParaRPr lang="en-US" sz="900" dirty="0"/>
          </a:p>
        </p:txBody>
      </p:sp>
      <p:sp>
        <p:nvSpPr>
          <p:cNvPr id="17" name="Shape 15"/>
          <p:cNvSpPr/>
          <p:nvPr/>
        </p:nvSpPr>
        <p:spPr>
          <a:xfrm>
            <a:off x="4338218" y="1463040"/>
            <a:ext cx="3515258" cy="4343400"/>
          </a:xfrm>
          <a:prstGeom prst="roundRect">
            <a:avLst>
              <a:gd name="adj" fmla="val 1561"/>
            </a:avLst>
          </a:prstGeom>
          <a:solidFill>
            <a:srgbClr val="FFFFFF"/>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18" name="Shape 16"/>
          <p:cNvSpPr/>
          <p:nvPr/>
        </p:nvSpPr>
        <p:spPr>
          <a:xfrm>
            <a:off x="4338218" y="1463040"/>
            <a:ext cx="3515258" cy="475488"/>
          </a:xfrm>
          <a:prstGeom prst="rect">
            <a:avLst/>
          </a:prstGeom>
          <a:solidFill>
            <a:srgbClr val="0B3B75"/>
          </a:solidFill>
          <a:ln w="12700">
            <a:solidFill>
              <a:srgbClr val="0B3B75"/>
            </a:solidFill>
            <a:prstDash val="solid"/>
          </a:ln>
        </p:spPr>
        <p:txBody>
          <a:bodyPr/>
          <a:lstStyle/>
          <a:p>
            <a:endParaRPr lang="en-US"/>
          </a:p>
        </p:txBody>
      </p:sp>
      <p:sp>
        <p:nvSpPr>
          <p:cNvPr id="19" name="Text 17"/>
          <p:cNvSpPr txBox="1"/>
          <p:nvPr/>
        </p:nvSpPr>
        <p:spPr>
          <a:xfrm>
            <a:off x="4502810" y="1536192"/>
            <a:ext cx="3186074" cy="347472"/>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M02   Quản lý Rủi ro &amp; ATTT</a:t>
            </a:r>
            <a:endParaRPr lang="en-US" sz="1150" dirty="0"/>
          </a:p>
        </p:txBody>
      </p:sp>
      <p:sp>
        <p:nvSpPr>
          <p:cNvPr id="20" name="Text 18"/>
          <p:cNvSpPr txBox="1"/>
          <p:nvPr/>
        </p:nvSpPr>
        <p:spPr>
          <a:xfrm>
            <a:off x="4502810" y="2048256"/>
            <a:ext cx="3186074" cy="201168"/>
          </a:xfrm>
          <a:prstGeom prst="rect">
            <a:avLst/>
          </a:prstGeom>
          <a:noFill/>
          <a:ln/>
        </p:spPr>
        <p:txBody>
          <a:bodyPr wrap="square" lIns="0" tIns="0" rIns="0" bIns="0" rtlCol="0" anchor="t"/>
          <a:lstStyle/>
          <a:p>
            <a:pPr marL="0" indent="0">
              <a:buNone/>
            </a:pPr>
            <a:r>
              <a:rPr lang="en-US" sz="850" b="1" kern="0" spc="80" dirty="0">
                <a:solidFill>
                  <a:srgbClr val="1660BF"/>
                </a:solidFill>
                <a:latin typeface="Calibri" pitchFamily="34" charset="0"/>
                <a:ea typeface="Calibri" pitchFamily="34" charset="-122"/>
                <a:cs typeface="Calibri" pitchFamily="34" charset="-120"/>
              </a:rPr>
              <a:t>TÁC NHÂN CHÍNH</a:t>
            </a:r>
            <a:endParaRPr lang="en-US" sz="850" dirty="0"/>
          </a:p>
        </p:txBody>
      </p:sp>
      <p:sp>
        <p:nvSpPr>
          <p:cNvPr id="21" name="Text 19"/>
          <p:cNvSpPr txBox="1"/>
          <p:nvPr/>
        </p:nvSpPr>
        <p:spPr>
          <a:xfrm>
            <a:off x="4502810" y="2267712"/>
            <a:ext cx="3186074" cy="1060704"/>
          </a:xfrm>
          <a:prstGeom prst="rect">
            <a:avLst/>
          </a:prstGeom>
          <a:noFill/>
          <a:ln/>
        </p:spPr>
        <p:txBody>
          <a:bodyPr wrap="square" lIns="0" tIns="0" rIns="0" bIns="0" rtlCol="0" anchor="t"/>
          <a:lstStyle/>
          <a:p>
            <a:pPr marL="342900" indent="-342900">
              <a:spcAft>
                <a:spcPts val="300"/>
              </a:spcAft>
              <a:buSzPct val="100000"/>
              <a:buChar char="•"/>
            </a:pPr>
            <a:r>
              <a:rPr lang="en-US" sz="950" dirty="0">
                <a:solidFill>
                  <a:srgbClr val="2A3442"/>
                </a:solidFill>
                <a:latin typeface="Calibri" pitchFamily="34" charset="0"/>
                <a:ea typeface="Calibri" pitchFamily="34" charset="-122"/>
                <a:cs typeface="Calibri" pitchFamily="34" charset="-120"/>
              </a:rPr>
              <a:t>Chuyên viên An toàn Thông tin</a:t>
            </a:r>
            <a:endParaRPr lang="en-US" sz="950" dirty="0"/>
          </a:p>
          <a:p>
            <a:pPr marL="342900" indent="-342900">
              <a:spcAft>
                <a:spcPts val="300"/>
              </a:spcAft>
              <a:buSzPct val="100000"/>
              <a:buChar char="•"/>
            </a:pPr>
            <a:r>
              <a:rPr lang="en-US" sz="950" dirty="0">
                <a:solidFill>
                  <a:srgbClr val="2A3442"/>
                </a:solidFill>
                <a:latin typeface="Calibri" pitchFamily="34" charset="0"/>
                <a:ea typeface="Calibri" pitchFamily="34" charset="-122"/>
                <a:cs typeface="Calibri" pitchFamily="34" charset="-120"/>
              </a:rPr>
              <a:t>Service Desk L1 (nguồn log bảo mật từ PYC)</a:t>
            </a:r>
            <a:endParaRPr lang="en-US" sz="950" dirty="0"/>
          </a:p>
          <a:p>
            <a:pPr marL="342900" indent="-342900">
              <a:spcAft>
                <a:spcPts val="300"/>
              </a:spcAft>
              <a:buSzPct val="100000"/>
              <a:buChar char="•"/>
            </a:pPr>
            <a:r>
              <a:rPr lang="en-US" sz="950" dirty="0">
                <a:solidFill>
                  <a:srgbClr val="2A3442"/>
                </a:solidFill>
                <a:latin typeface="Calibri" pitchFamily="34" charset="0"/>
                <a:ea typeface="Calibri" pitchFamily="34" charset="-122"/>
                <a:cs typeface="Calibri" pitchFamily="34" charset="-120"/>
              </a:rPr>
              <a:t>Hệ thống SIEM (giám sát tự động)</a:t>
            </a:r>
            <a:endParaRPr lang="en-US" sz="950" dirty="0"/>
          </a:p>
          <a:p>
            <a:pPr marL="342900" indent="-342900">
              <a:spcAft>
                <a:spcPts val="300"/>
              </a:spcAft>
              <a:buSzPct val="100000"/>
              <a:buChar char="•"/>
            </a:pPr>
            <a:r>
              <a:rPr lang="en-US" sz="950" dirty="0">
                <a:solidFill>
                  <a:srgbClr val="2A3442"/>
                </a:solidFill>
                <a:latin typeface="Calibri" pitchFamily="34" charset="0"/>
                <a:ea typeface="Calibri" pitchFamily="34" charset="-122"/>
                <a:cs typeface="Calibri" pitchFamily="34" charset="-120"/>
              </a:rPr>
              <a:t>Trưởng TT.ATTT và Ban Giám đốc Khối IT</a:t>
            </a:r>
            <a:endParaRPr lang="en-US" sz="950" dirty="0"/>
          </a:p>
        </p:txBody>
      </p:sp>
      <p:sp>
        <p:nvSpPr>
          <p:cNvPr id="22" name="Text 20"/>
          <p:cNvSpPr txBox="1"/>
          <p:nvPr/>
        </p:nvSpPr>
        <p:spPr>
          <a:xfrm>
            <a:off x="4502810" y="3401568"/>
            <a:ext cx="3186074" cy="201168"/>
          </a:xfrm>
          <a:prstGeom prst="rect">
            <a:avLst/>
          </a:prstGeom>
          <a:noFill/>
          <a:ln/>
        </p:spPr>
        <p:txBody>
          <a:bodyPr wrap="square" lIns="0" tIns="0" rIns="0" bIns="0" rtlCol="0" anchor="t"/>
          <a:lstStyle/>
          <a:p>
            <a:pPr marL="0" indent="0">
              <a:buNone/>
            </a:pPr>
            <a:r>
              <a:rPr lang="en-US" sz="850" b="1" kern="0" spc="80" dirty="0">
                <a:solidFill>
                  <a:srgbClr val="1660BF"/>
                </a:solidFill>
                <a:latin typeface="Calibri" pitchFamily="34" charset="0"/>
                <a:ea typeface="Calibri" pitchFamily="34" charset="-122"/>
                <a:cs typeface="Calibri" pitchFamily="34" charset="-120"/>
              </a:rPr>
              <a:t>ĐỐI TƯỢNG KHÁCH HÀNG</a:t>
            </a:r>
            <a:endParaRPr lang="en-US" sz="850" dirty="0"/>
          </a:p>
        </p:txBody>
      </p:sp>
      <p:sp>
        <p:nvSpPr>
          <p:cNvPr id="23" name="Text 21"/>
          <p:cNvSpPr txBox="1"/>
          <p:nvPr/>
        </p:nvSpPr>
        <p:spPr>
          <a:xfrm>
            <a:off x="4502810" y="3621024"/>
            <a:ext cx="3186074" cy="841248"/>
          </a:xfrm>
          <a:prstGeom prst="rect">
            <a:avLst/>
          </a:prstGeom>
          <a:noFill/>
          <a:ln/>
        </p:spPr>
        <p:txBody>
          <a:bodyPr wrap="square" lIns="0" tIns="0" rIns="0" bIns="0" rtlCol="0" anchor="t"/>
          <a:lstStyle/>
          <a:p>
            <a:pPr marL="342900" indent="-342900">
              <a:spcAft>
                <a:spcPts val="300"/>
              </a:spcAft>
              <a:buSzPct val="100000"/>
              <a:buChar char="•"/>
            </a:pPr>
            <a:r>
              <a:rPr lang="en-US" sz="950" dirty="0">
                <a:solidFill>
                  <a:srgbClr val="2A3442"/>
                </a:solidFill>
                <a:latin typeface="Calibri" pitchFamily="34" charset="0"/>
                <a:ea typeface="Calibri" pitchFamily="34" charset="-122"/>
                <a:cs typeface="Calibri" pitchFamily="34" charset="-120"/>
              </a:rPr>
              <a:t>Bộ phận vận hành hệ thống (Ops Team)</a:t>
            </a:r>
            <a:endParaRPr lang="en-US" sz="950" dirty="0"/>
          </a:p>
          <a:p>
            <a:pPr marL="342900" indent="-342900">
              <a:spcAft>
                <a:spcPts val="300"/>
              </a:spcAft>
              <a:buSzPct val="100000"/>
              <a:buChar char="•"/>
            </a:pPr>
            <a:r>
              <a:rPr lang="en-US" sz="950" dirty="0">
                <a:solidFill>
                  <a:srgbClr val="2A3442"/>
                </a:solidFill>
                <a:latin typeface="Calibri" pitchFamily="34" charset="0"/>
                <a:ea typeface="Calibri" pitchFamily="34" charset="-122"/>
                <a:cs typeface="Calibri" pitchFamily="34" charset="-120"/>
              </a:rPr>
              <a:t>Kiểm soát nội bộ và Phòng QLRR Ngân hàng</a:t>
            </a:r>
            <a:endParaRPr lang="en-US" sz="950" dirty="0"/>
          </a:p>
          <a:p>
            <a:pPr marL="342900" indent="-342900">
              <a:spcAft>
                <a:spcPts val="300"/>
              </a:spcAft>
              <a:buSzPct val="100000"/>
              <a:buChar char="•"/>
            </a:pPr>
            <a:r>
              <a:rPr lang="en-US" sz="950" dirty="0">
                <a:solidFill>
                  <a:srgbClr val="2A3442"/>
                </a:solidFill>
                <a:latin typeface="Calibri" pitchFamily="34" charset="0"/>
                <a:ea typeface="Calibri" pitchFamily="34" charset="-122"/>
                <a:cs typeface="Calibri" pitchFamily="34" charset="-120"/>
              </a:rPr>
              <a:t>Gián tiếp: toàn thể CBNV</a:t>
            </a:r>
            <a:endParaRPr lang="en-US" sz="950" dirty="0"/>
          </a:p>
        </p:txBody>
      </p:sp>
      <p:sp>
        <p:nvSpPr>
          <p:cNvPr id="24" name="Text 22"/>
          <p:cNvSpPr txBox="1"/>
          <p:nvPr/>
        </p:nvSpPr>
        <p:spPr>
          <a:xfrm>
            <a:off x="4502810" y="4517136"/>
            <a:ext cx="3186074" cy="201168"/>
          </a:xfrm>
          <a:prstGeom prst="rect">
            <a:avLst/>
          </a:prstGeom>
          <a:noFill/>
          <a:ln/>
        </p:spPr>
        <p:txBody>
          <a:bodyPr wrap="square" lIns="0" tIns="0" rIns="0" bIns="0" rtlCol="0" anchor="t"/>
          <a:lstStyle/>
          <a:p>
            <a:pPr marL="0" indent="0">
              <a:buNone/>
            </a:pPr>
            <a:r>
              <a:rPr lang="en-US" sz="850" b="1" kern="0" spc="80" dirty="0">
                <a:solidFill>
                  <a:srgbClr val="1660BF"/>
                </a:solidFill>
                <a:latin typeface="Calibri" pitchFamily="34" charset="0"/>
                <a:ea typeface="Calibri" pitchFamily="34" charset="-122"/>
                <a:cs typeface="Calibri" pitchFamily="34" charset="-120"/>
              </a:rPr>
              <a:t>KẾT QUẢ ĐẦU RA</a:t>
            </a:r>
            <a:endParaRPr lang="en-US" sz="850" dirty="0"/>
          </a:p>
        </p:txBody>
      </p:sp>
      <p:sp>
        <p:nvSpPr>
          <p:cNvPr id="25" name="Text 23"/>
          <p:cNvSpPr txBox="1"/>
          <p:nvPr/>
        </p:nvSpPr>
        <p:spPr>
          <a:xfrm>
            <a:off x="4502810" y="4736592"/>
            <a:ext cx="3186074" cy="1097280"/>
          </a:xfrm>
          <a:prstGeom prst="rect">
            <a:avLst/>
          </a:prstGeom>
          <a:noFill/>
          <a:ln/>
        </p:spPr>
        <p:txBody>
          <a:bodyPr wrap="square" lIns="0" tIns="0" rIns="0" bIns="0" rtlCol="0" anchor="t"/>
          <a:lstStyle/>
          <a:p>
            <a:pPr marL="0" indent="0">
              <a:spcAft>
                <a:spcPts val="400"/>
              </a:spcAft>
              <a:buNone/>
            </a:pPr>
            <a:r>
              <a:rPr lang="en-US" sz="900" dirty="0">
                <a:solidFill>
                  <a:srgbClr val="0E7A5F"/>
                </a:solidFill>
                <a:latin typeface="Calibri" pitchFamily="34" charset="0"/>
                <a:ea typeface="Calibri" pitchFamily="34" charset="-122"/>
                <a:cs typeface="Calibri" pitchFamily="34" charset="-120"/>
              </a:rPr>
              <a:t>▲ </a:t>
            </a:r>
            <a:r>
              <a:rPr lang="en-US" sz="950" dirty="0">
                <a:solidFill>
                  <a:srgbClr val="2A3442"/>
                </a:solidFill>
                <a:latin typeface="Calibri" pitchFamily="34" charset="0"/>
                <a:ea typeface="Calibri" pitchFamily="34" charset="-122"/>
                <a:cs typeface="Calibri" pitchFamily="34" charset="-120"/>
              </a:rPr>
              <a:t>Hệ thống được vá lỗi, lỗ hổng bị loại bỏ và Risk Register được cập nhật; hoặc rủi ro được chấp nhận và theo dõi.</a:t>
            </a:r>
            <a:endParaRPr lang="en-US" sz="900" dirty="0"/>
          </a:p>
          <a:p>
            <a:pPr marL="0" indent="0">
              <a:spcAft>
                <a:spcPts val="400"/>
              </a:spcAft>
              <a:buNone/>
            </a:pPr>
            <a:r>
              <a:rPr lang="en-US" sz="900" dirty="0">
                <a:solidFill>
                  <a:srgbClr val="C0392B"/>
                </a:solidFill>
                <a:latin typeface="Calibri" pitchFamily="34" charset="0"/>
                <a:ea typeface="Calibri" pitchFamily="34" charset="-122"/>
                <a:cs typeface="Calibri" pitchFamily="34" charset="-120"/>
              </a:rPr>
              <a:t>▼ </a:t>
            </a:r>
            <a:r>
              <a:rPr lang="en-US" sz="950" dirty="0">
                <a:solidFill>
                  <a:srgbClr val="2A3442"/>
                </a:solidFill>
                <a:latin typeface="Calibri" pitchFamily="34" charset="0"/>
                <a:ea typeface="Calibri" pitchFamily="34" charset="-122"/>
                <a:cs typeface="Calibri" pitchFamily="34" charset="-120"/>
              </a:rPr>
              <a:t>Phương án bị từ chối do downtime quá lớn; sau khi vá phát sinh lỗi mới, kích hoạt rollback và mở Incident.</a:t>
            </a:r>
            <a:endParaRPr lang="en-US" sz="900" dirty="0"/>
          </a:p>
        </p:txBody>
      </p:sp>
      <p:sp>
        <p:nvSpPr>
          <p:cNvPr id="26" name="Shape 24"/>
          <p:cNvSpPr/>
          <p:nvPr/>
        </p:nvSpPr>
        <p:spPr>
          <a:xfrm>
            <a:off x="8127797" y="1463040"/>
            <a:ext cx="3515258" cy="4343400"/>
          </a:xfrm>
          <a:prstGeom prst="roundRect">
            <a:avLst>
              <a:gd name="adj" fmla="val 1561"/>
            </a:avLst>
          </a:prstGeom>
          <a:solidFill>
            <a:srgbClr val="FFFFFF"/>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27" name="Shape 25"/>
          <p:cNvSpPr/>
          <p:nvPr/>
        </p:nvSpPr>
        <p:spPr>
          <a:xfrm>
            <a:off x="8127797" y="1463040"/>
            <a:ext cx="3515258" cy="475488"/>
          </a:xfrm>
          <a:prstGeom prst="rect">
            <a:avLst/>
          </a:prstGeom>
          <a:solidFill>
            <a:srgbClr val="0B3B75"/>
          </a:solidFill>
          <a:ln w="12700">
            <a:solidFill>
              <a:srgbClr val="0B3B75"/>
            </a:solidFill>
            <a:prstDash val="solid"/>
          </a:ln>
        </p:spPr>
        <p:txBody>
          <a:bodyPr/>
          <a:lstStyle/>
          <a:p>
            <a:endParaRPr lang="en-US"/>
          </a:p>
        </p:txBody>
      </p:sp>
      <p:sp>
        <p:nvSpPr>
          <p:cNvPr id="28" name="Text 26"/>
          <p:cNvSpPr txBox="1"/>
          <p:nvPr/>
        </p:nvSpPr>
        <p:spPr>
          <a:xfrm>
            <a:off x="8292389" y="1536192"/>
            <a:ext cx="3186074" cy="347472"/>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M03   Quản lý Ngân sách &amp; Nguồn lực</a:t>
            </a:r>
            <a:endParaRPr lang="en-US" sz="1150" dirty="0"/>
          </a:p>
        </p:txBody>
      </p:sp>
      <p:sp>
        <p:nvSpPr>
          <p:cNvPr id="29" name="Text 27"/>
          <p:cNvSpPr txBox="1"/>
          <p:nvPr/>
        </p:nvSpPr>
        <p:spPr>
          <a:xfrm>
            <a:off x="8292389" y="2048256"/>
            <a:ext cx="3186074" cy="201168"/>
          </a:xfrm>
          <a:prstGeom prst="rect">
            <a:avLst/>
          </a:prstGeom>
          <a:noFill/>
          <a:ln/>
        </p:spPr>
        <p:txBody>
          <a:bodyPr wrap="square" lIns="0" tIns="0" rIns="0" bIns="0" rtlCol="0" anchor="t"/>
          <a:lstStyle/>
          <a:p>
            <a:pPr marL="0" indent="0">
              <a:buNone/>
            </a:pPr>
            <a:r>
              <a:rPr lang="en-US" sz="850" b="1" kern="0" spc="80" dirty="0">
                <a:solidFill>
                  <a:srgbClr val="1660BF"/>
                </a:solidFill>
                <a:latin typeface="Calibri" pitchFamily="34" charset="0"/>
                <a:ea typeface="Calibri" pitchFamily="34" charset="-122"/>
                <a:cs typeface="Calibri" pitchFamily="34" charset="-120"/>
              </a:rPr>
              <a:t>TÁC NHÂN CHÍNH</a:t>
            </a:r>
            <a:endParaRPr lang="en-US" sz="850" dirty="0"/>
          </a:p>
        </p:txBody>
      </p:sp>
      <p:sp>
        <p:nvSpPr>
          <p:cNvPr id="30" name="Text 28"/>
          <p:cNvSpPr txBox="1"/>
          <p:nvPr/>
        </p:nvSpPr>
        <p:spPr>
          <a:xfrm>
            <a:off x="8292389" y="2267712"/>
            <a:ext cx="3186074" cy="1060704"/>
          </a:xfrm>
          <a:prstGeom prst="rect">
            <a:avLst/>
          </a:prstGeom>
          <a:noFill/>
          <a:ln/>
        </p:spPr>
        <p:txBody>
          <a:bodyPr wrap="square" lIns="0" tIns="0" rIns="0" bIns="0" rtlCol="0" anchor="t"/>
          <a:lstStyle/>
          <a:p>
            <a:pPr marL="342900" indent="-342900">
              <a:spcAft>
                <a:spcPts val="300"/>
              </a:spcAft>
              <a:buSzPct val="100000"/>
              <a:buChar char="•"/>
            </a:pPr>
            <a:r>
              <a:rPr lang="en-US" sz="950" dirty="0">
                <a:solidFill>
                  <a:srgbClr val="2A3442"/>
                </a:solidFill>
                <a:latin typeface="Calibri" pitchFamily="34" charset="0"/>
                <a:ea typeface="Calibri" pitchFamily="34" charset="-122"/>
                <a:cs typeface="Calibri" pitchFamily="34" charset="-120"/>
              </a:rPr>
              <a:t>Trưởng các phòng ban Khối IT (đề xuất)</a:t>
            </a:r>
            <a:endParaRPr lang="en-US" sz="950" dirty="0"/>
          </a:p>
          <a:p>
            <a:pPr marL="342900" indent="-342900">
              <a:spcAft>
                <a:spcPts val="300"/>
              </a:spcAft>
              <a:buSzPct val="100000"/>
              <a:buChar char="•"/>
            </a:pPr>
            <a:r>
              <a:rPr lang="en-US" sz="950" dirty="0">
                <a:solidFill>
                  <a:srgbClr val="2A3442"/>
                </a:solidFill>
                <a:latin typeface="Calibri" pitchFamily="34" charset="0"/>
                <a:ea typeface="Calibri" pitchFamily="34" charset="-122"/>
                <a:cs typeface="Calibri" pitchFamily="34" charset="-120"/>
              </a:rPr>
              <a:t>Phòng Kế hoạch – Tài chính IT (thẩm định)</a:t>
            </a:r>
            <a:endParaRPr lang="en-US" sz="950" dirty="0"/>
          </a:p>
          <a:p>
            <a:pPr marL="342900" indent="-342900">
              <a:spcAft>
                <a:spcPts val="300"/>
              </a:spcAft>
              <a:buSzPct val="100000"/>
              <a:buChar char="•"/>
            </a:pPr>
            <a:r>
              <a:rPr lang="en-US" sz="950" dirty="0">
                <a:solidFill>
                  <a:srgbClr val="2A3442"/>
                </a:solidFill>
                <a:latin typeface="Calibri" pitchFamily="34" charset="0"/>
                <a:ea typeface="Calibri" pitchFamily="34" charset="-122"/>
                <a:cs typeface="Calibri" pitchFamily="34" charset="-120"/>
              </a:rPr>
              <a:t>Giám đốc Khối IT (phê duyệt cuối)</a:t>
            </a:r>
            <a:endParaRPr lang="en-US" sz="950" dirty="0"/>
          </a:p>
          <a:p>
            <a:pPr marL="342900" indent="-342900">
              <a:spcAft>
                <a:spcPts val="300"/>
              </a:spcAft>
              <a:buSzPct val="100000"/>
              <a:buChar char="•"/>
            </a:pPr>
            <a:r>
              <a:rPr lang="en-US" sz="950" dirty="0">
                <a:solidFill>
                  <a:srgbClr val="2A3442"/>
                </a:solidFill>
                <a:latin typeface="Calibri" pitchFamily="34" charset="0"/>
                <a:ea typeface="Calibri" pitchFamily="34" charset="-122"/>
                <a:cs typeface="Calibri" pitchFamily="34" charset="-120"/>
              </a:rPr>
              <a:t>Phòng Tài chính Ngân hàng (cấp ngân sách)</a:t>
            </a:r>
            <a:endParaRPr lang="en-US" sz="950" dirty="0"/>
          </a:p>
        </p:txBody>
      </p:sp>
      <p:sp>
        <p:nvSpPr>
          <p:cNvPr id="31" name="Text 29"/>
          <p:cNvSpPr txBox="1"/>
          <p:nvPr/>
        </p:nvSpPr>
        <p:spPr>
          <a:xfrm>
            <a:off x="8292389" y="3401568"/>
            <a:ext cx="3186074" cy="201168"/>
          </a:xfrm>
          <a:prstGeom prst="rect">
            <a:avLst/>
          </a:prstGeom>
          <a:noFill/>
          <a:ln/>
        </p:spPr>
        <p:txBody>
          <a:bodyPr wrap="square" lIns="0" tIns="0" rIns="0" bIns="0" rtlCol="0" anchor="t"/>
          <a:lstStyle/>
          <a:p>
            <a:pPr marL="0" indent="0">
              <a:buNone/>
            </a:pPr>
            <a:r>
              <a:rPr lang="en-US" sz="850" b="1" kern="0" spc="80" dirty="0">
                <a:solidFill>
                  <a:srgbClr val="1660BF"/>
                </a:solidFill>
                <a:latin typeface="Calibri" pitchFamily="34" charset="0"/>
                <a:ea typeface="Calibri" pitchFamily="34" charset="-122"/>
                <a:cs typeface="Calibri" pitchFamily="34" charset="-120"/>
              </a:rPr>
              <a:t>ĐỐI TƯỢNG KHÁCH HÀNG</a:t>
            </a:r>
            <a:endParaRPr lang="en-US" sz="850" dirty="0"/>
          </a:p>
        </p:txBody>
      </p:sp>
      <p:sp>
        <p:nvSpPr>
          <p:cNvPr id="32" name="Text 30"/>
          <p:cNvSpPr txBox="1"/>
          <p:nvPr/>
        </p:nvSpPr>
        <p:spPr>
          <a:xfrm>
            <a:off x="8292389" y="3621024"/>
            <a:ext cx="3186074" cy="841248"/>
          </a:xfrm>
          <a:prstGeom prst="rect">
            <a:avLst/>
          </a:prstGeom>
          <a:noFill/>
          <a:ln/>
        </p:spPr>
        <p:txBody>
          <a:bodyPr wrap="square" lIns="0" tIns="0" rIns="0" bIns="0" rtlCol="0" anchor="t"/>
          <a:lstStyle/>
          <a:p>
            <a:pPr marL="342900" indent="-342900">
              <a:spcAft>
                <a:spcPts val="300"/>
              </a:spcAft>
              <a:buSzPct val="100000"/>
              <a:buChar char="•"/>
            </a:pPr>
            <a:r>
              <a:rPr lang="en-US" sz="950" dirty="0">
                <a:solidFill>
                  <a:srgbClr val="2A3442"/>
                </a:solidFill>
                <a:latin typeface="Calibri" pitchFamily="34" charset="0"/>
                <a:ea typeface="Calibri" pitchFamily="34" charset="-122"/>
                <a:cs typeface="Calibri" pitchFamily="34" charset="-120"/>
              </a:rPr>
              <a:t>Trưởng phòng ban IT</a:t>
            </a:r>
            <a:endParaRPr lang="en-US" sz="950" dirty="0"/>
          </a:p>
          <a:p>
            <a:pPr marL="342900" indent="-342900">
              <a:spcAft>
                <a:spcPts val="300"/>
              </a:spcAft>
              <a:buSzPct val="100000"/>
              <a:buChar char="•"/>
            </a:pPr>
            <a:r>
              <a:rPr lang="en-US" sz="950" dirty="0">
                <a:solidFill>
                  <a:srgbClr val="2A3442"/>
                </a:solidFill>
                <a:latin typeface="Calibri" pitchFamily="34" charset="0"/>
                <a:ea typeface="Calibri" pitchFamily="34" charset="-122"/>
                <a:cs typeface="Calibri" pitchFamily="34" charset="-120"/>
              </a:rPr>
              <a:t>Ban Giám đốc Khối IT (phân bổ nguồn lực)</a:t>
            </a:r>
            <a:endParaRPr lang="en-US" sz="950" dirty="0"/>
          </a:p>
          <a:p>
            <a:pPr marL="342900" indent="-342900">
              <a:spcAft>
                <a:spcPts val="300"/>
              </a:spcAft>
              <a:buSzPct val="100000"/>
              <a:buChar char="•"/>
            </a:pPr>
            <a:r>
              <a:rPr lang="en-US" sz="950" dirty="0">
                <a:solidFill>
                  <a:srgbClr val="2A3442"/>
                </a:solidFill>
                <a:latin typeface="Calibri" pitchFamily="34" charset="0"/>
                <a:ea typeface="Calibri" pitchFamily="34" charset="-122"/>
                <a:cs typeface="Calibri" pitchFamily="34" charset="-120"/>
              </a:rPr>
              <a:t>Phòng Tài chính Ngân hàng</a:t>
            </a:r>
            <a:endParaRPr lang="en-US" sz="950" dirty="0"/>
          </a:p>
        </p:txBody>
      </p:sp>
      <p:sp>
        <p:nvSpPr>
          <p:cNvPr id="33" name="Text 31"/>
          <p:cNvSpPr txBox="1"/>
          <p:nvPr/>
        </p:nvSpPr>
        <p:spPr>
          <a:xfrm>
            <a:off x="8292389" y="4517136"/>
            <a:ext cx="3186074" cy="201168"/>
          </a:xfrm>
          <a:prstGeom prst="rect">
            <a:avLst/>
          </a:prstGeom>
          <a:noFill/>
          <a:ln/>
        </p:spPr>
        <p:txBody>
          <a:bodyPr wrap="square" lIns="0" tIns="0" rIns="0" bIns="0" rtlCol="0" anchor="t"/>
          <a:lstStyle/>
          <a:p>
            <a:pPr marL="0" indent="0">
              <a:buNone/>
            </a:pPr>
            <a:r>
              <a:rPr lang="en-US" sz="850" b="1" kern="0" spc="80" dirty="0">
                <a:solidFill>
                  <a:srgbClr val="1660BF"/>
                </a:solidFill>
                <a:latin typeface="Calibri" pitchFamily="34" charset="0"/>
                <a:ea typeface="Calibri" pitchFamily="34" charset="-122"/>
                <a:cs typeface="Calibri" pitchFamily="34" charset="-120"/>
              </a:rPr>
              <a:t>KẾT QUẢ ĐẦU RA</a:t>
            </a:r>
            <a:endParaRPr lang="en-US" sz="850" dirty="0"/>
          </a:p>
        </p:txBody>
      </p:sp>
      <p:sp>
        <p:nvSpPr>
          <p:cNvPr id="34" name="Text 32"/>
          <p:cNvSpPr txBox="1"/>
          <p:nvPr/>
        </p:nvSpPr>
        <p:spPr>
          <a:xfrm>
            <a:off x="8292389" y="4736592"/>
            <a:ext cx="3186074" cy="1097280"/>
          </a:xfrm>
          <a:prstGeom prst="rect">
            <a:avLst/>
          </a:prstGeom>
          <a:noFill/>
          <a:ln/>
        </p:spPr>
        <p:txBody>
          <a:bodyPr wrap="square" lIns="0" tIns="0" rIns="0" bIns="0" rtlCol="0" anchor="t"/>
          <a:lstStyle/>
          <a:p>
            <a:pPr marL="0" indent="0">
              <a:spcAft>
                <a:spcPts val="400"/>
              </a:spcAft>
              <a:buNone/>
            </a:pPr>
            <a:r>
              <a:rPr lang="en-US" sz="900" dirty="0">
                <a:solidFill>
                  <a:srgbClr val="0E7A5F"/>
                </a:solidFill>
                <a:latin typeface="Calibri" pitchFamily="34" charset="0"/>
                <a:ea typeface="Calibri" pitchFamily="34" charset="-122"/>
                <a:cs typeface="Calibri" pitchFamily="34" charset="-120"/>
              </a:rPr>
              <a:t>▲ </a:t>
            </a:r>
            <a:r>
              <a:rPr lang="en-US" sz="950" dirty="0">
                <a:solidFill>
                  <a:srgbClr val="2A3442"/>
                </a:solidFill>
                <a:latin typeface="Calibri" pitchFamily="34" charset="0"/>
                <a:ea typeface="Calibri" pitchFamily="34" charset="-122"/>
                <a:cs typeface="Calibri" pitchFamily="34" charset="-120"/>
              </a:rPr>
              <a:t>Kế hoạch ngân sách được phê duyệt đầy đủ; yêu cầu mua sắm đột xuất được duyệt bổ sung.</a:t>
            </a:r>
            <a:endParaRPr lang="en-US" sz="900" dirty="0"/>
          </a:p>
          <a:p>
            <a:pPr marL="0" indent="0">
              <a:spcAft>
                <a:spcPts val="400"/>
              </a:spcAft>
              <a:buNone/>
            </a:pPr>
            <a:r>
              <a:rPr lang="en-US" sz="900" dirty="0">
                <a:solidFill>
                  <a:srgbClr val="C0392B"/>
                </a:solidFill>
                <a:latin typeface="Calibri" pitchFamily="34" charset="0"/>
                <a:ea typeface="Calibri" pitchFamily="34" charset="-122"/>
                <a:cs typeface="Calibri" pitchFamily="34" charset="-120"/>
              </a:rPr>
              <a:t>▼ </a:t>
            </a:r>
            <a:r>
              <a:rPr lang="en-US" sz="950" dirty="0">
                <a:solidFill>
                  <a:srgbClr val="2A3442"/>
                </a:solidFill>
                <a:latin typeface="Calibri" pitchFamily="34" charset="0"/>
                <a:ea typeface="Calibri" pitchFamily="34" charset="-122"/>
                <a:cs typeface="Calibri" pitchFamily="34" charset="-120"/>
              </a:rPr>
              <a:t>Kế hoạch bị cắt giảm một phần; yêu cầu bị từ chối do vượt trần ngân sách hoặc lệch chiến lược.</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65760"/>
            <a:ext cx="123444" cy="123444"/>
          </a:xfrm>
          <a:prstGeom prst="ellipse">
            <a:avLst/>
          </a:prstGeom>
          <a:solidFill>
            <a:srgbClr val="D9A227"/>
          </a:solidFill>
          <a:ln w="12700">
            <a:solidFill>
              <a:srgbClr val="D9A227"/>
            </a:solidFill>
            <a:prstDash val="solid"/>
          </a:ln>
        </p:spPr>
        <p:txBody>
          <a:bodyPr/>
          <a:lstStyle/>
          <a:p>
            <a:endParaRPr lang="en-US"/>
          </a:p>
        </p:txBody>
      </p:sp>
      <p:sp>
        <p:nvSpPr>
          <p:cNvPr id="3" name="Text 1"/>
          <p:cNvSpPr txBox="1"/>
          <p:nvPr/>
        </p:nvSpPr>
        <p:spPr>
          <a:xfrm>
            <a:off x="804672" y="292608"/>
            <a:ext cx="10838383" cy="237744"/>
          </a:xfrm>
          <a:prstGeom prst="rect">
            <a:avLst/>
          </a:prstGeom>
          <a:noFill/>
          <a:ln/>
        </p:spPr>
        <p:txBody>
          <a:bodyPr wrap="square" lIns="0" tIns="0" rIns="0" bIns="0" rtlCol="0" anchor="t"/>
          <a:lstStyle/>
          <a:p>
            <a:pPr marL="0" indent="0">
              <a:buNone/>
            </a:pPr>
            <a:r>
              <a:rPr lang="en-US" sz="1050" b="1" kern="0" spc="120" dirty="0">
                <a:solidFill>
                  <a:srgbClr val="A5741A"/>
                </a:solidFill>
                <a:latin typeface="Calibri" pitchFamily="34" charset="0"/>
                <a:ea typeface="Calibri" pitchFamily="34" charset="-122"/>
                <a:cs typeface="Calibri" pitchFamily="34" charset="-120"/>
              </a:rPr>
              <a:t>CHƯƠNG 1 · NHÓM QUY TRÌNH CỐT LÕI</a:t>
            </a:r>
            <a:endParaRPr lang="en-US" sz="1050" dirty="0"/>
          </a:p>
        </p:txBody>
      </p:sp>
      <p:sp>
        <p:nvSpPr>
          <p:cNvPr id="4" name="Text 2"/>
          <p:cNvSpPr txBox="1"/>
          <p:nvPr/>
        </p:nvSpPr>
        <p:spPr>
          <a:xfrm>
            <a:off x="548640" y="566928"/>
            <a:ext cx="11094415" cy="457200"/>
          </a:xfrm>
          <a:prstGeom prst="rect">
            <a:avLst/>
          </a:prstGeom>
          <a:noFill/>
          <a:ln/>
        </p:spPr>
        <p:txBody>
          <a:bodyPr wrap="square" lIns="0" tIns="0" rIns="0" bIns="0" rtlCol="0" anchor="t"/>
          <a:lstStyle/>
          <a:p>
            <a:pPr marL="0" indent="0">
              <a:buNone/>
            </a:pPr>
            <a:r>
              <a:rPr lang="en-US" sz="2500" b="1" dirty="0">
                <a:solidFill>
                  <a:srgbClr val="0B3B75"/>
                </a:solidFill>
                <a:latin typeface="Calibri" pitchFamily="34" charset="0"/>
                <a:ea typeface="Calibri" pitchFamily="34" charset="-122"/>
                <a:cs typeface="Calibri" pitchFamily="34" charset="-120"/>
              </a:rPr>
              <a:t>C01 – C02 – C03  ·  TÁC NHÂN, KHÁCH HÀNG VÀ KẾT QUẢ ĐẦU RA</a:t>
            </a:r>
            <a:endParaRPr lang="en-US" sz="2500" dirty="0"/>
          </a:p>
        </p:txBody>
      </p:sp>
      <p:sp>
        <p:nvSpPr>
          <p:cNvPr id="5" name="Text 3"/>
          <p:cNvSpPr txBox="1"/>
          <p:nvPr/>
        </p:nvSpPr>
        <p:spPr>
          <a:xfrm>
            <a:off x="548640" y="1024128"/>
            <a:ext cx="11094415" cy="274320"/>
          </a:xfrm>
          <a:prstGeom prst="rect">
            <a:avLst/>
          </a:prstGeom>
          <a:noFill/>
          <a:ln/>
        </p:spPr>
        <p:txBody>
          <a:bodyPr wrap="square" lIns="0" tIns="0" rIns="0" bIns="0" rtlCol="0" anchor="t"/>
          <a:lstStyle/>
          <a:p>
            <a:pPr marL="0" indent="0">
              <a:buNone/>
            </a:pPr>
            <a:r>
              <a:rPr lang="en-US" sz="1100" i="1" dirty="0">
                <a:solidFill>
                  <a:srgbClr val="6E7A88"/>
                </a:solidFill>
                <a:latin typeface="Calibri" pitchFamily="34" charset="0"/>
                <a:ea typeface="Calibri" pitchFamily="34" charset="-122"/>
                <a:cs typeface="Calibri" pitchFamily="34" charset="-120"/>
              </a:rPr>
              <a:t>Nhóm tạo ra giá trị trực tiếp cho người dùng nội bộ — C01 (PYC) là đối tượng nghiên cứu chính của đề tài</a:t>
            </a:r>
            <a:endParaRPr lang="en-US" sz="1100" dirty="0"/>
          </a:p>
        </p:txBody>
      </p:sp>
      <p:sp>
        <p:nvSpPr>
          <p:cNvPr id="6" name="Text 4"/>
          <p:cNvSpPr txBox="1"/>
          <p:nvPr/>
        </p:nvSpPr>
        <p:spPr>
          <a:xfrm>
            <a:off x="548640" y="6419088"/>
            <a:ext cx="8778240" cy="237744"/>
          </a:xfrm>
          <a:prstGeom prst="rect">
            <a:avLst/>
          </a:prstGeom>
          <a:noFill/>
          <a:ln/>
        </p:spPr>
        <p:txBody>
          <a:bodyPr wrap="square" lIns="0" tIns="0" rIns="0" bIns="0" rtlCol="0" anchor="t"/>
          <a:lstStyle/>
          <a:p>
            <a:pPr marL="0" indent="0">
              <a:buNone/>
            </a:pPr>
            <a:r>
              <a:rPr lang="en-US" sz="850" dirty="0">
                <a:solidFill>
                  <a:srgbClr val="6E7A88"/>
                </a:solidFill>
                <a:latin typeface="Calibri" pitchFamily="34" charset="0"/>
                <a:ea typeface="Calibri" pitchFamily="34" charset="-122"/>
                <a:cs typeface="Calibri" pitchFamily="34" charset="-120"/>
              </a:rPr>
              <a:t>HỆ THỐNG QUẢN TRỊ QUY TRÌNH NGHIỆP VỤ  ·  SACOMBANK — QUY TRÌNH PYC</a:t>
            </a:r>
            <a:endParaRPr lang="en-US" sz="850" dirty="0"/>
          </a:p>
        </p:txBody>
      </p:sp>
      <p:sp>
        <p:nvSpPr>
          <p:cNvPr id="7" name="Text 5"/>
          <p:cNvSpPr txBox="1"/>
          <p:nvPr/>
        </p:nvSpPr>
        <p:spPr>
          <a:xfrm>
            <a:off x="11155680" y="6382512"/>
            <a:ext cx="484632" cy="274320"/>
          </a:xfrm>
          <a:prstGeom prst="rect">
            <a:avLst/>
          </a:prstGeom>
          <a:noFill/>
          <a:ln/>
        </p:spPr>
        <p:txBody>
          <a:bodyPr wrap="square" lIns="0" tIns="0" rIns="0" bIns="0" rtlCol="0" anchor="t"/>
          <a:lstStyle/>
          <a:p>
            <a:pPr marL="0" indent="0" algn="r">
              <a:buNone/>
            </a:pPr>
            <a:r>
              <a:rPr lang="en-US" sz="1100" b="1" dirty="0">
                <a:solidFill>
                  <a:srgbClr val="A5741A"/>
                </a:solidFill>
                <a:latin typeface="Calibri" pitchFamily="34" charset="0"/>
                <a:ea typeface="Calibri" pitchFamily="34" charset="-122"/>
                <a:cs typeface="Calibri" pitchFamily="34" charset="-120"/>
              </a:rPr>
              <a:t>10</a:t>
            </a:r>
            <a:endParaRPr lang="en-US" sz="1100" dirty="0"/>
          </a:p>
        </p:txBody>
      </p:sp>
      <p:sp>
        <p:nvSpPr>
          <p:cNvPr id="8" name="Shape 6"/>
          <p:cNvSpPr/>
          <p:nvPr/>
        </p:nvSpPr>
        <p:spPr>
          <a:xfrm>
            <a:off x="548640" y="1463040"/>
            <a:ext cx="3515258" cy="4343400"/>
          </a:xfrm>
          <a:prstGeom prst="roundRect">
            <a:avLst>
              <a:gd name="adj" fmla="val 1561"/>
            </a:avLst>
          </a:prstGeom>
          <a:solidFill>
            <a:srgbClr val="FFFFFF"/>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9" name="Shape 7"/>
          <p:cNvSpPr/>
          <p:nvPr/>
        </p:nvSpPr>
        <p:spPr>
          <a:xfrm>
            <a:off x="548640" y="1463040"/>
            <a:ext cx="3515258" cy="475488"/>
          </a:xfrm>
          <a:prstGeom prst="rect">
            <a:avLst/>
          </a:prstGeom>
          <a:solidFill>
            <a:srgbClr val="0B3B75"/>
          </a:solidFill>
          <a:ln w="12700">
            <a:solidFill>
              <a:srgbClr val="0B3B75"/>
            </a:solidFill>
            <a:prstDash val="solid"/>
          </a:ln>
        </p:spPr>
        <p:txBody>
          <a:bodyPr/>
          <a:lstStyle/>
          <a:p>
            <a:endParaRPr lang="en-US"/>
          </a:p>
        </p:txBody>
      </p:sp>
      <p:sp>
        <p:nvSpPr>
          <p:cNvPr id="10" name="Text 8"/>
          <p:cNvSpPr txBox="1"/>
          <p:nvPr/>
        </p:nvSpPr>
        <p:spPr>
          <a:xfrm>
            <a:off x="713232" y="1536192"/>
            <a:ext cx="3186074" cy="347472"/>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C01   Quản lý Yêu cầu Dịch vụ (PYC)</a:t>
            </a:r>
            <a:endParaRPr lang="en-US" sz="1150" dirty="0"/>
          </a:p>
        </p:txBody>
      </p:sp>
      <p:sp>
        <p:nvSpPr>
          <p:cNvPr id="11" name="Text 9"/>
          <p:cNvSpPr txBox="1"/>
          <p:nvPr/>
        </p:nvSpPr>
        <p:spPr>
          <a:xfrm>
            <a:off x="713232" y="2048256"/>
            <a:ext cx="3186074" cy="201168"/>
          </a:xfrm>
          <a:prstGeom prst="rect">
            <a:avLst/>
          </a:prstGeom>
          <a:noFill/>
          <a:ln/>
        </p:spPr>
        <p:txBody>
          <a:bodyPr wrap="square" lIns="0" tIns="0" rIns="0" bIns="0" rtlCol="0" anchor="t"/>
          <a:lstStyle/>
          <a:p>
            <a:pPr marL="0" indent="0">
              <a:buNone/>
            </a:pPr>
            <a:r>
              <a:rPr lang="en-US" sz="850" b="1" kern="0" spc="80" dirty="0">
                <a:solidFill>
                  <a:srgbClr val="1660BF"/>
                </a:solidFill>
                <a:latin typeface="Calibri" pitchFamily="34" charset="0"/>
                <a:ea typeface="Calibri" pitchFamily="34" charset="-122"/>
                <a:cs typeface="Calibri" pitchFamily="34" charset="-120"/>
              </a:rPr>
              <a:t>TÁC NHÂN CHÍNH</a:t>
            </a:r>
            <a:endParaRPr lang="en-US" sz="850" dirty="0"/>
          </a:p>
        </p:txBody>
      </p:sp>
      <p:sp>
        <p:nvSpPr>
          <p:cNvPr id="12" name="Text 10"/>
          <p:cNvSpPr txBox="1"/>
          <p:nvPr/>
        </p:nvSpPr>
        <p:spPr>
          <a:xfrm>
            <a:off x="713232" y="2267712"/>
            <a:ext cx="3186074" cy="1060704"/>
          </a:xfrm>
          <a:prstGeom prst="rect">
            <a:avLst/>
          </a:prstGeom>
          <a:noFill/>
          <a:ln/>
        </p:spPr>
        <p:txBody>
          <a:bodyPr wrap="square" lIns="0" tIns="0" rIns="0" bIns="0" rtlCol="0" anchor="t"/>
          <a:lstStyle/>
          <a:p>
            <a:pPr marL="342900" indent="-342900">
              <a:spcAft>
                <a:spcPts val="300"/>
              </a:spcAft>
              <a:buSzPct val="100000"/>
              <a:buChar char="•"/>
            </a:pPr>
            <a:r>
              <a:rPr lang="en-US" sz="950" dirty="0">
                <a:solidFill>
                  <a:srgbClr val="2A3442"/>
                </a:solidFill>
                <a:latin typeface="Calibri" pitchFamily="34" charset="0"/>
                <a:ea typeface="Calibri" pitchFamily="34" charset="-122"/>
                <a:cs typeface="Calibri" pitchFamily="34" charset="-120"/>
              </a:rPr>
              <a:t>Người dùng nội bộ (End-user)</a:t>
            </a:r>
            <a:endParaRPr lang="en-US" sz="950" dirty="0"/>
          </a:p>
          <a:p>
            <a:pPr marL="342900" indent="-342900">
              <a:spcAft>
                <a:spcPts val="300"/>
              </a:spcAft>
              <a:buSzPct val="100000"/>
              <a:buChar char="•"/>
            </a:pPr>
            <a:r>
              <a:rPr lang="en-US" sz="950" dirty="0">
                <a:solidFill>
                  <a:srgbClr val="2A3442"/>
                </a:solidFill>
                <a:latin typeface="Calibri" pitchFamily="34" charset="0"/>
                <a:ea typeface="Calibri" pitchFamily="34" charset="-122"/>
                <a:cs typeface="Calibri" pitchFamily="34" charset="-120"/>
              </a:rPr>
              <a:t>Quản lý trực tiếp (Trưởng/Phó đơn vị)</a:t>
            </a:r>
            <a:endParaRPr lang="en-US" sz="950" dirty="0"/>
          </a:p>
          <a:p>
            <a:pPr marL="342900" indent="-342900">
              <a:spcAft>
                <a:spcPts val="300"/>
              </a:spcAft>
              <a:buSzPct val="100000"/>
              <a:buChar char="•"/>
            </a:pPr>
            <a:r>
              <a:rPr lang="en-US" sz="950" dirty="0">
                <a:solidFill>
                  <a:srgbClr val="2A3442"/>
                </a:solidFill>
                <a:latin typeface="Calibri" pitchFamily="34" charset="0"/>
                <a:ea typeface="Calibri" pitchFamily="34" charset="-122"/>
                <a:cs typeface="Calibri" pitchFamily="34" charset="-120"/>
              </a:rPr>
              <a:t>IT Helpdesk — Service Desk Level 1</a:t>
            </a:r>
            <a:endParaRPr lang="en-US" sz="950" dirty="0"/>
          </a:p>
          <a:p>
            <a:pPr marL="342900" indent="-342900">
              <a:spcAft>
                <a:spcPts val="300"/>
              </a:spcAft>
              <a:buSzPct val="100000"/>
              <a:buChar char="•"/>
            </a:pPr>
            <a:r>
              <a:rPr lang="en-US" sz="950" dirty="0">
                <a:solidFill>
                  <a:srgbClr val="2A3442"/>
                </a:solidFill>
                <a:latin typeface="Calibri" pitchFamily="34" charset="0"/>
                <a:ea typeface="Calibri" pitchFamily="34" charset="-122"/>
                <a:cs typeface="Calibri" pitchFamily="34" charset="-120"/>
              </a:rPr>
              <a:t>Chuyên viên kỹ thuật — Level 2</a:t>
            </a:r>
            <a:endParaRPr lang="en-US" sz="950" dirty="0"/>
          </a:p>
          <a:p>
            <a:pPr marL="342900" indent="-342900">
              <a:spcAft>
                <a:spcPts val="300"/>
              </a:spcAft>
              <a:buSzPct val="100000"/>
              <a:buChar char="•"/>
            </a:pPr>
            <a:r>
              <a:rPr lang="en-US" sz="950" dirty="0">
                <a:solidFill>
                  <a:srgbClr val="2A3442"/>
                </a:solidFill>
                <a:latin typeface="Calibri" pitchFamily="34" charset="0"/>
                <a:ea typeface="Calibri" pitchFamily="34" charset="-122"/>
                <a:cs typeface="Calibri" pitchFamily="34" charset="-120"/>
              </a:rPr>
              <a:t>Hệ thống ITSM (xử lý tự động)</a:t>
            </a:r>
            <a:endParaRPr lang="en-US" sz="950" dirty="0"/>
          </a:p>
        </p:txBody>
      </p:sp>
      <p:sp>
        <p:nvSpPr>
          <p:cNvPr id="13" name="Text 11"/>
          <p:cNvSpPr txBox="1"/>
          <p:nvPr/>
        </p:nvSpPr>
        <p:spPr>
          <a:xfrm>
            <a:off x="713232" y="3401568"/>
            <a:ext cx="3186074" cy="201168"/>
          </a:xfrm>
          <a:prstGeom prst="rect">
            <a:avLst/>
          </a:prstGeom>
          <a:noFill/>
          <a:ln/>
        </p:spPr>
        <p:txBody>
          <a:bodyPr wrap="square" lIns="0" tIns="0" rIns="0" bIns="0" rtlCol="0" anchor="t"/>
          <a:lstStyle/>
          <a:p>
            <a:pPr marL="0" indent="0">
              <a:buNone/>
            </a:pPr>
            <a:r>
              <a:rPr lang="en-US" sz="850" b="1" kern="0" spc="80" dirty="0">
                <a:solidFill>
                  <a:srgbClr val="1660BF"/>
                </a:solidFill>
                <a:latin typeface="Calibri" pitchFamily="34" charset="0"/>
                <a:ea typeface="Calibri" pitchFamily="34" charset="-122"/>
                <a:cs typeface="Calibri" pitchFamily="34" charset="-120"/>
              </a:rPr>
              <a:t>ĐỐI TƯỢNG KHÁCH HÀNG</a:t>
            </a:r>
            <a:endParaRPr lang="en-US" sz="850" dirty="0"/>
          </a:p>
        </p:txBody>
      </p:sp>
      <p:sp>
        <p:nvSpPr>
          <p:cNvPr id="14" name="Text 12"/>
          <p:cNvSpPr txBox="1"/>
          <p:nvPr/>
        </p:nvSpPr>
        <p:spPr>
          <a:xfrm>
            <a:off x="713232" y="3621024"/>
            <a:ext cx="3186074" cy="841248"/>
          </a:xfrm>
          <a:prstGeom prst="rect">
            <a:avLst/>
          </a:prstGeom>
          <a:noFill/>
          <a:ln/>
        </p:spPr>
        <p:txBody>
          <a:bodyPr wrap="square" lIns="0" tIns="0" rIns="0" bIns="0" rtlCol="0" anchor="t"/>
          <a:lstStyle/>
          <a:p>
            <a:pPr marL="342900" indent="-342900">
              <a:spcAft>
                <a:spcPts val="300"/>
              </a:spcAft>
              <a:buSzPct val="100000"/>
              <a:buChar char="•"/>
            </a:pPr>
            <a:r>
              <a:rPr lang="en-US" sz="950" dirty="0">
                <a:solidFill>
                  <a:srgbClr val="2A3442"/>
                </a:solidFill>
                <a:latin typeface="Calibri" pitchFamily="34" charset="0"/>
                <a:ea typeface="Calibri" pitchFamily="34" charset="-122"/>
                <a:cs typeface="Calibri" pitchFamily="34" charset="-120"/>
              </a:rPr>
              <a:t>Toàn thể CBNV phòng ban nghiệp vụ — nhân viên giao dịch chi nhánh, nhân viên hội sở</a:t>
            </a:r>
            <a:endParaRPr lang="en-US" sz="950" dirty="0"/>
          </a:p>
          <a:p>
            <a:pPr marL="342900" indent="-342900">
              <a:spcAft>
                <a:spcPts val="300"/>
              </a:spcAft>
              <a:buSzPct val="100000"/>
              <a:buChar char="•"/>
            </a:pPr>
            <a:r>
              <a:rPr lang="en-US" sz="950" dirty="0">
                <a:solidFill>
                  <a:srgbClr val="2A3442"/>
                </a:solidFill>
                <a:latin typeface="Calibri" pitchFamily="34" charset="0"/>
                <a:ea typeface="Calibri" pitchFamily="34" charset="-122"/>
                <a:cs typeface="Calibri" pitchFamily="34" charset="-120"/>
              </a:rPr>
              <a:t>Cán bộ quản lý các cấp</a:t>
            </a:r>
            <a:endParaRPr lang="en-US" sz="950" dirty="0"/>
          </a:p>
        </p:txBody>
      </p:sp>
      <p:sp>
        <p:nvSpPr>
          <p:cNvPr id="15" name="Text 13"/>
          <p:cNvSpPr txBox="1"/>
          <p:nvPr/>
        </p:nvSpPr>
        <p:spPr>
          <a:xfrm>
            <a:off x="713232" y="4517136"/>
            <a:ext cx="3186074" cy="201168"/>
          </a:xfrm>
          <a:prstGeom prst="rect">
            <a:avLst/>
          </a:prstGeom>
          <a:noFill/>
          <a:ln/>
        </p:spPr>
        <p:txBody>
          <a:bodyPr wrap="square" lIns="0" tIns="0" rIns="0" bIns="0" rtlCol="0" anchor="t"/>
          <a:lstStyle/>
          <a:p>
            <a:pPr marL="0" indent="0">
              <a:buNone/>
            </a:pPr>
            <a:r>
              <a:rPr lang="en-US" sz="850" b="1" kern="0" spc="80" dirty="0">
                <a:solidFill>
                  <a:srgbClr val="1660BF"/>
                </a:solidFill>
                <a:latin typeface="Calibri" pitchFamily="34" charset="0"/>
                <a:ea typeface="Calibri" pitchFamily="34" charset="-122"/>
                <a:cs typeface="Calibri" pitchFamily="34" charset="-120"/>
              </a:rPr>
              <a:t>KẾT QUẢ ĐẦU RA</a:t>
            </a:r>
            <a:endParaRPr lang="en-US" sz="850" dirty="0"/>
          </a:p>
        </p:txBody>
      </p:sp>
      <p:sp>
        <p:nvSpPr>
          <p:cNvPr id="16" name="Text 14"/>
          <p:cNvSpPr txBox="1"/>
          <p:nvPr/>
        </p:nvSpPr>
        <p:spPr>
          <a:xfrm>
            <a:off x="713232" y="4736592"/>
            <a:ext cx="3186074" cy="1097280"/>
          </a:xfrm>
          <a:prstGeom prst="rect">
            <a:avLst/>
          </a:prstGeom>
          <a:noFill/>
          <a:ln/>
        </p:spPr>
        <p:txBody>
          <a:bodyPr wrap="square" lIns="0" tIns="0" rIns="0" bIns="0" rtlCol="0" anchor="t"/>
          <a:lstStyle/>
          <a:p>
            <a:pPr marL="0" indent="0">
              <a:spcAft>
                <a:spcPts val="400"/>
              </a:spcAft>
              <a:buNone/>
            </a:pPr>
            <a:r>
              <a:rPr lang="en-US" sz="900" dirty="0">
                <a:solidFill>
                  <a:srgbClr val="0E7A5F"/>
                </a:solidFill>
                <a:latin typeface="Calibri" pitchFamily="34" charset="0"/>
                <a:ea typeface="Calibri" pitchFamily="34" charset="-122"/>
                <a:cs typeface="Calibri" pitchFamily="34" charset="-120"/>
              </a:rPr>
              <a:t>▲ </a:t>
            </a:r>
            <a:r>
              <a:rPr lang="en-US" sz="950" dirty="0">
                <a:solidFill>
                  <a:srgbClr val="2A3442"/>
                </a:solidFill>
                <a:latin typeface="Calibri" pitchFamily="34" charset="0"/>
                <a:ea typeface="Calibri" pitchFamily="34" charset="-122"/>
                <a:cs typeface="Calibri" pitchFamily="34" charset="-120"/>
              </a:rPr>
              <a:t>PYC được xử lý thành công, người dùng xác nhận đạt yêu cầu; quyền truy cập/thiết bị được cấp đúng hạn SLA.</a:t>
            </a:r>
            <a:endParaRPr lang="en-US" sz="900" dirty="0"/>
          </a:p>
          <a:p>
            <a:pPr marL="0" indent="0">
              <a:spcAft>
                <a:spcPts val="400"/>
              </a:spcAft>
              <a:buNone/>
            </a:pPr>
            <a:r>
              <a:rPr lang="en-US" sz="900" dirty="0">
                <a:solidFill>
                  <a:srgbClr val="C0392B"/>
                </a:solidFill>
                <a:latin typeface="Calibri" pitchFamily="34" charset="0"/>
                <a:ea typeface="Calibri" pitchFamily="34" charset="-122"/>
                <a:cs typeface="Calibri" pitchFamily="34" charset="-120"/>
              </a:rPr>
              <a:t>▼ </a:t>
            </a:r>
            <a:r>
              <a:rPr lang="en-US" sz="950" dirty="0">
                <a:solidFill>
                  <a:srgbClr val="2A3442"/>
                </a:solidFill>
                <a:latin typeface="Calibri" pitchFamily="34" charset="0"/>
                <a:ea typeface="Calibri" pitchFamily="34" charset="-122"/>
                <a:cs typeface="Calibri" pitchFamily="34" charset="-120"/>
              </a:rPr>
              <a:t>Bị từ chối do vi phạm chính sách bảo mật; bị trả về bổ sung thông tin; vi phạm SLA do chờ phê duyệt kéo dài.</a:t>
            </a:r>
            <a:endParaRPr lang="en-US" sz="900" dirty="0"/>
          </a:p>
        </p:txBody>
      </p:sp>
      <p:sp>
        <p:nvSpPr>
          <p:cNvPr id="17" name="Shape 15"/>
          <p:cNvSpPr/>
          <p:nvPr/>
        </p:nvSpPr>
        <p:spPr>
          <a:xfrm>
            <a:off x="4338218" y="1463040"/>
            <a:ext cx="3515258" cy="4343400"/>
          </a:xfrm>
          <a:prstGeom prst="roundRect">
            <a:avLst>
              <a:gd name="adj" fmla="val 1561"/>
            </a:avLst>
          </a:prstGeom>
          <a:solidFill>
            <a:srgbClr val="FFFFFF"/>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18" name="Shape 16"/>
          <p:cNvSpPr/>
          <p:nvPr/>
        </p:nvSpPr>
        <p:spPr>
          <a:xfrm>
            <a:off x="4338218" y="1463040"/>
            <a:ext cx="3515258" cy="475488"/>
          </a:xfrm>
          <a:prstGeom prst="rect">
            <a:avLst/>
          </a:prstGeom>
          <a:solidFill>
            <a:srgbClr val="0B3B75"/>
          </a:solidFill>
          <a:ln w="12700">
            <a:solidFill>
              <a:srgbClr val="0B3B75"/>
            </a:solidFill>
            <a:prstDash val="solid"/>
          </a:ln>
        </p:spPr>
        <p:txBody>
          <a:bodyPr/>
          <a:lstStyle/>
          <a:p>
            <a:endParaRPr lang="en-US"/>
          </a:p>
        </p:txBody>
      </p:sp>
      <p:sp>
        <p:nvSpPr>
          <p:cNvPr id="19" name="Text 17"/>
          <p:cNvSpPr txBox="1"/>
          <p:nvPr/>
        </p:nvSpPr>
        <p:spPr>
          <a:xfrm>
            <a:off x="4502810" y="1536192"/>
            <a:ext cx="3186074" cy="347472"/>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C02   Quản lý Sự cố (Incident)</a:t>
            </a:r>
            <a:endParaRPr lang="en-US" sz="1150" dirty="0"/>
          </a:p>
        </p:txBody>
      </p:sp>
      <p:sp>
        <p:nvSpPr>
          <p:cNvPr id="20" name="Text 18"/>
          <p:cNvSpPr txBox="1"/>
          <p:nvPr/>
        </p:nvSpPr>
        <p:spPr>
          <a:xfrm>
            <a:off x="4502810" y="2048256"/>
            <a:ext cx="3186074" cy="201168"/>
          </a:xfrm>
          <a:prstGeom prst="rect">
            <a:avLst/>
          </a:prstGeom>
          <a:noFill/>
          <a:ln/>
        </p:spPr>
        <p:txBody>
          <a:bodyPr wrap="square" lIns="0" tIns="0" rIns="0" bIns="0" rtlCol="0" anchor="t"/>
          <a:lstStyle/>
          <a:p>
            <a:pPr marL="0" indent="0">
              <a:buNone/>
            </a:pPr>
            <a:r>
              <a:rPr lang="en-US" sz="850" b="1" kern="0" spc="80" dirty="0">
                <a:solidFill>
                  <a:srgbClr val="1660BF"/>
                </a:solidFill>
                <a:latin typeface="Calibri" pitchFamily="34" charset="0"/>
                <a:ea typeface="Calibri" pitchFamily="34" charset="-122"/>
                <a:cs typeface="Calibri" pitchFamily="34" charset="-120"/>
              </a:rPr>
              <a:t>TÁC NHÂN CHÍNH</a:t>
            </a:r>
            <a:endParaRPr lang="en-US" sz="850" dirty="0"/>
          </a:p>
        </p:txBody>
      </p:sp>
      <p:sp>
        <p:nvSpPr>
          <p:cNvPr id="21" name="Text 19"/>
          <p:cNvSpPr txBox="1"/>
          <p:nvPr/>
        </p:nvSpPr>
        <p:spPr>
          <a:xfrm>
            <a:off x="4502810" y="2267712"/>
            <a:ext cx="3186074" cy="1060704"/>
          </a:xfrm>
          <a:prstGeom prst="rect">
            <a:avLst/>
          </a:prstGeom>
          <a:noFill/>
          <a:ln/>
        </p:spPr>
        <p:txBody>
          <a:bodyPr wrap="square" lIns="0" tIns="0" rIns="0" bIns="0" rtlCol="0" anchor="t"/>
          <a:lstStyle/>
          <a:p>
            <a:pPr marL="342900" indent="-342900">
              <a:spcAft>
                <a:spcPts val="300"/>
              </a:spcAft>
              <a:buSzPct val="100000"/>
              <a:buChar char="•"/>
            </a:pPr>
            <a:r>
              <a:rPr lang="en-US" sz="950" dirty="0">
                <a:solidFill>
                  <a:srgbClr val="2A3442"/>
                </a:solidFill>
                <a:latin typeface="Calibri" pitchFamily="34" charset="0"/>
                <a:ea typeface="Calibri" pitchFamily="34" charset="-122"/>
                <a:cs typeface="Calibri" pitchFamily="34" charset="-120"/>
              </a:rPr>
              <a:t>Người dùng nội bộ (End-user)</a:t>
            </a:r>
            <a:endParaRPr lang="en-US" sz="950" dirty="0"/>
          </a:p>
          <a:p>
            <a:pPr marL="342900" indent="-342900">
              <a:spcAft>
                <a:spcPts val="300"/>
              </a:spcAft>
              <a:buSzPct val="100000"/>
              <a:buChar char="•"/>
            </a:pPr>
            <a:r>
              <a:rPr lang="en-US" sz="950" dirty="0">
                <a:solidFill>
                  <a:srgbClr val="2A3442"/>
                </a:solidFill>
                <a:latin typeface="Calibri" pitchFamily="34" charset="0"/>
                <a:ea typeface="Calibri" pitchFamily="34" charset="-122"/>
                <a:cs typeface="Calibri" pitchFamily="34" charset="-120"/>
              </a:rPr>
              <a:t>Hệ thống ITSM — SmartIT (đối chiếu trùng lặp real-time)</a:t>
            </a:r>
            <a:endParaRPr lang="en-US" sz="950" dirty="0"/>
          </a:p>
          <a:p>
            <a:pPr marL="342900" indent="-342900">
              <a:spcAft>
                <a:spcPts val="300"/>
              </a:spcAft>
              <a:buSzPct val="100000"/>
              <a:buChar char="•"/>
            </a:pPr>
            <a:r>
              <a:rPr lang="en-US" sz="950" dirty="0">
                <a:solidFill>
                  <a:srgbClr val="2A3442"/>
                </a:solidFill>
                <a:latin typeface="Calibri" pitchFamily="34" charset="0"/>
                <a:ea typeface="Calibri" pitchFamily="34" charset="-122"/>
                <a:cs typeface="Calibri" pitchFamily="34" charset="-120"/>
              </a:rPr>
              <a:t>IT Helpdesk — Service Desk Level 1</a:t>
            </a:r>
            <a:endParaRPr lang="en-US" sz="950" dirty="0"/>
          </a:p>
          <a:p>
            <a:pPr marL="342900" indent="-342900">
              <a:spcAft>
                <a:spcPts val="300"/>
              </a:spcAft>
              <a:buSzPct val="100000"/>
              <a:buChar char="•"/>
            </a:pPr>
            <a:r>
              <a:rPr lang="en-US" sz="950" dirty="0">
                <a:solidFill>
                  <a:srgbClr val="2A3442"/>
                </a:solidFill>
                <a:latin typeface="Calibri" pitchFamily="34" charset="0"/>
                <a:ea typeface="Calibri" pitchFamily="34" charset="-122"/>
                <a:cs typeface="Calibri" pitchFamily="34" charset="-120"/>
              </a:rPr>
              <a:t>Chuyên viên kỹ thuật Level 2</a:t>
            </a:r>
            <a:endParaRPr lang="en-US" sz="950" dirty="0"/>
          </a:p>
          <a:p>
            <a:pPr marL="342900" indent="-342900">
              <a:spcAft>
                <a:spcPts val="300"/>
              </a:spcAft>
              <a:buSzPct val="100000"/>
              <a:buChar char="•"/>
            </a:pPr>
            <a:r>
              <a:rPr lang="en-US" sz="950" dirty="0">
                <a:solidFill>
                  <a:srgbClr val="2A3442"/>
                </a:solidFill>
                <a:latin typeface="Calibri" pitchFamily="34" charset="0"/>
                <a:ea typeface="Calibri" pitchFamily="34" charset="-122"/>
                <a:cs typeface="Calibri" pitchFamily="34" charset="-120"/>
              </a:rPr>
              <a:t>Major Incident Manager</a:t>
            </a:r>
            <a:endParaRPr lang="en-US" sz="950" dirty="0"/>
          </a:p>
        </p:txBody>
      </p:sp>
      <p:sp>
        <p:nvSpPr>
          <p:cNvPr id="22" name="Text 20"/>
          <p:cNvSpPr txBox="1"/>
          <p:nvPr/>
        </p:nvSpPr>
        <p:spPr>
          <a:xfrm>
            <a:off x="4502810" y="3401568"/>
            <a:ext cx="3186074" cy="201168"/>
          </a:xfrm>
          <a:prstGeom prst="rect">
            <a:avLst/>
          </a:prstGeom>
          <a:noFill/>
          <a:ln/>
        </p:spPr>
        <p:txBody>
          <a:bodyPr wrap="square" lIns="0" tIns="0" rIns="0" bIns="0" rtlCol="0" anchor="t"/>
          <a:lstStyle/>
          <a:p>
            <a:pPr marL="0" indent="0">
              <a:buNone/>
            </a:pPr>
            <a:r>
              <a:rPr lang="en-US" sz="850" b="1" kern="0" spc="80" dirty="0">
                <a:solidFill>
                  <a:srgbClr val="1660BF"/>
                </a:solidFill>
                <a:latin typeface="Calibri" pitchFamily="34" charset="0"/>
                <a:ea typeface="Calibri" pitchFamily="34" charset="-122"/>
                <a:cs typeface="Calibri" pitchFamily="34" charset="-120"/>
              </a:rPr>
              <a:t>ĐỐI TƯỢNG KHÁCH HÀNG</a:t>
            </a:r>
            <a:endParaRPr lang="en-US" sz="850" dirty="0"/>
          </a:p>
        </p:txBody>
      </p:sp>
      <p:sp>
        <p:nvSpPr>
          <p:cNvPr id="23" name="Text 21"/>
          <p:cNvSpPr txBox="1"/>
          <p:nvPr/>
        </p:nvSpPr>
        <p:spPr>
          <a:xfrm>
            <a:off x="4502810" y="3621024"/>
            <a:ext cx="3186074" cy="841248"/>
          </a:xfrm>
          <a:prstGeom prst="rect">
            <a:avLst/>
          </a:prstGeom>
          <a:noFill/>
          <a:ln/>
        </p:spPr>
        <p:txBody>
          <a:bodyPr wrap="square" lIns="0" tIns="0" rIns="0" bIns="0" rtlCol="0" anchor="t"/>
          <a:lstStyle/>
          <a:p>
            <a:pPr marL="342900" indent="-342900">
              <a:spcAft>
                <a:spcPts val="300"/>
              </a:spcAft>
              <a:buSzPct val="100000"/>
              <a:buChar char="•"/>
            </a:pPr>
            <a:r>
              <a:rPr lang="en-US" sz="950" dirty="0">
                <a:solidFill>
                  <a:srgbClr val="2A3442"/>
                </a:solidFill>
                <a:latin typeface="Calibri" pitchFamily="34" charset="0"/>
                <a:ea typeface="Calibri" pitchFamily="34" charset="-122"/>
                <a:cs typeface="Calibri" pitchFamily="34" charset="-120"/>
              </a:rPr>
              <a:t>CBNV nội bộ đang bị ảnh hưởng trực tiếp bởi sự cố</a:t>
            </a:r>
            <a:endParaRPr lang="en-US" sz="950" dirty="0"/>
          </a:p>
          <a:p>
            <a:pPr marL="342900" indent="-342900">
              <a:spcAft>
                <a:spcPts val="300"/>
              </a:spcAft>
              <a:buSzPct val="100000"/>
              <a:buChar char="•"/>
            </a:pPr>
            <a:r>
              <a:rPr lang="en-US" sz="950" dirty="0">
                <a:solidFill>
                  <a:srgbClr val="2A3442"/>
                </a:solidFill>
                <a:latin typeface="Calibri" pitchFamily="34" charset="0"/>
                <a:ea typeface="Calibri" pitchFamily="34" charset="-122"/>
                <a:cs typeface="Calibri" pitchFamily="34" charset="-120"/>
              </a:rPr>
              <a:t>Ban Giám đốc Khối CNTT và Ban Giám đốc Ngân hàng khi xảy ra Major Incident</a:t>
            </a:r>
            <a:endParaRPr lang="en-US" sz="950" dirty="0"/>
          </a:p>
        </p:txBody>
      </p:sp>
      <p:sp>
        <p:nvSpPr>
          <p:cNvPr id="24" name="Text 22"/>
          <p:cNvSpPr txBox="1"/>
          <p:nvPr/>
        </p:nvSpPr>
        <p:spPr>
          <a:xfrm>
            <a:off x="4502810" y="4517136"/>
            <a:ext cx="3186074" cy="201168"/>
          </a:xfrm>
          <a:prstGeom prst="rect">
            <a:avLst/>
          </a:prstGeom>
          <a:noFill/>
          <a:ln/>
        </p:spPr>
        <p:txBody>
          <a:bodyPr wrap="square" lIns="0" tIns="0" rIns="0" bIns="0" rtlCol="0" anchor="t"/>
          <a:lstStyle/>
          <a:p>
            <a:pPr marL="0" indent="0">
              <a:buNone/>
            </a:pPr>
            <a:r>
              <a:rPr lang="en-US" sz="850" b="1" kern="0" spc="80" dirty="0">
                <a:solidFill>
                  <a:srgbClr val="1660BF"/>
                </a:solidFill>
                <a:latin typeface="Calibri" pitchFamily="34" charset="0"/>
                <a:ea typeface="Calibri" pitchFamily="34" charset="-122"/>
                <a:cs typeface="Calibri" pitchFamily="34" charset="-120"/>
              </a:rPr>
              <a:t>KẾT QUẢ ĐẦU RA</a:t>
            </a:r>
            <a:endParaRPr lang="en-US" sz="850" dirty="0"/>
          </a:p>
        </p:txBody>
      </p:sp>
      <p:sp>
        <p:nvSpPr>
          <p:cNvPr id="25" name="Text 23"/>
          <p:cNvSpPr txBox="1"/>
          <p:nvPr/>
        </p:nvSpPr>
        <p:spPr>
          <a:xfrm>
            <a:off x="4502810" y="4736592"/>
            <a:ext cx="3186074" cy="1097280"/>
          </a:xfrm>
          <a:prstGeom prst="rect">
            <a:avLst/>
          </a:prstGeom>
          <a:noFill/>
          <a:ln/>
        </p:spPr>
        <p:txBody>
          <a:bodyPr wrap="square" lIns="0" tIns="0" rIns="0" bIns="0" rtlCol="0" anchor="t"/>
          <a:lstStyle/>
          <a:p>
            <a:pPr marL="0" indent="0">
              <a:spcAft>
                <a:spcPts val="400"/>
              </a:spcAft>
              <a:buNone/>
            </a:pPr>
            <a:r>
              <a:rPr lang="en-US" sz="900" dirty="0">
                <a:solidFill>
                  <a:srgbClr val="0E7A5F"/>
                </a:solidFill>
                <a:latin typeface="Calibri" pitchFamily="34" charset="0"/>
                <a:ea typeface="Calibri" pitchFamily="34" charset="-122"/>
                <a:cs typeface="Calibri" pitchFamily="34" charset="-120"/>
              </a:rPr>
              <a:t>▲ </a:t>
            </a:r>
            <a:r>
              <a:rPr lang="en-US" sz="950" dirty="0">
                <a:solidFill>
                  <a:srgbClr val="2A3442"/>
                </a:solidFill>
                <a:latin typeface="Calibri" pitchFamily="34" charset="0"/>
                <a:ea typeface="Calibri" pitchFamily="34" charset="-122"/>
                <a:cs typeface="Calibri" pitchFamily="34" charset="-120"/>
              </a:rPr>
              <a:t>Sự cố được khắc phục, dịch vụ khôi phục bình thường; sự cố trùng lặp được tự động liên kết vào Incident gốc.</a:t>
            </a:r>
            <a:endParaRPr lang="en-US" sz="900" dirty="0"/>
          </a:p>
          <a:p>
            <a:pPr marL="0" indent="0">
              <a:spcAft>
                <a:spcPts val="400"/>
              </a:spcAft>
              <a:buNone/>
            </a:pPr>
            <a:r>
              <a:rPr lang="en-US" sz="900" dirty="0">
                <a:solidFill>
                  <a:srgbClr val="C0392B"/>
                </a:solidFill>
                <a:latin typeface="Calibri" pitchFamily="34" charset="0"/>
                <a:ea typeface="Calibri" pitchFamily="34" charset="-122"/>
                <a:cs typeface="Calibri" pitchFamily="34" charset="-120"/>
              </a:rPr>
              <a:t>▼ </a:t>
            </a:r>
            <a:r>
              <a:rPr lang="en-US" sz="950" dirty="0">
                <a:solidFill>
                  <a:srgbClr val="2A3442"/>
                </a:solidFill>
                <a:latin typeface="Calibri" pitchFamily="34" charset="0"/>
                <a:ea typeface="Calibri" pitchFamily="34" charset="-122"/>
                <a:cs typeface="Calibri" pitchFamily="34" charset="-120"/>
              </a:rPr>
              <a:t>Vượt khả năng L1 phải leo thang L2/L3; nâng cấp thành Major Incident; sau đóng phiếu phát sinh Problem hoặc Change.</a:t>
            </a:r>
            <a:endParaRPr lang="en-US" sz="900" dirty="0"/>
          </a:p>
        </p:txBody>
      </p:sp>
      <p:sp>
        <p:nvSpPr>
          <p:cNvPr id="26" name="Shape 24"/>
          <p:cNvSpPr/>
          <p:nvPr/>
        </p:nvSpPr>
        <p:spPr>
          <a:xfrm>
            <a:off x="8127797" y="1463040"/>
            <a:ext cx="3515258" cy="4343400"/>
          </a:xfrm>
          <a:prstGeom prst="roundRect">
            <a:avLst>
              <a:gd name="adj" fmla="val 1561"/>
            </a:avLst>
          </a:prstGeom>
          <a:solidFill>
            <a:srgbClr val="FFFFFF"/>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27" name="Shape 25"/>
          <p:cNvSpPr/>
          <p:nvPr/>
        </p:nvSpPr>
        <p:spPr>
          <a:xfrm>
            <a:off x="8127797" y="1463040"/>
            <a:ext cx="3515258" cy="475488"/>
          </a:xfrm>
          <a:prstGeom prst="rect">
            <a:avLst/>
          </a:prstGeom>
          <a:solidFill>
            <a:srgbClr val="0B3B75"/>
          </a:solidFill>
          <a:ln w="12700">
            <a:solidFill>
              <a:srgbClr val="0B3B75"/>
            </a:solidFill>
            <a:prstDash val="solid"/>
          </a:ln>
        </p:spPr>
        <p:txBody>
          <a:bodyPr/>
          <a:lstStyle/>
          <a:p>
            <a:endParaRPr lang="en-US"/>
          </a:p>
        </p:txBody>
      </p:sp>
      <p:sp>
        <p:nvSpPr>
          <p:cNvPr id="28" name="Text 26"/>
          <p:cNvSpPr txBox="1"/>
          <p:nvPr/>
        </p:nvSpPr>
        <p:spPr>
          <a:xfrm>
            <a:off x="8292389" y="1536192"/>
            <a:ext cx="3186074" cy="347472"/>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C03   Quản lý Phát hành Phần mềm</a:t>
            </a:r>
            <a:endParaRPr lang="en-US" sz="1150" dirty="0"/>
          </a:p>
        </p:txBody>
      </p:sp>
      <p:sp>
        <p:nvSpPr>
          <p:cNvPr id="29" name="Text 27"/>
          <p:cNvSpPr txBox="1"/>
          <p:nvPr/>
        </p:nvSpPr>
        <p:spPr>
          <a:xfrm>
            <a:off x="8292389" y="2048256"/>
            <a:ext cx="3186074" cy="201168"/>
          </a:xfrm>
          <a:prstGeom prst="rect">
            <a:avLst/>
          </a:prstGeom>
          <a:noFill/>
          <a:ln/>
        </p:spPr>
        <p:txBody>
          <a:bodyPr wrap="square" lIns="0" tIns="0" rIns="0" bIns="0" rtlCol="0" anchor="t"/>
          <a:lstStyle/>
          <a:p>
            <a:pPr marL="0" indent="0">
              <a:buNone/>
            </a:pPr>
            <a:r>
              <a:rPr lang="en-US" sz="850" b="1" kern="0" spc="80" dirty="0">
                <a:solidFill>
                  <a:srgbClr val="1660BF"/>
                </a:solidFill>
                <a:latin typeface="Calibri" pitchFamily="34" charset="0"/>
                <a:ea typeface="Calibri" pitchFamily="34" charset="-122"/>
                <a:cs typeface="Calibri" pitchFamily="34" charset="-120"/>
              </a:rPr>
              <a:t>TÁC NHÂN CHÍNH</a:t>
            </a:r>
            <a:endParaRPr lang="en-US" sz="850" dirty="0"/>
          </a:p>
        </p:txBody>
      </p:sp>
      <p:sp>
        <p:nvSpPr>
          <p:cNvPr id="30" name="Text 28"/>
          <p:cNvSpPr txBox="1"/>
          <p:nvPr/>
        </p:nvSpPr>
        <p:spPr>
          <a:xfrm>
            <a:off x="8292389" y="2267712"/>
            <a:ext cx="3186074" cy="1060704"/>
          </a:xfrm>
          <a:prstGeom prst="rect">
            <a:avLst/>
          </a:prstGeom>
          <a:noFill/>
          <a:ln/>
        </p:spPr>
        <p:txBody>
          <a:bodyPr wrap="square" lIns="0" tIns="0" rIns="0" bIns="0" rtlCol="0" anchor="t"/>
          <a:lstStyle/>
          <a:p>
            <a:pPr marL="342900" indent="-342900">
              <a:spcAft>
                <a:spcPts val="300"/>
              </a:spcAft>
              <a:buSzPct val="100000"/>
              <a:buChar char="•"/>
            </a:pPr>
            <a:r>
              <a:rPr lang="en-US" sz="950" dirty="0">
                <a:solidFill>
                  <a:srgbClr val="2A3442"/>
                </a:solidFill>
                <a:latin typeface="Calibri" pitchFamily="34" charset="0"/>
                <a:ea typeface="Calibri" pitchFamily="34" charset="-122"/>
                <a:cs typeface="Calibri" pitchFamily="34" charset="-120"/>
              </a:rPr>
              <a:t>Release Coordinator (điều phối phát hành)</a:t>
            </a:r>
            <a:endParaRPr lang="en-US" sz="950" dirty="0"/>
          </a:p>
          <a:p>
            <a:pPr marL="342900" indent="-342900">
              <a:spcAft>
                <a:spcPts val="300"/>
              </a:spcAft>
              <a:buSzPct val="100000"/>
              <a:buChar char="•"/>
            </a:pPr>
            <a:r>
              <a:rPr lang="en-US" sz="950" dirty="0">
                <a:solidFill>
                  <a:srgbClr val="2A3442"/>
                </a:solidFill>
                <a:latin typeface="Calibri" pitchFamily="34" charset="0"/>
                <a:ea typeface="Calibri" pitchFamily="34" charset="-122"/>
                <a:cs typeface="Calibri" pitchFamily="34" charset="-120"/>
              </a:rPr>
              <a:t>Đội Phát triển phần mềm (Dev Team)</a:t>
            </a:r>
            <a:endParaRPr lang="en-US" sz="950" dirty="0"/>
          </a:p>
          <a:p>
            <a:pPr marL="342900" indent="-342900">
              <a:spcAft>
                <a:spcPts val="300"/>
              </a:spcAft>
              <a:buSzPct val="100000"/>
              <a:buChar char="•"/>
            </a:pPr>
            <a:r>
              <a:rPr lang="en-US" sz="950" dirty="0">
                <a:solidFill>
                  <a:srgbClr val="2A3442"/>
                </a:solidFill>
                <a:latin typeface="Calibri" pitchFamily="34" charset="0"/>
                <a:ea typeface="Calibri" pitchFamily="34" charset="-122"/>
                <a:cs typeface="Calibri" pitchFamily="34" charset="-120"/>
              </a:rPr>
              <a:t>Đội Kiểm thử chất lượng (QA/Test)</a:t>
            </a:r>
            <a:endParaRPr lang="en-US" sz="950" dirty="0"/>
          </a:p>
          <a:p>
            <a:pPr marL="342900" indent="-342900">
              <a:spcAft>
                <a:spcPts val="300"/>
              </a:spcAft>
              <a:buSzPct val="100000"/>
              <a:buChar char="•"/>
            </a:pPr>
            <a:r>
              <a:rPr lang="en-US" sz="950" dirty="0">
                <a:solidFill>
                  <a:srgbClr val="2A3442"/>
                </a:solidFill>
                <a:latin typeface="Calibri" pitchFamily="34" charset="0"/>
                <a:ea typeface="Calibri" pitchFamily="34" charset="-122"/>
                <a:cs typeface="Calibri" pitchFamily="34" charset="-120"/>
              </a:rPr>
              <a:t>Quản lý dự án hoặc Product Owner</a:t>
            </a:r>
            <a:endParaRPr lang="en-US" sz="950" dirty="0"/>
          </a:p>
        </p:txBody>
      </p:sp>
      <p:sp>
        <p:nvSpPr>
          <p:cNvPr id="31" name="Text 29"/>
          <p:cNvSpPr txBox="1"/>
          <p:nvPr/>
        </p:nvSpPr>
        <p:spPr>
          <a:xfrm>
            <a:off x="8292389" y="3401568"/>
            <a:ext cx="3186074" cy="201168"/>
          </a:xfrm>
          <a:prstGeom prst="rect">
            <a:avLst/>
          </a:prstGeom>
          <a:noFill/>
          <a:ln/>
        </p:spPr>
        <p:txBody>
          <a:bodyPr wrap="square" lIns="0" tIns="0" rIns="0" bIns="0" rtlCol="0" anchor="t"/>
          <a:lstStyle/>
          <a:p>
            <a:pPr marL="0" indent="0">
              <a:buNone/>
            </a:pPr>
            <a:r>
              <a:rPr lang="en-US" sz="850" b="1" kern="0" spc="80" dirty="0">
                <a:solidFill>
                  <a:srgbClr val="1660BF"/>
                </a:solidFill>
                <a:latin typeface="Calibri" pitchFamily="34" charset="0"/>
                <a:ea typeface="Calibri" pitchFamily="34" charset="-122"/>
                <a:cs typeface="Calibri" pitchFamily="34" charset="-120"/>
              </a:rPr>
              <a:t>ĐỐI TƯỢNG KHÁCH HÀNG</a:t>
            </a:r>
            <a:endParaRPr lang="en-US" sz="850" dirty="0"/>
          </a:p>
        </p:txBody>
      </p:sp>
      <p:sp>
        <p:nvSpPr>
          <p:cNvPr id="32" name="Text 30"/>
          <p:cNvSpPr txBox="1"/>
          <p:nvPr/>
        </p:nvSpPr>
        <p:spPr>
          <a:xfrm>
            <a:off x="8292389" y="3621024"/>
            <a:ext cx="3186074" cy="841248"/>
          </a:xfrm>
          <a:prstGeom prst="rect">
            <a:avLst/>
          </a:prstGeom>
          <a:noFill/>
          <a:ln/>
        </p:spPr>
        <p:txBody>
          <a:bodyPr wrap="square" lIns="0" tIns="0" rIns="0" bIns="0" rtlCol="0" anchor="t"/>
          <a:lstStyle/>
          <a:p>
            <a:pPr marL="342900" indent="-342900">
              <a:spcAft>
                <a:spcPts val="300"/>
              </a:spcAft>
              <a:buSzPct val="100000"/>
              <a:buChar char="•"/>
            </a:pPr>
            <a:r>
              <a:rPr lang="en-US" sz="950" dirty="0">
                <a:solidFill>
                  <a:srgbClr val="2A3442"/>
                </a:solidFill>
                <a:latin typeface="Calibri" pitchFamily="34" charset="0"/>
                <a:ea typeface="Calibri" pitchFamily="34" charset="-122"/>
                <a:cs typeface="Calibri" pitchFamily="34" charset="-120"/>
              </a:rPr>
              <a:t>Đội dự án phần mềm nội bộ (Dev, QA, BA)</a:t>
            </a:r>
            <a:endParaRPr lang="en-US" sz="950" dirty="0"/>
          </a:p>
          <a:p>
            <a:pPr marL="342900" indent="-342900">
              <a:spcAft>
                <a:spcPts val="300"/>
              </a:spcAft>
              <a:buSzPct val="100000"/>
              <a:buChar char="•"/>
            </a:pPr>
            <a:r>
              <a:rPr lang="en-US" sz="950" dirty="0">
                <a:solidFill>
                  <a:srgbClr val="2A3442"/>
                </a:solidFill>
                <a:latin typeface="Calibri" pitchFamily="34" charset="0"/>
                <a:ea typeface="Calibri" pitchFamily="34" charset="-122"/>
                <a:cs typeface="Calibri" pitchFamily="34" charset="-120"/>
              </a:rPr>
              <a:t>Phòng ban nghiệp vụ đặt hàng tính năng mới</a:t>
            </a:r>
            <a:endParaRPr lang="en-US" sz="950" dirty="0"/>
          </a:p>
          <a:p>
            <a:pPr marL="342900" indent="-342900">
              <a:spcAft>
                <a:spcPts val="300"/>
              </a:spcAft>
              <a:buSzPct val="100000"/>
              <a:buChar char="•"/>
            </a:pPr>
            <a:r>
              <a:rPr lang="en-US" sz="950" dirty="0">
                <a:solidFill>
                  <a:srgbClr val="2A3442"/>
                </a:solidFill>
                <a:latin typeface="Calibri" pitchFamily="34" charset="0"/>
                <a:ea typeface="Calibri" pitchFamily="34" charset="-122"/>
                <a:cs typeface="Calibri" pitchFamily="34" charset="-120"/>
              </a:rPr>
              <a:t>Đội vận hành hệ thống (Ops)</a:t>
            </a:r>
            <a:endParaRPr lang="en-US" sz="950" dirty="0"/>
          </a:p>
        </p:txBody>
      </p:sp>
      <p:sp>
        <p:nvSpPr>
          <p:cNvPr id="33" name="Text 31"/>
          <p:cNvSpPr txBox="1"/>
          <p:nvPr/>
        </p:nvSpPr>
        <p:spPr>
          <a:xfrm>
            <a:off x="8292389" y="4517136"/>
            <a:ext cx="3186074" cy="201168"/>
          </a:xfrm>
          <a:prstGeom prst="rect">
            <a:avLst/>
          </a:prstGeom>
          <a:noFill/>
          <a:ln/>
        </p:spPr>
        <p:txBody>
          <a:bodyPr wrap="square" lIns="0" tIns="0" rIns="0" bIns="0" rtlCol="0" anchor="t"/>
          <a:lstStyle/>
          <a:p>
            <a:pPr marL="0" indent="0">
              <a:buNone/>
            </a:pPr>
            <a:r>
              <a:rPr lang="en-US" sz="850" b="1" kern="0" spc="80" dirty="0">
                <a:solidFill>
                  <a:srgbClr val="1660BF"/>
                </a:solidFill>
                <a:latin typeface="Calibri" pitchFamily="34" charset="0"/>
                <a:ea typeface="Calibri" pitchFamily="34" charset="-122"/>
                <a:cs typeface="Calibri" pitchFamily="34" charset="-120"/>
              </a:rPr>
              <a:t>KẾT QUẢ ĐẦU RA</a:t>
            </a:r>
            <a:endParaRPr lang="en-US" sz="850" dirty="0"/>
          </a:p>
        </p:txBody>
      </p:sp>
      <p:sp>
        <p:nvSpPr>
          <p:cNvPr id="34" name="Text 32"/>
          <p:cNvSpPr txBox="1"/>
          <p:nvPr/>
        </p:nvSpPr>
        <p:spPr>
          <a:xfrm>
            <a:off x="8292389" y="4736592"/>
            <a:ext cx="3186074" cy="1097280"/>
          </a:xfrm>
          <a:prstGeom prst="rect">
            <a:avLst/>
          </a:prstGeom>
          <a:noFill/>
          <a:ln/>
        </p:spPr>
        <p:txBody>
          <a:bodyPr wrap="square" lIns="0" tIns="0" rIns="0" bIns="0" rtlCol="0" anchor="t"/>
          <a:lstStyle/>
          <a:p>
            <a:pPr marL="0" indent="0">
              <a:spcAft>
                <a:spcPts val="400"/>
              </a:spcAft>
              <a:buNone/>
            </a:pPr>
            <a:r>
              <a:rPr lang="en-US" sz="900" dirty="0">
                <a:solidFill>
                  <a:srgbClr val="0E7A5F"/>
                </a:solidFill>
                <a:latin typeface="Calibri" pitchFamily="34" charset="0"/>
                <a:ea typeface="Calibri" pitchFamily="34" charset="-122"/>
                <a:cs typeface="Calibri" pitchFamily="34" charset="-120"/>
              </a:rPr>
              <a:t>▲ </a:t>
            </a:r>
            <a:r>
              <a:rPr lang="en-US" sz="950" dirty="0">
                <a:solidFill>
                  <a:srgbClr val="2A3442"/>
                </a:solidFill>
                <a:latin typeface="Calibri" pitchFamily="34" charset="0"/>
                <a:ea typeface="Calibri" pitchFamily="34" charset="-122"/>
                <a:cs typeface="Calibri" pitchFamily="34" charset="-120"/>
              </a:rPr>
              <a:t>Phần mềm được phát hành thành công lên Production và hoạt động ổn định.</a:t>
            </a:r>
            <a:endParaRPr lang="en-US" sz="900" dirty="0"/>
          </a:p>
          <a:p>
            <a:pPr marL="0" indent="0">
              <a:spcAft>
                <a:spcPts val="400"/>
              </a:spcAft>
              <a:buNone/>
            </a:pPr>
            <a:r>
              <a:rPr lang="en-US" sz="900" dirty="0">
                <a:solidFill>
                  <a:srgbClr val="C0392B"/>
                </a:solidFill>
                <a:latin typeface="Calibri" pitchFamily="34" charset="0"/>
                <a:ea typeface="Calibri" pitchFamily="34" charset="-122"/>
                <a:cs typeface="Calibri" pitchFamily="34" charset="-120"/>
              </a:rPr>
              <a:t>▼ </a:t>
            </a:r>
            <a:r>
              <a:rPr lang="en-US" sz="950" dirty="0">
                <a:solidFill>
                  <a:srgbClr val="2A3442"/>
                </a:solidFill>
                <a:latin typeface="Calibri" pitchFamily="34" charset="0"/>
                <a:ea typeface="Calibri" pitchFamily="34" charset="-122"/>
                <a:cs typeface="Calibri" pitchFamily="34" charset="-120"/>
              </a:rPr>
              <a:t>Hoãn do kiểm thử phát hiện lỗi nghiêm trọng; phát sinh lỗi phải Rollback và mở Incident; hủy do phạm vi thay đổi.</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65760"/>
            <a:ext cx="123444" cy="123444"/>
          </a:xfrm>
          <a:prstGeom prst="ellipse">
            <a:avLst/>
          </a:prstGeom>
          <a:solidFill>
            <a:srgbClr val="D9A227"/>
          </a:solidFill>
          <a:ln w="12700">
            <a:solidFill>
              <a:srgbClr val="D9A227"/>
            </a:solidFill>
            <a:prstDash val="solid"/>
          </a:ln>
        </p:spPr>
        <p:txBody>
          <a:bodyPr/>
          <a:lstStyle/>
          <a:p>
            <a:endParaRPr lang="en-US"/>
          </a:p>
        </p:txBody>
      </p:sp>
      <p:sp>
        <p:nvSpPr>
          <p:cNvPr id="3" name="Text 1"/>
          <p:cNvSpPr txBox="1"/>
          <p:nvPr/>
        </p:nvSpPr>
        <p:spPr>
          <a:xfrm>
            <a:off x="804672" y="292608"/>
            <a:ext cx="10838383" cy="237744"/>
          </a:xfrm>
          <a:prstGeom prst="rect">
            <a:avLst/>
          </a:prstGeom>
          <a:noFill/>
          <a:ln/>
        </p:spPr>
        <p:txBody>
          <a:bodyPr wrap="square" lIns="0" tIns="0" rIns="0" bIns="0" rtlCol="0" anchor="t"/>
          <a:lstStyle/>
          <a:p>
            <a:pPr marL="0" indent="0">
              <a:buNone/>
            </a:pPr>
            <a:r>
              <a:rPr lang="en-US" sz="1050" b="1" kern="0" spc="120" dirty="0">
                <a:solidFill>
                  <a:srgbClr val="A5741A"/>
                </a:solidFill>
                <a:latin typeface="Calibri" pitchFamily="34" charset="0"/>
                <a:ea typeface="Calibri" pitchFamily="34" charset="-122"/>
                <a:cs typeface="Calibri" pitchFamily="34" charset="-120"/>
              </a:rPr>
              <a:t>CHƯƠNG 1 · NHÓM QUY TRÌNH HỖ TRỢ</a:t>
            </a:r>
            <a:endParaRPr lang="en-US" sz="1050" dirty="0"/>
          </a:p>
        </p:txBody>
      </p:sp>
      <p:sp>
        <p:nvSpPr>
          <p:cNvPr id="4" name="Text 2"/>
          <p:cNvSpPr txBox="1"/>
          <p:nvPr/>
        </p:nvSpPr>
        <p:spPr>
          <a:xfrm>
            <a:off x="548640" y="566928"/>
            <a:ext cx="11094415" cy="457200"/>
          </a:xfrm>
          <a:prstGeom prst="rect">
            <a:avLst/>
          </a:prstGeom>
          <a:noFill/>
          <a:ln/>
        </p:spPr>
        <p:txBody>
          <a:bodyPr wrap="square" lIns="0" tIns="0" rIns="0" bIns="0" rtlCol="0" anchor="t"/>
          <a:lstStyle/>
          <a:p>
            <a:pPr marL="0" indent="0">
              <a:buNone/>
            </a:pPr>
            <a:r>
              <a:rPr lang="en-US" sz="2500" b="1" dirty="0">
                <a:solidFill>
                  <a:srgbClr val="0B3B75"/>
                </a:solidFill>
                <a:latin typeface="Calibri" pitchFamily="34" charset="0"/>
                <a:ea typeface="Calibri" pitchFamily="34" charset="-122"/>
                <a:cs typeface="Calibri" pitchFamily="34" charset="-120"/>
              </a:rPr>
              <a:t>S01 – S02 – S03 – S04  ·  TÁC NHÂN, KHÁCH HÀNG VÀ KẾT QUẢ ĐẦU RA</a:t>
            </a:r>
            <a:endParaRPr lang="en-US" sz="2500" dirty="0"/>
          </a:p>
        </p:txBody>
      </p:sp>
      <p:sp>
        <p:nvSpPr>
          <p:cNvPr id="5" name="Text 3"/>
          <p:cNvSpPr txBox="1"/>
          <p:nvPr/>
        </p:nvSpPr>
        <p:spPr>
          <a:xfrm>
            <a:off x="548640" y="1024128"/>
            <a:ext cx="11094415" cy="274320"/>
          </a:xfrm>
          <a:prstGeom prst="rect">
            <a:avLst/>
          </a:prstGeom>
          <a:noFill/>
          <a:ln/>
        </p:spPr>
        <p:txBody>
          <a:bodyPr wrap="square" lIns="0" tIns="0" rIns="0" bIns="0" rtlCol="0" anchor="t"/>
          <a:lstStyle/>
          <a:p>
            <a:pPr marL="0" indent="0">
              <a:buNone/>
            </a:pPr>
            <a:r>
              <a:rPr lang="en-US" sz="1100" i="1" dirty="0">
                <a:solidFill>
                  <a:srgbClr val="6E7A88"/>
                </a:solidFill>
                <a:latin typeface="Calibri" pitchFamily="34" charset="0"/>
                <a:ea typeface="Calibri" pitchFamily="34" charset="-122"/>
                <a:cs typeface="Calibri" pitchFamily="34" charset="-120"/>
              </a:rPr>
              <a:t>Giúp Khối IT duy trì nguồn lực và công cụ để thực hiện các quy trình cốt lõi</a:t>
            </a:r>
            <a:endParaRPr lang="en-US" sz="1100" dirty="0"/>
          </a:p>
        </p:txBody>
      </p:sp>
      <p:sp>
        <p:nvSpPr>
          <p:cNvPr id="6" name="Text 4"/>
          <p:cNvSpPr txBox="1"/>
          <p:nvPr/>
        </p:nvSpPr>
        <p:spPr>
          <a:xfrm>
            <a:off x="548640" y="6419088"/>
            <a:ext cx="8778240" cy="237744"/>
          </a:xfrm>
          <a:prstGeom prst="rect">
            <a:avLst/>
          </a:prstGeom>
          <a:noFill/>
          <a:ln/>
        </p:spPr>
        <p:txBody>
          <a:bodyPr wrap="square" lIns="0" tIns="0" rIns="0" bIns="0" rtlCol="0" anchor="t"/>
          <a:lstStyle/>
          <a:p>
            <a:pPr marL="0" indent="0">
              <a:buNone/>
            </a:pPr>
            <a:r>
              <a:rPr lang="en-US" sz="850" dirty="0">
                <a:solidFill>
                  <a:srgbClr val="6E7A88"/>
                </a:solidFill>
                <a:latin typeface="Calibri" pitchFamily="34" charset="0"/>
                <a:ea typeface="Calibri" pitchFamily="34" charset="-122"/>
                <a:cs typeface="Calibri" pitchFamily="34" charset="-120"/>
              </a:rPr>
              <a:t>HỆ THỐNG QUẢN TRỊ QUY TRÌNH NGHIỆP VỤ  ·  SACOMBANK — QUY TRÌNH PYC</a:t>
            </a:r>
            <a:endParaRPr lang="en-US" sz="850" dirty="0"/>
          </a:p>
        </p:txBody>
      </p:sp>
      <p:sp>
        <p:nvSpPr>
          <p:cNvPr id="7" name="Text 5"/>
          <p:cNvSpPr txBox="1"/>
          <p:nvPr/>
        </p:nvSpPr>
        <p:spPr>
          <a:xfrm>
            <a:off x="11155680" y="6382512"/>
            <a:ext cx="484632" cy="274320"/>
          </a:xfrm>
          <a:prstGeom prst="rect">
            <a:avLst/>
          </a:prstGeom>
          <a:noFill/>
          <a:ln/>
        </p:spPr>
        <p:txBody>
          <a:bodyPr wrap="square" lIns="0" tIns="0" rIns="0" bIns="0" rtlCol="0" anchor="t"/>
          <a:lstStyle/>
          <a:p>
            <a:pPr marL="0" indent="0" algn="r">
              <a:buNone/>
            </a:pPr>
            <a:r>
              <a:rPr lang="en-US" sz="1100" b="1" dirty="0">
                <a:solidFill>
                  <a:srgbClr val="A5741A"/>
                </a:solidFill>
                <a:latin typeface="Calibri" pitchFamily="34" charset="0"/>
                <a:ea typeface="Calibri" pitchFamily="34" charset="-122"/>
                <a:cs typeface="Calibri" pitchFamily="34" charset="-120"/>
              </a:rPr>
              <a:t>11</a:t>
            </a:r>
            <a:endParaRPr lang="en-US" sz="1100" dirty="0"/>
          </a:p>
        </p:txBody>
      </p:sp>
      <p:sp>
        <p:nvSpPr>
          <p:cNvPr id="8" name="Shape 6"/>
          <p:cNvSpPr/>
          <p:nvPr/>
        </p:nvSpPr>
        <p:spPr>
          <a:xfrm>
            <a:off x="548640" y="1463040"/>
            <a:ext cx="2567864" cy="4343400"/>
          </a:xfrm>
          <a:prstGeom prst="roundRect">
            <a:avLst>
              <a:gd name="adj" fmla="val 2137"/>
            </a:avLst>
          </a:prstGeom>
          <a:solidFill>
            <a:srgbClr val="FFFFFF"/>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9" name="Shape 7"/>
          <p:cNvSpPr/>
          <p:nvPr/>
        </p:nvSpPr>
        <p:spPr>
          <a:xfrm>
            <a:off x="548640" y="1463040"/>
            <a:ext cx="2567864" cy="475488"/>
          </a:xfrm>
          <a:prstGeom prst="rect">
            <a:avLst/>
          </a:prstGeom>
          <a:solidFill>
            <a:srgbClr val="0B3B75"/>
          </a:solidFill>
          <a:ln w="12700">
            <a:solidFill>
              <a:srgbClr val="0B3B75"/>
            </a:solidFill>
            <a:prstDash val="solid"/>
          </a:ln>
        </p:spPr>
        <p:txBody>
          <a:bodyPr/>
          <a:lstStyle/>
          <a:p>
            <a:endParaRPr lang="en-US"/>
          </a:p>
        </p:txBody>
      </p:sp>
      <p:sp>
        <p:nvSpPr>
          <p:cNvPr id="10" name="Text 8"/>
          <p:cNvSpPr txBox="1"/>
          <p:nvPr/>
        </p:nvSpPr>
        <p:spPr>
          <a:xfrm>
            <a:off x="713232" y="1536192"/>
            <a:ext cx="2238680" cy="347472"/>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S01   Quản lý Vấn đề</a:t>
            </a:r>
            <a:endParaRPr lang="en-US" sz="1150" dirty="0"/>
          </a:p>
        </p:txBody>
      </p:sp>
      <p:sp>
        <p:nvSpPr>
          <p:cNvPr id="11" name="Text 9"/>
          <p:cNvSpPr txBox="1"/>
          <p:nvPr/>
        </p:nvSpPr>
        <p:spPr>
          <a:xfrm>
            <a:off x="713232" y="2048256"/>
            <a:ext cx="2238680" cy="201168"/>
          </a:xfrm>
          <a:prstGeom prst="rect">
            <a:avLst/>
          </a:prstGeom>
          <a:noFill/>
          <a:ln/>
        </p:spPr>
        <p:txBody>
          <a:bodyPr wrap="square" lIns="0" tIns="0" rIns="0" bIns="0" rtlCol="0" anchor="t"/>
          <a:lstStyle/>
          <a:p>
            <a:pPr marL="0" indent="0">
              <a:buNone/>
            </a:pPr>
            <a:r>
              <a:rPr lang="en-US" sz="850" b="1" kern="0" spc="80" dirty="0">
                <a:solidFill>
                  <a:srgbClr val="1660BF"/>
                </a:solidFill>
                <a:latin typeface="Calibri" pitchFamily="34" charset="0"/>
                <a:ea typeface="Calibri" pitchFamily="34" charset="-122"/>
                <a:cs typeface="Calibri" pitchFamily="34" charset="-120"/>
              </a:rPr>
              <a:t>TÁC NHÂN CHÍNH</a:t>
            </a:r>
            <a:endParaRPr lang="en-US" sz="850" dirty="0"/>
          </a:p>
        </p:txBody>
      </p:sp>
      <p:sp>
        <p:nvSpPr>
          <p:cNvPr id="12" name="Text 10"/>
          <p:cNvSpPr txBox="1"/>
          <p:nvPr/>
        </p:nvSpPr>
        <p:spPr>
          <a:xfrm>
            <a:off x="713232" y="2267712"/>
            <a:ext cx="2238680" cy="1060704"/>
          </a:xfrm>
          <a:prstGeom prst="rect">
            <a:avLst/>
          </a:prstGeom>
          <a:noFill/>
          <a:ln/>
        </p:spPr>
        <p:txBody>
          <a:bodyPr wrap="square" lIns="0" tIns="0" rIns="0" bIns="0" rtlCol="0" anchor="t"/>
          <a:lstStyle/>
          <a:p>
            <a:pPr marL="342900" indent="-342900">
              <a:spcAft>
                <a:spcPts val="300"/>
              </a:spcAft>
              <a:buSzPct val="100000"/>
              <a:buChar char="•"/>
            </a:pPr>
            <a:r>
              <a:rPr lang="en-US" sz="950" dirty="0">
                <a:solidFill>
                  <a:srgbClr val="2A3442"/>
                </a:solidFill>
                <a:latin typeface="Calibri" pitchFamily="34" charset="0"/>
                <a:ea typeface="Calibri" pitchFamily="34" charset="-122"/>
                <a:cs typeface="Calibri" pitchFamily="34" charset="-120"/>
              </a:rPr>
              <a:t>Subject Matter Expert (SME)</a:t>
            </a:r>
            <a:endParaRPr lang="en-US" sz="950" dirty="0"/>
          </a:p>
          <a:p>
            <a:pPr marL="342900" indent="-342900">
              <a:spcAft>
                <a:spcPts val="300"/>
              </a:spcAft>
              <a:buSzPct val="100000"/>
              <a:buChar char="•"/>
            </a:pPr>
            <a:r>
              <a:rPr lang="en-US" sz="950" dirty="0">
                <a:solidFill>
                  <a:srgbClr val="2A3442"/>
                </a:solidFill>
                <a:latin typeface="Calibri" pitchFamily="34" charset="0"/>
                <a:ea typeface="Calibri" pitchFamily="34" charset="-122"/>
                <a:cs typeface="Calibri" pitchFamily="34" charset="-120"/>
              </a:rPr>
              <a:t>Đội kỹ thuật Level 2 / Level 3</a:t>
            </a:r>
            <a:endParaRPr lang="en-US" sz="950" dirty="0"/>
          </a:p>
          <a:p>
            <a:pPr marL="342900" indent="-342900">
              <a:spcAft>
                <a:spcPts val="300"/>
              </a:spcAft>
              <a:buSzPct val="100000"/>
              <a:buChar char="•"/>
            </a:pPr>
            <a:r>
              <a:rPr lang="en-US" sz="950" dirty="0">
                <a:solidFill>
                  <a:srgbClr val="2A3442"/>
                </a:solidFill>
                <a:latin typeface="Calibri" pitchFamily="34" charset="0"/>
                <a:ea typeface="Calibri" pitchFamily="34" charset="-122"/>
                <a:cs typeface="Calibri" pitchFamily="34" charset="-120"/>
              </a:rPr>
              <a:t>Service Desk L1 (nguồn dữ liệu Incident)</a:t>
            </a:r>
            <a:endParaRPr lang="en-US" sz="950" dirty="0"/>
          </a:p>
          <a:p>
            <a:pPr marL="342900" indent="-342900">
              <a:spcAft>
                <a:spcPts val="300"/>
              </a:spcAft>
              <a:buSzPct val="100000"/>
              <a:buChar char="•"/>
            </a:pPr>
            <a:r>
              <a:rPr lang="en-US" sz="950" dirty="0">
                <a:solidFill>
                  <a:srgbClr val="2A3442"/>
                </a:solidFill>
                <a:latin typeface="Calibri" pitchFamily="34" charset="0"/>
                <a:ea typeface="Calibri" pitchFamily="34" charset="-122"/>
                <a:cs typeface="Calibri" pitchFamily="34" charset="-120"/>
              </a:rPr>
              <a:t>Problem Manager</a:t>
            </a:r>
            <a:endParaRPr lang="en-US" sz="950" dirty="0"/>
          </a:p>
        </p:txBody>
      </p:sp>
      <p:sp>
        <p:nvSpPr>
          <p:cNvPr id="13" name="Text 11"/>
          <p:cNvSpPr txBox="1"/>
          <p:nvPr/>
        </p:nvSpPr>
        <p:spPr>
          <a:xfrm>
            <a:off x="713232" y="3401568"/>
            <a:ext cx="2238680" cy="201168"/>
          </a:xfrm>
          <a:prstGeom prst="rect">
            <a:avLst/>
          </a:prstGeom>
          <a:noFill/>
          <a:ln/>
        </p:spPr>
        <p:txBody>
          <a:bodyPr wrap="square" lIns="0" tIns="0" rIns="0" bIns="0" rtlCol="0" anchor="t"/>
          <a:lstStyle/>
          <a:p>
            <a:pPr marL="0" indent="0">
              <a:buNone/>
            </a:pPr>
            <a:r>
              <a:rPr lang="en-US" sz="850" b="1" kern="0" spc="80" dirty="0">
                <a:solidFill>
                  <a:srgbClr val="1660BF"/>
                </a:solidFill>
                <a:latin typeface="Calibri" pitchFamily="34" charset="0"/>
                <a:ea typeface="Calibri" pitchFamily="34" charset="-122"/>
                <a:cs typeface="Calibri" pitchFamily="34" charset="-120"/>
              </a:rPr>
              <a:t>ĐỐI TƯỢNG KHÁCH HÀNG</a:t>
            </a:r>
            <a:endParaRPr lang="en-US" sz="850" dirty="0"/>
          </a:p>
        </p:txBody>
      </p:sp>
      <p:sp>
        <p:nvSpPr>
          <p:cNvPr id="14" name="Text 12"/>
          <p:cNvSpPr txBox="1"/>
          <p:nvPr/>
        </p:nvSpPr>
        <p:spPr>
          <a:xfrm>
            <a:off x="713232" y="3621024"/>
            <a:ext cx="2238680" cy="841248"/>
          </a:xfrm>
          <a:prstGeom prst="rect">
            <a:avLst/>
          </a:prstGeom>
          <a:noFill/>
          <a:ln/>
        </p:spPr>
        <p:txBody>
          <a:bodyPr wrap="square" lIns="0" tIns="0" rIns="0" bIns="0" rtlCol="0" anchor="t"/>
          <a:lstStyle/>
          <a:p>
            <a:pPr marL="342900" indent="-342900">
              <a:spcAft>
                <a:spcPts val="300"/>
              </a:spcAft>
              <a:buSzPct val="100000"/>
              <a:buChar char="•"/>
            </a:pPr>
            <a:r>
              <a:rPr lang="en-US" sz="950" dirty="0">
                <a:solidFill>
                  <a:srgbClr val="2A3442"/>
                </a:solidFill>
                <a:latin typeface="Calibri" pitchFamily="34" charset="0"/>
                <a:ea typeface="Calibri" pitchFamily="34" charset="-122"/>
                <a:cs typeface="Calibri" pitchFamily="34" charset="-120"/>
              </a:rPr>
              <a:t>Đội kỹ thuật L2/L3 phân tích RCA</a:t>
            </a:r>
            <a:endParaRPr lang="en-US" sz="950" dirty="0"/>
          </a:p>
          <a:p>
            <a:pPr marL="342900" indent="-342900">
              <a:spcAft>
                <a:spcPts val="300"/>
              </a:spcAft>
              <a:buSzPct val="100000"/>
              <a:buChar char="•"/>
            </a:pPr>
            <a:r>
              <a:rPr lang="en-US" sz="950" dirty="0">
                <a:solidFill>
                  <a:srgbClr val="2A3442"/>
                </a:solidFill>
                <a:latin typeface="Calibri" pitchFamily="34" charset="0"/>
                <a:ea typeface="Calibri" pitchFamily="34" charset="-122"/>
                <a:cs typeface="Calibri" pitchFamily="34" charset="-120"/>
              </a:rPr>
              <a:t>Service Desk L1 — hưởng lợi từ Known Error DB</a:t>
            </a:r>
            <a:endParaRPr lang="en-US" sz="950" dirty="0"/>
          </a:p>
          <a:p>
            <a:pPr marL="342900" indent="-342900">
              <a:spcAft>
                <a:spcPts val="300"/>
              </a:spcAft>
              <a:buSzPct val="100000"/>
              <a:buChar char="•"/>
            </a:pPr>
            <a:r>
              <a:rPr lang="en-US" sz="950" dirty="0">
                <a:solidFill>
                  <a:srgbClr val="2A3442"/>
                </a:solidFill>
                <a:latin typeface="Calibri" pitchFamily="34" charset="0"/>
                <a:ea typeface="Calibri" pitchFamily="34" charset="-122"/>
                <a:cs typeface="Calibri" pitchFamily="34" charset="-120"/>
              </a:rPr>
              <a:t>Gián tiếp: toàn thể CBNV</a:t>
            </a:r>
            <a:endParaRPr lang="en-US" sz="950" dirty="0"/>
          </a:p>
        </p:txBody>
      </p:sp>
      <p:sp>
        <p:nvSpPr>
          <p:cNvPr id="15" name="Text 13"/>
          <p:cNvSpPr txBox="1"/>
          <p:nvPr/>
        </p:nvSpPr>
        <p:spPr>
          <a:xfrm>
            <a:off x="713232" y="4517136"/>
            <a:ext cx="2238680" cy="201168"/>
          </a:xfrm>
          <a:prstGeom prst="rect">
            <a:avLst/>
          </a:prstGeom>
          <a:noFill/>
          <a:ln/>
        </p:spPr>
        <p:txBody>
          <a:bodyPr wrap="square" lIns="0" tIns="0" rIns="0" bIns="0" rtlCol="0" anchor="t"/>
          <a:lstStyle/>
          <a:p>
            <a:pPr marL="0" indent="0">
              <a:buNone/>
            </a:pPr>
            <a:r>
              <a:rPr lang="en-US" sz="850" b="1" kern="0" spc="80" dirty="0">
                <a:solidFill>
                  <a:srgbClr val="1660BF"/>
                </a:solidFill>
                <a:latin typeface="Calibri" pitchFamily="34" charset="0"/>
                <a:ea typeface="Calibri" pitchFamily="34" charset="-122"/>
                <a:cs typeface="Calibri" pitchFamily="34" charset="-120"/>
              </a:rPr>
              <a:t>KẾT QUẢ ĐẦU RA</a:t>
            </a:r>
            <a:endParaRPr lang="en-US" sz="850" dirty="0"/>
          </a:p>
        </p:txBody>
      </p:sp>
      <p:sp>
        <p:nvSpPr>
          <p:cNvPr id="16" name="Text 14"/>
          <p:cNvSpPr txBox="1"/>
          <p:nvPr/>
        </p:nvSpPr>
        <p:spPr>
          <a:xfrm>
            <a:off x="713232" y="4736592"/>
            <a:ext cx="2238680" cy="1097280"/>
          </a:xfrm>
          <a:prstGeom prst="rect">
            <a:avLst/>
          </a:prstGeom>
          <a:noFill/>
          <a:ln/>
        </p:spPr>
        <p:txBody>
          <a:bodyPr wrap="square" lIns="0" tIns="0" rIns="0" bIns="0" rtlCol="0" anchor="t"/>
          <a:lstStyle/>
          <a:p>
            <a:pPr marL="0" indent="0">
              <a:spcAft>
                <a:spcPts val="400"/>
              </a:spcAft>
              <a:buNone/>
            </a:pPr>
            <a:r>
              <a:rPr lang="en-US" sz="900" dirty="0">
                <a:solidFill>
                  <a:srgbClr val="0E7A5F"/>
                </a:solidFill>
                <a:latin typeface="Calibri" pitchFamily="34" charset="0"/>
                <a:ea typeface="Calibri" pitchFamily="34" charset="-122"/>
                <a:cs typeface="Calibri" pitchFamily="34" charset="-120"/>
              </a:rPr>
              <a:t>▲ </a:t>
            </a:r>
            <a:r>
              <a:rPr lang="en-US" sz="950" dirty="0">
                <a:solidFill>
                  <a:srgbClr val="2A3442"/>
                </a:solidFill>
                <a:latin typeface="Calibri" pitchFamily="34" charset="0"/>
                <a:ea typeface="Calibri" pitchFamily="34" charset="-122"/>
                <a:cs typeface="Calibri" pitchFamily="34" charset="-120"/>
              </a:rPr>
              <a:t>Root Cause được xác định, giải pháp triệt để triển khai qua phiếu Change; Known Error mới lên Knowledge Base.</a:t>
            </a:r>
            <a:endParaRPr lang="en-US" sz="900" dirty="0"/>
          </a:p>
          <a:p>
            <a:pPr marL="0" indent="0">
              <a:spcAft>
                <a:spcPts val="400"/>
              </a:spcAft>
              <a:buNone/>
            </a:pPr>
            <a:r>
              <a:rPr lang="en-US" sz="900" dirty="0">
                <a:solidFill>
                  <a:srgbClr val="C0392B"/>
                </a:solidFill>
                <a:latin typeface="Calibri" pitchFamily="34" charset="0"/>
                <a:ea typeface="Calibri" pitchFamily="34" charset="-122"/>
                <a:cs typeface="Calibri" pitchFamily="34" charset="-120"/>
              </a:rPr>
              <a:t>▼ </a:t>
            </a:r>
            <a:r>
              <a:rPr lang="en-US" sz="950" dirty="0">
                <a:solidFill>
                  <a:srgbClr val="2A3442"/>
                </a:solidFill>
                <a:latin typeface="Calibri" pitchFamily="34" charset="0"/>
                <a:ea typeface="Calibri" pitchFamily="34" charset="-122"/>
                <a:cs typeface="Calibri" pitchFamily="34" charset="-120"/>
              </a:rPr>
              <a:t>Giải pháp triệt để chưa khả thi, chỉ ghi Workaround; không xác định được Root Cause, chuyển theo dõi dài hạn.</a:t>
            </a:r>
            <a:endParaRPr lang="en-US" sz="900" dirty="0"/>
          </a:p>
        </p:txBody>
      </p:sp>
      <p:sp>
        <p:nvSpPr>
          <p:cNvPr id="17" name="Shape 15"/>
          <p:cNvSpPr/>
          <p:nvPr/>
        </p:nvSpPr>
        <p:spPr>
          <a:xfrm>
            <a:off x="3390824" y="1463040"/>
            <a:ext cx="2567864" cy="4343400"/>
          </a:xfrm>
          <a:prstGeom prst="roundRect">
            <a:avLst>
              <a:gd name="adj" fmla="val 2137"/>
            </a:avLst>
          </a:prstGeom>
          <a:solidFill>
            <a:srgbClr val="FFFFFF"/>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18" name="Shape 16"/>
          <p:cNvSpPr/>
          <p:nvPr/>
        </p:nvSpPr>
        <p:spPr>
          <a:xfrm>
            <a:off x="3390824" y="1463040"/>
            <a:ext cx="2567864" cy="475488"/>
          </a:xfrm>
          <a:prstGeom prst="rect">
            <a:avLst/>
          </a:prstGeom>
          <a:solidFill>
            <a:srgbClr val="0B3B75"/>
          </a:solidFill>
          <a:ln w="12700">
            <a:solidFill>
              <a:srgbClr val="0B3B75"/>
            </a:solidFill>
            <a:prstDash val="solid"/>
          </a:ln>
        </p:spPr>
        <p:txBody>
          <a:bodyPr/>
          <a:lstStyle/>
          <a:p>
            <a:endParaRPr lang="en-US"/>
          </a:p>
        </p:txBody>
      </p:sp>
      <p:sp>
        <p:nvSpPr>
          <p:cNvPr id="19" name="Text 17"/>
          <p:cNvSpPr txBox="1"/>
          <p:nvPr/>
        </p:nvSpPr>
        <p:spPr>
          <a:xfrm>
            <a:off x="3555416" y="1536192"/>
            <a:ext cx="2238680" cy="347472"/>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S02   Quản lý Thay đổi</a:t>
            </a:r>
            <a:endParaRPr lang="en-US" sz="1150" dirty="0"/>
          </a:p>
        </p:txBody>
      </p:sp>
      <p:sp>
        <p:nvSpPr>
          <p:cNvPr id="20" name="Text 18"/>
          <p:cNvSpPr txBox="1"/>
          <p:nvPr/>
        </p:nvSpPr>
        <p:spPr>
          <a:xfrm>
            <a:off x="3555416" y="2048256"/>
            <a:ext cx="2238680" cy="201168"/>
          </a:xfrm>
          <a:prstGeom prst="rect">
            <a:avLst/>
          </a:prstGeom>
          <a:noFill/>
          <a:ln/>
        </p:spPr>
        <p:txBody>
          <a:bodyPr wrap="square" lIns="0" tIns="0" rIns="0" bIns="0" rtlCol="0" anchor="t"/>
          <a:lstStyle/>
          <a:p>
            <a:pPr marL="0" indent="0">
              <a:buNone/>
            </a:pPr>
            <a:r>
              <a:rPr lang="en-US" sz="850" b="1" kern="0" spc="80" dirty="0">
                <a:solidFill>
                  <a:srgbClr val="1660BF"/>
                </a:solidFill>
                <a:latin typeface="Calibri" pitchFamily="34" charset="0"/>
                <a:ea typeface="Calibri" pitchFamily="34" charset="-122"/>
                <a:cs typeface="Calibri" pitchFamily="34" charset="-120"/>
              </a:rPr>
              <a:t>TÁC NHÂN CHÍNH</a:t>
            </a:r>
            <a:endParaRPr lang="en-US" sz="850" dirty="0"/>
          </a:p>
        </p:txBody>
      </p:sp>
      <p:sp>
        <p:nvSpPr>
          <p:cNvPr id="21" name="Text 19"/>
          <p:cNvSpPr txBox="1"/>
          <p:nvPr/>
        </p:nvSpPr>
        <p:spPr>
          <a:xfrm>
            <a:off x="3555416" y="2267712"/>
            <a:ext cx="2238680" cy="1060704"/>
          </a:xfrm>
          <a:prstGeom prst="rect">
            <a:avLst/>
          </a:prstGeom>
          <a:noFill/>
          <a:ln/>
        </p:spPr>
        <p:txBody>
          <a:bodyPr wrap="square" lIns="0" tIns="0" rIns="0" bIns="0" rtlCol="0" anchor="t"/>
          <a:lstStyle/>
          <a:p>
            <a:pPr marL="342900" indent="-342900">
              <a:spcAft>
                <a:spcPts val="300"/>
              </a:spcAft>
              <a:buSzPct val="100000"/>
              <a:buChar char="•"/>
            </a:pPr>
            <a:r>
              <a:rPr lang="en-US" sz="950" dirty="0">
                <a:solidFill>
                  <a:srgbClr val="2A3442"/>
                </a:solidFill>
                <a:latin typeface="Calibri" pitchFamily="34" charset="0"/>
                <a:ea typeface="Calibri" pitchFamily="34" charset="-122"/>
                <a:cs typeface="Calibri" pitchFamily="34" charset="-120"/>
              </a:rPr>
              <a:t>Người đề xuất thay đổi (nhân sự IT)</a:t>
            </a:r>
            <a:endParaRPr lang="en-US" sz="950" dirty="0"/>
          </a:p>
          <a:p>
            <a:pPr marL="342900" indent="-342900">
              <a:spcAft>
                <a:spcPts val="300"/>
              </a:spcAft>
              <a:buSzPct val="100000"/>
              <a:buChar char="•"/>
            </a:pPr>
            <a:r>
              <a:rPr lang="en-US" sz="950" dirty="0">
                <a:solidFill>
                  <a:srgbClr val="2A3442"/>
                </a:solidFill>
                <a:latin typeface="Calibri" pitchFamily="34" charset="0"/>
                <a:ea typeface="Calibri" pitchFamily="34" charset="-122"/>
                <a:cs typeface="Calibri" pitchFamily="34" charset="-120"/>
              </a:rPr>
              <a:t>Change Manager (điều phối, đánh giá rủi ro)</a:t>
            </a:r>
            <a:endParaRPr lang="en-US" sz="950" dirty="0"/>
          </a:p>
          <a:p>
            <a:pPr marL="342900" indent="-342900">
              <a:spcAft>
                <a:spcPts val="300"/>
              </a:spcAft>
              <a:buSzPct val="100000"/>
              <a:buChar char="•"/>
            </a:pPr>
            <a:r>
              <a:rPr lang="en-US" sz="950" dirty="0">
                <a:solidFill>
                  <a:srgbClr val="2A3442"/>
                </a:solidFill>
                <a:latin typeface="Calibri" pitchFamily="34" charset="0"/>
                <a:ea typeface="Calibri" pitchFamily="34" charset="-122"/>
                <a:cs typeface="Calibri" pitchFamily="34" charset="-120"/>
              </a:rPr>
              <a:t>Quản lý Cấp 1 (đánh giá sơ bộ)</a:t>
            </a:r>
            <a:endParaRPr lang="en-US" sz="950" dirty="0"/>
          </a:p>
          <a:p>
            <a:pPr marL="342900" indent="-342900">
              <a:spcAft>
                <a:spcPts val="300"/>
              </a:spcAft>
              <a:buSzPct val="100000"/>
              <a:buChar char="•"/>
            </a:pPr>
            <a:r>
              <a:rPr lang="en-US" sz="950" dirty="0">
                <a:solidFill>
                  <a:srgbClr val="2A3442"/>
                </a:solidFill>
                <a:latin typeface="Calibri" pitchFamily="34" charset="0"/>
                <a:ea typeface="Calibri" pitchFamily="34" charset="-122"/>
                <a:cs typeface="Calibri" pitchFamily="34" charset="-120"/>
              </a:rPr>
              <a:t>Ban Cố vấn Thay đổi (CAB)</a:t>
            </a:r>
            <a:endParaRPr lang="en-US" sz="950" dirty="0"/>
          </a:p>
          <a:p>
            <a:pPr marL="342900" indent="-342900">
              <a:spcAft>
                <a:spcPts val="300"/>
              </a:spcAft>
              <a:buSzPct val="100000"/>
              <a:buChar char="•"/>
            </a:pPr>
            <a:r>
              <a:rPr lang="en-US" sz="950" dirty="0">
                <a:solidFill>
                  <a:srgbClr val="2A3442"/>
                </a:solidFill>
                <a:latin typeface="Calibri" pitchFamily="34" charset="0"/>
                <a:ea typeface="Calibri" pitchFamily="34" charset="-122"/>
                <a:cs typeface="Calibri" pitchFamily="34" charset="-120"/>
              </a:rPr>
              <a:t>Bộ phận Triển khai IT</a:t>
            </a:r>
            <a:endParaRPr lang="en-US" sz="950" dirty="0"/>
          </a:p>
        </p:txBody>
      </p:sp>
      <p:sp>
        <p:nvSpPr>
          <p:cNvPr id="22" name="Text 20"/>
          <p:cNvSpPr txBox="1"/>
          <p:nvPr/>
        </p:nvSpPr>
        <p:spPr>
          <a:xfrm>
            <a:off x="3555416" y="3401568"/>
            <a:ext cx="2238680" cy="201168"/>
          </a:xfrm>
          <a:prstGeom prst="rect">
            <a:avLst/>
          </a:prstGeom>
          <a:noFill/>
          <a:ln/>
        </p:spPr>
        <p:txBody>
          <a:bodyPr wrap="square" lIns="0" tIns="0" rIns="0" bIns="0" rtlCol="0" anchor="t"/>
          <a:lstStyle/>
          <a:p>
            <a:pPr marL="0" indent="0">
              <a:buNone/>
            </a:pPr>
            <a:r>
              <a:rPr lang="en-US" sz="850" b="1" kern="0" spc="80" dirty="0">
                <a:solidFill>
                  <a:srgbClr val="1660BF"/>
                </a:solidFill>
                <a:latin typeface="Calibri" pitchFamily="34" charset="0"/>
                <a:ea typeface="Calibri" pitchFamily="34" charset="-122"/>
                <a:cs typeface="Calibri" pitchFamily="34" charset="-120"/>
              </a:rPr>
              <a:t>ĐỐI TƯỢNG KHÁCH HÀNG</a:t>
            </a:r>
            <a:endParaRPr lang="en-US" sz="850" dirty="0"/>
          </a:p>
        </p:txBody>
      </p:sp>
      <p:sp>
        <p:nvSpPr>
          <p:cNvPr id="23" name="Text 21"/>
          <p:cNvSpPr txBox="1"/>
          <p:nvPr/>
        </p:nvSpPr>
        <p:spPr>
          <a:xfrm>
            <a:off x="3555416" y="3621024"/>
            <a:ext cx="2238680" cy="841248"/>
          </a:xfrm>
          <a:prstGeom prst="rect">
            <a:avLst/>
          </a:prstGeom>
          <a:noFill/>
          <a:ln/>
        </p:spPr>
        <p:txBody>
          <a:bodyPr wrap="square" lIns="0" tIns="0" rIns="0" bIns="0" rtlCol="0" anchor="t"/>
          <a:lstStyle/>
          <a:p>
            <a:pPr marL="342900" indent="-342900">
              <a:spcAft>
                <a:spcPts val="300"/>
              </a:spcAft>
              <a:buSzPct val="100000"/>
              <a:buChar char="•"/>
            </a:pPr>
            <a:r>
              <a:rPr lang="en-US" sz="950" dirty="0">
                <a:solidFill>
                  <a:srgbClr val="2A3442"/>
                </a:solidFill>
                <a:latin typeface="Calibri" pitchFamily="34" charset="0"/>
                <a:ea typeface="Calibri" pitchFamily="34" charset="-122"/>
                <a:cs typeface="Calibri" pitchFamily="34" charset="-120"/>
              </a:rPr>
              <a:t>Đội hạ tầng và vận hành hệ thống</a:t>
            </a:r>
            <a:endParaRPr lang="en-US" sz="950" dirty="0"/>
          </a:p>
          <a:p>
            <a:pPr marL="342900" indent="-342900">
              <a:spcAft>
                <a:spcPts val="300"/>
              </a:spcAft>
              <a:buSzPct val="100000"/>
              <a:buChar char="•"/>
            </a:pPr>
            <a:r>
              <a:rPr lang="en-US" sz="950" dirty="0">
                <a:solidFill>
                  <a:srgbClr val="2A3442"/>
                </a:solidFill>
                <a:latin typeface="Calibri" pitchFamily="34" charset="0"/>
                <a:ea typeface="Calibri" pitchFamily="34" charset="-122"/>
                <a:cs typeface="Calibri" pitchFamily="34" charset="-120"/>
              </a:rPr>
              <a:t>Đội phát triển ứng dụng</a:t>
            </a:r>
            <a:endParaRPr lang="en-US" sz="950" dirty="0"/>
          </a:p>
          <a:p>
            <a:pPr marL="342900" indent="-342900">
              <a:spcAft>
                <a:spcPts val="300"/>
              </a:spcAft>
              <a:buSzPct val="100000"/>
              <a:buChar char="•"/>
            </a:pPr>
            <a:r>
              <a:rPr lang="en-US" sz="950" dirty="0">
                <a:solidFill>
                  <a:srgbClr val="2A3442"/>
                </a:solidFill>
                <a:latin typeface="Calibri" pitchFamily="34" charset="0"/>
                <a:ea typeface="Calibri" pitchFamily="34" charset="-122"/>
                <a:cs typeface="Calibri" pitchFamily="34" charset="-120"/>
              </a:rPr>
              <a:t>Service Desk L1</a:t>
            </a:r>
            <a:endParaRPr lang="en-US" sz="950" dirty="0"/>
          </a:p>
          <a:p>
            <a:pPr marL="342900" indent="-342900">
              <a:spcAft>
                <a:spcPts val="300"/>
              </a:spcAft>
              <a:buSzPct val="100000"/>
              <a:buChar char="•"/>
            </a:pPr>
            <a:r>
              <a:rPr lang="en-US" sz="950" dirty="0">
                <a:solidFill>
                  <a:srgbClr val="2A3442"/>
                </a:solidFill>
                <a:latin typeface="Calibri" pitchFamily="34" charset="0"/>
                <a:ea typeface="Calibri" pitchFamily="34" charset="-122"/>
                <a:cs typeface="Calibri" pitchFamily="34" charset="-120"/>
              </a:rPr>
              <a:t>Gián tiếp: toàn thể CBNV</a:t>
            </a:r>
            <a:endParaRPr lang="en-US" sz="950" dirty="0"/>
          </a:p>
        </p:txBody>
      </p:sp>
      <p:sp>
        <p:nvSpPr>
          <p:cNvPr id="24" name="Text 22"/>
          <p:cNvSpPr txBox="1"/>
          <p:nvPr/>
        </p:nvSpPr>
        <p:spPr>
          <a:xfrm>
            <a:off x="3555416" y="4517136"/>
            <a:ext cx="2238680" cy="201168"/>
          </a:xfrm>
          <a:prstGeom prst="rect">
            <a:avLst/>
          </a:prstGeom>
          <a:noFill/>
          <a:ln/>
        </p:spPr>
        <p:txBody>
          <a:bodyPr wrap="square" lIns="0" tIns="0" rIns="0" bIns="0" rtlCol="0" anchor="t"/>
          <a:lstStyle/>
          <a:p>
            <a:pPr marL="0" indent="0">
              <a:buNone/>
            </a:pPr>
            <a:r>
              <a:rPr lang="en-US" sz="850" b="1" kern="0" spc="80" dirty="0">
                <a:solidFill>
                  <a:srgbClr val="1660BF"/>
                </a:solidFill>
                <a:latin typeface="Calibri" pitchFamily="34" charset="0"/>
                <a:ea typeface="Calibri" pitchFamily="34" charset="-122"/>
                <a:cs typeface="Calibri" pitchFamily="34" charset="-120"/>
              </a:rPr>
              <a:t>KẾT QUẢ ĐẦU RA</a:t>
            </a:r>
            <a:endParaRPr lang="en-US" sz="850" dirty="0"/>
          </a:p>
        </p:txBody>
      </p:sp>
      <p:sp>
        <p:nvSpPr>
          <p:cNvPr id="25" name="Text 23"/>
          <p:cNvSpPr txBox="1"/>
          <p:nvPr/>
        </p:nvSpPr>
        <p:spPr>
          <a:xfrm>
            <a:off x="3555416" y="4736592"/>
            <a:ext cx="2238680" cy="1097280"/>
          </a:xfrm>
          <a:prstGeom prst="rect">
            <a:avLst/>
          </a:prstGeom>
          <a:noFill/>
          <a:ln/>
        </p:spPr>
        <p:txBody>
          <a:bodyPr wrap="square" lIns="0" tIns="0" rIns="0" bIns="0" rtlCol="0" anchor="t"/>
          <a:lstStyle/>
          <a:p>
            <a:pPr marL="0" indent="0">
              <a:spcAft>
                <a:spcPts val="400"/>
              </a:spcAft>
              <a:buNone/>
            </a:pPr>
            <a:r>
              <a:rPr lang="en-US" sz="900" dirty="0">
                <a:solidFill>
                  <a:srgbClr val="0E7A5F"/>
                </a:solidFill>
                <a:latin typeface="Calibri" pitchFamily="34" charset="0"/>
                <a:ea typeface="Calibri" pitchFamily="34" charset="-122"/>
                <a:cs typeface="Calibri" pitchFamily="34" charset="-120"/>
              </a:rPr>
              <a:t>▲ </a:t>
            </a:r>
            <a:r>
              <a:rPr lang="en-US" sz="950" dirty="0">
                <a:solidFill>
                  <a:srgbClr val="2A3442"/>
                </a:solidFill>
                <a:latin typeface="Calibri" pitchFamily="34" charset="0"/>
                <a:ea typeface="Calibri" pitchFamily="34" charset="-122"/>
                <a:cs typeface="Calibri" pitchFamily="34" charset="-120"/>
              </a:rPr>
              <a:t>Thay đổi triển khai thành công, hệ thống ổn định, CMDB cập nhật; Standard Change được tự động phê duyệt.</a:t>
            </a:r>
            <a:endParaRPr lang="en-US" sz="900" dirty="0"/>
          </a:p>
          <a:p>
            <a:pPr marL="0" indent="0">
              <a:spcAft>
                <a:spcPts val="400"/>
              </a:spcAft>
              <a:buNone/>
            </a:pPr>
            <a:r>
              <a:rPr lang="en-US" sz="900" dirty="0">
                <a:solidFill>
                  <a:srgbClr val="C0392B"/>
                </a:solidFill>
                <a:latin typeface="Calibri" pitchFamily="34" charset="0"/>
                <a:ea typeface="Calibri" pitchFamily="34" charset="-122"/>
                <a:cs typeface="Calibri" pitchFamily="34" charset="-120"/>
              </a:rPr>
              <a:t>▼ </a:t>
            </a:r>
            <a:r>
              <a:rPr lang="en-US" sz="950" dirty="0">
                <a:solidFill>
                  <a:srgbClr val="2A3442"/>
                </a:solidFill>
                <a:latin typeface="Calibri" pitchFamily="34" charset="0"/>
                <a:ea typeface="Calibri" pitchFamily="34" charset="-122"/>
                <a:cs typeface="Calibri" pitchFamily="34" charset="-120"/>
              </a:rPr>
              <a:t>Bị CAB từ chối do rủi ro cao; phát sinh lỗi phải rollback và mở Incident; Emergency Change không được ratify.</a:t>
            </a:r>
            <a:endParaRPr lang="en-US" sz="900" dirty="0"/>
          </a:p>
        </p:txBody>
      </p:sp>
      <p:sp>
        <p:nvSpPr>
          <p:cNvPr id="26" name="Shape 24"/>
          <p:cNvSpPr/>
          <p:nvPr/>
        </p:nvSpPr>
        <p:spPr>
          <a:xfrm>
            <a:off x="6233008" y="1463040"/>
            <a:ext cx="2567864" cy="4343400"/>
          </a:xfrm>
          <a:prstGeom prst="roundRect">
            <a:avLst>
              <a:gd name="adj" fmla="val 2137"/>
            </a:avLst>
          </a:prstGeom>
          <a:solidFill>
            <a:srgbClr val="FFFFFF"/>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27" name="Shape 25"/>
          <p:cNvSpPr/>
          <p:nvPr/>
        </p:nvSpPr>
        <p:spPr>
          <a:xfrm>
            <a:off x="6233008" y="1463040"/>
            <a:ext cx="2567864" cy="475488"/>
          </a:xfrm>
          <a:prstGeom prst="rect">
            <a:avLst/>
          </a:prstGeom>
          <a:solidFill>
            <a:srgbClr val="0B3B75"/>
          </a:solidFill>
          <a:ln w="12700">
            <a:solidFill>
              <a:srgbClr val="0B3B75"/>
            </a:solidFill>
            <a:prstDash val="solid"/>
          </a:ln>
        </p:spPr>
        <p:txBody>
          <a:bodyPr/>
          <a:lstStyle/>
          <a:p>
            <a:endParaRPr lang="en-US"/>
          </a:p>
        </p:txBody>
      </p:sp>
      <p:sp>
        <p:nvSpPr>
          <p:cNvPr id="28" name="Text 26"/>
          <p:cNvSpPr txBox="1"/>
          <p:nvPr/>
        </p:nvSpPr>
        <p:spPr>
          <a:xfrm>
            <a:off x="6397600" y="1536192"/>
            <a:ext cx="2238680" cy="347472"/>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S03   Quản lý Tài sản CNTT</a:t>
            </a:r>
            <a:endParaRPr lang="en-US" sz="1150" dirty="0"/>
          </a:p>
        </p:txBody>
      </p:sp>
      <p:sp>
        <p:nvSpPr>
          <p:cNvPr id="29" name="Text 27"/>
          <p:cNvSpPr txBox="1"/>
          <p:nvPr/>
        </p:nvSpPr>
        <p:spPr>
          <a:xfrm>
            <a:off x="6397600" y="2048256"/>
            <a:ext cx="2238680" cy="201168"/>
          </a:xfrm>
          <a:prstGeom prst="rect">
            <a:avLst/>
          </a:prstGeom>
          <a:noFill/>
          <a:ln/>
        </p:spPr>
        <p:txBody>
          <a:bodyPr wrap="square" lIns="0" tIns="0" rIns="0" bIns="0" rtlCol="0" anchor="t"/>
          <a:lstStyle/>
          <a:p>
            <a:pPr marL="0" indent="0">
              <a:buNone/>
            </a:pPr>
            <a:r>
              <a:rPr lang="en-US" sz="850" b="1" kern="0" spc="80" dirty="0">
                <a:solidFill>
                  <a:srgbClr val="1660BF"/>
                </a:solidFill>
                <a:latin typeface="Calibri" pitchFamily="34" charset="0"/>
                <a:ea typeface="Calibri" pitchFamily="34" charset="-122"/>
                <a:cs typeface="Calibri" pitchFamily="34" charset="-120"/>
              </a:rPr>
              <a:t>TÁC NHÂN CHÍNH</a:t>
            </a:r>
            <a:endParaRPr lang="en-US" sz="850" dirty="0"/>
          </a:p>
        </p:txBody>
      </p:sp>
      <p:sp>
        <p:nvSpPr>
          <p:cNvPr id="30" name="Text 28"/>
          <p:cNvSpPr txBox="1"/>
          <p:nvPr/>
        </p:nvSpPr>
        <p:spPr>
          <a:xfrm>
            <a:off x="6397600" y="2267712"/>
            <a:ext cx="2238680" cy="1060704"/>
          </a:xfrm>
          <a:prstGeom prst="rect">
            <a:avLst/>
          </a:prstGeom>
          <a:noFill/>
          <a:ln/>
        </p:spPr>
        <p:txBody>
          <a:bodyPr wrap="square" lIns="0" tIns="0" rIns="0" bIns="0" rtlCol="0" anchor="t"/>
          <a:lstStyle/>
          <a:p>
            <a:pPr marL="342900" indent="-342900">
              <a:spcAft>
                <a:spcPts val="300"/>
              </a:spcAft>
              <a:buSzPct val="100000"/>
              <a:buChar char="•"/>
            </a:pPr>
            <a:r>
              <a:rPr lang="en-US" sz="950" dirty="0">
                <a:solidFill>
                  <a:srgbClr val="2A3442"/>
                </a:solidFill>
                <a:latin typeface="Calibri" pitchFamily="34" charset="0"/>
                <a:ea typeface="Calibri" pitchFamily="34" charset="-122"/>
                <a:cs typeface="Calibri" pitchFamily="34" charset="-120"/>
              </a:rPr>
              <a:t>Nhân viên quản lý tài sản (Asset Administrator)</a:t>
            </a:r>
            <a:endParaRPr lang="en-US" sz="950" dirty="0"/>
          </a:p>
          <a:p>
            <a:pPr marL="342900" indent="-342900">
              <a:spcAft>
                <a:spcPts val="300"/>
              </a:spcAft>
              <a:buSzPct val="100000"/>
              <a:buChar char="•"/>
            </a:pPr>
            <a:r>
              <a:rPr lang="en-US" sz="950" dirty="0">
                <a:solidFill>
                  <a:srgbClr val="2A3442"/>
                </a:solidFill>
                <a:latin typeface="Calibri" pitchFamily="34" charset="0"/>
                <a:ea typeface="Calibri" pitchFamily="34" charset="-122"/>
                <a:cs typeface="Calibri" pitchFamily="34" charset="-120"/>
              </a:rPr>
              <a:t>Kế toán IT (theo dõi giá trị, khấu hao)</a:t>
            </a:r>
            <a:endParaRPr lang="en-US" sz="950" dirty="0"/>
          </a:p>
          <a:p>
            <a:pPr marL="342900" indent="-342900">
              <a:spcAft>
                <a:spcPts val="300"/>
              </a:spcAft>
              <a:buSzPct val="100000"/>
              <a:buChar char="•"/>
            </a:pPr>
            <a:r>
              <a:rPr lang="en-US" sz="950" dirty="0">
                <a:solidFill>
                  <a:srgbClr val="2A3442"/>
                </a:solidFill>
                <a:latin typeface="Calibri" pitchFamily="34" charset="0"/>
                <a:ea typeface="Calibri" pitchFamily="34" charset="-122"/>
                <a:cs typeface="Calibri" pitchFamily="34" charset="-120"/>
              </a:rPr>
              <a:t>Service Desk L1 (nhận yêu cầu cấp phát từ PYC)</a:t>
            </a:r>
            <a:endParaRPr lang="en-US" sz="950" dirty="0"/>
          </a:p>
          <a:p>
            <a:pPr marL="342900" indent="-342900">
              <a:spcAft>
                <a:spcPts val="300"/>
              </a:spcAft>
              <a:buSzPct val="100000"/>
              <a:buChar char="•"/>
            </a:pPr>
            <a:r>
              <a:rPr lang="en-US" sz="950" dirty="0">
                <a:solidFill>
                  <a:srgbClr val="2A3442"/>
                </a:solidFill>
                <a:latin typeface="Calibri" pitchFamily="34" charset="0"/>
                <a:ea typeface="Calibri" pitchFamily="34" charset="-122"/>
                <a:cs typeface="Calibri" pitchFamily="34" charset="-120"/>
              </a:rPr>
              <a:t>Trưởng phòng quản lý hạ tầng</a:t>
            </a:r>
            <a:endParaRPr lang="en-US" sz="950" dirty="0"/>
          </a:p>
        </p:txBody>
      </p:sp>
      <p:sp>
        <p:nvSpPr>
          <p:cNvPr id="31" name="Text 29"/>
          <p:cNvSpPr txBox="1"/>
          <p:nvPr/>
        </p:nvSpPr>
        <p:spPr>
          <a:xfrm>
            <a:off x="6397600" y="3401568"/>
            <a:ext cx="2238680" cy="201168"/>
          </a:xfrm>
          <a:prstGeom prst="rect">
            <a:avLst/>
          </a:prstGeom>
          <a:noFill/>
          <a:ln/>
        </p:spPr>
        <p:txBody>
          <a:bodyPr wrap="square" lIns="0" tIns="0" rIns="0" bIns="0" rtlCol="0" anchor="t"/>
          <a:lstStyle/>
          <a:p>
            <a:pPr marL="0" indent="0">
              <a:buNone/>
            </a:pPr>
            <a:r>
              <a:rPr lang="en-US" sz="850" b="1" kern="0" spc="80" dirty="0">
                <a:solidFill>
                  <a:srgbClr val="1660BF"/>
                </a:solidFill>
                <a:latin typeface="Calibri" pitchFamily="34" charset="0"/>
                <a:ea typeface="Calibri" pitchFamily="34" charset="-122"/>
                <a:cs typeface="Calibri" pitchFamily="34" charset="-120"/>
              </a:rPr>
              <a:t>ĐỐI TƯỢNG KHÁCH HÀNG</a:t>
            </a:r>
            <a:endParaRPr lang="en-US" sz="850" dirty="0"/>
          </a:p>
        </p:txBody>
      </p:sp>
      <p:sp>
        <p:nvSpPr>
          <p:cNvPr id="32" name="Text 30"/>
          <p:cNvSpPr txBox="1"/>
          <p:nvPr/>
        </p:nvSpPr>
        <p:spPr>
          <a:xfrm>
            <a:off x="6397600" y="3621024"/>
            <a:ext cx="2238680" cy="841248"/>
          </a:xfrm>
          <a:prstGeom prst="rect">
            <a:avLst/>
          </a:prstGeom>
          <a:noFill/>
          <a:ln/>
        </p:spPr>
        <p:txBody>
          <a:bodyPr wrap="square" lIns="0" tIns="0" rIns="0" bIns="0" rtlCol="0" anchor="t"/>
          <a:lstStyle/>
          <a:p>
            <a:pPr marL="342900" indent="-342900">
              <a:spcAft>
                <a:spcPts val="300"/>
              </a:spcAft>
              <a:buSzPct val="100000"/>
              <a:buChar char="•"/>
            </a:pPr>
            <a:r>
              <a:rPr lang="en-US" sz="950" dirty="0">
                <a:solidFill>
                  <a:srgbClr val="2A3442"/>
                </a:solidFill>
                <a:latin typeface="Calibri" pitchFamily="34" charset="0"/>
                <a:ea typeface="Calibri" pitchFamily="34" charset="-122"/>
                <a:cs typeface="Calibri" pitchFamily="34" charset="-120"/>
              </a:rPr>
              <a:t>CBNV được cấp phát/thu hồi thiết bị (laptop, màn hình, token)</a:t>
            </a:r>
            <a:endParaRPr lang="en-US" sz="950" dirty="0"/>
          </a:p>
          <a:p>
            <a:pPr marL="342900" indent="-342900">
              <a:spcAft>
                <a:spcPts val="300"/>
              </a:spcAft>
              <a:buSzPct val="100000"/>
              <a:buChar char="•"/>
            </a:pPr>
            <a:r>
              <a:rPr lang="en-US" sz="950" dirty="0">
                <a:solidFill>
                  <a:srgbClr val="2A3442"/>
                </a:solidFill>
                <a:latin typeface="Calibri" pitchFamily="34" charset="0"/>
                <a:ea typeface="Calibri" pitchFamily="34" charset="-122"/>
                <a:cs typeface="Calibri" pitchFamily="34" charset="-120"/>
              </a:rPr>
              <a:t>Kế toán IT và Phòng Tài chính NH</a:t>
            </a:r>
            <a:endParaRPr lang="en-US" sz="950" dirty="0"/>
          </a:p>
          <a:p>
            <a:pPr marL="342900" indent="-342900">
              <a:spcAft>
                <a:spcPts val="300"/>
              </a:spcAft>
              <a:buSzPct val="100000"/>
              <a:buChar char="•"/>
            </a:pPr>
            <a:r>
              <a:rPr lang="en-US" sz="950" dirty="0">
                <a:solidFill>
                  <a:srgbClr val="2A3442"/>
                </a:solidFill>
                <a:latin typeface="Calibri" pitchFamily="34" charset="0"/>
                <a:ea typeface="Calibri" pitchFamily="34" charset="-122"/>
                <a:cs typeface="Calibri" pitchFamily="34" charset="-120"/>
              </a:rPr>
              <a:t>Service Desk L1</a:t>
            </a:r>
            <a:endParaRPr lang="en-US" sz="950" dirty="0"/>
          </a:p>
        </p:txBody>
      </p:sp>
      <p:sp>
        <p:nvSpPr>
          <p:cNvPr id="33" name="Text 31"/>
          <p:cNvSpPr txBox="1"/>
          <p:nvPr/>
        </p:nvSpPr>
        <p:spPr>
          <a:xfrm>
            <a:off x="6397600" y="4517136"/>
            <a:ext cx="2238680" cy="201168"/>
          </a:xfrm>
          <a:prstGeom prst="rect">
            <a:avLst/>
          </a:prstGeom>
          <a:noFill/>
          <a:ln/>
        </p:spPr>
        <p:txBody>
          <a:bodyPr wrap="square" lIns="0" tIns="0" rIns="0" bIns="0" rtlCol="0" anchor="t"/>
          <a:lstStyle/>
          <a:p>
            <a:pPr marL="0" indent="0">
              <a:buNone/>
            </a:pPr>
            <a:r>
              <a:rPr lang="en-US" sz="850" b="1" kern="0" spc="80" dirty="0">
                <a:solidFill>
                  <a:srgbClr val="1660BF"/>
                </a:solidFill>
                <a:latin typeface="Calibri" pitchFamily="34" charset="0"/>
                <a:ea typeface="Calibri" pitchFamily="34" charset="-122"/>
                <a:cs typeface="Calibri" pitchFamily="34" charset="-120"/>
              </a:rPr>
              <a:t>KẾT QUẢ ĐẦU RA</a:t>
            </a:r>
            <a:endParaRPr lang="en-US" sz="850" dirty="0"/>
          </a:p>
        </p:txBody>
      </p:sp>
      <p:sp>
        <p:nvSpPr>
          <p:cNvPr id="34" name="Text 32"/>
          <p:cNvSpPr txBox="1"/>
          <p:nvPr/>
        </p:nvSpPr>
        <p:spPr>
          <a:xfrm>
            <a:off x="6397600" y="4736592"/>
            <a:ext cx="2238680" cy="1097280"/>
          </a:xfrm>
          <a:prstGeom prst="rect">
            <a:avLst/>
          </a:prstGeom>
          <a:noFill/>
          <a:ln/>
        </p:spPr>
        <p:txBody>
          <a:bodyPr wrap="square" lIns="0" tIns="0" rIns="0" bIns="0" rtlCol="0" anchor="t"/>
          <a:lstStyle/>
          <a:p>
            <a:pPr marL="0" indent="0">
              <a:spcAft>
                <a:spcPts val="400"/>
              </a:spcAft>
              <a:buNone/>
            </a:pPr>
            <a:r>
              <a:rPr lang="en-US" sz="900" dirty="0">
                <a:solidFill>
                  <a:srgbClr val="0E7A5F"/>
                </a:solidFill>
                <a:latin typeface="Calibri" pitchFamily="34" charset="0"/>
                <a:ea typeface="Calibri" pitchFamily="34" charset="-122"/>
                <a:cs typeface="Calibri" pitchFamily="34" charset="-120"/>
              </a:rPr>
              <a:t>▲ </a:t>
            </a:r>
            <a:r>
              <a:rPr lang="en-US" sz="950" dirty="0">
                <a:solidFill>
                  <a:srgbClr val="2A3442"/>
                </a:solidFill>
                <a:latin typeface="Calibri" pitchFamily="34" charset="0"/>
                <a:ea typeface="Calibri" pitchFamily="34" charset="-122"/>
                <a:cs typeface="Calibri" pitchFamily="34" charset="-120"/>
              </a:rPr>
              <a:t>Tài sản nhập kho, cấp phát, thu hồi tái sử dụng hoặc thanh lý thành công đúng quy trình.</a:t>
            </a:r>
            <a:endParaRPr lang="en-US" sz="900" dirty="0"/>
          </a:p>
          <a:p>
            <a:pPr marL="0" indent="0">
              <a:spcAft>
                <a:spcPts val="400"/>
              </a:spcAft>
              <a:buNone/>
            </a:pPr>
            <a:r>
              <a:rPr lang="en-US" sz="900" dirty="0">
                <a:solidFill>
                  <a:srgbClr val="C0392B"/>
                </a:solidFill>
                <a:latin typeface="Calibri" pitchFamily="34" charset="0"/>
                <a:ea typeface="Calibri" pitchFamily="34" charset="-122"/>
                <a:cs typeface="Calibri" pitchFamily="34" charset="-120"/>
              </a:rPr>
              <a:t>▼ </a:t>
            </a:r>
            <a:r>
              <a:rPr lang="en-US" sz="950" dirty="0">
                <a:solidFill>
                  <a:srgbClr val="2A3442"/>
                </a:solidFill>
                <a:latin typeface="Calibri" pitchFamily="34" charset="0"/>
                <a:ea typeface="Calibri" pitchFamily="34" charset="-122"/>
                <a:cs typeface="Calibri" pitchFamily="34" charset="-120"/>
              </a:rPr>
              <a:t>Yêu cầu cấp phát bị từ chối do hết tồn kho, phải chờ mua sắm bổ sung.</a:t>
            </a:r>
            <a:endParaRPr lang="en-US" sz="900" dirty="0"/>
          </a:p>
        </p:txBody>
      </p:sp>
      <p:sp>
        <p:nvSpPr>
          <p:cNvPr id="35" name="Shape 33"/>
          <p:cNvSpPr/>
          <p:nvPr/>
        </p:nvSpPr>
        <p:spPr>
          <a:xfrm>
            <a:off x="9075191" y="1463040"/>
            <a:ext cx="2567864" cy="4343400"/>
          </a:xfrm>
          <a:prstGeom prst="roundRect">
            <a:avLst>
              <a:gd name="adj" fmla="val 2137"/>
            </a:avLst>
          </a:prstGeom>
          <a:solidFill>
            <a:srgbClr val="FFFFFF"/>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36" name="Shape 34"/>
          <p:cNvSpPr/>
          <p:nvPr/>
        </p:nvSpPr>
        <p:spPr>
          <a:xfrm>
            <a:off x="9075191" y="1463040"/>
            <a:ext cx="2567864" cy="475488"/>
          </a:xfrm>
          <a:prstGeom prst="rect">
            <a:avLst/>
          </a:prstGeom>
          <a:solidFill>
            <a:srgbClr val="0B3B75"/>
          </a:solidFill>
          <a:ln w="12700">
            <a:solidFill>
              <a:srgbClr val="0B3B75"/>
            </a:solidFill>
            <a:prstDash val="solid"/>
          </a:ln>
        </p:spPr>
        <p:txBody>
          <a:bodyPr/>
          <a:lstStyle/>
          <a:p>
            <a:endParaRPr lang="en-US"/>
          </a:p>
        </p:txBody>
      </p:sp>
      <p:sp>
        <p:nvSpPr>
          <p:cNvPr id="37" name="Text 35"/>
          <p:cNvSpPr txBox="1"/>
          <p:nvPr/>
        </p:nvSpPr>
        <p:spPr>
          <a:xfrm>
            <a:off x="9239783" y="1536192"/>
            <a:ext cx="2238680" cy="347472"/>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S04   Quản lý Tri thức</a:t>
            </a:r>
            <a:endParaRPr lang="en-US" sz="1150" dirty="0"/>
          </a:p>
        </p:txBody>
      </p:sp>
      <p:sp>
        <p:nvSpPr>
          <p:cNvPr id="38" name="Text 36"/>
          <p:cNvSpPr txBox="1"/>
          <p:nvPr/>
        </p:nvSpPr>
        <p:spPr>
          <a:xfrm>
            <a:off x="9239783" y="2048256"/>
            <a:ext cx="2238680" cy="201168"/>
          </a:xfrm>
          <a:prstGeom prst="rect">
            <a:avLst/>
          </a:prstGeom>
          <a:noFill/>
          <a:ln/>
        </p:spPr>
        <p:txBody>
          <a:bodyPr wrap="square" lIns="0" tIns="0" rIns="0" bIns="0" rtlCol="0" anchor="t"/>
          <a:lstStyle/>
          <a:p>
            <a:pPr marL="0" indent="0">
              <a:buNone/>
            </a:pPr>
            <a:r>
              <a:rPr lang="en-US" sz="850" b="1" kern="0" spc="80" dirty="0">
                <a:solidFill>
                  <a:srgbClr val="1660BF"/>
                </a:solidFill>
                <a:latin typeface="Calibri" pitchFamily="34" charset="0"/>
                <a:ea typeface="Calibri" pitchFamily="34" charset="-122"/>
                <a:cs typeface="Calibri" pitchFamily="34" charset="-120"/>
              </a:rPr>
              <a:t>TÁC NHÂN CHÍNH</a:t>
            </a:r>
            <a:endParaRPr lang="en-US" sz="850" dirty="0"/>
          </a:p>
        </p:txBody>
      </p:sp>
      <p:sp>
        <p:nvSpPr>
          <p:cNvPr id="39" name="Text 37"/>
          <p:cNvSpPr txBox="1"/>
          <p:nvPr/>
        </p:nvSpPr>
        <p:spPr>
          <a:xfrm>
            <a:off x="9239783" y="2267712"/>
            <a:ext cx="2238680" cy="1060704"/>
          </a:xfrm>
          <a:prstGeom prst="rect">
            <a:avLst/>
          </a:prstGeom>
          <a:noFill/>
          <a:ln/>
        </p:spPr>
        <p:txBody>
          <a:bodyPr wrap="square" lIns="0" tIns="0" rIns="0" bIns="0" rtlCol="0" anchor="t"/>
          <a:lstStyle/>
          <a:p>
            <a:pPr marL="342900" indent="-342900">
              <a:spcAft>
                <a:spcPts val="300"/>
              </a:spcAft>
              <a:buSzPct val="100000"/>
              <a:buChar char="•"/>
            </a:pPr>
            <a:r>
              <a:rPr lang="en-US" sz="950" dirty="0">
                <a:solidFill>
                  <a:srgbClr val="2A3442"/>
                </a:solidFill>
                <a:latin typeface="Calibri" pitchFamily="34" charset="0"/>
                <a:ea typeface="Calibri" pitchFamily="34" charset="-122"/>
                <a:cs typeface="Calibri" pitchFamily="34" charset="-120"/>
              </a:rPr>
              <a:t>IT Helpdesk L1 (tạo bài viết từ kinh nghiệm)</a:t>
            </a:r>
            <a:endParaRPr lang="en-US" sz="950" dirty="0"/>
          </a:p>
          <a:p>
            <a:pPr marL="342900" indent="-342900">
              <a:spcAft>
                <a:spcPts val="300"/>
              </a:spcAft>
              <a:buSzPct val="100000"/>
              <a:buChar char="•"/>
            </a:pPr>
            <a:r>
              <a:rPr lang="en-US" sz="950" dirty="0">
                <a:solidFill>
                  <a:srgbClr val="2A3442"/>
                </a:solidFill>
                <a:latin typeface="Calibri" pitchFamily="34" charset="0"/>
                <a:ea typeface="Calibri" pitchFamily="34" charset="-122"/>
                <a:cs typeface="Calibri" pitchFamily="34" charset="-120"/>
              </a:rPr>
              <a:t>Chuyên viên hệ thống L2 (bài kỹ thuật chuyên sâu)</a:t>
            </a:r>
            <a:endParaRPr lang="en-US" sz="950" dirty="0"/>
          </a:p>
          <a:p>
            <a:pPr marL="342900" indent="-342900">
              <a:spcAft>
                <a:spcPts val="300"/>
              </a:spcAft>
              <a:buSzPct val="100000"/>
              <a:buChar char="•"/>
            </a:pPr>
            <a:r>
              <a:rPr lang="en-US" sz="950" dirty="0">
                <a:solidFill>
                  <a:srgbClr val="2A3442"/>
                </a:solidFill>
                <a:latin typeface="Calibri" pitchFamily="34" charset="0"/>
                <a:ea typeface="Calibri" pitchFamily="34" charset="-122"/>
                <a:cs typeface="Calibri" pitchFamily="34" charset="-120"/>
              </a:rPr>
              <a:t>Knowledge Manager / Trưởng nhóm Service Desk</a:t>
            </a:r>
            <a:endParaRPr lang="en-US" sz="950" dirty="0"/>
          </a:p>
          <a:p>
            <a:pPr marL="342900" indent="-342900">
              <a:spcAft>
                <a:spcPts val="300"/>
              </a:spcAft>
              <a:buSzPct val="100000"/>
              <a:buChar char="•"/>
            </a:pPr>
            <a:r>
              <a:rPr lang="en-US" sz="950" dirty="0">
                <a:solidFill>
                  <a:srgbClr val="2A3442"/>
                </a:solidFill>
                <a:latin typeface="Calibri" pitchFamily="34" charset="0"/>
                <a:ea typeface="Calibri" pitchFamily="34" charset="-122"/>
                <a:cs typeface="Calibri" pitchFamily="34" charset="-120"/>
              </a:rPr>
              <a:t>Hệ thống SmartIT Knowledge Base</a:t>
            </a:r>
            <a:endParaRPr lang="en-US" sz="950" dirty="0"/>
          </a:p>
        </p:txBody>
      </p:sp>
      <p:sp>
        <p:nvSpPr>
          <p:cNvPr id="40" name="Text 38"/>
          <p:cNvSpPr txBox="1"/>
          <p:nvPr/>
        </p:nvSpPr>
        <p:spPr>
          <a:xfrm>
            <a:off x="9239783" y="3401568"/>
            <a:ext cx="2238680" cy="201168"/>
          </a:xfrm>
          <a:prstGeom prst="rect">
            <a:avLst/>
          </a:prstGeom>
          <a:noFill/>
          <a:ln/>
        </p:spPr>
        <p:txBody>
          <a:bodyPr wrap="square" lIns="0" tIns="0" rIns="0" bIns="0" rtlCol="0" anchor="t"/>
          <a:lstStyle/>
          <a:p>
            <a:pPr marL="0" indent="0">
              <a:buNone/>
            </a:pPr>
            <a:r>
              <a:rPr lang="en-US" sz="850" b="1" kern="0" spc="80" dirty="0">
                <a:solidFill>
                  <a:srgbClr val="1660BF"/>
                </a:solidFill>
                <a:latin typeface="Calibri" pitchFamily="34" charset="0"/>
                <a:ea typeface="Calibri" pitchFamily="34" charset="-122"/>
                <a:cs typeface="Calibri" pitchFamily="34" charset="-120"/>
              </a:rPr>
              <a:t>ĐỐI TƯỢNG KHÁCH HÀNG</a:t>
            </a:r>
            <a:endParaRPr lang="en-US" sz="850" dirty="0"/>
          </a:p>
        </p:txBody>
      </p:sp>
      <p:sp>
        <p:nvSpPr>
          <p:cNvPr id="41" name="Text 39"/>
          <p:cNvSpPr txBox="1"/>
          <p:nvPr/>
        </p:nvSpPr>
        <p:spPr>
          <a:xfrm>
            <a:off x="9239783" y="3621024"/>
            <a:ext cx="2238680" cy="841248"/>
          </a:xfrm>
          <a:prstGeom prst="rect">
            <a:avLst/>
          </a:prstGeom>
          <a:noFill/>
          <a:ln/>
        </p:spPr>
        <p:txBody>
          <a:bodyPr wrap="square" lIns="0" tIns="0" rIns="0" bIns="0" rtlCol="0" anchor="t"/>
          <a:lstStyle/>
          <a:p>
            <a:pPr marL="342900" indent="-342900">
              <a:spcAft>
                <a:spcPts val="300"/>
              </a:spcAft>
              <a:buSzPct val="100000"/>
              <a:buChar char="•"/>
            </a:pPr>
            <a:r>
              <a:rPr lang="en-US" sz="950" dirty="0">
                <a:solidFill>
                  <a:srgbClr val="2A3442"/>
                </a:solidFill>
                <a:latin typeface="Calibri" pitchFamily="34" charset="0"/>
                <a:ea typeface="Calibri" pitchFamily="34" charset="-122"/>
                <a:cs typeface="Calibri" pitchFamily="34" charset="-120"/>
              </a:rPr>
              <a:t>IT Helpdesk L1 — đối tượng chính tra cứu hướng dẫn</a:t>
            </a:r>
            <a:endParaRPr lang="en-US" sz="950" dirty="0"/>
          </a:p>
          <a:p>
            <a:pPr marL="342900" indent="-342900">
              <a:spcAft>
                <a:spcPts val="300"/>
              </a:spcAft>
              <a:buSzPct val="100000"/>
              <a:buChar char="•"/>
            </a:pPr>
            <a:r>
              <a:rPr lang="en-US" sz="950" dirty="0">
                <a:solidFill>
                  <a:srgbClr val="2A3442"/>
                </a:solidFill>
                <a:latin typeface="Calibri" pitchFamily="34" charset="0"/>
                <a:ea typeface="Calibri" pitchFamily="34" charset="-122"/>
                <a:cs typeface="Calibri" pitchFamily="34" charset="-120"/>
              </a:rPr>
              <a:t>Chuyên viên kỹ thuật L2/L3</a:t>
            </a:r>
            <a:endParaRPr lang="en-US" sz="950" dirty="0"/>
          </a:p>
          <a:p>
            <a:pPr marL="342900" indent="-342900">
              <a:spcAft>
                <a:spcPts val="300"/>
              </a:spcAft>
              <a:buSzPct val="100000"/>
              <a:buChar char="•"/>
            </a:pPr>
            <a:r>
              <a:rPr lang="en-US" sz="950" dirty="0">
                <a:solidFill>
                  <a:srgbClr val="2A3442"/>
                </a:solidFill>
                <a:latin typeface="Calibri" pitchFamily="34" charset="0"/>
                <a:ea typeface="Calibri" pitchFamily="34" charset="-122"/>
                <a:cs typeface="Calibri" pitchFamily="34" charset="-120"/>
              </a:rPr>
              <a:t>CBNV end-user qua self-service portal</a:t>
            </a:r>
            <a:endParaRPr lang="en-US" sz="950" dirty="0"/>
          </a:p>
        </p:txBody>
      </p:sp>
      <p:sp>
        <p:nvSpPr>
          <p:cNvPr id="42" name="Text 40"/>
          <p:cNvSpPr txBox="1"/>
          <p:nvPr/>
        </p:nvSpPr>
        <p:spPr>
          <a:xfrm>
            <a:off x="9239783" y="4517136"/>
            <a:ext cx="2238680" cy="201168"/>
          </a:xfrm>
          <a:prstGeom prst="rect">
            <a:avLst/>
          </a:prstGeom>
          <a:noFill/>
          <a:ln/>
        </p:spPr>
        <p:txBody>
          <a:bodyPr wrap="square" lIns="0" tIns="0" rIns="0" bIns="0" rtlCol="0" anchor="t"/>
          <a:lstStyle/>
          <a:p>
            <a:pPr marL="0" indent="0">
              <a:buNone/>
            </a:pPr>
            <a:r>
              <a:rPr lang="en-US" sz="850" b="1" kern="0" spc="80" dirty="0">
                <a:solidFill>
                  <a:srgbClr val="1660BF"/>
                </a:solidFill>
                <a:latin typeface="Calibri" pitchFamily="34" charset="0"/>
                <a:ea typeface="Calibri" pitchFamily="34" charset="-122"/>
                <a:cs typeface="Calibri" pitchFamily="34" charset="-120"/>
              </a:rPr>
              <a:t>KẾT QUẢ ĐẦU RA</a:t>
            </a:r>
            <a:endParaRPr lang="en-US" sz="850" dirty="0"/>
          </a:p>
        </p:txBody>
      </p:sp>
      <p:sp>
        <p:nvSpPr>
          <p:cNvPr id="43" name="Text 41"/>
          <p:cNvSpPr txBox="1"/>
          <p:nvPr/>
        </p:nvSpPr>
        <p:spPr>
          <a:xfrm>
            <a:off x="9239783" y="4736592"/>
            <a:ext cx="2238680" cy="1097280"/>
          </a:xfrm>
          <a:prstGeom prst="rect">
            <a:avLst/>
          </a:prstGeom>
          <a:noFill/>
          <a:ln/>
        </p:spPr>
        <p:txBody>
          <a:bodyPr wrap="square" lIns="0" tIns="0" rIns="0" bIns="0" rtlCol="0" anchor="t"/>
          <a:lstStyle/>
          <a:p>
            <a:pPr marL="0" indent="0">
              <a:spcAft>
                <a:spcPts val="400"/>
              </a:spcAft>
              <a:buNone/>
            </a:pPr>
            <a:r>
              <a:rPr lang="en-US" sz="900" dirty="0">
                <a:solidFill>
                  <a:srgbClr val="0E7A5F"/>
                </a:solidFill>
                <a:latin typeface="Calibri" pitchFamily="34" charset="0"/>
                <a:ea typeface="Calibri" pitchFamily="34" charset="-122"/>
                <a:cs typeface="Calibri" pitchFamily="34" charset="-120"/>
              </a:rPr>
              <a:t>▲ </a:t>
            </a:r>
            <a:r>
              <a:rPr lang="en-US" sz="950" dirty="0">
                <a:solidFill>
                  <a:srgbClr val="2A3442"/>
                </a:solidFill>
                <a:latin typeface="Calibri" pitchFamily="34" charset="0"/>
                <a:ea typeface="Calibri" pitchFamily="34" charset="-122"/>
                <a:cs typeface="Calibri" pitchFamily="34" charset="-120"/>
              </a:rPr>
              <a:t>Bài viết mới được xuất bản; bài cũ được cập nhật phiên bản; nội dung KB giúp L1 tăng tỷ lệ FCR.</a:t>
            </a:r>
            <a:endParaRPr lang="en-US" sz="900" dirty="0"/>
          </a:p>
          <a:p>
            <a:pPr marL="0" indent="0">
              <a:spcAft>
                <a:spcPts val="400"/>
              </a:spcAft>
              <a:buNone/>
            </a:pPr>
            <a:r>
              <a:rPr lang="en-US" sz="900" dirty="0">
                <a:solidFill>
                  <a:srgbClr val="C0392B"/>
                </a:solidFill>
                <a:latin typeface="Calibri" pitchFamily="34" charset="0"/>
                <a:ea typeface="Calibri" pitchFamily="34" charset="-122"/>
                <a:cs typeface="Calibri" pitchFamily="34" charset="-120"/>
              </a:rPr>
              <a:t>▼ </a:t>
            </a:r>
            <a:r>
              <a:rPr lang="en-US" sz="950" dirty="0">
                <a:solidFill>
                  <a:srgbClr val="2A3442"/>
                </a:solidFill>
                <a:latin typeface="Calibri" pitchFamily="34" charset="0"/>
                <a:ea typeface="Calibri" pitchFamily="34" charset="-122"/>
                <a:cs typeface="Calibri" pitchFamily="34" charset="-120"/>
              </a:rPr>
              <a:t>Bài viết bị trả về chỉnh sửa do chưa đạt chuẩn; bài lỗi thời không được phát hiện, gây hướng dẫn sai.</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3B75"/>
        </a:solidFill>
        <a:effectLst/>
      </p:bgPr>
    </p:bg>
    <p:spTree>
      <p:nvGrpSpPr>
        <p:cNvPr id="1" name=""/>
        <p:cNvGrpSpPr/>
        <p:nvPr/>
      </p:nvGrpSpPr>
      <p:grpSpPr>
        <a:xfrm>
          <a:off x="0" y="0"/>
          <a:ext cx="0" cy="0"/>
          <a:chOff x="0" y="0"/>
          <a:chExt cx="0" cy="0"/>
        </a:xfrm>
      </p:grpSpPr>
      <p:sp>
        <p:nvSpPr>
          <p:cNvPr id="2" name="Text 0"/>
          <p:cNvSpPr txBox="1"/>
          <p:nvPr/>
        </p:nvSpPr>
        <p:spPr>
          <a:xfrm>
            <a:off x="548640" y="1920240"/>
            <a:ext cx="1828800" cy="1097280"/>
          </a:xfrm>
          <a:prstGeom prst="rect">
            <a:avLst/>
          </a:prstGeom>
          <a:noFill/>
          <a:ln/>
        </p:spPr>
        <p:txBody>
          <a:bodyPr wrap="square" lIns="0" tIns="0" rIns="0" bIns="0" rtlCol="0" anchor="t"/>
          <a:lstStyle/>
          <a:p>
            <a:pPr marL="0" indent="0">
              <a:buNone/>
            </a:pPr>
            <a:r>
              <a:rPr lang="en-US" sz="6600" b="1" dirty="0">
                <a:solidFill>
                  <a:srgbClr val="D9A227"/>
                </a:solidFill>
                <a:latin typeface="Calibri" pitchFamily="34" charset="0"/>
                <a:ea typeface="Calibri" pitchFamily="34" charset="-122"/>
                <a:cs typeface="Calibri" pitchFamily="34" charset="-120"/>
              </a:rPr>
              <a:t>02</a:t>
            </a:r>
            <a:endParaRPr lang="en-US" sz="6600" dirty="0"/>
          </a:p>
        </p:txBody>
      </p:sp>
      <p:sp>
        <p:nvSpPr>
          <p:cNvPr id="3" name="Text 1"/>
          <p:cNvSpPr txBox="1"/>
          <p:nvPr/>
        </p:nvSpPr>
        <p:spPr>
          <a:xfrm>
            <a:off x="548640" y="3072384"/>
            <a:ext cx="11094415" cy="274320"/>
          </a:xfrm>
          <a:prstGeom prst="rect">
            <a:avLst/>
          </a:prstGeom>
          <a:noFill/>
          <a:ln/>
        </p:spPr>
        <p:txBody>
          <a:bodyPr wrap="square" lIns="0" tIns="0" rIns="0" bIns="0" rtlCol="0" anchor="t"/>
          <a:lstStyle/>
          <a:p>
            <a:pPr marL="0" indent="0">
              <a:buNone/>
            </a:pPr>
            <a:r>
              <a:rPr lang="en-US" sz="1100" b="1" kern="0" spc="140" dirty="0">
                <a:solidFill>
                  <a:srgbClr val="AFC6E4"/>
                </a:solidFill>
                <a:latin typeface="Calibri" pitchFamily="34" charset="0"/>
                <a:ea typeface="Calibri" pitchFamily="34" charset="-122"/>
                <a:cs typeface="Calibri" pitchFamily="34" charset="-120"/>
              </a:rPr>
              <a:t>PHẦN 2 · PROCESS DISCOVERY</a:t>
            </a:r>
            <a:endParaRPr lang="en-US" sz="1100" dirty="0"/>
          </a:p>
        </p:txBody>
      </p:sp>
      <p:sp>
        <p:nvSpPr>
          <p:cNvPr id="4" name="Text 2"/>
          <p:cNvSpPr txBox="1"/>
          <p:nvPr/>
        </p:nvSpPr>
        <p:spPr>
          <a:xfrm>
            <a:off x="548640" y="3383280"/>
            <a:ext cx="11094415" cy="640080"/>
          </a:xfrm>
          <a:prstGeom prst="rect">
            <a:avLst/>
          </a:prstGeom>
          <a:noFill/>
          <a:ln/>
        </p:spPr>
        <p:txBody>
          <a:bodyPr wrap="square" lIns="0" tIns="0" rIns="0" bIns="0" rtlCol="0" anchor="t"/>
          <a:lstStyle/>
          <a:p>
            <a:pPr marL="0" indent="0">
              <a:buNone/>
            </a:pPr>
            <a:r>
              <a:rPr lang="en-US" sz="3200" b="1" dirty="0">
                <a:solidFill>
                  <a:srgbClr val="FFFFFF"/>
                </a:solidFill>
                <a:latin typeface="Calibri" pitchFamily="34" charset="0"/>
                <a:ea typeface="Calibri" pitchFamily="34" charset="-122"/>
                <a:cs typeface="Calibri" pitchFamily="34" charset="-120"/>
              </a:rPr>
              <a:t>Phương pháp thực hiện</a:t>
            </a:r>
            <a:endParaRPr lang="en-US" sz="3200" dirty="0"/>
          </a:p>
        </p:txBody>
      </p:sp>
      <p:sp>
        <p:nvSpPr>
          <p:cNvPr id="5" name="Text 3"/>
          <p:cNvSpPr txBox="1"/>
          <p:nvPr/>
        </p:nvSpPr>
        <p:spPr>
          <a:xfrm>
            <a:off x="548640" y="4114800"/>
            <a:ext cx="9722815" cy="365760"/>
          </a:xfrm>
          <a:prstGeom prst="rect">
            <a:avLst/>
          </a:prstGeom>
          <a:noFill/>
          <a:ln/>
        </p:spPr>
        <p:txBody>
          <a:bodyPr wrap="square" lIns="0" tIns="0" rIns="0" bIns="0" rtlCol="0" anchor="t"/>
          <a:lstStyle/>
          <a:p>
            <a:pPr marL="0" indent="0">
              <a:buNone/>
            </a:pPr>
            <a:r>
              <a:rPr lang="en-US" sz="1200" dirty="0">
                <a:solidFill>
                  <a:srgbClr val="9BB2D2"/>
                </a:solidFill>
                <a:latin typeface="Calibri" pitchFamily="34" charset="0"/>
                <a:ea typeface="Calibri" pitchFamily="34" charset="-122"/>
                <a:cs typeface="Calibri" pitchFamily="34" charset="-120"/>
              </a:rPr>
              <a:t>Khám phá dựa trên bằng chứng  ·  Phỏng vấn đối tượng liên quan  ·  Bộ 20 câu hỏi chuẩn hóa</a:t>
            </a:r>
            <a:endParaRPr lang="en-US" sz="1200" dirty="0"/>
          </a:p>
        </p:txBody>
      </p:sp>
      <p:sp>
        <p:nvSpPr>
          <p:cNvPr id="6" name="Text 4"/>
          <p:cNvSpPr txBox="1"/>
          <p:nvPr/>
        </p:nvSpPr>
        <p:spPr>
          <a:xfrm>
            <a:off x="548640" y="6419088"/>
            <a:ext cx="8778240" cy="237744"/>
          </a:xfrm>
          <a:prstGeom prst="rect">
            <a:avLst/>
          </a:prstGeom>
          <a:noFill/>
          <a:ln/>
        </p:spPr>
        <p:txBody>
          <a:bodyPr wrap="square" lIns="0" tIns="0" rIns="0" bIns="0" rtlCol="0" anchor="t"/>
          <a:lstStyle/>
          <a:p>
            <a:pPr marL="0" indent="0">
              <a:buNone/>
            </a:pPr>
            <a:r>
              <a:rPr lang="en-US" sz="850" dirty="0">
                <a:solidFill>
                  <a:srgbClr val="7089AE"/>
                </a:solidFill>
                <a:latin typeface="Calibri" pitchFamily="34" charset="0"/>
                <a:ea typeface="Calibri" pitchFamily="34" charset="-122"/>
                <a:cs typeface="Calibri" pitchFamily="34" charset="-120"/>
              </a:rPr>
              <a:t>HỆ THỐNG QUẢN TRỊ QUY TRÌNH NGHIỆP VỤ  ·  SACOMBANK — QUY TRÌNH PYC</a:t>
            </a:r>
            <a:endParaRPr lang="en-US" sz="850" dirty="0"/>
          </a:p>
        </p:txBody>
      </p:sp>
      <p:sp>
        <p:nvSpPr>
          <p:cNvPr id="7" name="Text 5"/>
          <p:cNvSpPr txBox="1"/>
          <p:nvPr/>
        </p:nvSpPr>
        <p:spPr>
          <a:xfrm>
            <a:off x="11155680" y="6382512"/>
            <a:ext cx="484632" cy="274320"/>
          </a:xfrm>
          <a:prstGeom prst="rect">
            <a:avLst/>
          </a:prstGeom>
          <a:noFill/>
          <a:ln/>
        </p:spPr>
        <p:txBody>
          <a:bodyPr wrap="square" lIns="0" tIns="0" rIns="0" bIns="0" rtlCol="0" anchor="t"/>
          <a:lstStyle/>
          <a:p>
            <a:pPr marL="0" indent="0" algn="r">
              <a:buNone/>
            </a:pPr>
            <a:r>
              <a:rPr lang="en-US" sz="1100" b="1" dirty="0">
                <a:solidFill>
                  <a:srgbClr val="D9A227"/>
                </a:solidFill>
                <a:latin typeface="Calibri" pitchFamily="34" charset="0"/>
                <a:ea typeface="Calibri" pitchFamily="34" charset="-122"/>
                <a:cs typeface="Calibri" pitchFamily="34" charset="-120"/>
              </a:rPr>
              <a:t>12</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65760"/>
            <a:ext cx="123444" cy="123444"/>
          </a:xfrm>
          <a:prstGeom prst="ellipse">
            <a:avLst/>
          </a:prstGeom>
          <a:solidFill>
            <a:srgbClr val="D9A227"/>
          </a:solidFill>
          <a:ln w="12700">
            <a:solidFill>
              <a:srgbClr val="D9A227"/>
            </a:solidFill>
            <a:prstDash val="solid"/>
          </a:ln>
        </p:spPr>
        <p:txBody>
          <a:bodyPr/>
          <a:lstStyle/>
          <a:p>
            <a:endParaRPr lang="en-US"/>
          </a:p>
        </p:txBody>
      </p:sp>
      <p:sp>
        <p:nvSpPr>
          <p:cNvPr id="3" name="Text 1"/>
          <p:cNvSpPr txBox="1"/>
          <p:nvPr/>
        </p:nvSpPr>
        <p:spPr>
          <a:xfrm>
            <a:off x="804672" y="292608"/>
            <a:ext cx="10838383" cy="237744"/>
          </a:xfrm>
          <a:prstGeom prst="rect">
            <a:avLst/>
          </a:prstGeom>
          <a:noFill/>
          <a:ln/>
        </p:spPr>
        <p:txBody>
          <a:bodyPr wrap="square" lIns="0" tIns="0" rIns="0" bIns="0" rtlCol="0" anchor="t"/>
          <a:lstStyle/>
          <a:p>
            <a:pPr marL="0" indent="0">
              <a:buNone/>
            </a:pPr>
            <a:r>
              <a:rPr lang="en-US" sz="1050" b="1" kern="0" spc="120" dirty="0">
                <a:solidFill>
                  <a:srgbClr val="A5741A"/>
                </a:solidFill>
                <a:latin typeface="Calibri" pitchFamily="34" charset="0"/>
                <a:ea typeface="Calibri" pitchFamily="34" charset="-122"/>
                <a:cs typeface="Calibri" pitchFamily="34" charset="-120"/>
              </a:rPr>
              <a:t>CHƯƠNG 2 · PROCESS DISCOVERY</a:t>
            </a:r>
            <a:endParaRPr lang="en-US" sz="1050" dirty="0"/>
          </a:p>
        </p:txBody>
      </p:sp>
      <p:sp>
        <p:nvSpPr>
          <p:cNvPr id="4" name="Text 2"/>
          <p:cNvSpPr txBox="1"/>
          <p:nvPr/>
        </p:nvSpPr>
        <p:spPr>
          <a:xfrm>
            <a:off x="548640" y="566928"/>
            <a:ext cx="11094415" cy="457200"/>
          </a:xfrm>
          <a:prstGeom prst="rect">
            <a:avLst/>
          </a:prstGeom>
          <a:noFill/>
          <a:ln/>
        </p:spPr>
        <p:txBody>
          <a:bodyPr wrap="square" lIns="0" tIns="0" rIns="0" bIns="0" rtlCol="0" anchor="t"/>
          <a:lstStyle/>
          <a:p>
            <a:pPr marL="0" indent="0">
              <a:buNone/>
            </a:pPr>
            <a:r>
              <a:rPr lang="en-US" sz="2500" b="1" dirty="0">
                <a:solidFill>
                  <a:srgbClr val="0B3B75"/>
                </a:solidFill>
                <a:latin typeface="Calibri" pitchFamily="34" charset="0"/>
                <a:ea typeface="Calibri" pitchFamily="34" charset="-122"/>
                <a:cs typeface="Calibri" pitchFamily="34" charset="-120"/>
              </a:rPr>
              <a:t>PHƯƠNG PHÁP KHÁM PHÁ QUY TRÌNH</a:t>
            </a:r>
            <a:endParaRPr lang="en-US" sz="2500" dirty="0"/>
          </a:p>
        </p:txBody>
      </p:sp>
      <p:sp>
        <p:nvSpPr>
          <p:cNvPr id="5" name="Text 3"/>
          <p:cNvSpPr txBox="1"/>
          <p:nvPr/>
        </p:nvSpPr>
        <p:spPr>
          <a:xfrm>
            <a:off x="548640" y="1024128"/>
            <a:ext cx="11094415" cy="274320"/>
          </a:xfrm>
          <a:prstGeom prst="rect">
            <a:avLst/>
          </a:prstGeom>
          <a:noFill/>
          <a:ln/>
        </p:spPr>
        <p:txBody>
          <a:bodyPr wrap="square" lIns="0" tIns="0" rIns="0" bIns="0" rtlCol="0" anchor="t"/>
          <a:lstStyle/>
          <a:p>
            <a:pPr marL="0" indent="0">
              <a:buNone/>
            </a:pPr>
            <a:r>
              <a:rPr lang="en-US" sz="1100" i="1" dirty="0">
                <a:solidFill>
                  <a:srgbClr val="6E7A88"/>
                </a:solidFill>
                <a:latin typeface="Calibri" pitchFamily="34" charset="0"/>
                <a:ea typeface="Calibri" pitchFamily="34" charset="-122"/>
                <a:cs typeface="Calibri" pitchFamily="34" charset="-120"/>
              </a:rPr>
              <a:t>Kết hợp hai hướng để đối chiếu thông tin từ tài liệu với cách quy trình thực sự được thực hiện</a:t>
            </a:r>
            <a:endParaRPr lang="en-US" sz="1100" dirty="0"/>
          </a:p>
        </p:txBody>
      </p:sp>
      <p:sp>
        <p:nvSpPr>
          <p:cNvPr id="6" name="Text 4"/>
          <p:cNvSpPr txBox="1"/>
          <p:nvPr/>
        </p:nvSpPr>
        <p:spPr>
          <a:xfrm>
            <a:off x="548640" y="6419088"/>
            <a:ext cx="8778240" cy="237744"/>
          </a:xfrm>
          <a:prstGeom prst="rect">
            <a:avLst/>
          </a:prstGeom>
          <a:noFill/>
          <a:ln/>
        </p:spPr>
        <p:txBody>
          <a:bodyPr wrap="square" lIns="0" tIns="0" rIns="0" bIns="0" rtlCol="0" anchor="t"/>
          <a:lstStyle/>
          <a:p>
            <a:pPr marL="0" indent="0">
              <a:buNone/>
            </a:pPr>
            <a:r>
              <a:rPr lang="en-US" sz="850" dirty="0">
                <a:solidFill>
                  <a:srgbClr val="6E7A88"/>
                </a:solidFill>
                <a:latin typeface="Calibri" pitchFamily="34" charset="0"/>
                <a:ea typeface="Calibri" pitchFamily="34" charset="-122"/>
                <a:cs typeface="Calibri" pitchFamily="34" charset="-120"/>
              </a:rPr>
              <a:t>HỆ THỐNG QUẢN TRỊ QUY TRÌNH NGHIỆP VỤ  ·  SACOMBANK — QUY TRÌNH PYC</a:t>
            </a:r>
            <a:endParaRPr lang="en-US" sz="850" dirty="0"/>
          </a:p>
        </p:txBody>
      </p:sp>
      <p:sp>
        <p:nvSpPr>
          <p:cNvPr id="7" name="Text 5"/>
          <p:cNvSpPr txBox="1"/>
          <p:nvPr/>
        </p:nvSpPr>
        <p:spPr>
          <a:xfrm>
            <a:off x="11155680" y="6382512"/>
            <a:ext cx="484632" cy="274320"/>
          </a:xfrm>
          <a:prstGeom prst="rect">
            <a:avLst/>
          </a:prstGeom>
          <a:noFill/>
          <a:ln/>
        </p:spPr>
        <p:txBody>
          <a:bodyPr wrap="square" lIns="0" tIns="0" rIns="0" bIns="0" rtlCol="0" anchor="t"/>
          <a:lstStyle/>
          <a:p>
            <a:pPr marL="0" indent="0" algn="r">
              <a:buNone/>
            </a:pPr>
            <a:r>
              <a:rPr lang="en-US" sz="1100" b="1" dirty="0">
                <a:solidFill>
                  <a:srgbClr val="A5741A"/>
                </a:solidFill>
                <a:latin typeface="Calibri" pitchFamily="34" charset="0"/>
                <a:ea typeface="Calibri" pitchFamily="34" charset="-122"/>
                <a:cs typeface="Calibri" pitchFamily="34" charset="-120"/>
              </a:rPr>
              <a:t>13</a:t>
            </a:r>
            <a:endParaRPr lang="en-US" sz="1100" dirty="0"/>
          </a:p>
        </p:txBody>
      </p:sp>
      <p:sp>
        <p:nvSpPr>
          <p:cNvPr id="8" name="Shape 6"/>
          <p:cNvSpPr/>
          <p:nvPr/>
        </p:nvSpPr>
        <p:spPr>
          <a:xfrm>
            <a:off x="548640" y="1481328"/>
            <a:ext cx="5410048" cy="3017520"/>
          </a:xfrm>
          <a:prstGeom prst="roundRect">
            <a:avLst>
              <a:gd name="adj" fmla="val 1818"/>
            </a:avLst>
          </a:prstGeom>
          <a:solidFill>
            <a:srgbClr val="EFF4FB"/>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9" name="Text 7"/>
          <p:cNvSpPr txBox="1"/>
          <p:nvPr/>
        </p:nvSpPr>
        <p:spPr>
          <a:xfrm>
            <a:off x="768096" y="1664208"/>
            <a:ext cx="4572000" cy="274320"/>
          </a:xfrm>
          <a:prstGeom prst="rect">
            <a:avLst/>
          </a:prstGeom>
          <a:noFill/>
          <a:ln/>
        </p:spPr>
        <p:txBody>
          <a:bodyPr wrap="square" lIns="0" tIns="0" rIns="0" bIns="0" rtlCol="0" anchor="t"/>
          <a:lstStyle/>
          <a:p>
            <a:pPr marL="0" indent="0">
              <a:buNone/>
            </a:pPr>
            <a:r>
              <a:rPr lang="en-US" sz="1400" b="1" dirty="0">
                <a:solidFill>
                  <a:srgbClr val="0B3B75"/>
                </a:solidFill>
                <a:latin typeface="Calibri" pitchFamily="34" charset="0"/>
                <a:ea typeface="Calibri" pitchFamily="34" charset="-122"/>
                <a:cs typeface="Calibri" pitchFamily="34" charset="-120"/>
              </a:rPr>
              <a:t>①  DỰA TRÊN BẰNG CHỨNG</a:t>
            </a:r>
            <a:endParaRPr lang="en-US" sz="1400" dirty="0"/>
          </a:p>
        </p:txBody>
      </p:sp>
      <p:sp>
        <p:nvSpPr>
          <p:cNvPr id="10" name="Text 8"/>
          <p:cNvSpPr txBox="1"/>
          <p:nvPr/>
        </p:nvSpPr>
        <p:spPr>
          <a:xfrm>
            <a:off x="768096" y="1956816"/>
            <a:ext cx="4572000" cy="237744"/>
          </a:xfrm>
          <a:prstGeom prst="rect">
            <a:avLst/>
          </a:prstGeom>
          <a:noFill/>
          <a:ln/>
        </p:spPr>
        <p:txBody>
          <a:bodyPr wrap="square" lIns="0" tIns="0" rIns="0" bIns="0" rtlCol="0" anchor="t"/>
          <a:lstStyle/>
          <a:p>
            <a:pPr marL="0" indent="0">
              <a:buNone/>
            </a:pPr>
            <a:r>
              <a:rPr lang="en-US" sz="1000" i="1" dirty="0">
                <a:solidFill>
                  <a:srgbClr val="1660BF"/>
                </a:solidFill>
                <a:latin typeface="Calibri" pitchFamily="34" charset="0"/>
                <a:ea typeface="Calibri" pitchFamily="34" charset="-122"/>
                <a:cs typeface="Calibri" pitchFamily="34" charset="-120"/>
              </a:rPr>
              <a:t>Evidence-based Discovery  ·  nguồn thông tin chính</a:t>
            </a:r>
            <a:endParaRPr lang="en-US" sz="1000" dirty="0"/>
          </a:p>
        </p:txBody>
      </p:sp>
      <p:sp>
        <p:nvSpPr>
          <p:cNvPr id="11" name="Text 9"/>
          <p:cNvSpPr txBox="1"/>
          <p:nvPr/>
        </p:nvSpPr>
        <p:spPr>
          <a:xfrm>
            <a:off x="768096" y="2286000"/>
            <a:ext cx="4998568" cy="2011680"/>
          </a:xfrm>
          <a:prstGeom prst="rect">
            <a:avLst/>
          </a:prstGeom>
          <a:noFill/>
          <a:ln/>
        </p:spPr>
        <p:txBody>
          <a:bodyPr wrap="square" lIns="0" tIns="0" rIns="0" bIns="0" rtlCol="0" anchor="t"/>
          <a:lstStyle/>
          <a:p>
            <a:pPr marL="342900" indent="-342900">
              <a:spcAft>
                <a:spcPts val="600"/>
              </a:spcAft>
              <a:buSzPct val="100000"/>
              <a:buChar char="•"/>
            </a:pPr>
            <a:r>
              <a:rPr lang="en-US" sz="1100" dirty="0">
                <a:solidFill>
                  <a:srgbClr val="2A3442"/>
                </a:solidFill>
                <a:latin typeface="Calibri" pitchFamily="34" charset="0"/>
                <a:ea typeface="Calibri" pitchFamily="34" charset="-122"/>
                <a:cs typeface="Calibri" pitchFamily="34" charset="-120"/>
              </a:rPr>
              <a:t>Mô tả quy trình hiện có: các bước, điều kiện rẽ nhánh, quy tắc xử lý.</a:t>
            </a:r>
            <a:endParaRPr lang="en-US" sz="1100" dirty="0"/>
          </a:p>
          <a:p>
            <a:pPr marL="342900" indent="-342900">
              <a:spcAft>
                <a:spcPts val="600"/>
              </a:spcAft>
              <a:buSzPct val="100000"/>
              <a:buChar char="•"/>
            </a:pPr>
            <a:r>
              <a:rPr lang="en-US" sz="1100" dirty="0">
                <a:solidFill>
                  <a:srgbClr val="2A3442"/>
                </a:solidFill>
                <a:latin typeface="Calibri" pitchFamily="34" charset="0"/>
                <a:ea typeface="Calibri" pitchFamily="34" charset="-122"/>
                <a:cs typeface="Calibri" pitchFamily="34" charset="-120"/>
              </a:rPr>
              <a:t>Sơ đồ tổ chức và mô tả trách nhiệm của từng vai trò tham gia.</a:t>
            </a:r>
            <a:endParaRPr lang="en-US" sz="1100" dirty="0"/>
          </a:p>
          <a:p>
            <a:pPr marL="342900" indent="-342900">
              <a:spcAft>
                <a:spcPts val="600"/>
              </a:spcAft>
              <a:buSzPct val="100000"/>
              <a:buChar char="•"/>
            </a:pPr>
            <a:r>
              <a:rPr lang="en-US" sz="1100" dirty="0">
                <a:solidFill>
                  <a:srgbClr val="2A3442"/>
                </a:solidFill>
                <a:latin typeface="Calibri" pitchFamily="34" charset="0"/>
                <a:ea typeface="Calibri" pitchFamily="34" charset="-122"/>
                <a:cs typeface="Calibri" pitchFamily="34" charset="-120"/>
              </a:rPr>
              <a:t>Thuật ngữ và sổ tay quy trình (PYC, WO, SLA, ITSM, T24, AD…).</a:t>
            </a:r>
            <a:endParaRPr lang="en-US" sz="1100" dirty="0"/>
          </a:p>
          <a:p>
            <a:pPr marL="342900" indent="-342900">
              <a:spcAft>
                <a:spcPts val="600"/>
              </a:spcAft>
              <a:buSzPct val="100000"/>
              <a:buChar char="•"/>
            </a:pPr>
            <a:r>
              <a:rPr lang="en-US" sz="1100" dirty="0">
                <a:solidFill>
                  <a:srgbClr val="2A3442"/>
                </a:solidFill>
                <a:latin typeface="Calibri" pitchFamily="34" charset="0"/>
                <a:ea typeface="Calibri" pitchFamily="34" charset="-122"/>
                <a:cs typeface="Calibri" pitchFamily="34" charset="-120"/>
              </a:rPr>
              <a:t>Biểu mẫu đang sử dụng: Phiếu yêu cầu dịch vụ CNTT, Biên bản phê duyệt quyền truy cập rủi ro cao, Biên bản bàn giao thiết bị.</a:t>
            </a:r>
            <a:endParaRPr lang="en-US" sz="1100" dirty="0"/>
          </a:p>
        </p:txBody>
      </p:sp>
      <p:sp>
        <p:nvSpPr>
          <p:cNvPr id="12" name="Shape 10"/>
          <p:cNvSpPr/>
          <p:nvPr/>
        </p:nvSpPr>
        <p:spPr>
          <a:xfrm>
            <a:off x="6233008" y="1481328"/>
            <a:ext cx="5410048" cy="3017520"/>
          </a:xfrm>
          <a:prstGeom prst="roundRect">
            <a:avLst>
              <a:gd name="adj" fmla="val 1818"/>
            </a:avLst>
          </a:prstGeom>
          <a:solidFill>
            <a:srgbClr val="EFF4FB"/>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13" name="Text 11"/>
          <p:cNvSpPr txBox="1"/>
          <p:nvPr/>
        </p:nvSpPr>
        <p:spPr>
          <a:xfrm>
            <a:off x="6452464" y="1664208"/>
            <a:ext cx="5029200" cy="274320"/>
          </a:xfrm>
          <a:prstGeom prst="rect">
            <a:avLst/>
          </a:prstGeom>
          <a:noFill/>
          <a:ln/>
        </p:spPr>
        <p:txBody>
          <a:bodyPr wrap="square" lIns="0" tIns="0" rIns="0" bIns="0" rtlCol="0" anchor="t"/>
          <a:lstStyle/>
          <a:p>
            <a:pPr marL="0" indent="0">
              <a:buNone/>
            </a:pPr>
            <a:r>
              <a:rPr lang="en-US" sz="1400" b="1" dirty="0">
                <a:solidFill>
                  <a:srgbClr val="0B3B75"/>
                </a:solidFill>
                <a:latin typeface="Calibri" pitchFamily="34" charset="0"/>
                <a:ea typeface="Calibri" pitchFamily="34" charset="-122"/>
                <a:cs typeface="Calibri" pitchFamily="34" charset="-120"/>
              </a:rPr>
              <a:t>②  PHỎNG VẤN ĐỐI TƯỢNG LIÊN QUAN</a:t>
            </a:r>
            <a:endParaRPr lang="en-US" sz="1400" dirty="0"/>
          </a:p>
        </p:txBody>
      </p:sp>
      <p:sp>
        <p:nvSpPr>
          <p:cNvPr id="14" name="Text 12"/>
          <p:cNvSpPr txBox="1"/>
          <p:nvPr/>
        </p:nvSpPr>
        <p:spPr>
          <a:xfrm>
            <a:off x="6452464" y="1956816"/>
            <a:ext cx="4572000" cy="237744"/>
          </a:xfrm>
          <a:prstGeom prst="rect">
            <a:avLst/>
          </a:prstGeom>
          <a:noFill/>
          <a:ln/>
        </p:spPr>
        <p:txBody>
          <a:bodyPr wrap="square" lIns="0" tIns="0" rIns="0" bIns="0" rtlCol="0" anchor="t"/>
          <a:lstStyle/>
          <a:p>
            <a:pPr marL="0" indent="0">
              <a:buNone/>
            </a:pPr>
            <a:r>
              <a:rPr lang="en-US" sz="1000" i="1" dirty="0">
                <a:solidFill>
                  <a:srgbClr val="1660BF"/>
                </a:solidFill>
                <a:latin typeface="Calibri" pitchFamily="34" charset="0"/>
                <a:ea typeface="Calibri" pitchFamily="34" charset="-122"/>
                <a:cs typeface="Calibri" pitchFamily="34" charset="-120"/>
              </a:rPr>
              <a:t>Interview-based Discovery  ·  phương pháp bổ sung</a:t>
            </a:r>
            <a:endParaRPr lang="en-US" sz="1000" dirty="0"/>
          </a:p>
        </p:txBody>
      </p:sp>
      <p:sp>
        <p:nvSpPr>
          <p:cNvPr id="15" name="Text 13"/>
          <p:cNvSpPr txBox="1"/>
          <p:nvPr/>
        </p:nvSpPr>
        <p:spPr>
          <a:xfrm>
            <a:off x="6452464" y="2286000"/>
            <a:ext cx="4998568" cy="2011680"/>
          </a:xfrm>
          <a:prstGeom prst="rect">
            <a:avLst/>
          </a:prstGeom>
          <a:noFill/>
          <a:ln/>
        </p:spPr>
        <p:txBody>
          <a:bodyPr wrap="square" lIns="0" tIns="0" rIns="0" bIns="0" rtlCol="0" anchor="t"/>
          <a:lstStyle/>
          <a:p>
            <a:pPr marL="342900" indent="-342900">
              <a:spcAft>
                <a:spcPts val="600"/>
              </a:spcAft>
              <a:buSzPct val="100000"/>
              <a:buChar char="•"/>
            </a:pPr>
            <a:r>
              <a:rPr lang="en-US" sz="1100" dirty="0">
                <a:solidFill>
                  <a:srgbClr val="2A3442"/>
                </a:solidFill>
                <a:latin typeface="Calibri" pitchFamily="34" charset="0"/>
                <a:ea typeface="Calibri" pitchFamily="34" charset="-122"/>
                <a:cs typeface="Calibri" pitchFamily="34" charset="-120"/>
              </a:rPr>
              <a:t>Bộ 20 câu hỏi chuẩn hóa: 10 câu định tính + 10 câu định lượng.</a:t>
            </a:r>
            <a:endParaRPr lang="en-US" sz="1100" dirty="0"/>
          </a:p>
          <a:p>
            <a:pPr marL="342900" indent="-342900">
              <a:spcAft>
                <a:spcPts val="600"/>
              </a:spcAft>
              <a:buSzPct val="100000"/>
              <a:buChar char="•"/>
            </a:pPr>
            <a:r>
              <a:rPr lang="en-US" sz="1100" dirty="0">
                <a:solidFill>
                  <a:srgbClr val="2A3442"/>
                </a:solidFill>
                <a:latin typeface="Calibri" pitchFamily="34" charset="0"/>
                <a:ea typeface="Calibri" pitchFamily="34" charset="-122"/>
                <a:cs typeface="Calibri" pitchFamily="34" charset="-120"/>
              </a:rPr>
              <a:t>Mỗi loại chia đều 5 câu có cấu trúc và 5 câu không cấu trúc.</a:t>
            </a:r>
            <a:endParaRPr lang="en-US" sz="1100" dirty="0"/>
          </a:p>
          <a:p>
            <a:pPr marL="342900" indent="-342900">
              <a:spcAft>
                <a:spcPts val="600"/>
              </a:spcAft>
              <a:buSzPct val="100000"/>
              <a:buChar char="•"/>
            </a:pPr>
            <a:r>
              <a:rPr lang="en-US" sz="1100" dirty="0">
                <a:solidFill>
                  <a:srgbClr val="2A3442"/>
                </a:solidFill>
                <a:latin typeface="Calibri" pitchFamily="34" charset="0"/>
                <a:ea typeface="Calibri" pitchFamily="34" charset="-122"/>
                <a:cs typeface="Calibri" pitchFamily="34" charset="-120"/>
              </a:rPr>
              <a:t>Bốn nhóm đối tượng: End-user, Quản lý trực tiếp, Service Desk L1, Chuyên viên L2.</a:t>
            </a:r>
            <a:endParaRPr lang="en-US" sz="1100" dirty="0"/>
          </a:p>
          <a:p>
            <a:pPr marL="342900" indent="-342900">
              <a:spcAft>
                <a:spcPts val="600"/>
              </a:spcAft>
              <a:buSzPct val="100000"/>
              <a:buChar char="•"/>
            </a:pPr>
            <a:r>
              <a:rPr lang="en-US" sz="1100" dirty="0">
                <a:solidFill>
                  <a:srgbClr val="2A3442"/>
                </a:solidFill>
                <a:latin typeface="Calibri" pitchFamily="34" charset="0"/>
                <a:ea typeface="Calibri" pitchFamily="34" charset="-122"/>
                <a:cs typeface="Calibri" pitchFamily="34" charset="-120"/>
              </a:rPr>
              <a:t>Làm rõ điểm ra quyết định, ngoại lệ và các điểm phát sinh chờ đợi trong thực tế.</a:t>
            </a:r>
            <a:endParaRPr lang="en-US" sz="1100" dirty="0"/>
          </a:p>
        </p:txBody>
      </p:sp>
      <p:sp>
        <p:nvSpPr>
          <p:cNvPr id="16" name="Shape 14"/>
          <p:cNvSpPr/>
          <p:nvPr/>
        </p:nvSpPr>
        <p:spPr>
          <a:xfrm>
            <a:off x="548640" y="4663440"/>
            <a:ext cx="11094415" cy="859536"/>
          </a:xfrm>
          <a:prstGeom prst="roundRect">
            <a:avLst>
              <a:gd name="adj" fmla="val 6383"/>
            </a:avLst>
          </a:prstGeom>
          <a:solidFill>
            <a:srgbClr val="FFFFFF"/>
          </a:solidFill>
          <a:ln w="9525">
            <a:solidFill>
              <a:srgbClr val="1660BF"/>
            </a:solidFill>
            <a:prstDash val="solid"/>
          </a:ln>
          <a:effectLst>
            <a:outerShdw blurRad="101600" dist="19050" dir="5400000" algn="bl" rotWithShape="0">
              <a:srgbClr val="9AAFC6">
                <a:alpha val="16000"/>
              </a:srgbClr>
            </a:outerShdw>
          </a:effectLst>
        </p:spPr>
        <p:txBody>
          <a:bodyPr/>
          <a:lstStyle/>
          <a:p>
            <a:endParaRPr lang="en-US"/>
          </a:p>
        </p:txBody>
      </p:sp>
      <p:sp>
        <p:nvSpPr>
          <p:cNvPr id="17" name="Text 15"/>
          <p:cNvSpPr txBox="1"/>
          <p:nvPr/>
        </p:nvSpPr>
        <p:spPr>
          <a:xfrm>
            <a:off x="768096" y="4809744"/>
            <a:ext cx="10655503" cy="585216"/>
          </a:xfrm>
          <a:prstGeom prst="rect">
            <a:avLst/>
          </a:prstGeom>
          <a:noFill/>
          <a:ln/>
        </p:spPr>
        <p:txBody>
          <a:bodyPr wrap="square" lIns="0" tIns="0" rIns="0" bIns="0" rtlCol="0" anchor="t"/>
          <a:lstStyle/>
          <a:p>
            <a:pPr marL="0" indent="0">
              <a:buNone/>
            </a:pPr>
            <a:r>
              <a:rPr lang="en-US" sz="1100" dirty="0">
                <a:solidFill>
                  <a:srgbClr val="2A3442"/>
                </a:solidFill>
                <a:latin typeface="Calibri" pitchFamily="34" charset="0"/>
                <a:ea typeface="Calibri" pitchFamily="34" charset="-122"/>
                <a:cs typeface="Calibri" pitchFamily="34" charset="-120"/>
              </a:rPr>
              <a:t>Thông tin từ hai nguồn được ĐỐI CHIẾU CHÉO trước khi đưa vào mô hình BPMN — vừa xác minh các thành phần của quy trình (Actor, Pool, Lane, Activity, Event, Gateway), vừa thu thập dữ liệu phục vụ phân tích ở Chương 4.</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65760"/>
            <a:ext cx="123444" cy="123444"/>
          </a:xfrm>
          <a:prstGeom prst="ellipse">
            <a:avLst/>
          </a:prstGeom>
          <a:solidFill>
            <a:srgbClr val="D9A227"/>
          </a:solidFill>
          <a:ln w="12700">
            <a:solidFill>
              <a:srgbClr val="D9A227"/>
            </a:solidFill>
            <a:prstDash val="solid"/>
          </a:ln>
        </p:spPr>
        <p:txBody>
          <a:bodyPr/>
          <a:lstStyle/>
          <a:p>
            <a:endParaRPr lang="en-US"/>
          </a:p>
        </p:txBody>
      </p:sp>
      <p:sp>
        <p:nvSpPr>
          <p:cNvPr id="3" name="Text 1"/>
          <p:cNvSpPr txBox="1"/>
          <p:nvPr/>
        </p:nvSpPr>
        <p:spPr>
          <a:xfrm>
            <a:off x="804672" y="292608"/>
            <a:ext cx="10838383" cy="237744"/>
          </a:xfrm>
          <a:prstGeom prst="rect">
            <a:avLst/>
          </a:prstGeom>
          <a:noFill/>
          <a:ln/>
        </p:spPr>
        <p:txBody>
          <a:bodyPr wrap="square" lIns="0" tIns="0" rIns="0" bIns="0" rtlCol="0" anchor="t"/>
          <a:lstStyle/>
          <a:p>
            <a:pPr marL="0" indent="0">
              <a:buNone/>
            </a:pPr>
            <a:r>
              <a:rPr lang="en-US" sz="1050" b="1" kern="0" spc="120" dirty="0">
                <a:solidFill>
                  <a:srgbClr val="A5741A"/>
                </a:solidFill>
                <a:latin typeface="Calibri" pitchFamily="34" charset="0"/>
                <a:ea typeface="Calibri" pitchFamily="34" charset="-122"/>
                <a:cs typeface="Calibri" pitchFamily="34" charset="-120"/>
              </a:rPr>
              <a:t>CHƯƠNG 2 · PROCESS DISCOVERY</a:t>
            </a:r>
            <a:endParaRPr lang="en-US" sz="1050" dirty="0"/>
          </a:p>
        </p:txBody>
      </p:sp>
      <p:sp>
        <p:nvSpPr>
          <p:cNvPr id="4" name="Text 2"/>
          <p:cNvSpPr txBox="1"/>
          <p:nvPr/>
        </p:nvSpPr>
        <p:spPr>
          <a:xfrm>
            <a:off x="548640" y="566928"/>
            <a:ext cx="11094415" cy="457200"/>
          </a:xfrm>
          <a:prstGeom prst="rect">
            <a:avLst/>
          </a:prstGeom>
          <a:noFill/>
          <a:ln/>
        </p:spPr>
        <p:txBody>
          <a:bodyPr wrap="square" lIns="0" tIns="0" rIns="0" bIns="0" rtlCol="0" anchor="t"/>
          <a:lstStyle/>
          <a:p>
            <a:pPr marL="0" indent="0">
              <a:buNone/>
            </a:pPr>
            <a:r>
              <a:rPr lang="en-US" sz="2500" b="1" dirty="0">
                <a:solidFill>
                  <a:srgbClr val="0B3B75"/>
                </a:solidFill>
                <a:latin typeface="Calibri" pitchFamily="34" charset="0"/>
                <a:ea typeface="Calibri" pitchFamily="34" charset="-122"/>
                <a:cs typeface="Calibri" pitchFamily="34" charset="-120"/>
              </a:rPr>
              <a:t>NGUỒN BẰNG CHỨNG VÀ ĐỐI TƯỢNG PHỎNG VẤN THEO QUY TRÌNH</a:t>
            </a:r>
            <a:endParaRPr lang="en-US" sz="2500" dirty="0"/>
          </a:p>
        </p:txBody>
      </p:sp>
      <p:sp>
        <p:nvSpPr>
          <p:cNvPr id="5" name="Text 3"/>
          <p:cNvSpPr txBox="1"/>
          <p:nvPr/>
        </p:nvSpPr>
        <p:spPr>
          <a:xfrm>
            <a:off x="548640" y="1024128"/>
            <a:ext cx="11094415" cy="274320"/>
          </a:xfrm>
          <a:prstGeom prst="rect">
            <a:avLst/>
          </a:prstGeom>
          <a:noFill/>
          <a:ln/>
        </p:spPr>
        <p:txBody>
          <a:bodyPr wrap="square" lIns="0" tIns="0" rIns="0" bIns="0" rtlCol="0" anchor="t"/>
          <a:lstStyle/>
          <a:p>
            <a:pPr marL="0" indent="0">
              <a:buNone/>
            </a:pPr>
            <a:r>
              <a:rPr lang="en-US" sz="1100" i="1" dirty="0">
                <a:solidFill>
                  <a:srgbClr val="6E7A88"/>
                </a:solidFill>
                <a:latin typeface="Calibri" pitchFamily="34" charset="0"/>
                <a:ea typeface="Calibri" pitchFamily="34" charset="-122"/>
                <a:cs typeface="Calibri" pitchFamily="34" charset="-120"/>
              </a:rPr>
              <a:t>Sáu quy trình được khảo sát theo cùng một khung bốn phần: mô tả quy trình – sơ đồ tổ chức – thuật ngữ, sổ tay – biểu mẫu</a:t>
            </a:r>
            <a:endParaRPr lang="en-US" sz="1100" dirty="0"/>
          </a:p>
        </p:txBody>
      </p:sp>
      <p:sp>
        <p:nvSpPr>
          <p:cNvPr id="6" name="Text 4"/>
          <p:cNvSpPr txBox="1"/>
          <p:nvPr/>
        </p:nvSpPr>
        <p:spPr>
          <a:xfrm>
            <a:off x="548640" y="6419088"/>
            <a:ext cx="8778240" cy="237744"/>
          </a:xfrm>
          <a:prstGeom prst="rect">
            <a:avLst/>
          </a:prstGeom>
          <a:noFill/>
          <a:ln/>
        </p:spPr>
        <p:txBody>
          <a:bodyPr wrap="square" lIns="0" tIns="0" rIns="0" bIns="0" rtlCol="0" anchor="t"/>
          <a:lstStyle/>
          <a:p>
            <a:pPr marL="0" indent="0">
              <a:buNone/>
            </a:pPr>
            <a:r>
              <a:rPr lang="en-US" sz="850" dirty="0">
                <a:solidFill>
                  <a:srgbClr val="6E7A88"/>
                </a:solidFill>
                <a:latin typeface="Calibri" pitchFamily="34" charset="0"/>
                <a:ea typeface="Calibri" pitchFamily="34" charset="-122"/>
                <a:cs typeface="Calibri" pitchFamily="34" charset="-120"/>
              </a:rPr>
              <a:t>HỆ THỐNG QUẢN TRỊ QUY TRÌNH NGHIỆP VỤ  ·  SACOMBANK — QUY TRÌNH PYC</a:t>
            </a:r>
            <a:endParaRPr lang="en-US" sz="850" dirty="0"/>
          </a:p>
        </p:txBody>
      </p:sp>
      <p:sp>
        <p:nvSpPr>
          <p:cNvPr id="7" name="Text 5"/>
          <p:cNvSpPr txBox="1"/>
          <p:nvPr/>
        </p:nvSpPr>
        <p:spPr>
          <a:xfrm>
            <a:off x="11155680" y="6382512"/>
            <a:ext cx="484632" cy="274320"/>
          </a:xfrm>
          <a:prstGeom prst="rect">
            <a:avLst/>
          </a:prstGeom>
          <a:noFill/>
          <a:ln/>
        </p:spPr>
        <p:txBody>
          <a:bodyPr wrap="square" lIns="0" tIns="0" rIns="0" bIns="0" rtlCol="0" anchor="t"/>
          <a:lstStyle/>
          <a:p>
            <a:pPr marL="0" indent="0" algn="r">
              <a:buNone/>
            </a:pPr>
            <a:r>
              <a:rPr lang="en-US" sz="1100" b="1" dirty="0">
                <a:solidFill>
                  <a:srgbClr val="A5741A"/>
                </a:solidFill>
                <a:latin typeface="Calibri" pitchFamily="34" charset="0"/>
                <a:ea typeface="Calibri" pitchFamily="34" charset="-122"/>
                <a:cs typeface="Calibri" pitchFamily="34" charset="-120"/>
              </a:rPr>
              <a:t>14</a:t>
            </a:r>
            <a:endParaRPr lang="en-US" sz="11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481328"/>
          <a:ext cx="11091672" cy="3328416"/>
        </p:xfrm>
        <a:graphic>
          <a:graphicData uri="http://schemas.openxmlformats.org/drawingml/2006/table">
            <a:tbl>
              <a:tblPr/>
              <a:tblGrid>
                <a:gridCol w="2651760">
                  <a:extLst>
                    <a:ext uri="{9D8B030D-6E8A-4147-A177-3AD203B41FA5}">
                      <a16:colId xmlns:a16="http://schemas.microsoft.com/office/drawing/2014/main" val="20000"/>
                    </a:ext>
                  </a:extLst>
                </a:gridCol>
                <a:gridCol w="301752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gridCol w="2679192">
                  <a:extLst>
                    <a:ext uri="{9D8B030D-6E8A-4147-A177-3AD203B41FA5}">
                      <a16:colId xmlns:a16="http://schemas.microsoft.com/office/drawing/2014/main" val="20003"/>
                    </a:ext>
                  </a:extLst>
                </a:gridCol>
              </a:tblGrid>
              <a:tr h="475488">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QUY TRÌNH</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0B3B75"/>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NGUỒN BẰNG CHỨNG CHÍNH</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0B3B75"/>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ĐỐI TƯỢNG PHỎNG VẤN</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0B3B75"/>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NỘI DUNG CẦN XÁC MINH</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0B3B75"/>
                    </a:solidFill>
                  </a:tcPr>
                </a:tc>
                <a:extLst>
                  <a:ext uri="{0D108BD9-81ED-4DB2-BD59-A6C34878D82A}">
                    <a16:rowId xmlns:a16="http://schemas.microsoft.com/office/drawing/2014/main" val="10000"/>
                  </a:ext>
                </a:extLst>
              </a:tr>
              <a:tr h="475488">
                <a:tc>
                  <a:txBody>
                    <a:bodyPr/>
                    <a:lstStyle/>
                    <a:p>
                      <a:pPr marL="0" indent="0">
                        <a:buNone/>
                      </a:pPr>
                      <a:r>
                        <a:rPr lang="en-US" sz="950" dirty="0">
                          <a:solidFill>
                            <a:srgbClr val="2A3442"/>
                          </a:solidFill>
                          <a:latin typeface="Calibri" pitchFamily="34" charset="0"/>
                          <a:ea typeface="Calibri" pitchFamily="34" charset="-122"/>
                          <a:cs typeface="Calibri" pitchFamily="34" charset="-120"/>
                        </a:rPr>
                        <a:t>C01  Quản lý Yêu cầu Dịch vụ (PYC)</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950" dirty="0">
                          <a:solidFill>
                            <a:srgbClr val="2A3442"/>
                          </a:solidFill>
                          <a:latin typeface="Calibri" pitchFamily="34" charset="0"/>
                          <a:ea typeface="Calibri" pitchFamily="34" charset="-122"/>
                          <a:cs typeface="Calibri" pitchFamily="34" charset="-120"/>
                        </a:rPr>
                        <a:t>Mô tả 8 bước, sơ đồ tổ chức 5 vai trò, 12 thuật ngữ, 3 biểu mẫu</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950" dirty="0">
                          <a:solidFill>
                            <a:srgbClr val="2A3442"/>
                          </a:solidFill>
                          <a:latin typeface="Calibri" pitchFamily="34" charset="0"/>
                          <a:ea typeface="Calibri" pitchFamily="34" charset="-122"/>
                          <a:cs typeface="Calibri" pitchFamily="34" charset="-120"/>
                        </a:rPr>
                        <a:t>End-user, Quản lý trực tiếp, Service Desk L1, Chuyên viên L2</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950" dirty="0">
                          <a:solidFill>
                            <a:srgbClr val="2A3442"/>
                          </a:solidFill>
                          <a:latin typeface="Calibri" pitchFamily="34" charset="0"/>
                          <a:ea typeface="Calibri" pitchFamily="34" charset="-122"/>
                          <a:cs typeface="Calibri" pitchFamily="34" charset="-120"/>
                        </a:rPr>
                        <a:t>Khởi tạo phiếu, phân loại rủi ro quyền, phê duyệt, xử lý và đóng phiếu</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extLst>
                  <a:ext uri="{0D108BD9-81ED-4DB2-BD59-A6C34878D82A}">
                    <a16:rowId xmlns:a16="http://schemas.microsoft.com/office/drawing/2014/main" val="10001"/>
                  </a:ext>
                </a:extLst>
              </a:tr>
              <a:tr h="475488">
                <a:tc>
                  <a:txBody>
                    <a:bodyPr/>
                    <a:lstStyle/>
                    <a:p>
                      <a:pPr marL="0" indent="0">
                        <a:buNone/>
                      </a:pPr>
                      <a:r>
                        <a:rPr lang="en-US" sz="950" dirty="0">
                          <a:solidFill>
                            <a:srgbClr val="2A3442"/>
                          </a:solidFill>
                          <a:latin typeface="Calibri" pitchFamily="34" charset="0"/>
                          <a:ea typeface="Calibri" pitchFamily="34" charset="-122"/>
                          <a:cs typeface="Calibri" pitchFamily="34" charset="-120"/>
                        </a:rPr>
                        <a:t>C02  Quản lý Sự cố</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950" dirty="0">
                          <a:solidFill>
                            <a:srgbClr val="2A3442"/>
                          </a:solidFill>
                          <a:latin typeface="Calibri" pitchFamily="34" charset="0"/>
                          <a:ea typeface="Calibri" pitchFamily="34" charset="-122"/>
                          <a:cs typeface="Calibri" pitchFamily="34" charset="-120"/>
                        </a:rPr>
                        <a:t>Mô tả quy trình hiện có, sơ đồ tổ chức, thuật ngữ, biểu mẫu</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950" dirty="0">
                          <a:solidFill>
                            <a:srgbClr val="2A3442"/>
                          </a:solidFill>
                          <a:latin typeface="Calibri" pitchFamily="34" charset="0"/>
                          <a:ea typeface="Calibri" pitchFamily="34" charset="-122"/>
                          <a:cs typeface="Calibri" pitchFamily="34" charset="-120"/>
                        </a:rPr>
                        <a:t>End-user, Service Desk L1, Chuyên viên L2, Major Incident Manager</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950" dirty="0">
                          <a:solidFill>
                            <a:srgbClr val="2A3442"/>
                          </a:solidFill>
                          <a:latin typeface="Calibri" pitchFamily="34" charset="0"/>
                          <a:ea typeface="Calibri" pitchFamily="34" charset="-122"/>
                          <a:cs typeface="Calibri" pitchFamily="34" charset="-120"/>
                        </a:rPr>
                        <a:t>Tiếp nhận, đánh giá priority, escalate và đóng phiếu sự cố</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extLst>
                  <a:ext uri="{0D108BD9-81ED-4DB2-BD59-A6C34878D82A}">
                    <a16:rowId xmlns:a16="http://schemas.microsoft.com/office/drawing/2014/main" val="10002"/>
                  </a:ext>
                </a:extLst>
              </a:tr>
              <a:tr h="475488">
                <a:tc>
                  <a:txBody>
                    <a:bodyPr/>
                    <a:lstStyle/>
                    <a:p>
                      <a:pPr marL="0" indent="0">
                        <a:buNone/>
                      </a:pPr>
                      <a:r>
                        <a:rPr lang="en-US" sz="950" dirty="0">
                          <a:solidFill>
                            <a:srgbClr val="2A3442"/>
                          </a:solidFill>
                          <a:latin typeface="Calibri" pitchFamily="34" charset="0"/>
                          <a:ea typeface="Calibri" pitchFamily="34" charset="-122"/>
                          <a:cs typeface="Calibri" pitchFamily="34" charset="-120"/>
                        </a:rPr>
                        <a:t>M01  Quản lý Mức Dịch vụ (SLA)</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950" dirty="0">
                          <a:solidFill>
                            <a:srgbClr val="2A3442"/>
                          </a:solidFill>
                          <a:latin typeface="Calibri" pitchFamily="34" charset="0"/>
                          <a:ea typeface="Calibri" pitchFamily="34" charset="-122"/>
                          <a:cs typeface="Calibri" pitchFamily="34" charset="-120"/>
                        </a:rPr>
                        <a:t>Mô tả quy trình hiện có, sơ đồ tổ chức, thuật ngữ, biểu mẫu</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950" dirty="0">
                          <a:solidFill>
                            <a:srgbClr val="2A3442"/>
                          </a:solidFill>
                          <a:latin typeface="Calibri" pitchFamily="34" charset="0"/>
                          <a:ea typeface="Calibri" pitchFamily="34" charset="-122"/>
                          <a:cs typeface="Calibri" pitchFamily="34" charset="-120"/>
                        </a:rPr>
                        <a:t>Bộ phận vận hành, Ban Giám đốc Khối</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950" dirty="0">
                          <a:solidFill>
                            <a:srgbClr val="2A3442"/>
                          </a:solidFill>
                          <a:latin typeface="Calibri" pitchFamily="34" charset="0"/>
                          <a:ea typeface="Calibri" pitchFamily="34" charset="-122"/>
                          <a:cs typeface="Calibri" pitchFamily="34" charset="-120"/>
                        </a:rPr>
                        <a:t>Thu thập dữ liệu, tính tỷ lệ đạt/trễ hạn, lập và duyệt báo cáo</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extLst>
                  <a:ext uri="{0D108BD9-81ED-4DB2-BD59-A6C34878D82A}">
                    <a16:rowId xmlns:a16="http://schemas.microsoft.com/office/drawing/2014/main" val="10003"/>
                  </a:ext>
                </a:extLst>
              </a:tr>
              <a:tr h="475488">
                <a:tc>
                  <a:txBody>
                    <a:bodyPr/>
                    <a:lstStyle/>
                    <a:p>
                      <a:pPr marL="0" indent="0">
                        <a:buNone/>
                      </a:pPr>
                      <a:r>
                        <a:rPr lang="en-US" sz="950" dirty="0">
                          <a:solidFill>
                            <a:srgbClr val="2A3442"/>
                          </a:solidFill>
                          <a:latin typeface="Calibri" pitchFamily="34" charset="0"/>
                          <a:ea typeface="Calibri" pitchFamily="34" charset="-122"/>
                          <a:cs typeface="Calibri" pitchFamily="34" charset="-120"/>
                        </a:rPr>
                        <a:t>M02  Quản lý Rủi ro &amp; ATTT</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950" dirty="0">
                          <a:solidFill>
                            <a:srgbClr val="2A3442"/>
                          </a:solidFill>
                          <a:latin typeface="Calibri" pitchFamily="34" charset="0"/>
                          <a:ea typeface="Calibri" pitchFamily="34" charset="-122"/>
                          <a:cs typeface="Calibri" pitchFamily="34" charset="-120"/>
                        </a:rPr>
                        <a:t>Mô tả quy trình hiện có, sơ đồ tổ chức, thuật ngữ, biểu mẫu</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950" dirty="0">
                          <a:solidFill>
                            <a:srgbClr val="2A3442"/>
                          </a:solidFill>
                          <a:latin typeface="Calibri" pitchFamily="34" charset="0"/>
                          <a:ea typeface="Calibri" pitchFamily="34" charset="-122"/>
                          <a:cs typeface="Calibri" pitchFamily="34" charset="-120"/>
                        </a:rPr>
                        <a:t>Service Desk L1, Chuyên viên ATTT, Trưởng TT.ATTT</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950" dirty="0">
                          <a:solidFill>
                            <a:srgbClr val="2A3442"/>
                          </a:solidFill>
                          <a:latin typeface="Calibri" pitchFamily="34" charset="0"/>
                          <a:ea typeface="Calibri" pitchFamily="34" charset="-122"/>
                          <a:cs typeface="Calibri" pitchFamily="34" charset="-120"/>
                        </a:rPr>
                        <a:t>Thu thập log, quét lỗ hổng, đánh giá mức rủi ro và escalate</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extLst>
                  <a:ext uri="{0D108BD9-81ED-4DB2-BD59-A6C34878D82A}">
                    <a16:rowId xmlns:a16="http://schemas.microsoft.com/office/drawing/2014/main" val="10004"/>
                  </a:ext>
                </a:extLst>
              </a:tr>
              <a:tr h="475488">
                <a:tc>
                  <a:txBody>
                    <a:bodyPr/>
                    <a:lstStyle/>
                    <a:p>
                      <a:pPr marL="0" indent="0">
                        <a:buNone/>
                      </a:pPr>
                      <a:r>
                        <a:rPr lang="en-US" sz="950" dirty="0">
                          <a:solidFill>
                            <a:srgbClr val="2A3442"/>
                          </a:solidFill>
                          <a:latin typeface="Calibri" pitchFamily="34" charset="0"/>
                          <a:ea typeface="Calibri" pitchFamily="34" charset="-122"/>
                          <a:cs typeface="Calibri" pitchFamily="34" charset="-120"/>
                        </a:rPr>
                        <a:t>S02  Quản lý Thay đổi</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950" dirty="0">
                          <a:solidFill>
                            <a:srgbClr val="2A3442"/>
                          </a:solidFill>
                          <a:latin typeface="Calibri" pitchFamily="34" charset="0"/>
                          <a:ea typeface="Calibri" pitchFamily="34" charset="-122"/>
                          <a:cs typeface="Calibri" pitchFamily="34" charset="-120"/>
                        </a:rPr>
                        <a:t>Mô tả quy trình hiện có, sơ đồ tổ chức, biểu mẫu</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950" dirty="0">
                          <a:solidFill>
                            <a:srgbClr val="2A3442"/>
                          </a:solidFill>
                          <a:latin typeface="Calibri" pitchFamily="34" charset="0"/>
                          <a:ea typeface="Calibri" pitchFamily="34" charset="-122"/>
                          <a:cs typeface="Calibri" pitchFamily="34" charset="-120"/>
                        </a:rPr>
                        <a:t>Người đề xuất, Change Manager, Quản lý Cấp 1, Ban CAB</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950" dirty="0">
                          <a:solidFill>
                            <a:srgbClr val="2A3442"/>
                          </a:solidFill>
                          <a:latin typeface="Calibri" pitchFamily="34" charset="0"/>
                          <a:ea typeface="Calibri" pitchFamily="34" charset="-122"/>
                          <a:cs typeface="Calibri" pitchFamily="34" charset="-120"/>
                        </a:rPr>
                        <a:t>Phân loại Standard/Normal/Emergency, đánh giá rủi ro, phê duyệt</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extLst>
                  <a:ext uri="{0D108BD9-81ED-4DB2-BD59-A6C34878D82A}">
                    <a16:rowId xmlns:a16="http://schemas.microsoft.com/office/drawing/2014/main" val="10005"/>
                  </a:ext>
                </a:extLst>
              </a:tr>
              <a:tr h="475488">
                <a:tc>
                  <a:txBody>
                    <a:bodyPr/>
                    <a:lstStyle/>
                    <a:p>
                      <a:pPr marL="0" indent="0">
                        <a:buNone/>
                      </a:pPr>
                      <a:r>
                        <a:rPr lang="en-US" sz="950" dirty="0">
                          <a:solidFill>
                            <a:srgbClr val="2A3442"/>
                          </a:solidFill>
                          <a:latin typeface="Calibri" pitchFamily="34" charset="0"/>
                          <a:ea typeface="Calibri" pitchFamily="34" charset="-122"/>
                          <a:cs typeface="Calibri" pitchFamily="34" charset="-120"/>
                        </a:rPr>
                        <a:t>S03  Quản lý Tài sản CNTT</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950" dirty="0">
                          <a:solidFill>
                            <a:srgbClr val="2A3442"/>
                          </a:solidFill>
                          <a:latin typeface="Calibri" pitchFamily="34" charset="0"/>
                          <a:ea typeface="Calibri" pitchFamily="34" charset="-122"/>
                          <a:cs typeface="Calibri" pitchFamily="34" charset="-120"/>
                        </a:rPr>
                        <a:t>Mô tả quy trình hiện có, sơ đồ tổ chức, biểu mẫu</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950" dirty="0">
                          <a:solidFill>
                            <a:srgbClr val="2A3442"/>
                          </a:solidFill>
                          <a:latin typeface="Calibri" pitchFamily="34" charset="0"/>
                          <a:ea typeface="Calibri" pitchFamily="34" charset="-122"/>
                          <a:cs typeface="Calibri" pitchFamily="34" charset="-120"/>
                        </a:rPr>
                        <a:t>Phòng ban đề xuất, Asset Administrator</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950" dirty="0">
                          <a:solidFill>
                            <a:srgbClr val="2A3442"/>
                          </a:solidFill>
                          <a:latin typeface="Calibri" pitchFamily="34" charset="0"/>
                          <a:ea typeface="Calibri" pitchFamily="34" charset="-122"/>
                          <a:cs typeface="Calibri" pitchFamily="34" charset="-120"/>
                        </a:rPr>
                        <a:t>Xác minh yêu cầu, kiểm tra tồn kho, xuất kho và gán tài sản</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65760"/>
            <a:ext cx="123444" cy="123444"/>
          </a:xfrm>
          <a:prstGeom prst="ellipse">
            <a:avLst/>
          </a:prstGeom>
          <a:solidFill>
            <a:srgbClr val="D9A227"/>
          </a:solidFill>
          <a:ln w="12700">
            <a:solidFill>
              <a:srgbClr val="D9A227"/>
            </a:solidFill>
            <a:prstDash val="solid"/>
          </a:ln>
        </p:spPr>
        <p:txBody>
          <a:bodyPr/>
          <a:lstStyle/>
          <a:p>
            <a:endParaRPr lang="en-US"/>
          </a:p>
        </p:txBody>
      </p:sp>
      <p:sp>
        <p:nvSpPr>
          <p:cNvPr id="3" name="Text 1"/>
          <p:cNvSpPr txBox="1"/>
          <p:nvPr/>
        </p:nvSpPr>
        <p:spPr>
          <a:xfrm>
            <a:off x="804672" y="292608"/>
            <a:ext cx="10838383" cy="237744"/>
          </a:xfrm>
          <a:prstGeom prst="rect">
            <a:avLst/>
          </a:prstGeom>
          <a:noFill/>
          <a:ln/>
        </p:spPr>
        <p:txBody>
          <a:bodyPr wrap="square" lIns="0" tIns="0" rIns="0" bIns="0" rtlCol="0" anchor="t"/>
          <a:lstStyle/>
          <a:p>
            <a:pPr marL="0" indent="0">
              <a:buNone/>
            </a:pPr>
            <a:r>
              <a:rPr lang="en-US" sz="1050" b="1" kern="0" spc="120" dirty="0">
                <a:solidFill>
                  <a:srgbClr val="A5741A"/>
                </a:solidFill>
                <a:latin typeface="Calibri" pitchFamily="34" charset="0"/>
                <a:ea typeface="Calibri" pitchFamily="34" charset="-122"/>
                <a:cs typeface="Calibri" pitchFamily="34" charset="-120"/>
              </a:rPr>
              <a:t>CHƯƠNG 2 · BỘ CÂU HỎI PHỎNG VẤN QUY TRÌNH PYC</a:t>
            </a:r>
            <a:endParaRPr lang="en-US" sz="1050" dirty="0"/>
          </a:p>
        </p:txBody>
      </p:sp>
      <p:sp>
        <p:nvSpPr>
          <p:cNvPr id="4" name="Text 2"/>
          <p:cNvSpPr txBox="1"/>
          <p:nvPr/>
        </p:nvSpPr>
        <p:spPr>
          <a:xfrm>
            <a:off x="548640" y="566928"/>
            <a:ext cx="11094415" cy="457200"/>
          </a:xfrm>
          <a:prstGeom prst="rect">
            <a:avLst/>
          </a:prstGeom>
          <a:noFill/>
          <a:ln/>
        </p:spPr>
        <p:txBody>
          <a:bodyPr wrap="square" lIns="0" tIns="0" rIns="0" bIns="0" rtlCol="0" anchor="t"/>
          <a:lstStyle/>
          <a:p>
            <a:pPr marL="0" indent="0">
              <a:buNone/>
            </a:pPr>
            <a:r>
              <a:rPr lang="en-US" sz="2500" b="1" dirty="0">
                <a:solidFill>
                  <a:srgbClr val="0B3B75"/>
                </a:solidFill>
                <a:latin typeface="Calibri" pitchFamily="34" charset="0"/>
                <a:ea typeface="Calibri" pitchFamily="34" charset="-122"/>
                <a:cs typeface="Calibri" pitchFamily="34" charset="-120"/>
              </a:rPr>
              <a:t>BỘ 20 CÂU HỎI PHỎNG VẤN</a:t>
            </a:r>
            <a:endParaRPr lang="en-US" sz="2500" dirty="0"/>
          </a:p>
        </p:txBody>
      </p:sp>
      <p:sp>
        <p:nvSpPr>
          <p:cNvPr id="5" name="Text 3"/>
          <p:cNvSpPr txBox="1"/>
          <p:nvPr/>
        </p:nvSpPr>
        <p:spPr>
          <a:xfrm>
            <a:off x="548640" y="1024128"/>
            <a:ext cx="11094415" cy="274320"/>
          </a:xfrm>
          <a:prstGeom prst="rect">
            <a:avLst/>
          </a:prstGeom>
          <a:noFill/>
          <a:ln/>
        </p:spPr>
        <p:txBody>
          <a:bodyPr wrap="square" lIns="0" tIns="0" rIns="0" bIns="0" rtlCol="0" anchor="t"/>
          <a:lstStyle/>
          <a:p>
            <a:pPr marL="0" indent="0">
              <a:buNone/>
            </a:pPr>
            <a:r>
              <a:rPr lang="en-US" sz="1100" i="1" dirty="0">
                <a:solidFill>
                  <a:srgbClr val="6E7A88"/>
                </a:solidFill>
                <a:latin typeface="Calibri" pitchFamily="34" charset="0"/>
                <a:ea typeface="Calibri" pitchFamily="34" charset="-122"/>
                <a:cs typeface="Calibri" pitchFamily="34" charset="-120"/>
              </a:rPr>
              <a:t>Chương 2 · Bảng 2.1 — nhóm câu hỏi định tính có cấu trúc</a:t>
            </a:r>
            <a:endParaRPr lang="en-US" sz="1100" dirty="0"/>
          </a:p>
        </p:txBody>
      </p:sp>
      <p:sp>
        <p:nvSpPr>
          <p:cNvPr id="6" name="Text 4"/>
          <p:cNvSpPr txBox="1"/>
          <p:nvPr/>
        </p:nvSpPr>
        <p:spPr>
          <a:xfrm>
            <a:off x="548640" y="6419088"/>
            <a:ext cx="8778240" cy="237744"/>
          </a:xfrm>
          <a:prstGeom prst="rect">
            <a:avLst/>
          </a:prstGeom>
          <a:noFill/>
          <a:ln/>
        </p:spPr>
        <p:txBody>
          <a:bodyPr wrap="square" lIns="0" tIns="0" rIns="0" bIns="0" rtlCol="0" anchor="t"/>
          <a:lstStyle/>
          <a:p>
            <a:pPr marL="0" indent="0">
              <a:buNone/>
            </a:pPr>
            <a:r>
              <a:rPr lang="en-US" sz="850" dirty="0">
                <a:solidFill>
                  <a:srgbClr val="6E7A88"/>
                </a:solidFill>
                <a:latin typeface="Calibri" pitchFamily="34" charset="0"/>
                <a:ea typeface="Calibri" pitchFamily="34" charset="-122"/>
                <a:cs typeface="Calibri" pitchFamily="34" charset="-120"/>
              </a:rPr>
              <a:t>HỆ THỐNG QUẢN TRỊ QUY TRÌNH NGHIỆP VỤ  ·  SACOMBANK — QUY TRÌNH PYC</a:t>
            </a:r>
            <a:endParaRPr lang="en-US" sz="850" dirty="0"/>
          </a:p>
        </p:txBody>
      </p:sp>
      <p:sp>
        <p:nvSpPr>
          <p:cNvPr id="7" name="Text 5"/>
          <p:cNvSpPr txBox="1"/>
          <p:nvPr/>
        </p:nvSpPr>
        <p:spPr>
          <a:xfrm>
            <a:off x="11155680" y="6382512"/>
            <a:ext cx="484632" cy="274320"/>
          </a:xfrm>
          <a:prstGeom prst="rect">
            <a:avLst/>
          </a:prstGeom>
          <a:noFill/>
          <a:ln/>
        </p:spPr>
        <p:txBody>
          <a:bodyPr wrap="square" lIns="0" tIns="0" rIns="0" bIns="0" rtlCol="0" anchor="t"/>
          <a:lstStyle/>
          <a:p>
            <a:pPr marL="0" indent="0" algn="r">
              <a:buNone/>
            </a:pPr>
            <a:r>
              <a:rPr lang="en-US" sz="1100" b="1" dirty="0">
                <a:solidFill>
                  <a:srgbClr val="A5741A"/>
                </a:solidFill>
                <a:latin typeface="Calibri" pitchFamily="34" charset="0"/>
                <a:ea typeface="Calibri" pitchFamily="34" charset="-122"/>
                <a:cs typeface="Calibri" pitchFamily="34" charset="-120"/>
              </a:rPr>
              <a:t>15</a:t>
            </a:r>
            <a:endParaRPr lang="en-US" sz="1100" dirty="0"/>
          </a:p>
        </p:txBody>
      </p:sp>
      <p:sp>
        <p:nvSpPr>
          <p:cNvPr id="8" name="Text 6"/>
          <p:cNvSpPr txBox="1"/>
          <p:nvPr/>
        </p:nvSpPr>
        <p:spPr>
          <a:xfrm>
            <a:off x="548640" y="1371600"/>
            <a:ext cx="11094415" cy="292608"/>
          </a:xfrm>
          <a:prstGeom prst="rect">
            <a:avLst/>
          </a:prstGeom>
          <a:noFill/>
          <a:ln/>
        </p:spPr>
        <p:txBody>
          <a:bodyPr wrap="square" lIns="0" tIns="0" rIns="0" bIns="0" rtlCol="0" anchor="t"/>
          <a:lstStyle/>
          <a:p>
            <a:pPr marL="0" indent="0">
              <a:buNone/>
            </a:pPr>
            <a:r>
              <a:rPr lang="en-US" sz="1500" b="1" dirty="0">
                <a:solidFill>
                  <a:srgbClr val="1660BF"/>
                </a:solidFill>
                <a:latin typeface="Calibri" pitchFamily="34" charset="0"/>
                <a:ea typeface="Calibri" pitchFamily="34" charset="-122"/>
                <a:cs typeface="Calibri" pitchFamily="34" charset="-120"/>
              </a:rPr>
              <a:t>5 CÂU ĐỊNH TÍNH — CÓ CẤU TRÚC</a:t>
            </a:r>
            <a:endParaRPr lang="en-US" sz="15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1773936"/>
          <a:ext cx="11091672" cy="3401568"/>
        </p:xfrm>
        <a:graphic>
          <a:graphicData uri="http://schemas.openxmlformats.org/drawingml/2006/table">
            <a:tbl>
              <a:tblPr/>
              <a:tblGrid>
                <a:gridCol w="594360">
                  <a:extLst>
                    <a:ext uri="{9D8B030D-6E8A-4147-A177-3AD203B41FA5}">
                      <a16:colId xmlns:a16="http://schemas.microsoft.com/office/drawing/2014/main" val="20000"/>
                    </a:ext>
                  </a:extLst>
                </a:gridCol>
                <a:gridCol w="8138160">
                  <a:extLst>
                    <a:ext uri="{9D8B030D-6E8A-4147-A177-3AD203B41FA5}">
                      <a16:colId xmlns:a16="http://schemas.microsoft.com/office/drawing/2014/main" val="20001"/>
                    </a:ext>
                  </a:extLst>
                </a:gridCol>
                <a:gridCol w="2359152">
                  <a:extLst>
                    <a:ext uri="{9D8B030D-6E8A-4147-A177-3AD203B41FA5}">
                      <a16:colId xmlns:a16="http://schemas.microsoft.com/office/drawing/2014/main" val="20002"/>
                    </a:ext>
                  </a:extLst>
                </a:gridCol>
              </a:tblGrid>
              <a:tr h="566928">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STT</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0B3B75"/>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CÂU HỎI</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0B3B75"/>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ĐỐI TƯỢNG PHỎNG VẤN</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0B3B75"/>
                    </a:solidFill>
                  </a:tcPr>
                </a:tc>
                <a:extLst>
                  <a:ext uri="{0D108BD9-81ED-4DB2-BD59-A6C34878D82A}">
                    <a16:rowId xmlns:a16="http://schemas.microsoft.com/office/drawing/2014/main" val="10000"/>
                  </a:ext>
                </a:extLst>
              </a:tr>
              <a:tr h="566928">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Anh/chị đánh giá mức độ rõ ràng của danh mục dịch vụ CNTT hiện tại trên Cổng dịch vụ như thế nào? Có dễ tìm đúng loại yêu cầu cần tạo không?</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End-user</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extLst>
                  <a:ext uri="{0D108BD9-81ED-4DB2-BD59-A6C34878D82A}">
                    <a16:rowId xmlns:a16="http://schemas.microsoft.com/office/drawing/2014/main" val="10001"/>
                  </a:ext>
                </a:extLst>
              </a:tr>
              <a:tr h="566928">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2</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Quy trình phê duyệt PYC hiện tại có những điểm nào anh/chị thấy hiệu quả? Những điểm nào chưa hiệu quả?</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Quản lý trực tiếp</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extLst>
                  <a:ext uri="{0D108BD9-81ED-4DB2-BD59-A6C34878D82A}">
                    <a16:rowId xmlns:a16="http://schemas.microsoft.com/office/drawing/2014/main" val="10002"/>
                  </a:ext>
                </a:extLst>
              </a:tr>
              <a:tr h="566928">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3</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Anh/chị gặp khó khăn gì khi tiếp nhận và phân loại PYC từ người dùng? Thông tin nào thường bị thiếu?</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Service Desk L1</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extLst>
                  <a:ext uri="{0D108BD9-81ED-4DB2-BD59-A6C34878D82A}">
                    <a16:rowId xmlns:a16="http://schemas.microsoft.com/office/drawing/2014/main" val="10003"/>
                  </a:ext>
                </a:extLst>
              </a:tr>
              <a:tr h="566928">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4</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Theo anh/chị, nguyên nhân chính nào khiến PYC bị trả về yêu cầu bổ sung thông tin?</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Service Desk L1</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extLst>
                  <a:ext uri="{0D108BD9-81ED-4DB2-BD59-A6C34878D82A}">
                    <a16:rowId xmlns:a16="http://schemas.microsoft.com/office/drawing/2014/main" val="10004"/>
                  </a:ext>
                </a:extLst>
              </a:tr>
              <a:tr h="566928">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5</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Anh/chị đánh giá mức độ phù hợp của hệ thống ITSM hiện tại trong việc theo dõi trạng thái PYC ra sao?</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Chuyên viên L2</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65760"/>
            <a:ext cx="123444" cy="123444"/>
          </a:xfrm>
          <a:prstGeom prst="ellipse">
            <a:avLst/>
          </a:prstGeom>
          <a:solidFill>
            <a:srgbClr val="D9A227"/>
          </a:solidFill>
          <a:ln w="12700">
            <a:solidFill>
              <a:srgbClr val="D9A227"/>
            </a:solidFill>
            <a:prstDash val="solid"/>
          </a:ln>
        </p:spPr>
        <p:txBody>
          <a:bodyPr/>
          <a:lstStyle/>
          <a:p>
            <a:endParaRPr lang="en-US"/>
          </a:p>
        </p:txBody>
      </p:sp>
      <p:sp>
        <p:nvSpPr>
          <p:cNvPr id="3" name="Text 1"/>
          <p:cNvSpPr txBox="1"/>
          <p:nvPr/>
        </p:nvSpPr>
        <p:spPr>
          <a:xfrm>
            <a:off x="804672" y="292608"/>
            <a:ext cx="10838383" cy="237744"/>
          </a:xfrm>
          <a:prstGeom prst="rect">
            <a:avLst/>
          </a:prstGeom>
          <a:noFill/>
          <a:ln/>
        </p:spPr>
        <p:txBody>
          <a:bodyPr wrap="square" lIns="0" tIns="0" rIns="0" bIns="0" rtlCol="0" anchor="t"/>
          <a:lstStyle/>
          <a:p>
            <a:pPr marL="0" indent="0">
              <a:buNone/>
            </a:pPr>
            <a:r>
              <a:rPr lang="en-US" sz="1050" b="1" kern="0" spc="120" dirty="0">
                <a:solidFill>
                  <a:srgbClr val="A5741A"/>
                </a:solidFill>
                <a:latin typeface="Calibri" pitchFamily="34" charset="0"/>
                <a:ea typeface="Calibri" pitchFamily="34" charset="-122"/>
                <a:cs typeface="Calibri" pitchFamily="34" charset="-120"/>
              </a:rPr>
              <a:t>CHƯƠNG 2 · BỘ CÂU HỎI PHỎNG VẤN QUY TRÌNH PYC</a:t>
            </a:r>
            <a:endParaRPr lang="en-US" sz="1050" dirty="0"/>
          </a:p>
        </p:txBody>
      </p:sp>
      <p:sp>
        <p:nvSpPr>
          <p:cNvPr id="4" name="Text 2"/>
          <p:cNvSpPr txBox="1"/>
          <p:nvPr/>
        </p:nvSpPr>
        <p:spPr>
          <a:xfrm>
            <a:off x="548640" y="566928"/>
            <a:ext cx="11094415" cy="457200"/>
          </a:xfrm>
          <a:prstGeom prst="rect">
            <a:avLst/>
          </a:prstGeom>
          <a:noFill/>
          <a:ln/>
        </p:spPr>
        <p:txBody>
          <a:bodyPr wrap="square" lIns="0" tIns="0" rIns="0" bIns="0" rtlCol="0" anchor="t"/>
          <a:lstStyle/>
          <a:p>
            <a:pPr marL="0" indent="0">
              <a:buNone/>
            </a:pPr>
            <a:r>
              <a:rPr lang="en-US" sz="2500" b="1" dirty="0">
                <a:solidFill>
                  <a:srgbClr val="0B3B75"/>
                </a:solidFill>
                <a:latin typeface="Calibri" pitchFamily="34" charset="0"/>
                <a:ea typeface="Calibri" pitchFamily="34" charset="-122"/>
                <a:cs typeface="Calibri" pitchFamily="34" charset="-120"/>
              </a:rPr>
              <a:t>BỘ 20 CÂU HỎI PHỎNG VẤN</a:t>
            </a:r>
            <a:endParaRPr lang="en-US" sz="2500" dirty="0"/>
          </a:p>
        </p:txBody>
      </p:sp>
      <p:sp>
        <p:nvSpPr>
          <p:cNvPr id="5" name="Text 3"/>
          <p:cNvSpPr txBox="1"/>
          <p:nvPr/>
        </p:nvSpPr>
        <p:spPr>
          <a:xfrm>
            <a:off x="548640" y="1024128"/>
            <a:ext cx="11094415" cy="274320"/>
          </a:xfrm>
          <a:prstGeom prst="rect">
            <a:avLst/>
          </a:prstGeom>
          <a:noFill/>
          <a:ln/>
        </p:spPr>
        <p:txBody>
          <a:bodyPr wrap="square" lIns="0" tIns="0" rIns="0" bIns="0" rtlCol="0" anchor="t"/>
          <a:lstStyle/>
          <a:p>
            <a:pPr marL="0" indent="0">
              <a:buNone/>
            </a:pPr>
            <a:r>
              <a:rPr lang="en-US" sz="1100" i="1" dirty="0">
                <a:solidFill>
                  <a:srgbClr val="6E7A88"/>
                </a:solidFill>
                <a:latin typeface="Calibri" pitchFamily="34" charset="0"/>
                <a:ea typeface="Calibri" pitchFamily="34" charset="-122"/>
                <a:cs typeface="Calibri" pitchFamily="34" charset="-120"/>
              </a:rPr>
              <a:t>Chương 2 · Bảng 2.1 — nhóm câu hỏi định tính không cấu trúc</a:t>
            </a:r>
            <a:endParaRPr lang="en-US" sz="1100" dirty="0"/>
          </a:p>
        </p:txBody>
      </p:sp>
      <p:sp>
        <p:nvSpPr>
          <p:cNvPr id="6" name="Text 4"/>
          <p:cNvSpPr txBox="1"/>
          <p:nvPr/>
        </p:nvSpPr>
        <p:spPr>
          <a:xfrm>
            <a:off x="548640" y="6419088"/>
            <a:ext cx="8778240" cy="237744"/>
          </a:xfrm>
          <a:prstGeom prst="rect">
            <a:avLst/>
          </a:prstGeom>
          <a:noFill/>
          <a:ln/>
        </p:spPr>
        <p:txBody>
          <a:bodyPr wrap="square" lIns="0" tIns="0" rIns="0" bIns="0" rtlCol="0" anchor="t"/>
          <a:lstStyle/>
          <a:p>
            <a:pPr marL="0" indent="0">
              <a:buNone/>
            </a:pPr>
            <a:r>
              <a:rPr lang="en-US" sz="850" dirty="0">
                <a:solidFill>
                  <a:srgbClr val="6E7A88"/>
                </a:solidFill>
                <a:latin typeface="Calibri" pitchFamily="34" charset="0"/>
                <a:ea typeface="Calibri" pitchFamily="34" charset="-122"/>
                <a:cs typeface="Calibri" pitchFamily="34" charset="-120"/>
              </a:rPr>
              <a:t>HỆ THỐNG QUẢN TRỊ QUY TRÌNH NGHIỆP VỤ  ·  SACOMBANK — QUY TRÌNH PYC</a:t>
            </a:r>
            <a:endParaRPr lang="en-US" sz="850" dirty="0"/>
          </a:p>
        </p:txBody>
      </p:sp>
      <p:sp>
        <p:nvSpPr>
          <p:cNvPr id="7" name="Text 5"/>
          <p:cNvSpPr txBox="1"/>
          <p:nvPr/>
        </p:nvSpPr>
        <p:spPr>
          <a:xfrm>
            <a:off x="11155680" y="6382512"/>
            <a:ext cx="484632" cy="274320"/>
          </a:xfrm>
          <a:prstGeom prst="rect">
            <a:avLst/>
          </a:prstGeom>
          <a:noFill/>
          <a:ln/>
        </p:spPr>
        <p:txBody>
          <a:bodyPr wrap="square" lIns="0" tIns="0" rIns="0" bIns="0" rtlCol="0" anchor="t"/>
          <a:lstStyle/>
          <a:p>
            <a:pPr marL="0" indent="0" algn="r">
              <a:buNone/>
            </a:pPr>
            <a:r>
              <a:rPr lang="en-US" sz="1100" b="1" dirty="0">
                <a:solidFill>
                  <a:srgbClr val="A5741A"/>
                </a:solidFill>
                <a:latin typeface="Calibri" pitchFamily="34" charset="0"/>
                <a:ea typeface="Calibri" pitchFamily="34" charset="-122"/>
                <a:cs typeface="Calibri" pitchFamily="34" charset="-120"/>
              </a:rPr>
              <a:t>16</a:t>
            </a:r>
            <a:endParaRPr lang="en-US" sz="1100" dirty="0"/>
          </a:p>
        </p:txBody>
      </p:sp>
      <p:sp>
        <p:nvSpPr>
          <p:cNvPr id="8" name="Text 6"/>
          <p:cNvSpPr txBox="1"/>
          <p:nvPr/>
        </p:nvSpPr>
        <p:spPr>
          <a:xfrm>
            <a:off x="548640" y="1371600"/>
            <a:ext cx="11094415" cy="292608"/>
          </a:xfrm>
          <a:prstGeom prst="rect">
            <a:avLst/>
          </a:prstGeom>
          <a:noFill/>
          <a:ln/>
        </p:spPr>
        <p:txBody>
          <a:bodyPr wrap="square" lIns="0" tIns="0" rIns="0" bIns="0" rtlCol="0" anchor="t"/>
          <a:lstStyle/>
          <a:p>
            <a:pPr marL="0" indent="0">
              <a:buNone/>
            </a:pPr>
            <a:r>
              <a:rPr lang="en-US" sz="1500" b="1" dirty="0">
                <a:solidFill>
                  <a:srgbClr val="1660BF"/>
                </a:solidFill>
                <a:latin typeface="Calibri" pitchFamily="34" charset="0"/>
                <a:ea typeface="Calibri" pitchFamily="34" charset="-122"/>
                <a:cs typeface="Calibri" pitchFamily="34" charset="-120"/>
              </a:rPr>
              <a:t>5 CÂU ĐỊNH TÍNH — KHÔNG CẤU TRÚC</a:t>
            </a:r>
            <a:endParaRPr lang="en-US" sz="15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773936"/>
          <a:ext cx="11091672" cy="3401568"/>
        </p:xfrm>
        <a:graphic>
          <a:graphicData uri="http://schemas.openxmlformats.org/drawingml/2006/table">
            <a:tbl>
              <a:tblPr/>
              <a:tblGrid>
                <a:gridCol w="594360">
                  <a:extLst>
                    <a:ext uri="{9D8B030D-6E8A-4147-A177-3AD203B41FA5}">
                      <a16:colId xmlns:a16="http://schemas.microsoft.com/office/drawing/2014/main" val="20000"/>
                    </a:ext>
                  </a:extLst>
                </a:gridCol>
                <a:gridCol w="8138160">
                  <a:extLst>
                    <a:ext uri="{9D8B030D-6E8A-4147-A177-3AD203B41FA5}">
                      <a16:colId xmlns:a16="http://schemas.microsoft.com/office/drawing/2014/main" val="20001"/>
                    </a:ext>
                  </a:extLst>
                </a:gridCol>
                <a:gridCol w="2359152">
                  <a:extLst>
                    <a:ext uri="{9D8B030D-6E8A-4147-A177-3AD203B41FA5}">
                      <a16:colId xmlns:a16="http://schemas.microsoft.com/office/drawing/2014/main" val="20002"/>
                    </a:ext>
                  </a:extLst>
                </a:gridCol>
              </a:tblGrid>
              <a:tr h="566928">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STT</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0B3B75"/>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CÂU HỎI</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0B3B75"/>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ĐỐI TƯỢNG PHỎNG VẤN</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0B3B75"/>
                    </a:solidFill>
                  </a:tcPr>
                </a:tc>
                <a:extLst>
                  <a:ext uri="{0D108BD9-81ED-4DB2-BD59-A6C34878D82A}">
                    <a16:rowId xmlns:a16="http://schemas.microsoft.com/office/drawing/2014/main" val="10000"/>
                  </a:ext>
                </a:extLst>
              </a:tr>
              <a:tr h="566928">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6</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Anh/chị có đề xuất gì để cải thiện trải nghiệm tạo PYC trên Cổng dịch vụ?</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End-user</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extLst>
                  <a:ext uri="{0D108BD9-81ED-4DB2-BD59-A6C34878D82A}">
                    <a16:rowId xmlns:a16="http://schemas.microsoft.com/office/drawing/2014/main" val="10001"/>
                  </a:ext>
                </a:extLst>
              </a:tr>
              <a:tr h="566928">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7</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Nếu được thay đổi một điều duy nhất trong quy trình PYC, anh/chị sẽ thay đổi gì và tại sao?</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Quản lý trực tiếp</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extLst>
                  <a:ext uri="{0D108BD9-81ED-4DB2-BD59-A6C34878D82A}">
                    <a16:rowId xmlns:a16="http://schemas.microsoft.com/office/drawing/2014/main" val="10002"/>
                  </a:ext>
                </a:extLst>
              </a:tr>
              <a:tr h="566928">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8</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Anh/chị cảm thấy thế nào về khối lượng PYC phải xử lý hằng ngày? Có quá tải không?</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Service Desk L1</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extLst>
                  <a:ext uri="{0D108BD9-81ED-4DB2-BD59-A6C34878D82A}">
                    <a16:rowId xmlns:a16="http://schemas.microsoft.com/office/drawing/2014/main" val="10003"/>
                  </a:ext>
                </a:extLst>
              </a:tr>
              <a:tr h="566928">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9</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Theo anh/chị, loại PYC nào nên được tự động phê duyệt mà không cần qua Quản lý? Vì sao?</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Chuyên viên L2</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extLst>
                  <a:ext uri="{0D108BD9-81ED-4DB2-BD59-A6C34878D82A}">
                    <a16:rowId xmlns:a16="http://schemas.microsoft.com/office/drawing/2014/main" val="10004"/>
                  </a:ext>
                </a:extLst>
              </a:tr>
              <a:tr h="566928">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10</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Anh/chị có gặp tình huống nào PYC bị “kẹt” lâu bất thường không? Hãy kể lại chi tiết.</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Service Desk L1</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65760"/>
            <a:ext cx="123444" cy="123444"/>
          </a:xfrm>
          <a:prstGeom prst="ellipse">
            <a:avLst/>
          </a:prstGeom>
          <a:solidFill>
            <a:srgbClr val="D9A227"/>
          </a:solidFill>
          <a:ln w="12700">
            <a:solidFill>
              <a:srgbClr val="D9A227"/>
            </a:solidFill>
            <a:prstDash val="solid"/>
          </a:ln>
        </p:spPr>
        <p:txBody>
          <a:bodyPr/>
          <a:lstStyle/>
          <a:p>
            <a:endParaRPr lang="en-US"/>
          </a:p>
        </p:txBody>
      </p:sp>
      <p:sp>
        <p:nvSpPr>
          <p:cNvPr id="3" name="Text 1"/>
          <p:cNvSpPr txBox="1"/>
          <p:nvPr/>
        </p:nvSpPr>
        <p:spPr>
          <a:xfrm>
            <a:off x="804672" y="292608"/>
            <a:ext cx="10838383" cy="237744"/>
          </a:xfrm>
          <a:prstGeom prst="rect">
            <a:avLst/>
          </a:prstGeom>
          <a:noFill/>
          <a:ln/>
        </p:spPr>
        <p:txBody>
          <a:bodyPr wrap="square" lIns="0" tIns="0" rIns="0" bIns="0" rtlCol="0" anchor="t"/>
          <a:lstStyle/>
          <a:p>
            <a:pPr marL="0" indent="0">
              <a:buNone/>
            </a:pPr>
            <a:r>
              <a:rPr lang="en-US" sz="1050" b="1" kern="0" spc="120" dirty="0">
                <a:solidFill>
                  <a:srgbClr val="A5741A"/>
                </a:solidFill>
                <a:latin typeface="Calibri" pitchFamily="34" charset="0"/>
                <a:ea typeface="Calibri" pitchFamily="34" charset="-122"/>
                <a:cs typeface="Calibri" pitchFamily="34" charset="-120"/>
              </a:rPr>
              <a:t>CHƯƠNG 2 · BỘ CÂU HỎI PHỎNG VẤN QUY TRÌNH PYC</a:t>
            </a:r>
            <a:endParaRPr lang="en-US" sz="1050" dirty="0"/>
          </a:p>
        </p:txBody>
      </p:sp>
      <p:sp>
        <p:nvSpPr>
          <p:cNvPr id="4" name="Text 2"/>
          <p:cNvSpPr txBox="1"/>
          <p:nvPr/>
        </p:nvSpPr>
        <p:spPr>
          <a:xfrm>
            <a:off x="548640" y="566928"/>
            <a:ext cx="11094415" cy="457200"/>
          </a:xfrm>
          <a:prstGeom prst="rect">
            <a:avLst/>
          </a:prstGeom>
          <a:noFill/>
          <a:ln/>
        </p:spPr>
        <p:txBody>
          <a:bodyPr wrap="square" lIns="0" tIns="0" rIns="0" bIns="0" rtlCol="0" anchor="t"/>
          <a:lstStyle/>
          <a:p>
            <a:pPr marL="0" indent="0">
              <a:buNone/>
            </a:pPr>
            <a:r>
              <a:rPr lang="en-US" sz="2500" b="1" dirty="0">
                <a:solidFill>
                  <a:srgbClr val="0B3B75"/>
                </a:solidFill>
                <a:latin typeface="Calibri" pitchFamily="34" charset="0"/>
                <a:ea typeface="Calibri" pitchFamily="34" charset="-122"/>
                <a:cs typeface="Calibri" pitchFamily="34" charset="-120"/>
              </a:rPr>
              <a:t>BỘ 20 CÂU HỎI PHỎNG VẤN</a:t>
            </a:r>
            <a:endParaRPr lang="en-US" sz="2500" dirty="0"/>
          </a:p>
        </p:txBody>
      </p:sp>
      <p:sp>
        <p:nvSpPr>
          <p:cNvPr id="5" name="Text 3"/>
          <p:cNvSpPr txBox="1"/>
          <p:nvPr/>
        </p:nvSpPr>
        <p:spPr>
          <a:xfrm>
            <a:off x="548640" y="1024128"/>
            <a:ext cx="11094415" cy="274320"/>
          </a:xfrm>
          <a:prstGeom prst="rect">
            <a:avLst/>
          </a:prstGeom>
          <a:noFill/>
          <a:ln/>
        </p:spPr>
        <p:txBody>
          <a:bodyPr wrap="square" lIns="0" tIns="0" rIns="0" bIns="0" rtlCol="0" anchor="t"/>
          <a:lstStyle/>
          <a:p>
            <a:pPr marL="0" indent="0">
              <a:buNone/>
            </a:pPr>
            <a:r>
              <a:rPr lang="en-US" sz="1100" i="1" dirty="0">
                <a:solidFill>
                  <a:srgbClr val="6E7A88"/>
                </a:solidFill>
                <a:latin typeface="Calibri" pitchFamily="34" charset="0"/>
                <a:ea typeface="Calibri" pitchFamily="34" charset="-122"/>
                <a:cs typeface="Calibri" pitchFamily="34" charset="-120"/>
              </a:rPr>
              <a:t>Chương 2 · Bảng 2.1 — nhóm câu hỏi định lượng có cấu trúc</a:t>
            </a:r>
            <a:endParaRPr lang="en-US" sz="1100" dirty="0"/>
          </a:p>
        </p:txBody>
      </p:sp>
      <p:sp>
        <p:nvSpPr>
          <p:cNvPr id="6" name="Text 4"/>
          <p:cNvSpPr txBox="1"/>
          <p:nvPr/>
        </p:nvSpPr>
        <p:spPr>
          <a:xfrm>
            <a:off x="548640" y="6419088"/>
            <a:ext cx="8778240" cy="237744"/>
          </a:xfrm>
          <a:prstGeom prst="rect">
            <a:avLst/>
          </a:prstGeom>
          <a:noFill/>
          <a:ln/>
        </p:spPr>
        <p:txBody>
          <a:bodyPr wrap="square" lIns="0" tIns="0" rIns="0" bIns="0" rtlCol="0" anchor="t"/>
          <a:lstStyle/>
          <a:p>
            <a:pPr marL="0" indent="0">
              <a:buNone/>
            </a:pPr>
            <a:r>
              <a:rPr lang="en-US" sz="850" dirty="0">
                <a:solidFill>
                  <a:srgbClr val="6E7A88"/>
                </a:solidFill>
                <a:latin typeface="Calibri" pitchFamily="34" charset="0"/>
                <a:ea typeface="Calibri" pitchFamily="34" charset="-122"/>
                <a:cs typeface="Calibri" pitchFamily="34" charset="-120"/>
              </a:rPr>
              <a:t>HỆ THỐNG QUẢN TRỊ QUY TRÌNH NGHIỆP VỤ  ·  SACOMBANK — QUY TRÌNH PYC</a:t>
            </a:r>
            <a:endParaRPr lang="en-US" sz="850" dirty="0"/>
          </a:p>
        </p:txBody>
      </p:sp>
      <p:sp>
        <p:nvSpPr>
          <p:cNvPr id="7" name="Text 5"/>
          <p:cNvSpPr txBox="1"/>
          <p:nvPr/>
        </p:nvSpPr>
        <p:spPr>
          <a:xfrm>
            <a:off x="11155680" y="6382512"/>
            <a:ext cx="484632" cy="274320"/>
          </a:xfrm>
          <a:prstGeom prst="rect">
            <a:avLst/>
          </a:prstGeom>
          <a:noFill/>
          <a:ln/>
        </p:spPr>
        <p:txBody>
          <a:bodyPr wrap="square" lIns="0" tIns="0" rIns="0" bIns="0" rtlCol="0" anchor="t"/>
          <a:lstStyle/>
          <a:p>
            <a:pPr marL="0" indent="0" algn="r">
              <a:buNone/>
            </a:pPr>
            <a:r>
              <a:rPr lang="en-US" sz="1100" b="1" dirty="0">
                <a:solidFill>
                  <a:srgbClr val="A5741A"/>
                </a:solidFill>
                <a:latin typeface="Calibri" pitchFamily="34" charset="0"/>
                <a:ea typeface="Calibri" pitchFamily="34" charset="-122"/>
                <a:cs typeface="Calibri" pitchFamily="34" charset="-120"/>
              </a:rPr>
              <a:t>17</a:t>
            </a:r>
            <a:endParaRPr lang="en-US" sz="1100" dirty="0"/>
          </a:p>
        </p:txBody>
      </p:sp>
      <p:sp>
        <p:nvSpPr>
          <p:cNvPr id="8" name="Text 6"/>
          <p:cNvSpPr txBox="1"/>
          <p:nvPr/>
        </p:nvSpPr>
        <p:spPr>
          <a:xfrm>
            <a:off x="548640" y="1371600"/>
            <a:ext cx="11094415" cy="292608"/>
          </a:xfrm>
          <a:prstGeom prst="rect">
            <a:avLst/>
          </a:prstGeom>
          <a:noFill/>
          <a:ln/>
        </p:spPr>
        <p:txBody>
          <a:bodyPr wrap="square" lIns="0" tIns="0" rIns="0" bIns="0" rtlCol="0" anchor="t"/>
          <a:lstStyle/>
          <a:p>
            <a:pPr marL="0" indent="0">
              <a:buNone/>
            </a:pPr>
            <a:r>
              <a:rPr lang="en-US" sz="1500" b="1" dirty="0">
                <a:solidFill>
                  <a:srgbClr val="1660BF"/>
                </a:solidFill>
                <a:latin typeface="Calibri" pitchFamily="34" charset="0"/>
                <a:ea typeface="Calibri" pitchFamily="34" charset="-122"/>
                <a:cs typeface="Calibri" pitchFamily="34" charset="-120"/>
              </a:rPr>
              <a:t>5 CÂU ĐỊNH LƯỢNG — CÓ CẤU TRÚC</a:t>
            </a:r>
            <a:endParaRPr lang="en-US" sz="15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773936"/>
          <a:ext cx="11091672" cy="3401568"/>
        </p:xfrm>
        <a:graphic>
          <a:graphicData uri="http://schemas.openxmlformats.org/drawingml/2006/table">
            <a:tbl>
              <a:tblPr/>
              <a:tblGrid>
                <a:gridCol w="594360">
                  <a:extLst>
                    <a:ext uri="{9D8B030D-6E8A-4147-A177-3AD203B41FA5}">
                      <a16:colId xmlns:a16="http://schemas.microsoft.com/office/drawing/2014/main" val="20000"/>
                    </a:ext>
                  </a:extLst>
                </a:gridCol>
                <a:gridCol w="6858000">
                  <a:extLst>
                    <a:ext uri="{9D8B030D-6E8A-4147-A177-3AD203B41FA5}">
                      <a16:colId xmlns:a16="http://schemas.microsoft.com/office/drawing/2014/main" val="20001"/>
                    </a:ext>
                  </a:extLst>
                </a:gridCol>
                <a:gridCol w="2103120">
                  <a:extLst>
                    <a:ext uri="{9D8B030D-6E8A-4147-A177-3AD203B41FA5}">
                      <a16:colId xmlns:a16="http://schemas.microsoft.com/office/drawing/2014/main" val="20002"/>
                    </a:ext>
                  </a:extLst>
                </a:gridCol>
                <a:gridCol w="1536192">
                  <a:extLst>
                    <a:ext uri="{9D8B030D-6E8A-4147-A177-3AD203B41FA5}">
                      <a16:colId xmlns:a16="http://schemas.microsoft.com/office/drawing/2014/main" val="20003"/>
                    </a:ext>
                  </a:extLst>
                </a:gridCol>
              </a:tblGrid>
              <a:tr h="566928">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STT</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0B3B75"/>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CÂU HỎI</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0B3B75"/>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ĐỐI TƯỢNG PHỎNG VẤN</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0B3B75"/>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ĐƠN VỊ TRẢ LỜI</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0B3B75"/>
                    </a:solidFill>
                  </a:tcPr>
                </a:tc>
                <a:extLst>
                  <a:ext uri="{0D108BD9-81ED-4DB2-BD59-A6C34878D82A}">
                    <a16:rowId xmlns:a16="http://schemas.microsoft.com/office/drawing/2014/main" val="10000"/>
                  </a:ext>
                </a:extLst>
              </a:tr>
              <a:tr h="566928">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11</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Trong tháng qua, anh/chị đã tạo bao nhiêu PYC trên hệ thống?</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End-user</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____ phiếu</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extLst>
                  <a:ext uri="{0D108BD9-81ED-4DB2-BD59-A6C34878D82A}">
                    <a16:rowId xmlns:a16="http://schemas.microsoft.com/office/drawing/2014/main" val="10001"/>
                  </a:ext>
                </a:extLst>
              </a:tr>
              <a:tr h="566928">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12</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Trong tháng qua, có bao nhiêu PYC bị trả về yêu cầu bổ sung thông tin?</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Service Desk L1</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____ phiếu</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extLst>
                  <a:ext uri="{0D108BD9-81ED-4DB2-BD59-A6C34878D82A}">
                    <a16:rowId xmlns:a16="http://schemas.microsoft.com/office/drawing/2014/main" val="10002"/>
                  </a:ext>
                </a:extLst>
              </a:tr>
              <a:tr h="566928">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13</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Thời gian trung bình từ lúc tạo PYC đến lúc được phê duyệt là bao lâu?</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Quản lý trực tiếp</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____ giờ</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extLst>
                  <a:ext uri="{0D108BD9-81ED-4DB2-BD59-A6C34878D82A}">
                    <a16:rowId xmlns:a16="http://schemas.microsoft.com/office/drawing/2014/main" val="10003"/>
                  </a:ext>
                </a:extLst>
              </a:tr>
              <a:tr h="566928">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14</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Trong tháng qua, có bao nhiêu PYC vi phạm thời hạn SLA cam kết?</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Service Desk L1</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____ phiếu</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extLst>
                  <a:ext uri="{0D108BD9-81ED-4DB2-BD59-A6C34878D82A}">
                    <a16:rowId xmlns:a16="http://schemas.microsoft.com/office/drawing/2014/main" val="10004"/>
                  </a:ext>
                </a:extLst>
              </a:tr>
              <a:tr h="566928">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15</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Thời gian trung bình để cấu hình cấp quyền trên hệ thống T24 là bao lâu?</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Chuyên viên L2</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____ phút</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65760"/>
            <a:ext cx="123444" cy="123444"/>
          </a:xfrm>
          <a:prstGeom prst="ellipse">
            <a:avLst/>
          </a:prstGeom>
          <a:solidFill>
            <a:srgbClr val="D9A227"/>
          </a:solidFill>
          <a:ln w="12700">
            <a:solidFill>
              <a:srgbClr val="D9A227"/>
            </a:solidFill>
            <a:prstDash val="solid"/>
          </a:ln>
        </p:spPr>
        <p:txBody>
          <a:bodyPr/>
          <a:lstStyle/>
          <a:p>
            <a:endParaRPr lang="en-US"/>
          </a:p>
        </p:txBody>
      </p:sp>
      <p:sp>
        <p:nvSpPr>
          <p:cNvPr id="3" name="Text 1"/>
          <p:cNvSpPr txBox="1"/>
          <p:nvPr/>
        </p:nvSpPr>
        <p:spPr>
          <a:xfrm>
            <a:off x="804672" y="292608"/>
            <a:ext cx="10838383" cy="237744"/>
          </a:xfrm>
          <a:prstGeom prst="rect">
            <a:avLst/>
          </a:prstGeom>
          <a:noFill/>
          <a:ln/>
        </p:spPr>
        <p:txBody>
          <a:bodyPr wrap="square" lIns="0" tIns="0" rIns="0" bIns="0" rtlCol="0" anchor="t"/>
          <a:lstStyle/>
          <a:p>
            <a:pPr marL="0" indent="0">
              <a:buNone/>
            </a:pPr>
            <a:r>
              <a:rPr lang="en-US" sz="1050" b="1" kern="0" spc="120" dirty="0">
                <a:solidFill>
                  <a:srgbClr val="A5741A"/>
                </a:solidFill>
                <a:latin typeface="Calibri" pitchFamily="34" charset="0"/>
                <a:ea typeface="Calibri" pitchFamily="34" charset="-122"/>
                <a:cs typeface="Calibri" pitchFamily="34" charset="-120"/>
              </a:rPr>
              <a:t>CHƯƠNG 2 · BỘ CÂU HỎI PHỎNG VẤN QUY TRÌNH PYC</a:t>
            </a:r>
            <a:endParaRPr lang="en-US" sz="1050" dirty="0"/>
          </a:p>
        </p:txBody>
      </p:sp>
      <p:sp>
        <p:nvSpPr>
          <p:cNvPr id="4" name="Text 2"/>
          <p:cNvSpPr txBox="1"/>
          <p:nvPr/>
        </p:nvSpPr>
        <p:spPr>
          <a:xfrm>
            <a:off x="548640" y="566928"/>
            <a:ext cx="11094415" cy="457200"/>
          </a:xfrm>
          <a:prstGeom prst="rect">
            <a:avLst/>
          </a:prstGeom>
          <a:noFill/>
          <a:ln/>
        </p:spPr>
        <p:txBody>
          <a:bodyPr wrap="square" lIns="0" tIns="0" rIns="0" bIns="0" rtlCol="0" anchor="t"/>
          <a:lstStyle/>
          <a:p>
            <a:pPr marL="0" indent="0">
              <a:buNone/>
            </a:pPr>
            <a:r>
              <a:rPr lang="en-US" sz="2500" b="1" dirty="0">
                <a:solidFill>
                  <a:srgbClr val="0B3B75"/>
                </a:solidFill>
                <a:latin typeface="Calibri" pitchFamily="34" charset="0"/>
                <a:ea typeface="Calibri" pitchFamily="34" charset="-122"/>
                <a:cs typeface="Calibri" pitchFamily="34" charset="-120"/>
              </a:rPr>
              <a:t>BỘ 20 CÂU HỎI PHỎNG VẤN</a:t>
            </a:r>
            <a:endParaRPr lang="en-US" sz="2500" dirty="0"/>
          </a:p>
        </p:txBody>
      </p:sp>
      <p:sp>
        <p:nvSpPr>
          <p:cNvPr id="5" name="Text 3"/>
          <p:cNvSpPr txBox="1"/>
          <p:nvPr/>
        </p:nvSpPr>
        <p:spPr>
          <a:xfrm>
            <a:off x="548640" y="1024128"/>
            <a:ext cx="11094415" cy="274320"/>
          </a:xfrm>
          <a:prstGeom prst="rect">
            <a:avLst/>
          </a:prstGeom>
          <a:noFill/>
          <a:ln/>
        </p:spPr>
        <p:txBody>
          <a:bodyPr wrap="square" lIns="0" tIns="0" rIns="0" bIns="0" rtlCol="0" anchor="t"/>
          <a:lstStyle/>
          <a:p>
            <a:pPr marL="0" indent="0">
              <a:buNone/>
            </a:pPr>
            <a:r>
              <a:rPr lang="en-US" sz="1100" i="1" dirty="0">
                <a:solidFill>
                  <a:srgbClr val="6E7A88"/>
                </a:solidFill>
                <a:latin typeface="Calibri" pitchFamily="34" charset="0"/>
                <a:ea typeface="Calibri" pitchFamily="34" charset="-122"/>
                <a:cs typeface="Calibri" pitchFamily="34" charset="-120"/>
              </a:rPr>
              <a:t>Chương 2 · Bảng 2.1 — nhóm câu hỏi định lượng không cấu trúc</a:t>
            </a:r>
            <a:endParaRPr lang="en-US" sz="1100" dirty="0"/>
          </a:p>
        </p:txBody>
      </p:sp>
      <p:sp>
        <p:nvSpPr>
          <p:cNvPr id="6" name="Text 4"/>
          <p:cNvSpPr txBox="1"/>
          <p:nvPr/>
        </p:nvSpPr>
        <p:spPr>
          <a:xfrm>
            <a:off x="548640" y="6419088"/>
            <a:ext cx="8778240" cy="237744"/>
          </a:xfrm>
          <a:prstGeom prst="rect">
            <a:avLst/>
          </a:prstGeom>
          <a:noFill/>
          <a:ln/>
        </p:spPr>
        <p:txBody>
          <a:bodyPr wrap="square" lIns="0" tIns="0" rIns="0" bIns="0" rtlCol="0" anchor="t"/>
          <a:lstStyle/>
          <a:p>
            <a:pPr marL="0" indent="0">
              <a:buNone/>
            </a:pPr>
            <a:r>
              <a:rPr lang="en-US" sz="850" dirty="0">
                <a:solidFill>
                  <a:srgbClr val="6E7A88"/>
                </a:solidFill>
                <a:latin typeface="Calibri" pitchFamily="34" charset="0"/>
                <a:ea typeface="Calibri" pitchFamily="34" charset="-122"/>
                <a:cs typeface="Calibri" pitchFamily="34" charset="-120"/>
              </a:rPr>
              <a:t>HỆ THỐNG QUẢN TRỊ QUY TRÌNH NGHIỆP VỤ  ·  SACOMBANK — QUY TRÌNH PYC</a:t>
            </a:r>
            <a:endParaRPr lang="en-US" sz="850" dirty="0"/>
          </a:p>
        </p:txBody>
      </p:sp>
      <p:sp>
        <p:nvSpPr>
          <p:cNvPr id="7" name="Text 5"/>
          <p:cNvSpPr txBox="1"/>
          <p:nvPr/>
        </p:nvSpPr>
        <p:spPr>
          <a:xfrm>
            <a:off x="11155680" y="6382512"/>
            <a:ext cx="484632" cy="274320"/>
          </a:xfrm>
          <a:prstGeom prst="rect">
            <a:avLst/>
          </a:prstGeom>
          <a:noFill/>
          <a:ln/>
        </p:spPr>
        <p:txBody>
          <a:bodyPr wrap="square" lIns="0" tIns="0" rIns="0" bIns="0" rtlCol="0" anchor="t"/>
          <a:lstStyle/>
          <a:p>
            <a:pPr marL="0" indent="0" algn="r">
              <a:buNone/>
            </a:pPr>
            <a:r>
              <a:rPr lang="en-US" sz="1100" b="1" dirty="0">
                <a:solidFill>
                  <a:srgbClr val="A5741A"/>
                </a:solidFill>
                <a:latin typeface="Calibri" pitchFamily="34" charset="0"/>
                <a:ea typeface="Calibri" pitchFamily="34" charset="-122"/>
                <a:cs typeface="Calibri" pitchFamily="34" charset="-120"/>
              </a:rPr>
              <a:t>18</a:t>
            </a:r>
            <a:endParaRPr lang="en-US" sz="1100" dirty="0"/>
          </a:p>
        </p:txBody>
      </p:sp>
      <p:sp>
        <p:nvSpPr>
          <p:cNvPr id="8" name="Text 6"/>
          <p:cNvSpPr txBox="1"/>
          <p:nvPr/>
        </p:nvSpPr>
        <p:spPr>
          <a:xfrm>
            <a:off x="548640" y="1371600"/>
            <a:ext cx="11094415" cy="292608"/>
          </a:xfrm>
          <a:prstGeom prst="rect">
            <a:avLst/>
          </a:prstGeom>
          <a:noFill/>
          <a:ln/>
        </p:spPr>
        <p:txBody>
          <a:bodyPr wrap="square" lIns="0" tIns="0" rIns="0" bIns="0" rtlCol="0" anchor="t"/>
          <a:lstStyle/>
          <a:p>
            <a:pPr marL="0" indent="0">
              <a:buNone/>
            </a:pPr>
            <a:r>
              <a:rPr lang="en-US" sz="1500" b="1" dirty="0">
                <a:solidFill>
                  <a:srgbClr val="1660BF"/>
                </a:solidFill>
                <a:latin typeface="Calibri" pitchFamily="34" charset="0"/>
                <a:ea typeface="Calibri" pitchFamily="34" charset="-122"/>
                <a:cs typeface="Calibri" pitchFamily="34" charset="-120"/>
              </a:rPr>
              <a:t>5 CÂU ĐỊNH LƯỢNG — KHÔNG CẤU TRÚC</a:t>
            </a:r>
            <a:endParaRPr lang="en-US" sz="15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1773936"/>
          <a:ext cx="11091672" cy="3401568"/>
        </p:xfrm>
        <a:graphic>
          <a:graphicData uri="http://schemas.openxmlformats.org/drawingml/2006/table">
            <a:tbl>
              <a:tblPr/>
              <a:tblGrid>
                <a:gridCol w="594360">
                  <a:extLst>
                    <a:ext uri="{9D8B030D-6E8A-4147-A177-3AD203B41FA5}">
                      <a16:colId xmlns:a16="http://schemas.microsoft.com/office/drawing/2014/main" val="20000"/>
                    </a:ext>
                  </a:extLst>
                </a:gridCol>
                <a:gridCol w="6858000">
                  <a:extLst>
                    <a:ext uri="{9D8B030D-6E8A-4147-A177-3AD203B41FA5}">
                      <a16:colId xmlns:a16="http://schemas.microsoft.com/office/drawing/2014/main" val="20001"/>
                    </a:ext>
                  </a:extLst>
                </a:gridCol>
                <a:gridCol w="2103120">
                  <a:extLst>
                    <a:ext uri="{9D8B030D-6E8A-4147-A177-3AD203B41FA5}">
                      <a16:colId xmlns:a16="http://schemas.microsoft.com/office/drawing/2014/main" val="20002"/>
                    </a:ext>
                  </a:extLst>
                </a:gridCol>
                <a:gridCol w="1536192">
                  <a:extLst>
                    <a:ext uri="{9D8B030D-6E8A-4147-A177-3AD203B41FA5}">
                      <a16:colId xmlns:a16="http://schemas.microsoft.com/office/drawing/2014/main" val="20003"/>
                    </a:ext>
                  </a:extLst>
                </a:gridCol>
              </a:tblGrid>
              <a:tr h="566928">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STT</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0B3B75"/>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CÂU HỎI</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0B3B75"/>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ĐỐI TƯỢNG PHỎNG VẤN</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0B3B75"/>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ĐƠN VỊ TRẢ LỜI</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0B3B75"/>
                    </a:solidFill>
                  </a:tcPr>
                </a:tc>
                <a:extLst>
                  <a:ext uri="{0D108BD9-81ED-4DB2-BD59-A6C34878D82A}">
                    <a16:rowId xmlns:a16="http://schemas.microsoft.com/office/drawing/2014/main" val="10000"/>
                  </a:ext>
                </a:extLst>
              </a:tr>
              <a:tr h="566928">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16</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Anh/chị ước tính bao nhiêu phần trăm PYC có thể xử lý hoàn toàn tự động mà không cần con người can thiệp?</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Service Desk L1</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____ %</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extLst>
                  <a:ext uri="{0D108BD9-81ED-4DB2-BD59-A6C34878D82A}">
                    <a16:rowId xmlns:a16="http://schemas.microsoft.com/office/drawing/2014/main" val="10001"/>
                  </a:ext>
                </a:extLst>
              </a:tr>
              <a:tr h="566928">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17</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Trung bình mỗi ngày anh/chị phải chờ bao lâu để PYC được tiếp nhận xử lý?</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End-user</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____ giờ</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extLst>
                  <a:ext uri="{0D108BD9-81ED-4DB2-BD59-A6C34878D82A}">
                    <a16:rowId xmlns:a16="http://schemas.microsoft.com/office/drawing/2014/main" val="10002"/>
                  </a:ext>
                </a:extLst>
              </a:tr>
              <a:tr h="566928">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18</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Trong các PYC anh/chị phê duyệt, tỷ lệ nào thuộc quyền rủi ro thấp (Wifi, Folder chung)?</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Quản lý trực tiếp</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____ %</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extLst>
                  <a:ext uri="{0D108BD9-81ED-4DB2-BD59-A6C34878D82A}">
                    <a16:rowId xmlns:a16="http://schemas.microsoft.com/office/drawing/2014/main" val="10003"/>
                  </a:ext>
                </a:extLst>
              </a:tr>
              <a:tr h="566928">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19</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Bao nhiêu lần trong tháng qua anh/chị phải escalate PYC lên Level 2?</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Service Desk L1</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____ lần</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extLst>
                  <a:ext uri="{0D108BD9-81ED-4DB2-BD59-A6C34878D82A}">
                    <a16:rowId xmlns:a16="http://schemas.microsoft.com/office/drawing/2014/main" val="10004"/>
                  </a:ext>
                </a:extLst>
              </a:tr>
              <a:tr h="566928">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20</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Anh/chị ước tính bao nhiêu phần trăm thời gian xử lý PYC dành cho việc ghi log thủ công?</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Chuyên viên L2</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____ %</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65760"/>
            <a:ext cx="123444" cy="123444"/>
          </a:xfrm>
          <a:prstGeom prst="ellipse">
            <a:avLst/>
          </a:prstGeom>
          <a:solidFill>
            <a:srgbClr val="D9A227"/>
          </a:solidFill>
          <a:ln w="12700">
            <a:solidFill>
              <a:srgbClr val="D9A227"/>
            </a:solidFill>
            <a:prstDash val="solid"/>
          </a:ln>
        </p:spPr>
        <p:txBody>
          <a:bodyPr/>
          <a:lstStyle/>
          <a:p>
            <a:endParaRPr lang="en-US"/>
          </a:p>
        </p:txBody>
      </p:sp>
      <p:sp>
        <p:nvSpPr>
          <p:cNvPr id="3" name="Text 1"/>
          <p:cNvSpPr txBox="1"/>
          <p:nvPr/>
        </p:nvSpPr>
        <p:spPr>
          <a:xfrm>
            <a:off x="804672" y="292608"/>
            <a:ext cx="10838383" cy="237744"/>
          </a:xfrm>
          <a:prstGeom prst="rect">
            <a:avLst/>
          </a:prstGeom>
          <a:noFill/>
          <a:ln/>
        </p:spPr>
        <p:txBody>
          <a:bodyPr wrap="square" lIns="0" tIns="0" rIns="0" bIns="0" rtlCol="0" anchor="t"/>
          <a:lstStyle/>
          <a:p>
            <a:pPr marL="0" indent="0">
              <a:buNone/>
            </a:pPr>
            <a:r>
              <a:rPr lang="en-US" sz="1050" b="1" kern="0" spc="120" dirty="0">
                <a:solidFill>
                  <a:srgbClr val="A5741A"/>
                </a:solidFill>
                <a:latin typeface="Calibri" pitchFamily="34" charset="0"/>
                <a:ea typeface="Calibri" pitchFamily="34" charset="-122"/>
                <a:cs typeface="Calibri" pitchFamily="34" charset="-120"/>
              </a:rPr>
              <a:t>CHƯƠNG 2 · 2.1 MÔ TẢ QUY TRÌNH HIỆN CÓ</a:t>
            </a:r>
            <a:endParaRPr lang="en-US" sz="1050" dirty="0"/>
          </a:p>
        </p:txBody>
      </p:sp>
      <p:sp>
        <p:nvSpPr>
          <p:cNvPr id="4" name="Text 2"/>
          <p:cNvSpPr txBox="1"/>
          <p:nvPr/>
        </p:nvSpPr>
        <p:spPr>
          <a:xfrm>
            <a:off x="548640" y="566928"/>
            <a:ext cx="11094415" cy="457200"/>
          </a:xfrm>
          <a:prstGeom prst="rect">
            <a:avLst/>
          </a:prstGeom>
          <a:noFill/>
          <a:ln/>
        </p:spPr>
        <p:txBody>
          <a:bodyPr wrap="square" lIns="0" tIns="0" rIns="0" bIns="0" rtlCol="0" anchor="t"/>
          <a:lstStyle/>
          <a:p>
            <a:pPr marL="0" indent="0">
              <a:buNone/>
            </a:pPr>
            <a:r>
              <a:rPr lang="en-US" sz="2500" b="1" dirty="0">
                <a:solidFill>
                  <a:srgbClr val="0B3B75"/>
                </a:solidFill>
                <a:latin typeface="Calibri" pitchFamily="34" charset="0"/>
                <a:ea typeface="Calibri" pitchFamily="34" charset="-122"/>
                <a:cs typeface="Calibri" pitchFamily="34" charset="-120"/>
              </a:rPr>
              <a:t>QUY TRÌNH PYC HIỆN TẠI — 08 BƯỚC XỬ LÝ</a:t>
            </a:r>
            <a:endParaRPr lang="en-US" sz="2500" dirty="0"/>
          </a:p>
        </p:txBody>
      </p:sp>
      <p:sp>
        <p:nvSpPr>
          <p:cNvPr id="5" name="Text 3"/>
          <p:cNvSpPr txBox="1"/>
          <p:nvPr/>
        </p:nvSpPr>
        <p:spPr>
          <a:xfrm>
            <a:off x="548640" y="6419088"/>
            <a:ext cx="8778240" cy="237744"/>
          </a:xfrm>
          <a:prstGeom prst="rect">
            <a:avLst/>
          </a:prstGeom>
          <a:noFill/>
          <a:ln/>
        </p:spPr>
        <p:txBody>
          <a:bodyPr wrap="square" lIns="0" tIns="0" rIns="0" bIns="0" rtlCol="0" anchor="t"/>
          <a:lstStyle/>
          <a:p>
            <a:pPr marL="0" indent="0">
              <a:buNone/>
            </a:pPr>
            <a:r>
              <a:rPr lang="en-US" sz="850" dirty="0">
                <a:solidFill>
                  <a:srgbClr val="6E7A88"/>
                </a:solidFill>
                <a:latin typeface="Calibri" pitchFamily="34" charset="0"/>
                <a:ea typeface="Calibri" pitchFamily="34" charset="-122"/>
                <a:cs typeface="Calibri" pitchFamily="34" charset="-120"/>
              </a:rPr>
              <a:t>HỆ THỐNG QUẢN TRỊ QUY TRÌNH NGHIỆP VỤ  ·  SACOMBANK — QUY TRÌNH PYC</a:t>
            </a:r>
            <a:endParaRPr lang="en-US" sz="850" dirty="0"/>
          </a:p>
        </p:txBody>
      </p:sp>
      <p:sp>
        <p:nvSpPr>
          <p:cNvPr id="6" name="Text 4"/>
          <p:cNvSpPr txBox="1"/>
          <p:nvPr/>
        </p:nvSpPr>
        <p:spPr>
          <a:xfrm>
            <a:off x="11155680" y="6382512"/>
            <a:ext cx="484632" cy="274320"/>
          </a:xfrm>
          <a:prstGeom prst="rect">
            <a:avLst/>
          </a:prstGeom>
          <a:noFill/>
          <a:ln/>
        </p:spPr>
        <p:txBody>
          <a:bodyPr wrap="square" lIns="0" tIns="0" rIns="0" bIns="0" rtlCol="0" anchor="t"/>
          <a:lstStyle/>
          <a:p>
            <a:pPr marL="0" indent="0" algn="r">
              <a:buNone/>
            </a:pPr>
            <a:r>
              <a:rPr lang="en-US" sz="1100" b="1" dirty="0">
                <a:solidFill>
                  <a:srgbClr val="A5741A"/>
                </a:solidFill>
                <a:latin typeface="Calibri" pitchFamily="34" charset="0"/>
                <a:ea typeface="Calibri" pitchFamily="34" charset="-122"/>
                <a:cs typeface="Calibri" pitchFamily="34" charset="-120"/>
              </a:rPr>
              <a:t>19</a:t>
            </a:r>
            <a:endParaRPr lang="en-US" sz="1100" dirty="0"/>
          </a:p>
        </p:txBody>
      </p:sp>
      <p:sp>
        <p:nvSpPr>
          <p:cNvPr id="7" name="Shape 5"/>
          <p:cNvSpPr/>
          <p:nvPr/>
        </p:nvSpPr>
        <p:spPr>
          <a:xfrm>
            <a:off x="548640" y="1371600"/>
            <a:ext cx="5364328" cy="1097280"/>
          </a:xfrm>
          <a:prstGeom prst="roundRect">
            <a:avLst>
              <a:gd name="adj" fmla="val 5000"/>
            </a:avLst>
          </a:prstGeom>
          <a:solidFill>
            <a:srgbClr val="EFF4FB"/>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8" name="Text 6"/>
          <p:cNvSpPr txBox="1"/>
          <p:nvPr/>
        </p:nvSpPr>
        <p:spPr>
          <a:xfrm>
            <a:off x="713232" y="1481328"/>
            <a:ext cx="457200" cy="274320"/>
          </a:xfrm>
          <a:prstGeom prst="rect">
            <a:avLst/>
          </a:prstGeom>
          <a:noFill/>
          <a:ln/>
        </p:spPr>
        <p:txBody>
          <a:bodyPr wrap="square" lIns="0" tIns="0" rIns="0" bIns="0" rtlCol="0" anchor="t"/>
          <a:lstStyle/>
          <a:p>
            <a:pPr marL="0" indent="0">
              <a:buNone/>
            </a:pPr>
            <a:r>
              <a:rPr lang="en-US" sz="1500" b="1" dirty="0">
                <a:solidFill>
                  <a:srgbClr val="1660BF"/>
                </a:solidFill>
                <a:latin typeface="Calibri" pitchFamily="34" charset="0"/>
                <a:ea typeface="Calibri" pitchFamily="34" charset="-122"/>
                <a:cs typeface="Calibri" pitchFamily="34" charset="-120"/>
              </a:rPr>
              <a:t>01</a:t>
            </a:r>
            <a:endParaRPr lang="en-US" sz="1500" dirty="0"/>
          </a:p>
        </p:txBody>
      </p:sp>
      <p:sp>
        <p:nvSpPr>
          <p:cNvPr id="9" name="Text 7"/>
          <p:cNvSpPr txBox="1"/>
          <p:nvPr/>
        </p:nvSpPr>
        <p:spPr>
          <a:xfrm>
            <a:off x="1207008" y="1490472"/>
            <a:ext cx="4523080" cy="256032"/>
          </a:xfrm>
          <a:prstGeom prst="rect">
            <a:avLst/>
          </a:prstGeom>
          <a:noFill/>
          <a:ln/>
        </p:spPr>
        <p:txBody>
          <a:bodyPr wrap="square" lIns="0" tIns="0" rIns="0" bIns="0" rtlCol="0" anchor="t"/>
          <a:lstStyle/>
          <a:p>
            <a:pPr marL="0" indent="0">
              <a:buNone/>
            </a:pPr>
            <a:r>
              <a:rPr lang="en-US" sz="1200" b="1" dirty="0">
                <a:solidFill>
                  <a:srgbClr val="0B3B75"/>
                </a:solidFill>
                <a:latin typeface="Calibri" pitchFamily="34" charset="0"/>
                <a:ea typeface="Calibri" pitchFamily="34" charset="-122"/>
                <a:cs typeface="Calibri" pitchFamily="34" charset="-120"/>
              </a:rPr>
              <a:t>Khởi tạo Phiếu yêu cầu</a:t>
            </a:r>
            <a:endParaRPr lang="en-US" sz="1200" dirty="0"/>
          </a:p>
        </p:txBody>
      </p:sp>
      <p:sp>
        <p:nvSpPr>
          <p:cNvPr id="10" name="Text 8"/>
          <p:cNvSpPr txBox="1"/>
          <p:nvPr/>
        </p:nvSpPr>
        <p:spPr>
          <a:xfrm>
            <a:off x="1207008" y="1773936"/>
            <a:ext cx="4523080" cy="621792"/>
          </a:xfrm>
          <a:prstGeom prst="rect">
            <a:avLst/>
          </a:prstGeom>
          <a:noFill/>
          <a:ln/>
        </p:spPr>
        <p:txBody>
          <a:bodyPr wrap="square" lIns="0" tIns="0" rIns="0" bIns="0" rtlCol="0" anchor="t"/>
          <a:lstStyle/>
          <a:p>
            <a:pPr marL="0" indent="0">
              <a:buNone/>
            </a:pPr>
            <a:r>
              <a:rPr lang="en-US" sz="950" dirty="0">
                <a:solidFill>
                  <a:srgbClr val="6E7A88"/>
                </a:solidFill>
                <a:latin typeface="Calibri" pitchFamily="34" charset="0"/>
                <a:ea typeface="Calibri" pitchFamily="34" charset="-122"/>
                <a:cs typeface="Calibri" pitchFamily="34" charset="-120"/>
              </a:rPr>
              <a:t>Đăng nhập Digital Workplace Portal bằng tài khoản AD, chọn danh mục dịch vụ, điền biểu mẫu PYC và đính kèm tài liệu hỗ trợ. Hệ thống tự gán mã PYC và gửi email xác nhận.</a:t>
            </a:r>
            <a:endParaRPr lang="en-US" sz="950" dirty="0"/>
          </a:p>
        </p:txBody>
      </p:sp>
      <p:sp>
        <p:nvSpPr>
          <p:cNvPr id="11" name="Shape 9"/>
          <p:cNvSpPr/>
          <p:nvPr/>
        </p:nvSpPr>
        <p:spPr>
          <a:xfrm>
            <a:off x="6278728" y="1371600"/>
            <a:ext cx="5364328" cy="1097280"/>
          </a:xfrm>
          <a:prstGeom prst="roundRect">
            <a:avLst>
              <a:gd name="adj" fmla="val 5000"/>
            </a:avLst>
          </a:prstGeom>
          <a:solidFill>
            <a:srgbClr val="FFFFFF"/>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12" name="Text 10"/>
          <p:cNvSpPr txBox="1"/>
          <p:nvPr/>
        </p:nvSpPr>
        <p:spPr>
          <a:xfrm>
            <a:off x="6443320" y="1481328"/>
            <a:ext cx="457200" cy="274320"/>
          </a:xfrm>
          <a:prstGeom prst="rect">
            <a:avLst/>
          </a:prstGeom>
          <a:noFill/>
          <a:ln/>
        </p:spPr>
        <p:txBody>
          <a:bodyPr wrap="square" lIns="0" tIns="0" rIns="0" bIns="0" rtlCol="0" anchor="t"/>
          <a:lstStyle/>
          <a:p>
            <a:pPr marL="0" indent="0">
              <a:buNone/>
            </a:pPr>
            <a:r>
              <a:rPr lang="en-US" sz="1500" b="1" dirty="0">
                <a:solidFill>
                  <a:srgbClr val="1660BF"/>
                </a:solidFill>
                <a:latin typeface="Calibri" pitchFamily="34" charset="0"/>
                <a:ea typeface="Calibri" pitchFamily="34" charset="-122"/>
                <a:cs typeface="Calibri" pitchFamily="34" charset="-120"/>
              </a:rPr>
              <a:t>02</a:t>
            </a:r>
            <a:endParaRPr lang="en-US" sz="1500" dirty="0"/>
          </a:p>
        </p:txBody>
      </p:sp>
      <p:sp>
        <p:nvSpPr>
          <p:cNvPr id="13" name="Text 11"/>
          <p:cNvSpPr txBox="1"/>
          <p:nvPr/>
        </p:nvSpPr>
        <p:spPr>
          <a:xfrm>
            <a:off x="6937096" y="1490472"/>
            <a:ext cx="4523080" cy="256032"/>
          </a:xfrm>
          <a:prstGeom prst="rect">
            <a:avLst/>
          </a:prstGeom>
          <a:noFill/>
          <a:ln/>
        </p:spPr>
        <p:txBody>
          <a:bodyPr wrap="square" lIns="0" tIns="0" rIns="0" bIns="0" rtlCol="0" anchor="t"/>
          <a:lstStyle/>
          <a:p>
            <a:pPr marL="0" indent="0">
              <a:buNone/>
            </a:pPr>
            <a:r>
              <a:rPr lang="en-US" sz="1200" b="1" dirty="0">
                <a:solidFill>
                  <a:srgbClr val="0B3B75"/>
                </a:solidFill>
                <a:latin typeface="Calibri" pitchFamily="34" charset="0"/>
                <a:ea typeface="Calibri" pitchFamily="34" charset="-122"/>
                <a:cs typeface="Calibri" pitchFamily="34" charset="-120"/>
              </a:rPr>
              <a:t>Phân loại mức độ rủi ro quyền</a:t>
            </a:r>
            <a:endParaRPr lang="en-US" sz="1200" dirty="0"/>
          </a:p>
        </p:txBody>
      </p:sp>
      <p:sp>
        <p:nvSpPr>
          <p:cNvPr id="14" name="Text 12"/>
          <p:cNvSpPr txBox="1"/>
          <p:nvPr/>
        </p:nvSpPr>
        <p:spPr>
          <a:xfrm>
            <a:off x="6937096" y="1773936"/>
            <a:ext cx="4523080" cy="621792"/>
          </a:xfrm>
          <a:prstGeom prst="rect">
            <a:avLst/>
          </a:prstGeom>
          <a:noFill/>
          <a:ln/>
        </p:spPr>
        <p:txBody>
          <a:bodyPr wrap="square" lIns="0" tIns="0" rIns="0" bIns="0" rtlCol="0" anchor="t"/>
          <a:lstStyle/>
          <a:p>
            <a:pPr marL="0" indent="0">
              <a:buNone/>
            </a:pPr>
            <a:r>
              <a:rPr lang="en-US" sz="950" dirty="0">
                <a:solidFill>
                  <a:srgbClr val="6E7A88"/>
                </a:solidFill>
                <a:latin typeface="Calibri" pitchFamily="34" charset="0"/>
                <a:ea typeface="Calibri" pitchFamily="34" charset="-122"/>
                <a:cs typeface="Calibri" pitchFamily="34" charset="-120"/>
              </a:rPr>
              <a:t>ITSM đối chiếu loại quyền với ma trận rủi ro: rủi ro cao (T24, Database, Server Admin, VPN) → phê duyệt; rủi ro thấp (Wifi, Folder chung, reset password) → vào thẳng hàng đợi.</a:t>
            </a:r>
            <a:endParaRPr lang="en-US" sz="950" dirty="0"/>
          </a:p>
        </p:txBody>
      </p:sp>
      <p:sp>
        <p:nvSpPr>
          <p:cNvPr id="15" name="Shape 13"/>
          <p:cNvSpPr/>
          <p:nvPr/>
        </p:nvSpPr>
        <p:spPr>
          <a:xfrm>
            <a:off x="548640" y="2615184"/>
            <a:ext cx="5364328" cy="1097280"/>
          </a:xfrm>
          <a:prstGeom prst="roundRect">
            <a:avLst>
              <a:gd name="adj" fmla="val 5000"/>
            </a:avLst>
          </a:prstGeom>
          <a:solidFill>
            <a:srgbClr val="EFF4FB"/>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16" name="Text 14"/>
          <p:cNvSpPr txBox="1"/>
          <p:nvPr/>
        </p:nvSpPr>
        <p:spPr>
          <a:xfrm>
            <a:off x="713232" y="2724912"/>
            <a:ext cx="457200" cy="274320"/>
          </a:xfrm>
          <a:prstGeom prst="rect">
            <a:avLst/>
          </a:prstGeom>
          <a:noFill/>
          <a:ln/>
        </p:spPr>
        <p:txBody>
          <a:bodyPr wrap="square" lIns="0" tIns="0" rIns="0" bIns="0" rtlCol="0" anchor="t"/>
          <a:lstStyle/>
          <a:p>
            <a:pPr marL="0" indent="0">
              <a:buNone/>
            </a:pPr>
            <a:r>
              <a:rPr lang="en-US" sz="1500" b="1" dirty="0">
                <a:solidFill>
                  <a:srgbClr val="1660BF"/>
                </a:solidFill>
                <a:latin typeface="Calibri" pitchFamily="34" charset="0"/>
                <a:ea typeface="Calibri" pitchFamily="34" charset="-122"/>
                <a:cs typeface="Calibri" pitchFamily="34" charset="-120"/>
              </a:rPr>
              <a:t>03</a:t>
            </a:r>
            <a:endParaRPr lang="en-US" sz="1500" dirty="0"/>
          </a:p>
        </p:txBody>
      </p:sp>
      <p:sp>
        <p:nvSpPr>
          <p:cNvPr id="17" name="Text 15"/>
          <p:cNvSpPr txBox="1"/>
          <p:nvPr/>
        </p:nvSpPr>
        <p:spPr>
          <a:xfrm>
            <a:off x="1207008" y="2734056"/>
            <a:ext cx="4523080" cy="256032"/>
          </a:xfrm>
          <a:prstGeom prst="rect">
            <a:avLst/>
          </a:prstGeom>
          <a:noFill/>
          <a:ln/>
        </p:spPr>
        <p:txBody>
          <a:bodyPr wrap="square" lIns="0" tIns="0" rIns="0" bIns="0" rtlCol="0" anchor="t"/>
          <a:lstStyle/>
          <a:p>
            <a:pPr marL="0" indent="0">
              <a:buNone/>
            </a:pPr>
            <a:r>
              <a:rPr lang="en-US" sz="1200" b="1" dirty="0">
                <a:solidFill>
                  <a:srgbClr val="0B3B75"/>
                </a:solidFill>
                <a:latin typeface="Calibri" pitchFamily="34" charset="0"/>
                <a:ea typeface="Calibri" pitchFamily="34" charset="-122"/>
                <a:cs typeface="Calibri" pitchFamily="34" charset="-120"/>
              </a:rPr>
              <a:t>Phê duyệt bởi Quản lý trực tiếp</a:t>
            </a:r>
            <a:endParaRPr lang="en-US" sz="1200" dirty="0"/>
          </a:p>
        </p:txBody>
      </p:sp>
      <p:sp>
        <p:nvSpPr>
          <p:cNvPr id="18" name="Text 16"/>
          <p:cNvSpPr txBox="1"/>
          <p:nvPr/>
        </p:nvSpPr>
        <p:spPr>
          <a:xfrm>
            <a:off x="1207008" y="3017520"/>
            <a:ext cx="4523080" cy="621792"/>
          </a:xfrm>
          <a:prstGeom prst="rect">
            <a:avLst/>
          </a:prstGeom>
          <a:noFill/>
          <a:ln/>
        </p:spPr>
        <p:txBody>
          <a:bodyPr wrap="square" lIns="0" tIns="0" rIns="0" bIns="0" rtlCol="0" anchor="t"/>
          <a:lstStyle/>
          <a:p>
            <a:pPr marL="0" indent="0">
              <a:buNone/>
            </a:pPr>
            <a:r>
              <a:rPr lang="en-US" sz="950" dirty="0">
                <a:solidFill>
                  <a:srgbClr val="6E7A88"/>
                </a:solidFill>
                <a:latin typeface="Calibri" pitchFamily="34" charset="0"/>
                <a:ea typeface="Calibri" pitchFamily="34" charset="-122"/>
                <a:cs typeface="Calibri" pitchFamily="34" charset="-120"/>
              </a:rPr>
              <a:t>Quản lý xem chi tiết PYC và quyết định: Đồng ý → Bước 4; Từ chối → đóng phiếu kèm lý do; Yêu cầu bổ sung → trả về người dùng (quay lại Bước 1).</a:t>
            </a:r>
            <a:endParaRPr lang="en-US" sz="950" dirty="0"/>
          </a:p>
        </p:txBody>
      </p:sp>
      <p:sp>
        <p:nvSpPr>
          <p:cNvPr id="19" name="Shape 17"/>
          <p:cNvSpPr/>
          <p:nvPr/>
        </p:nvSpPr>
        <p:spPr>
          <a:xfrm>
            <a:off x="6278728" y="2615184"/>
            <a:ext cx="5364328" cy="1097280"/>
          </a:xfrm>
          <a:prstGeom prst="roundRect">
            <a:avLst>
              <a:gd name="adj" fmla="val 5000"/>
            </a:avLst>
          </a:prstGeom>
          <a:solidFill>
            <a:srgbClr val="FFFFFF"/>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20" name="Text 18"/>
          <p:cNvSpPr txBox="1"/>
          <p:nvPr/>
        </p:nvSpPr>
        <p:spPr>
          <a:xfrm>
            <a:off x="6443320" y="2724912"/>
            <a:ext cx="457200" cy="274320"/>
          </a:xfrm>
          <a:prstGeom prst="rect">
            <a:avLst/>
          </a:prstGeom>
          <a:noFill/>
          <a:ln/>
        </p:spPr>
        <p:txBody>
          <a:bodyPr wrap="square" lIns="0" tIns="0" rIns="0" bIns="0" rtlCol="0" anchor="t"/>
          <a:lstStyle/>
          <a:p>
            <a:pPr marL="0" indent="0">
              <a:buNone/>
            </a:pPr>
            <a:r>
              <a:rPr lang="en-US" sz="1500" b="1" dirty="0">
                <a:solidFill>
                  <a:srgbClr val="1660BF"/>
                </a:solidFill>
                <a:latin typeface="Calibri" pitchFamily="34" charset="0"/>
                <a:ea typeface="Calibri" pitchFamily="34" charset="-122"/>
                <a:cs typeface="Calibri" pitchFamily="34" charset="-120"/>
              </a:rPr>
              <a:t>04</a:t>
            </a:r>
            <a:endParaRPr lang="en-US" sz="1500" dirty="0"/>
          </a:p>
        </p:txBody>
      </p:sp>
      <p:sp>
        <p:nvSpPr>
          <p:cNvPr id="21" name="Text 19"/>
          <p:cNvSpPr txBox="1"/>
          <p:nvPr/>
        </p:nvSpPr>
        <p:spPr>
          <a:xfrm>
            <a:off x="6937096" y="2734056"/>
            <a:ext cx="4523080" cy="256032"/>
          </a:xfrm>
          <a:prstGeom prst="rect">
            <a:avLst/>
          </a:prstGeom>
          <a:noFill/>
          <a:ln/>
        </p:spPr>
        <p:txBody>
          <a:bodyPr wrap="square" lIns="0" tIns="0" rIns="0" bIns="0" rtlCol="0" anchor="t"/>
          <a:lstStyle/>
          <a:p>
            <a:pPr marL="0" indent="0">
              <a:buNone/>
            </a:pPr>
            <a:r>
              <a:rPr lang="en-US" sz="1200" b="1" dirty="0">
                <a:solidFill>
                  <a:srgbClr val="0B3B75"/>
                </a:solidFill>
                <a:latin typeface="Calibri" pitchFamily="34" charset="0"/>
                <a:ea typeface="Calibri" pitchFamily="34" charset="-122"/>
                <a:cs typeface="Calibri" pitchFamily="34" charset="-120"/>
              </a:rPr>
              <a:t>Sinh Work Order và phân bổ</a:t>
            </a:r>
            <a:endParaRPr lang="en-US" sz="1200" dirty="0"/>
          </a:p>
        </p:txBody>
      </p:sp>
      <p:sp>
        <p:nvSpPr>
          <p:cNvPr id="22" name="Text 20"/>
          <p:cNvSpPr txBox="1"/>
          <p:nvPr/>
        </p:nvSpPr>
        <p:spPr>
          <a:xfrm>
            <a:off x="6937096" y="3017520"/>
            <a:ext cx="4523080" cy="621792"/>
          </a:xfrm>
          <a:prstGeom prst="rect">
            <a:avLst/>
          </a:prstGeom>
          <a:noFill/>
          <a:ln/>
        </p:spPr>
        <p:txBody>
          <a:bodyPr wrap="square" lIns="0" tIns="0" rIns="0" bIns="0" rtlCol="0" anchor="t"/>
          <a:lstStyle/>
          <a:p>
            <a:pPr marL="0" indent="0">
              <a:buNone/>
            </a:pPr>
            <a:r>
              <a:rPr lang="en-US" sz="950" dirty="0">
                <a:solidFill>
                  <a:srgbClr val="6E7A88"/>
                </a:solidFill>
                <a:latin typeface="Calibri" pitchFamily="34" charset="0"/>
                <a:ea typeface="Calibri" pitchFamily="34" charset="-122"/>
                <a:cs typeface="Calibri" pitchFamily="34" charset="-120"/>
              </a:rPr>
              <a:t>ITSM tự sinh WO từ PYC đã duyệt, chuyển trạng thái “In Progress”, gán WO cho nhóm xử lý theo Category và bắt đầu đếm thời gian SLA.</a:t>
            </a:r>
            <a:endParaRPr lang="en-US" sz="950" dirty="0"/>
          </a:p>
        </p:txBody>
      </p:sp>
      <p:sp>
        <p:nvSpPr>
          <p:cNvPr id="23" name="Shape 21"/>
          <p:cNvSpPr/>
          <p:nvPr/>
        </p:nvSpPr>
        <p:spPr>
          <a:xfrm>
            <a:off x="548640" y="3858768"/>
            <a:ext cx="5364328" cy="1097280"/>
          </a:xfrm>
          <a:prstGeom prst="roundRect">
            <a:avLst>
              <a:gd name="adj" fmla="val 5000"/>
            </a:avLst>
          </a:prstGeom>
          <a:solidFill>
            <a:srgbClr val="EFF4FB"/>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24" name="Text 22"/>
          <p:cNvSpPr txBox="1"/>
          <p:nvPr/>
        </p:nvSpPr>
        <p:spPr>
          <a:xfrm>
            <a:off x="713232" y="3968496"/>
            <a:ext cx="457200" cy="274320"/>
          </a:xfrm>
          <a:prstGeom prst="rect">
            <a:avLst/>
          </a:prstGeom>
          <a:noFill/>
          <a:ln/>
        </p:spPr>
        <p:txBody>
          <a:bodyPr wrap="square" lIns="0" tIns="0" rIns="0" bIns="0" rtlCol="0" anchor="t"/>
          <a:lstStyle/>
          <a:p>
            <a:pPr marL="0" indent="0">
              <a:buNone/>
            </a:pPr>
            <a:r>
              <a:rPr lang="en-US" sz="1500" b="1" dirty="0">
                <a:solidFill>
                  <a:srgbClr val="1660BF"/>
                </a:solidFill>
                <a:latin typeface="Calibri" pitchFamily="34" charset="0"/>
                <a:ea typeface="Calibri" pitchFamily="34" charset="-122"/>
                <a:cs typeface="Calibri" pitchFamily="34" charset="-120"/>
              </a:rPr>
              <a:t>05</a:t>
            </a:r>
            <a:endParaRPr lang="en-US" sz="1500" dirty="0"/>
          </a:p>
        </p:txBody>
      </p:sp>
      <p:sp>
        <p:nvSpPr>
          <p:cNvPr id="25" name="Text 23"/>
          <p:cNvSpPr txBox="1"/>
          <p:nvPr/>
        </p:nvSpPr>
        <p:spPr>
          <a:xfrm>
            <a:off x="1207008" y="3977640"/>
            <a:ext cx="4523080" cy="256032"/>
          </a:xfrm>
          <a:prstGeom prst="rect">
            <a:avLst/>
          </a:prstGeom>
          <a:noFill/>
          <a:ln/>
        </p:spPr>
        <p:txBody>
          <a:bodyPr wrap="square" lIns="0" tIns="0" rIns="0" bIns="0" rtlCol="0" anchor="t"/>
          <a:lstStyle/>
          <a:p>
            <a:pPr marL="0" indent="0">
              <a:buNone/>
            </a:pPr>
            <a:r>
              <a:rPr lang="en-US" sz="1200" b="1" dirty="0">
                <a:solidFill>
                  <a:srgbClr val="0B3B75"/>
                </a:solidFill>
                <a:latin typeface="Calibri" pitchFamily="34" charset="0"/>
                <a:ea typeface="Calibri" pitchFamily="34" charset="-122"/>
                <a:cs typeface="Calibri" pitchFamily="34" charset="-120"/>
              </a:rPr>
              <a:t>Tiếp nhận và phân loại tại L1</a:t>
            </a:r>
            <a:endParaRPr lang="en-US" sz="1200" dirty="0"/>
          </a:p>
        </p:txBody>
      </p:sp>
      <p:sp>
        <p:nvSpPr>
          <p:cNvPr id="26" name="Text 24"/>
          <p:cNvSpPr txBox="1"/>
          <p:nvPr/>
        </p:nvSpPr>
        <p:spPr>
          <a:xfrm>
            <a:off x="1207008" y="4261104"/>
            <a:ext cx="4523080" cy="621792"/>
          </a:xfrm>
          <a:prstGeom prst="rect">
            <a:avLst/>
          </a:prstGeom>
          <a:noFill/>
          <a:ln/>
        </p:spPr>
        <p:txBody>
          <a:bodyPr wrap="square" lIns="0" tIns="0" rIns="0" bIns="0" rtlCol="0" anchor="t"/>
          <a:lstStyle/>
          <a:p>
            <a:pPr marL="0" indent="0">
              <a:buNone/>
            </a:pPr>
            <a:r>
              <a:rPr lang="en-US" sz="950" dirty="0">
                <a:solidFill>
                  <a:srgbClr val="6E7A88"/>
                </a:solidFill>
                <a:latin typeface="Calibri" pitchFamily="34" charset="0"/>
                <a:ea typeface="Calibri" pitchFamily="34" charset="-122"/>
                <a:cs typeface="Calibri" pitchFamily="34" charset="-120"/>
              </a:rPr>
              <a:t>Service Desk L1 xác minh tính đầy đủ, đối chiếu Service Catalog. Trong khả năng L1 → xử lý trực tiếp; vượt phạm vi (T24, cấu hình server) → escalate lên Level 2.</a:t>
            </a:r>
            <a:endParaRPr lang="en-US" sz="950" dirty="0"/>
          </a:p>
        </p:txBody>
      </p:sp>
      <p:sp>
        <p:nvSpPr>
          <p:cNvPr id="27" name="Shape 25"/>
          <p:cNvSpPr/>
          <p:nvPr/>
        </p:nvSpPr>
        <p:spPr>
          <a:xfrm>
            <a:off x="6278728" y="3858768"/>
            <a:ext cx="5364328" cy="1097280"/>
          </a:xfrm>
          <a:prstGeom prst="roundRect">
            <a:avLst>
              <a:gd name="adj" fmla="val 5000"/>
            </a:avLst>
          </a:prstGeom>
          <a:solidFill>
            <a:srgbClr val="FFFFFF"/>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28" name="Text 26"/>
          <p:cNvSpPr txBox="1"/>
          <p:nvPr/>
        </p:nvSpPr>
        <p:spPr>
          <a:xfrm>
            <a:off x="6443320" y="3968496"/>
            <a:ext cx="457200" cy="274320"/>
          </a:xfrm>
          <a:prstGeom prst="rect">
            <a:avLst/>
          </a:prstGeom>
          <a:noFill/>
          <a:ln/>
        </p:spPr>
        <p:txBody>
          <a:bodyPr wrap="square" lIns="0" tIns="0" rIns="0" bIns="0" rtlCol="0" anchor="t"/>
          <a:lstStyle/>
          <a:p>
            <a:pPr marL="0" indent="0">
              <a:buNone/>
            </a:pPr>
            <a:r>
              <a:rPr lang="en-US" sz="1500" b="1" dirty="0">
                <a:solidFill>
                  <a:srgbClr val="1660BF"/>
                </a:solidFill>
                <a:latin typeface="Calibri" pitchFamily="34" charset="0"/>
                <a:ea typeface="Calibri" pitchFamily="34" charset="-122"/>
                <a:cs typeface="Calibri" pitchFamily="34" charset="-120"/>
              </a:rPr>
              <a:t>06</a:t>
            </a:r>
            <a:endParaRPr lang="en-US" sz="1500" dirty="0"/>
          </a:p>
        </p:txBody>
      </p:sp>
      <p:sp>
        <p:nvSpPr>
          <p:cNvPr id="29" name="Text 27"/>
          <p:cNvSpPr txBox="1"/>
          <p:nvPr/>
        </p:nvSpPr>
        <p:spPr>
          <a:xfrm>
            <a:off x="6937096" y="3977640"/>
            <a:ext cx="4523080" cy="256032"/>
          </a:xfrm>
          <a:prstGeom prst="rect">
            <a:avLst/>
          </a:prstGeom>
          <a:noFill/>
          <a:ln/>
        </p:spPr>
        <p:txBody>
          <a:bodyPr wrap="square" lIns="0" tIns="0" rIns="0" bIns="0" rtlCol="0" anchor="t"/>
          <a:lstStyle/>
          <a:p>
            <a:pPr marL="0" indent="0">
              <a:buNone/>
            </a:pPr>
            <a:r>
              <a:rPr lang="en-US" sz="1200" b="1" dirty="0">
                <a:solidFill>
                  <a:srgbClr val="0B3B75"/>
                </a:solidFill>
                <a:latin typeface="Calibri" pitchFamily="34" charset="0"/>
                <a:ea typeface="Calibri" pitchFamily="34" charset="-122"/>
                <a:cs typeface="Calibri" pitchFamily="34" charset="-120"/>
              </a:rPr>
              <a:t>Xử lý kỹ thuật tại Level 2</a:t>
            </a:r>
            <a:endParaRPr lang="en-US" sz="1200" dirty="0"/>
          </a:p>
        </p:txBody>
      </p:sp>
      <p:sp>
        <p:nvSpPr>
          <p:cNvPr id="30" name="Text 28"/>
          <p:cNvSpPr txBox="1"/>
          <p:nvPr/>
        </p:nvSpPr>
        <p:spPr>
          <a:xfrm>
            <a:off x="6937096" y="4261104"/>
            <a:ext cx="4523080" cy="621792"/>
          </a:xfrm>
          <a:prstGeom prst="rect">
            <a:avLst/>
          </a:prstGeom>
          <a:noFill/>
          <a:ln/>
        </p:spPr>
        <p:txBody>
          <a:bodyPr wrap="square" lIns="0" tIns="0" rIns="0" bIns="0" rtlCol="0" anchor="t"/>
          <a:lstStyle/>
          <a:p>
            <a:pPr marL="0" indent="0">
              <a:buNone/>
            </a:pPr>
            <a:r>
              <a:rPr lang="en-US" sz="950" dirty="0">
                <a:solidFill>
                  <a:srgbClr val="6E7A88"/>
                </a:solidFill>
                <a:latin typeface="Calibri" pitchFamily="34" charset="0"/>
                <a:ea typeface="Calibri" pitchFamily="34" charset="-122"/>
                <a:cs typeface="Calibri" pitchFamily="34" charset="-120"/>
              </a:rPr>
              <a:t>Chuyên viên L2 thực hiện cấu hình cấp quyền trên T24, Active Directory, Database, Network và kiểm tra kết quả cấu hình.</a:t>
            </a:r>
            <a:endParaRPr lang="en-US" sz="950" dirty="0"/>
          </a:p>
        </p:txBody>
      </p:sp>
      <p:sp>
        <p:nvSpPr>
          <p:cNvPr id="31" name="Shape 29"/>
          <p:cNvSpPr/>
          <p:nvPr/>
        </p:nvSpPr>
        <p:spPr>
          <a:xfrm>
            <a:off x="548640" y="5102352"/>
            <a:ext cx="5364328" cy="1097280"/>
          </a:xfrm>
          <a:prstGeom prst="roundRect">
            <a:avLst>
              <a:gd name="adj" fmla="val 5000"/>
            </a:avLst>
          </a:prstGeom>
          <a:solidFill>
            <a:srgbClr val="EFF4FB"/>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32" name="Text 30"/>
          <p:cNvSpPr txBox="1"/>
          <p:nvPr/>
        </p:nvSpPr>
        <p:spPr>
          <a:xfrm>
            <a:off x="713232" y="5212080"/>
            <a:ext cx="457200" cy="274320"/>
          </a:xfrm>
          <a:prstGeom prst="rect">
            <a:avLst/>
          </a:prstGeom>
          <a:noFill/>
          <a:ln/>
        </p:spPr>
        <p:txBody>
          <a:bodyPr wrap="square" lIns="0" tIns="0" rIns="0" bIns="0" rtlCol="0" anchor="t"/>
          <a:lstStyle/>
          <a:p>
            <a:pPr marL="0" indent="0">
              <a:buNone/>
            </a:pPr>
            <a:r>
              <a:rPr lang="en-US" sz="1500" b="1" dirty="0">
                <a:solidFill>
                  <a:srgbClr val="1660BF"/>
                </a:solidFill>
                <a:latin typeface="Calibri" pitchFamily="34" charset="0"/>
                <a:ea typeface="Calibri" pitchFamily="34" charset="-122"/>
                <a:cs typeface="Calibri" pitchFamily="34" charset="-120"/>
              </a:rPr>
              <a:t>07</a:t>
            </a:r>
            <a:endParaRPr lang="en-US" sz="1500" dirty="0"/>
          </a:p>
        </p:txBody>
      </p:sp>
      <p:sp>
        <p:nvSpPr>
          <p:cNvPr id="33" name="Text 31"/>
          <p:cNvSpPr txBox="1"/>
          <p:nvPr/>
        </p:nvSpPr>
        <p:spPr>
          <a:xfrm>
            <a:off x="1207008" y="5221224"/>
            <a:ext cx="4523080" cy="256032"/>
          </a:xfrm>
          <a:prstGeom prst="rect">
            <a:avLst/>
          </a:prstGeom>
          <a:noFill/>
          <a:ln/>
        </p:spPr>
        <p:txBody>
          <a:bodyPr wrap="square" lIns="0" tIns="0" rIns="0" bIns="0" rtlCol="0" anchor="t"/>
          <a:lstStyle/>
          <a:p>
            <a:pPr marL="0" indent="0">
              <a:buNone/>
            </a:pPr>
            <a:r>
              <a:rPr lang="en-US" sz="1200" b="1" dirty="0">
                <a:solidFill>
                  <a:srgbClr val="0B3B75"/>
                </a:solidFill>
                <a:latin typeface="Calibri" pitchFamily="34" charset="0"/>
                <a:ea typeface="Calibri" pitchFamily="34" charset="-122"/>
                <a:cs typeface="Calibri" pitchFamily="34" charset="-120"/>
              </a:rPr>
              <a:t>Ghi nhật ký an toàn bảo mật</a:t>
            </a:r>
            <a:endParaRPr lang="en-US" sz="1200" dirty="0"/>
          </a:p>
        </p:txBody>
      </p:sp>
      <p:sp>
        <p:nvSpPr>
          <p:cNvPr id="34" name="Text 32"/>
          <p:cNvSpPr txBox="1"/>
          <p:nvPr/>
        </p:nvSpPr>
        <p:spPr>
          <a:xfrm>
            <a:off x="1207008" y="5504688"/>
            <a:ext cx="4523080" cy="621792"/>
          </a:xfrm>
          <a:prstGeom prst="rect">
            <a:avLst/>
          </a:prstGeom>
          <a:noFill/>
          <a:ln/>
        </p:spPr>
        <p:txBody>
          <a:bodyPr wrap="square" lIns="0" tIns="0" rIns="0" bIns="0" rtlCol="0" anchor="t"/>
          <a:lstStyle/>
          <a:p>
            <a:pPr marL="0" indent="0">
              <a:buNone/>
            </a:pPr>
            <a:r>
              <a:rPr lang="en-US" sz="950" dirty="0">
                <a:solidFill>
                  <a:srgbClr val="6E7A88"/>
                </a:solidFill>
                <a:latin typeface="Calibri" pitchFamily="34" charset="0"/>
                <a:ea typeface="Calibri" pitchFamily="34" charset="-122"/>
                <a:cs typeface="Calibri" pitchFamily="34" charset="-120"/>
              </a:rPr>
              <a:t>Song song với xử lý kỹ thuật: ghi log ai yêu cầu, quyền gì, trên hệ thống nào, thời điểm cấp, người thực hiện. Log được đẩy sang SIEM phục vụ quy trình Quản lý Rủi ro ATTT.</a:t>
            </a:r>
            <a:endParaRPr lang="en-US" sz="950" dirty="0"/>
          </a:p>
        </p:txBody>
      </p:sp>
      <p:sp>
        <p:nvSpPr>
          <p:cNvPr id="35" name="Shape 33"/>
          <p:cNvSpPr/>
          <p:nvPr/>
        </p:nvSpPr>
        <p:spPr>
          <a:xfrm>
            <a:off x="6278728" y="5102352"/>
            <a:ext cx="5364328" cy="1097280"/>
          </a:xfrm>
          <a:prstGeom prst="roundRect">
            <a:avLst>
              <a:gd name="adj" fmla="val 5000"/>
            </a:avLst>
          </a:prstGeom>
          <a:solidFill>
            <a:srgbClr val="FFFFFF"/>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36" name="Text 34"/>
          <p:cNvSpPr txBox="1"/>
          <p:nvPr/>
        </p:nvSpPr>
        <p:spPr>
          <a:xfrm>
            <a:off x="6443320" y="5212080"/>
            <a:ext cx="457200" cy="274320"/>
          </a:xfrm>
          <a:prstGeom prst="rect">
            <a:avLst/>
          </a:prstGeom>
          <a:noFill/>
          <a:ln/>
        </p:spPr>
        <p:txBody>
          <a:bodyPr wrap="square" lIns="0" tIns="0" rIns="0" bIns="0" rtlCol="0" anchor="t"/>
          <a:lstStyle/>
          <a:p>
            <a:pPr marL="0" indent="0">
              <a:buNone/>
            </a:pPr>
            <a:r>
              <a:rPr lang="en-US" sz="1500" b="1" dirty="0">
                <a:solidFill>
                  <a:srgbClr val="1660BF"/>
                </a:solidFill>
                <a:latin typeface="Calibri" pitchFamily="34" charset="0"/>
                <a:ea typeface="Calibri" pitchFamily="34" charset="-122"/>
                <a:cs typeface="Calibri" pitchFamily="34" charset="-120"/>
              </a:rPr>
              <a:t>08</a:t>
            </a:r>
            <a:endParaRPr lang="en-US" sz="1500" dirty="0"/>
          </a:p>
        </p:txBody>
      </p:sp>
      <p:sp>
        <p:nvSpPr>
          <p:cNvPr id="37" name="Text 35"/>
          <p:cNvSpPr txBox="1"/>
          <p:nvPr/>
        </p:nvSpPr>
        <p:spPr>
          <a:xfrm>
            <a:off x="6937096" y="5221224"/>
            <a:ext cx="4523080" cy="256032"/>
          </a:xfrm>
          <a:prstGeom prst="rect">
            <a:avLst/>
          </a:prstGeom>
          <a:noFill/>
          <a:ln/>
        </p:spPr>
        <p:txBody>
          <a:bodyPr wrap="square" lIns="0" tIns="0" rIns="0" bIns="0" rtlCol="0" anchor="t"/>
          <a:lstStyle/>
          <a:p>
            <a:pPr marL="0" indent="0">
              <a:buNone/>
            </a:pPr>
            <a:r>
              <a:rPr lang="en-US" sz="1200" b="1" dirty="0">
                <a:solidFill>
                  <a:srgbClr val="0B3B75"/>
                </a:solidFill>
                <a:latin typeface="Calibri" pitchFamily="34" charset="0"/>
                <a:ea typeface="Calibri" pitchFamily="34" charset="-122"/>
                <a:cs typeface="Calibri" pitchFamily="34" charset="-120"/>
              </a:rPr>
              <a:t>Xác nhận và đóng phiếu</a:t>
            </a:r>
            <a:endParaRPr lang="en-US" sz="1200" dirty="0"/>
          </a:p>
        </p:txBody>
      </p:sp>
      <p:sp>
        <p:nvSpPr>
          <p:cNvPr id="38" name="Text 36"/>
          <p:cNvSpPr txBox="1"/>
          <p:nvPr/>
        </p:nvSpPr>
        <p:spPr>
          <a:xfrm>
            <a:off x="6937096" y="5504688"/>
            <a:ext cx="4523080" cy="621792"/>
          </a:xfrm>
          <a:prstGeom prst="rect">
            <a:avLst/>
          </a:prstGeom>
          <a:noFill/>
          <a:ln/>
        </p:spPr>
        <p:txBody>
          <a:bodyPr wrap="square" lIns="0" tIns="0" rIns="0" bIns="0" rtlCol="0" anchor="t"/>
          <a:lstStyle/>
          <a:p>
            <a:pPr marL="0" indent="0">
              <a:buNone/>
            </a:pPr>
            <a:r>
              <a:rPr lang="en-US" sz="950" dirty="0">
                <a:solidFill>
                  <a:srgbClr val="6E7A88"/>
                </a:solidFill>
                <a:latin typeface="Calibri" pitchFamily="34" charset="0"/>
                <a:ea typeface="Calibri" pitchFamily="34" charset="-122"/>
                <a:cs typeface="Calibri" pitchFamily="34" charset="-120"/>
              </a:rPr>
              <a:t>Cập nhật trạng thái “Resolved”. Người dùng xác nhận → đóng phiếu; chưa đạt → Reopen quay về Bước 5 hoặc 6; không phản hồi trong 48 giờ → hệ thống Auto-close.</a:t>
            </a:r>
            <a:endParaRPr lang="en-US" sz="9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65760"/>
            <a:ext cx="123444" cy="123444"/>
          </a:xfrm>
          <a:prstGeom prst="ellipse">
            <a:avLst/>
          </a:prstGeom>
          <a:solidFill>
            <a:srgbClr val="D9A227"/>
          </a:solidFill>
          <a:ln w="12700">
            <a:solidFill>
              <a:srgbClr val="D9A227"/>
            </a:solidFill>
            <a:prstDash val="solid"/>
          </a:ln>
        </p:spPr>
        <p:txBody>
          <a:bodyPr/>
          <a:lstStyle/>
          <a:p>
            <a:endParaRPr lang="en-US"/>
          </a:p>
        </p:txBody>
      </p:sp>
      <p:sp>
        <p:nvSpPr>
          <p:cNvPr id="3" name="Text 1"/>
          <p:cNvSpPr txBox="1"/>
          <p:nvPr/>
        </p:nvSpPr>
        <p:spPr>
          <a:xfrm>
            <a:off x="804672" y="292608"/>
            <a:ext cx="10838383" cy="237744"/>
          </a:xfrm>
          <a:prstGeom prst="rect">
            <a:avLst/>
          </a:prstGeom>
          <a:noFill/>
          <a:ln/>
        </p:spPr>
        <p:txBody>
          <a:bodyPr wrap="square" lIns="0" tIns="0" rIns="0" bIns="0" rtlCol="0" anchor="t"/>
          <a:lstStyle/>
          <a:p>
            <a:pPr marL="0" indent="0">
              <a:buNone/>
            </a:pPr>
            <a:r>
              <a:rPr lang="en-US" sz="1050" b="1" kern="0" spc="120" dirty="0">
                <a:solidFill>
                  <a:srgbClr val="A5741A"/>
                </a:solidFill>
                <a:latin typeface="Calibri" pitchFamily="34" charset="0"/>
                <a:ea typeface="Calibri" pitchFamily="34" charset="-122"/>
                <a:cs typeface="Calibri" pitchFamily="34" charset="-120"/>
              </a:rPr>
              <a:t>CHƯƠNG 2 · 2.1 B) SƠ ĐỒ TỔ CHỨC</a:t>
            </a:r>
            <a:endParaRPr lang="en-US" sz="1050" dirty="0"/>
          </a:p>
        </p:txBody>
      </p:sp>
      <p:sp>
        <p:nvSpPr>
          <p:cNvPr id="4" name="Text 2"/>
          <p:cNvSpPr txBox="1"/>
          <p:nvPr/>
        </p:nvSpPr>
        <p:spPr>
          <a:xfrm>
            <a:off x="548640" y="566928"/>
            <a:ext cx="11094415" cy="457200"/>
          </a:xfrm>
          <a:prstGeom prst="rect">
            <a:avLst/>
          </a:prstGeom>
          <a:noFill/>
          <a:ln/>
        </p:spPr>
        <p:txBody>
          <a:bodyPr wrap="square" lIns="0" tIns="0" rIns="0" bIns="0" rtlCol="0" anchor="t"/>
          <a:lstStyle/>
          <a:p>
            <a:pPr marL="0" indent="0">
              <a:buNone/>
            </a:pPr>
            <a:r>
              <a:rPr lang="en-US" sz="2500" b="1" dirty="0">
                <a:solidFill>
                  <a:srgbClr val="0B3B75"/>
                </a:solidFill>
                <a:latin typeface="Calibri" pitchFamily="34" charset="0"/>
                <a:ea typeface="Calibri" pitchFamily="34" charset="-122"/>
                <a:cs typeface="Calibri" pitchFamily="34" charset="-120"/>
              </a:rPr>
              <a:t>NĂM VAI TRÒ THAM GIA QUY TRÌNH PYC VÀ TRÁCH NHIỆM</a:t>
            </a:r>
            <a:endParaRPr lang="en-US" sz="2500" dirty="0"/>
          </a:p>
        </p:txBody>
      </p:sp>
      <p:sp>
        <p:nvSpPr>
          <p:cNvPr id="5" name="Text 3"/>
          <p:cNvSpPr txBox="1"/>
          <p:nvPr/>
        </p:nvSpPr>
        <p:spPr>
          <a:xfrm>
            <a:off x="548640" y="6419088"/>
            <a:ext cx="8778240" cy="237744"/>
          </a:xfrm>
          <a:prstGeom prst="rect">
            <a:avLst/>
          </a:prstGeom>
          <a:noFill/>
          <a:ln/>
        </p:spPr>
        <p:txBody>
          <a:bodyPr wrap="square" lIns="0" tIns="0" rIns="0" bIns="0" rtlCol="0" anchor="t"/>
          <a:lstStyle/>
          <a:p>
            <a:pPr marL="0" indent="0">
              <a:buNone/>
            </a:pPr>
            <a:r>
              <a:rPr lang="en-US" sz="850" dirty="0">
                <a:solidFill>
                  <a:srgbClr val="6E7A88"/>
                </a:solidFill>
                <a:latin typeface="Calibri" pitchFamily="34" charset="0"/>
                <a:ea typeface="Calibri" pitchFamily="34" charset="-122"/>
                <a:cs typeface="Calibri" pitchFamily="34" charset="-120"/>
              </a:rPr>
              <a:t>HỆ THỐNG QUẢN TRỊ QUY TRÌNH NGHIỆP VỤ  ·  SACOMBANK — QUY TRÌNH PYC</a:t>
            </a:r>
            <a:endParaRPr lang="en-US" sz="850" dirty="0"/>
          </a:p>
        </p:txBody>
      </p:sp>
      <p:sp>
        <p:nvSpPr>
          <p:cNvPr id="6" name="Text 4"/>
          <p:cNvSpPr txBox="1"/>
          <p:nvPr/>
        </p:nvSpPr>
        <p:spPr>
          <a:xfrm>
            <a:off x="11155680" y="6382512"/>
            <a:ext cx="484632" cy="274320"/>
          </a:xfrm>
          <a:prstGeom prst="rect">
            <a:avLst/>
          </a:prstGeom>
          <a:noFill/>
          <a:ln/>
        </p:spPr>
        <p:txBody>
          <a:bodyPr wrap="square" lIns="0" tIns="0" rIns="0" bIns="0" rtlCol="0" anchor="t"/>
          <a:lstStyle/>
          <a:p>
            <a:pPr marL="0" indent="0" algn="r">
              <a:buNone/>
            </a:pPr>
            <a:r>
              <a:rPr lang="en-US" sz="1100" b="1" dirty="0">
                <a:solidFill>
                  <a:srgbClr val="A5741A"/>
                </a:solidFill>
                <a:latin typeface="Calibri" pitchFamily="34" charset="0"/>
                <a:ea typeface="Calibri" pitchFamily="34" charset="-122"/>
                <a:cs typeface="Calibri" pitchFamily="34" charset="-120"/>
              </a:rPr>
              <a:t>20</a:t>
            </a:r>
            <a:endParaRPr lang="en-US" sz="1100" dirty="0"/>
          </a:p>
        </p:txBody>
      </p:sp>
      <p:sp>
        <p:nvSpPr>
          <p:cNvPr id="7" name="Shape 5"/>
          <p:cNvSpPr/>
          <p:nvPr/>
        </p:nvSpPr>
        <p:spPr>
          <a:xfrm>
            <a:off x="548640" y="1426464"/>
            <a:ext cx="2057949" cy="3108960"/>
          </a:xfrm>
          <a:prstGeom prst="roundRect">
            <a:avLst>
              <a:gd name="adj" fmla="val 2666"/>
            </a:avLst>
          </a:prstGeom>
          <a:solidFill>
            <a:srgbClr val="FFFFFF"/>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8" name="Shape 6"/>
          <p:cNvSpPr/>
          <p:nvPr/>
        </p:nvSpPr>
        <p:spPr>
          <a:xfrm>
            <a:off x="548640" y="1426464"/>
            <a:ext cx="2057949" cy="676656"/>
          </a:xfrm>
          <a:prstGeom prst="rect">
            <a:avLst/>
          </a:prstGeom>
          <a:solidFill>
            <a:srgbClr val="1660BF"/>
          </a:solidFill>
          <a:ln w="12700">
            <a:solidFill>
              <a:srgbClr val="1660BF"/>
            </a:solidFill>
            <a:prstDash val="solid"/>
          </a:ln>
        </p:spPr>
        <p:txBody>
          <a:bodyPr/>
          <a:lstStyle/>
          <a:p>
            <a:endParaRPr lang="en-US"/>
          </a:p>
        </p:txBody>
      </p:sp>
      <p:sp>
        <p:nvSpPr>
          <p:cNvPr id="9" name="Text 7"/>
          <p:cNvSpPr txBox="1"/>
          <p:nvPr/>
        </p:nvSpPr>
        <p:spPr>
          <a:xfrm>
            <a:off x="694944" y="1517904"/>
            <a:ext cx="1765341" cy="274320"/>
          </a:xfrm>
          <a:prstGeom prst="rect">
            <a:avLst/>
          </a:prstGeom>
          <a:noFill/>
          <a:ln/>
        </p:spPr>
        <p:txBody>
          <a:bodyPr wrap="square" lIns="0" tIns="0" rIns="0" bIns="0" rtlCol="0" anchor="t"/>
          <a:lstStyle/>
          <a:p>
            <a:pPr marL="0" indent="0">
              <a:buNone/>
            </a:pPr>
            <a:r>
              <a:rPr lang="en-US" sz="1150" b="1" dirty="0">
                <a:solidFill>
                  <a:srgbClr val="FFFFFF"/>
                </a:solidFill>
                <a:latin typeface="Calibri" pitchFamily="34" charset="0"/>
                <a:ea typeface="Calibri" pitchFamily="34" charset="-122"/>
                <a:cs typeface="Calibri" pitchFamily="34" charset="-120"/>
              </a:rPr>
              <a:t>Người dùng nội bộ</a:t>
            </a:r>
            <a:endParaRPr lang="en-US" sz="1150" dirty="0"/>
          </a:p>
        </p:txBody>
      </p:sp>
      <p:sp>
        <p:nvSpPr>
          <p:cNvPr id="10" name="Text 8"/>
          <p:cNvSpPr txBox="1"/>
          <p:nvPr/>
        </p:nvSpPr>
        <p:spPr>
          <a:xfrm>
            <a:off x="694944" y="1792224"/>
            <a:ext cx="1765341" cy="237744"/>
          </a:xfrm>
          <a:prstGeom prst="rect">
            <a:avLst/>
          </a:prstGeom>
          <a:noFill/>
          <a:ln/>
        </p:spPr>
        <p:txBody>
          <a:bodyPr wrap="square" lIns="0" tIns="0" rIns="0" bIns="0" rtlCol="0" anchor="t"/>
          <a:lstStyle/>
          <a:p>
            <a:pPr marL="0" indent="0">
              <a:buNone/>
            </a:pPr>
            <a:r>
              <a:rPr lang="en-US" sz="900" i="1" dirty="0">
                <a:solidFill>
                  <a:srgbClr val="AFC6E4"/>
                </a:solidFill>
                <a:latin typeface="Calibri" pitchFamily="34" charset="0"/>
                <a:ea typeface="Calibri" pitchFamily="34" charset="-122"/>
                <a:cs typeface="Calibri" pitchFamily="34" charset="-120"/>
              </a:rPr>
              <a:t>End-user</a:t>
            </a:r>
            <a:endParaRPr lang="en-US" sz="900" dirty="0"/>
          </a:p>
        </p:txBody>
      </p:sp>
      <p:sp>
        <p:nvSpPr>
          <p:cNvPr id="11" name="Text 9"/>
          <p:cNvSpPr txBox="1"/>
          <p:nvPr/>
        </p:nvSpPr>
        <p:spPr>
          <a:xfrm>
            <a:off x="694944" y="2231136"/>
            <a:ext cx="1765341" cy="2560320"/>
          </a:xfrm>
          <a:prstGeom prst="rect">
            <a:avLst/>
          </a:prstGeom>
          <a:noFill/>
          <a:ln/>
        </p:spPr>
        <p:txBody>
          <a:bodyPr wrap="square" lIns="0" tIns="0" rIns="0" bIns="0" rtlCol="0" anchor="t"/>
          <a:lstStyle/>
          <a:p>
            <a:pPr marL="342900" indent="-342900">
              <a:spcAft>
                <a:spcPts val="500"/>
              </a:spcAft>
              <a:buSzPct val="100000"/>
              <a:buChar char="•"/>
            </a:pPr>
            <a:r>
              <a:rPr lang="en-US" sz="950" dirty="0">
                <a:solidFill>
                  <a:srgbClr val="2A3442"/>
                </a:solidFill>
                <a:latin typeface="Calibri" pitchFamily="34" charset="0"/>
                <a:ea typeface="Calibri" pitchFamily="34" charset="-122"/>
                <a:cs typeface="Calibri" pitchFamily="34" charset="-120"/>
              </a:rPr>
              <a:t>Khởi tạo PYC trên Cổng dịch vụ CNTT, mô tả chi tiết yêu cầu.</a:t>
            </a:r>
            <a:endParaRPr lang="en-US" sz="950" dirty="0"/>
          </a:p>
          <a:p>
            <a:pPr marL="342900" indent="-342900">
              <a:spcAft>
                <a:spcPts val="500"/>
              </a:spcAft>
              <a:buSzPct val="100000"/>
              <a:buChar char="•"/>
            </a:pPr>
            <a:r>
              <a:rPr lang="en-US" sz="950" dirty="0">
                <a:solidFill>
                  <a:srgbClr val="2A3442"/>
                </a:solidFill>
                <a:latin typeface="Calibri" pitchFamily="34" charset="0"/>
                <a:ea typeface="Calibri" pitchFamily="34" charset="-122"/>
                <a:cs typeface="Calibri" pitchFamily="34" charset="-120"/>
              </a:rPr>
              <a:t>Đính kèm tài liệu hỗ trợ (email phê duyệt, mã dự án).</a:t>
            </a:r>
            <a:endParaRPr lang="en-US" sz="950" dirty="0"/>
          </a:p>
          <a:p>
            <a:pPr marL="342900" indent="-342900">
              <a:spcAft>
                <a:spcPts val="500"/>
              </a:spcAft>
              <a:buSzPct val="100000"/>
              <a:buChar char="•"/>
            </a:pPr>
            <a:r>
              <a:rPr lang="en-US" sz="950" dirty="0">
                <a:solidFill>
                  <a:srgbClr val="2A3442"/>
                </a:solidFill>
                <a:latin typeface="Calibri" pitchFamily="34" charset="0"/>
                <a:ea typeface="Calibri" pitchFamily="34" charset="-122"/>
                <a:cs typeface="Calibri" pitchFamily="34" charset="-120"/>
              </a:rPr>
              <a:t>Kiểm tra và xác nhận kết quả sau khi được cấp quyền/thiết bị.</a:t>
            </a:r>
            <a:endParaRPr lang="en-US" sz="950" dirty="0"/>
          </a:p>
          <a:p>
            <a:pPr marL="342900" indent="-342900">
              <a:spcAft>
                <a:spcPts val="500"/>
              </a:spcAft>
              <a:buSzPct val="100000"/>
              <a:buChar char="•"/>
            </a:pPr>
            <a:r>
              <a:rPr lang="en-US" sz="950" dirty="0">
                <a:solidFill>
                  <a:srgbClr val="2A3442"/>
                </a:solidFill>
                <a:latin typeface="Calibri" pitchFamily="34" charset="0"/>
                <a:ea typeface="Calibri" pitchFamily="34" charset="-122"/>
                <a:cs typeface="Calibri" pitchFamily="34" charset="-120"/>
              </a:rPr>
              <a:t>Phản hồi đánh giá chất lượng dịch vụ (CSAT survey).</a:t>
            </a:r>
            <a:endParaRPr lang="en-US" sz="950" dirty="0"/>
          </a:p>
        </p:txBody>
      </p:sp>
      <p:sp>
        <p:nvSpPr>
          <p:cNvPr id="12" name="Shape 10"/>
          <p:cNvSpPr/>
          <p:nvPr/>
        </p:nvSpPr>
        <p:spPr>
          <a:xfrm>
            <a:off x="2807757" y="1426464"/>
            <a:ext cx="2057949" cy="3108960"/>
          </a:xfrm>
          <a:prstGeom prst="roundRect">
            <a:avLst>
              <a:gd name="adj" fmla="val 2666"/>
            </a:avLst>
          </a:prstGeom>
          <a:solidFill>
            <a:srgbClr val="FFFFFF"/>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13" name="Shape 11"/>
          <p:cNvSpPr/>
          <p:nvPr/>
        </p:nvSpPr>
        <p:spPr>
          <a:xfrm>
            <a:off x="2807757" y="1426464"/>
            <a:ext cx="2057949" cy="676656"/>
          </a:xfrm>
          <a:prstGeom prst="rect">
            <a:avLst/>
          </a:prstGeom>
          <a:solidFill>
            <a:srgbClr val="0B3B75"/>
          </a:solidFill>
          <a:ln w="12700">
            <a:solidFill>
              <a:srgbClr val="0B3B75"/>
            </a:solidFill>
            <a:prstDash val="solid"/>
          </a:ln>
        </p:spPr>
        <p:txBody>
          <a:bodyPr/>
          <a:lstStyle/>
          <a:p>
            <a:endParaRPr lang="en-US"/>
          </a:p>
        </p:txBody>
      </p:sp>
      <p:sp>
        <p:nvSpPr>
          <p:cNvPr id="14" name="Text 12"/>
          <p:cNvSpPr txBox="1"/>
          <p:nvPr/>
        </p:nvSpPr>
        <p:spPr>
          <a:xfrm>
            <a:off x="2954061" y="1517904"/>
            <a:ext cx="1765341" cy="274320"/>
          </a:xfrm>
          <a:prstGeom prst="rect">
            <a:avLst/>
          </a:prstGeom>
          <a:noFill/>
          <a:ln/>
        </p:spPr>
        <p:txBody>
          <a:bodyPr wrap="square" lIns="0" tIns="0" rIns="0" bIns="0" rtlCol="0" anchor="t"/>
          <a:lstStyle/>
          <a:p>
            <a:pPr marL="0" indent="0">
              <a:buNone/>
            </a:pPr>
            <a:r>
              <a:rPr lang="en-US" sz="1150" b="1" dirty="0">
                <a:solidFill>
                  <a:srgbClr val="FFFFFF"/>
                </a:solidFill>
                <a:latin typeface="Calibri" pitchFamily="34" charset="0"/>
                <a:ea typeface="Calibri" pitchFamily="34" charset="-122"/>
                <a:cs typeface="Calibri" pitchFamily="34" charset="-120"/>
              </a:rPr>
              <a:t>Quản lý trực tiếp</a:t>
            </a:r>
            <a:endParaRPr lang="en-US" sz="1150" dirty="0"/>
          </a:p>
        </p:txBody>
      </p:sp>
      <p:sp>
        <p:nvSpPr>
          <p:cNvPr id="15" name="Text 13"/>
          <p:cNvSpPr txBox="1"/>
          <p:nvPr/>
        </p:nvSpPr>
        <p:spPr>
          <a:xfrm>
            <a:off x="2954061" y="1792224"/>
            <a:ext cx="1765341" cy="237744"/>
          </a:xfrm>
          <a:prstGeom prst="rect">
            <a:avLst/>
          </a:prstGeom>
          <a:noFill/>
          <a:ln/>
        </p:spPr>
        <p:txBody>
          <a:bodyPr wrap="square" lIns="0" tIns="0" rIns="0" bIns="0" rtlCol="0" anchor="t"/>
          <a:lstStyle/>
          <a:p>
            <a:pPr marL="0" indent="0">
              <a:buNone/>
            </a:pPr>
            <a:r>
              <a:rPr lang="en-US" sz="900" i="1" dirty="0">
                <a:solidFill>
                  <a:srgbClr val="AFC6E4"/>
                </a:solidFill>
                <a:latin typeface="Calibri" pitchFamily="34" charset="0"/>
                <a:ea typeface="Calibri" pitchFamily="34" charset="-122"/>
                <a:cs typeface="Calibri" pitchFamily="34" charset="-120"/>
              </a:rPr>
              <a:t>Trưởng/Phó đơn vị</a:t>
            </a:r>
            <a:endParaRPr lang="en-US" sz="900" dirty="0"/>
          </a:p>
        </p:txBody>
      </p:sp>
      <p:sp>
        <p:nvSpPr>
          <p:cNvPr id="16" name="Text 14"/>
          <p:cNvSpPr txBox="1"/>
          <p:nvPr/>
        </p:nvSpPr>
        <p:spPr>
          <a:xfrm>
            <a:off x="2954061" y="2231136"/>
            <a:ext cx="1765341" cy="2560320"/>
          </a:xfrm>
          <a:prstGeom prst="rect">
            <a:avLst/>
          </a:prstGeom>
          <a:noFill/>
          <a:ln/>
        </p:spPr>
        <p:txBody>
          <a:bodyPr wrap="square" lIns="0" tIns="0" rIns="0" bIns="0" rtlCol="0" anchor="t"/>
          <a:lstStyle/>
          <a:p>
            <a:pPr marL="342900" indent="-342900">
              <a:spcAft>
                <a:spcPts val="500"/>
              </a:spcAft>
              <a:buSzPct val="100000"/>
              <a:buChar char="•"/>
            </a:pPr>
            <a:r>
              <a:rPr lang="en-US" sz="950" dirty="0">
                <a:solidFill>
                  <a:srgbClr val="2A3442"/>
                </a:solidFill>
                <a:latin typeface="Calibri" pitchFamily="34" charset="0"/>
                <a:ea typeface="Calibri" pitchFamily="34" charset="-122"/>
                <a:cs typeface="Calibri" pitchFamily="34" charset="-120"/>
              </a:rPr>
              <a:t>Xem xét và phê duyệt PYC thuộc nhóm quyền rủi ro cao.</a:t>
            </a:r>
            <a:endParaRPr lang="en-US" sz="950" dirty="0"/>
          </a:p>
          <a:p>
            <a:pPr marL="342900" indent="-342900">
              <a:spcAft>
                <a:spcPts val="500"/>
              </a:spcAft>
              <a:buSzPct val="100000"/>
              <a:buChar char="•"/>
            </a:pPr>
            <a:r>
              <a:rPr lang="en-US" sz="950" dirty="0">
                <a:solidFill>
                  <a:srgbClr val="2A3442"/>
                </a:solidFill>
                <a:latin typeface="Calibri" pitchFamily="34" charset="0"/>
                <a:ea typeface="Calibri" pitchFamily="34" charset="-122"/>
                <a:cs typeface="Calibri" pitchFamily="34" charset="-120"/>
              </a:rPr>
              <a:t>Đánh giá tính hợp lệ: đúng thẩm quyền, phù hợp nhiệm vụ, tuân thủ chính sách ATTT.</a:t>
            </a:r>
            <a:endParaRPr lang="en-US" sz="950" dirty="0"/>
          </a:p>
          <a:p>
            <a:pPr marL="342900" indent="-342900">
              <a:spcAft>
                <a:spcPts val="500"/>
              </a:spcAft>
              <a:buSzPct val="100000"/>
              <a:buChar char="•"/>
            </a:pPr>
            <a:r>
              <a:rPr lang="en-US" sz="950" dirty="0">
                <a:solidFill>
                  <a:srgbClr val="2A3442"/>
                </a:solidFill>
                <a:latin typeface="Calibri" pitchFamily="34" charset="0"/>
                <a:ea typeface="Calibri" pitchFamily="34" charset="-122"/>
                <a:cs typeface="Calibri" pitchFamily="34" charset="-120"/>
              </a:rPr>
              <a:t>Từ chối PYC không đạt tiêu chí hoặc yêu cầu bổ sung thông tin.</a:t>
            </a:r>
            <a:endParaRPr lang="en-US" sz="950" dirty="0"/>
          </a:p>
        </p:txBody>
      </p:sp>
      <p:sp>
        <p:nvSpPr>
          <p:cNvPr id="17" name="Shape 15"/>
          <p:cNvSpPr/>
          <p:nvPr/>
        </p:nvSpPr>
        <p:spPr>
          <a:xfrm>
            <a:off x="5066873" y="1426464"/>
            <a:ext cx="2057949" cy="3108960"/>
          </a:xfrm>
          <a:prstGeom prst="roundRect">
            <a:avLst>
              <a:gd name="adj" fmla="val 2666"/>
            </a:avLst>
          </a:prstGeom>
          <a:solidFill>
            <a:srgbClr val="FFFFFF"/>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18" name="Shape 16"/>
          <p:cNvSpPr/>
          <p:nvPr/>
        </p:nvSpPr>
        <p:spPr>
          <a:xfrm>
            <a:off x="5066873" y="1426464"/>
            <a:ext cx="2057949" cy="676656"/>
          </a:xfrm>
          <a:prstGeom prst="rect">
            <a:avLst/>
          </a:prstGeom>
          <a:solidFill>
            <a:srgbClr val="0B3B75"/>
          </a:solidFill>
          <a:ln w="12700">
            <a:solidFill>
              <a:srgbClr val="0B3B75"/>
            </a:solidFill>
            <a:prstDash val="solid"/>
          </a:ln>
        </p:spPr>
        <p:txBody>
          <a:bodyPr/>
          <a:lstStyle/>
          <a:p>
            <a:endParaRPr lang="en-US"/>
          </a:p>
        </p:txBody>
      </p:sp>
      <p:sp>
        <p:nvSpPr>
          <p:cNvPr id="19" name="Text 17"/>
          <p:cNvSpPr txBox="1"/>
          <p:nvPr/>
        </p:nvSpPr>
        <p:spPr>
          <a:xfrm>
            <a:off x="5213177" y="1517904"/>
            <a:ext cx="1765341" cy="274320"/>
          </a:xfrm>
          <a:prstGeom prst="rect">
            <a:avLst/>
          </a:prstGeom>
          <a:noFill/>
          <a:ln/>
        </p:spPr>
        <p:txBody>
          <a:bodyPr wrap="square" lIns="0" tIns="0" rIns="0" bIns="0" rtlCol="0" anchor="t"/>
          <a:lstStyle/>
          <a:p>
            <a:pPr marL="0" indent="0">
              <a:buNone/>
            </a:pPr>
            <a:r>
              <a:rPr lang="en-US" sz="1150" b="1" dirty="0">
                <a:solidFill>
                  <a:srgbClr val="FFFFFF"/>
                </a:solidFill>
                <a:latin typeface="Calibri" pitchFamily="34" charset="0"/>
                <a:ea typeface="Calibri" pitchFamily="34" charset="-122"/>
                <a:cs typeface="Calibri" pitchFamily="34" charset="-120"/>
              </a:rPr>
              <a:t>IT Helpdesk</a:t>
            </a:r>
            <a:endParaRPr lang="en-US" sz="1150" dirty="0"/>
          </a:p>
        </p:txBody>
      </p:sp>
      <p:sp>
        <p:nvSpPr>
          <p:cNvPr id="20" name="Text 18"/>
          <p:cNvSpPr txBox="1"/>
          <p:nvPr/>
        </p:nvSpPr>
        <p:spPr>
          <a:xfrm>
            <a:off x="5213177" y="1792224"/>
            <a:ext cx="1765341" cy="237744"/>
          </a:xfrm>
          <a:prstGeom prst="rect">
            <a:avLst/>
          </a:prstGeom>
          <a:noFill/>
          <a:ln/>
        </p:spPr>
        <p:txBody>
          <a:bodyPr wrap="square" lIns="0" tIns="0" rIns="0" bIns="0" rtlCol="0" anchor="t"/>
          <a:lstStyle/>
          <a:p>
            <a:pPr marL="0" indent="0">
              <a:buNone/>
            </a:pPr>
            <a:r>
              <a:rPr lang="en-US" sz="900" i="1" dirty="0">
                <a:solidFill>
                  <a:srgbClr val="AFC6E4"/>
                </a:solidFill>
                <a:latin typeface="Calibri" pitchFamily="34" charset="0"/>
                <a:ea typeface="Calibri" pitchFamily="34" charset="-122"/>
                <a:cs typeface="Calibri" pitchFamily="34" charset="-120"/>
              </a:rPr>
              <a:t>Service Desk Level 1</a:t>
            </a:r>
            <a:endParaRPr lang="en-US" sz="900" dirty="0"/>
          </a:p>
        </p:txBody>
      </p:sp>
      <p:sp>
        <p:nvSpPr>
          <p:cNvPr id="21" name="Text 19"/>
          <p:cNvSpPr txBox="1"/>
          <p:nvPr/>
        </p:nvSpPr>
        <p:spPr>
          <a:xfrm>
            <a:off x="5213177" y="2231136"/>
            <a:ext cx="1765341" cy="2560320"/>
          </a:xfrm>
          <a:prstGeom prst="rect">
            <a:avLst/>
          </a:prstGeom>
          <a:noFill/>
          <a:ln/>
        </p:spPr>
        <p:txBody>
          <a:bodyPr wrap="square" lIns="0" tIns="0" rIns="0" bIns="0" rtlCol="0" anchor="t"/>
          <a:lstStyle/>
          <a:p>
            <a:pPr marL="342900" indent="-342900">
              <a:spcAft>
                <a:spcPts val="500"/>
              </a:spcAft>
              <a:buSzPct val="100000"/>
              <a:buChar char="•"/>
            </a:pPr>
            <a:r>
              <a:rPr lang="en-US" sz="950" dirty="0">
                <a:solidFill>
                  <a:srgbClr val="2A3442"/>
                </a:solidFill>
                <a:latin typeface="Calibri" pitchFamily="34" charset="0"/>
                <a:ea typeface="Calibri" pitchFamily="34" charset="-122"/>
                <a:cs typeface="Calibri" pitchFamily="34" charset="-120"/>
              </a:rPr>
              <a:t>Tiếp nhận và phân loại Work Order trên dashboard ITSM.</a:t>
            </a:r>
            <a:endParaRPr lang="en-US" sz="950" dirty="0"/>
          </a:p>
          <a:p>
            <a:pPr marL="342900" indent="-342900">
              <a:spcAft>
                <a:spcPts val="500"/>
              </a:spcAft>
              <a:buSzPct val="100000"/>
              <a:buChar char="•"/>
            </a:pPr>
            <a:r>
              <a:rPr lang="en-US" sz="950" dirty="0">
                <a:solidFill>
                  <a:srgbClr val="2A3442"/>
                </a:solidFill>
                <a:latin typeface="Calibri" pitchFamily="34" charset="0"/>
                <a:ea typeface="Calibri" pitchFamily="34" charset="-122"/>
                <a:cs typeface="Calibri" pitchFamily="34" charset="-120"/>
              </a:rPr>
              <a:t>Xử lý trực tiếp yêu cầu cơ bản: reset password, cấp Wifi, unlock account.</a:t>
            </a:r>
            <a:endParaRPr lang="en-US" sz="950" dirty="0"/>
          </a:p>
          <a:p>
            <a:pPr marL="342900" indent="-342900">
              <a:spcAft>
                <a:spcPts val="500"/>
              </a:spcAft>
              <a:buSzPct val="100000"/>
              <a:buChar char="•"/>
            </a:pPr>
            <a:r>
              <a:rPr lang="en-US" sz="950" dirty="0">
                <a:solidFill>
                  <a:srgbClr val="2A3442"/>
                </a:solidFill>
                <a:latin typeface="Calibri" pitchFamily="34" charset="0"/>
                <a:ea typeface="Calibri" pitchFamily="34" charset="-122"/>
                <a:cs typeface="Calibri" pitchFamily="34" charset="-120"/>
              </a:rPr>
              <a:t>Escalate WO vượt phạm vi lên Level 2 kèm ghi chú phân tích.</a:t>
            </a:r>
            <a:endParaRPr lang="en-US" sz="950" dirty="0"/>
          </a:p>
          <a:p>
            <a:pPr marL="342900" indent="-342900">
              <a:spcAft>
                <a:spcPts val="500"/>
              </a:spcAft>
              <a:buSzPct val="100000"/>
              <a:buChar char="•"/>
            </a:pPr>
            <a:r>
              <a:rPr lang="en-US" sz="950" dirty="0">
                <a:solidFill>
                  <a:srgbClr val="2A3442"/>
                </a:solidFill>
                <a:latin typeface="Calibri" pitchFamily="34" charset="0"/>
                <a:ea typeface="Calibri" pitchFamily="34" charset="-122"/>
                <a:cs typeface="Calibri" pitchFamily="34" charset="-120"/>
              </a:rPr>
              <a:t>Cập nhật trạng thái phiếu và thông báo cho người dùng.</a:t>
            </a:r>
            <a:endParaRPr lang="en-US" sz="950" dirty="0"/>
          </a:p>
        </p:txBody>
      </p:sp>
      <p:sp>
        <p:nvSpPr>
          <p:cNvPr id="22" name="Shape 20"/>
          <p:cNvSpPr/>
          <p:nvPr/>
        </p:nvSpPr>
        <p:spPr>
          <a:xfrm>
            <a:off x="7325990" y="1426464"/>
            <a:ext cx="2057949" cy="3108960"/>
          </a:xfrm>
          <a:prstGeom prst="roundRect">
            <a:avLst>
              <a:gd name="adj" fmla="val 2666"/>
            </a:avLst>
          </a:prstGeom>
          <a:solidFill>
            <a:srgbClr val="FFFFFF"/>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23" name="Shape 21"/>
          <p:cNvSpPr/>
          <p:nvPr/>
        </p:nvSpPr>
        <p:spPr>
          <a:xfrm>
            <a:off x="7325990" y="1426464"/>
            <a:ext cx="2057949" cy="676656"/>
          </a:xfrm>
          <a:prstGeom prst="rect">
            <a:avLst/>
          </a:prstGeom>
          <a:solidFill>
            <a:srgbClr val="0B3B75"/>
          </a:solidFill>
          <a:ln w="12700">
            <a:solidFill>
              <a:srgbClr val="0B3B75"/>
            </a:solidFill>
            <a:prstDash val="solid"/>
          </a:ln>
        </p:spPr>
        <p:txBody>
          <a:bodyPr/>
          <a:lstStyle/>
          <a:p>
            <a:endParaRPr lang="en-US"/>
          </a:p>
        </p:txBody>
      </p:sp>
      <p:sp>
        <p:nvSpPr>
          <p:cNvPr id="24" name="Text 22"/>
          <p:cNvSpPr txBox="1"/>
          <p:nvPr/>
        </p:nvSpPr>
        <p:spPr>
          <a:xfrm>
            <a:off x="7472294" y="1517904"/>
            <a:ext cx="1765341" cy="274320"/>
          </a:xfrm>
          <a:prstGeom prst="rect">
            <a:avLst/>
          </a:prstGeom>
          <a:noFill/>
          <a:ln/>
        </p:spPr>
        <p:txBody>
          <a:bodyPr wrap="square" lIns="0" tIns="0" rIns="0" bIns="0" rtlCol="0" anchor="t"/>
          <a:lstStyle/>
          <a:p>
            <a:pPr marL="0" indent="0">
              <a:buNone/>
            </a:pPr>
            <a:r>
              <a:rPr lang="en-US" sz="1150" b="1" dirty="0">
                <a:solidFill>
                  <a:srgbClr val="FFFFFF"/>
                </a:solidFill>
                <a:latin typeface="Calibri" pitchFamily="34" charset="0"/>
                <a:ea typeface="Calibri" pitchFamily="34" charset="-122"/>
                <a:cs typeface="Calibri" pitchFamily="34" charset="-120"/>
              </a:rPr>
              <a:t>Chuyên viên kỹ thuật</a:t>
            </a:r>
            <a:endParaRPr lang="en-US" sz="1150" dirty="0"/>
          </a:p>
        </p:txBody>
      </p:sp>
      <p:sp>
        <p:nvSpPr>
          <p:cNvPr id="25" name="Text 23"/>
          <p:cNvSpPr txBox="1"/>
          <p:nvPr/>
        </p:nvSpPr>
        <p:spPr>
          <a:xfrm>
            <a:off x="7472294" y="1792224"/>
            <a:ext cx="1765341" cy="237744"/>
          </a:xfrm>
          <a:prstGeom prst="rect">
            <a:avLst/>
          </a:prstGeom>
          <a:noFill/>
          <a:ln/>
        </p:spPr>
        <p:txBody>
          <a:bodyPr wrap="square" lIns="0" tIns="0" rIns="0" bIns="0" rtlCol="0" anchor="t"/>
          <a:lstStyle/>
          <a:p>
            <a:pPr marL="0" indent="0">
              <a:buNone/>
            </a:pPr>
            <a:r>
              <a:rPr lang="en-US" sz="900" i="1" dirty="0">
                <a:solidFill>
                  <a:srgbClr val="AFC6E4"/>
                </a:solidFill>
                <a:latin typeface="Calibri" pitchFamily="34" charset="0"/>
                <a:ea typeface="Calibri" pitchFamily="34" charset="-122"/>
                <a:cs typeface="Calibri" pitchFamily="34" charset="-120"/>
              </a:rPr>
              <a:t>Level 2</a:t>
            </a:r>
            <a:endParaRPr lang="en-US" sz="900" dirty="0"/>
          </a:p>
        </p:txBody>
      </p:sp>
      <p:sp>
        <p:nvSpPr>
          <p:cNvPr id="26" name="Text 24"/>
          <p:cNvSpPr txBox="1"/>
          <p:nvPr/>
        </p:nvSpPr>
        <p:spPr>
          <a:xfrm>
            <a:off x="7472294" y="2231136"/>
            <a:ext cx="1765341" cy="2560320"/>
          </a:xfrm>
          <a:prstGeom prst="rect">
            <a:avLst/>
          </a:prstGeom>
          <a:noFill/>
          <a:ln/>
        </p:spPr>
        <p:txBody>
          <a:bodyPr wrap="square" lIns="0" tIns="0" rIns="0" bIns="0" rtlCol="0" anchor="t"/>
          <a:lstStyle/>
          <a:p>
            <a:pPr marL="342900" indent="-342900">
              <a:spcAft>
                <a:spcPts val="500"/>
              </a:spcAft>
              <a:buSzPct val="100000"/>
              <a:buChar char="•"/>
            </a:pPr>
            <a:r>
              <a:rPr lang="en-US" sz="950" dirty="0">
                <a:solidFill>
                  <a:srgbClr val="2A3442"/>
                </a:solidFill>
                <a:latin typeface="Calibri" pitchFamily="34" charset="0"/>
                <a:ea typeface="Calibri" pitchFamily="34" charset="-122"/>
                <a:cs typeface="Calibri" pitchFamily="34" charset="-120"/>
              </a:rPr>
              <a:t>Tiếp nhận WO từ L1, cấu hình cấp quyền trên T24, Active Directory, Database.</a:t>
            </a:r>
            <a:endParaRPr lang="en-US" sz="950" dirty="0"/>
          </a:p>
          <a:p>
            <a:pPr marL="342900" indent="-342900">
              <a:spcAft>
                <a:spcPts val="500"/>
              </a:spcAft>
              <a:buSzPct val="100000"/>
              <a:buChar char="•"/>
            </a:pPr>
            <a:r>
              <a:rPr lang="en-US" sz="950" dirty="0">
                <a:solidFill>
                  <a:srgbClr val="2A3442"/>
                </a:solidFill>
                <a:latin typeface="Calibri" pitchFamily="34" charset="0"/>
                <a:ea typeface="Calibri" pitchFamily="34" charset="-122"/>
                <a:cs typeface="Calibri" pitchFamily="34" charset="-120"/>
              </a:rPr>
              <a:t>Ghi nhật ký an toàn bảo mật trên hệ thống ITSM.</a:t>
            </a:r>
            <a:endParaRPr lang="en-US" sz="950" dirty="0"/>
          </a:p>
          <a:p>
            <a:pPr marL="342900" indent="-342900">
              <a:spcAft>
                <a:spcPts val="500"/>
              </a:spcAft>
              <a:buSzPct val="100000"/>
              <a:buChar char="•"/>
            </a:pPr>
            <a:r>
              <a:rPr lang="en-US" sz="950" dirty="0">
                <a:solidFill>
                  <a:srgbClr val="2A3442"/>
                </a:solidFill>
                <a:latin typeface="Calibri" pitchFamily="34" charset="0"/>
                <a:ea typeface="Calibri" pitchFamily="34" charset="-122"/>
                <a:cs typeface="Calibri" pitchFamily="34" charset="-120"/>
              </a:rPr>
              <a:t>Kiểm tra kết quả cấu hình, xác nhận quyền đã cấp đúng.</a:t>
            </a:r>
            <a:endParaRPr lang="en-US" sz="950" dirty="0"/>
          </a:p>
        </p:txBody>
      </p:sp>
      <p:sp>
        <p:nvSpPr>
          <p:cNvPr id="27" name="Shape 25"/>
          <p:cNvSpPr/>
          <p:nvPr/>
        </p:nvSpPr>
        <p:spPr>
          <a:xfrm>
            <a:off x="9585107" y="1426464"/>
            <a:ext cx="2057949" cy="3108960"/>
          </a:xfrm>
          <a:prstGeom prst="roundRect">
            <a:avLst>
              <a:gd name="adj" fmla="val 2666"/>
            </a:avLst>
          </a:prstGeom>
          <a:solidFill>
            <a:srgbClr val="FFFFFF"/>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28" name="Shape 26"/>
          <p:cNvSpPr/>
          <p:nvPr/>
        </p:nvSpPr>
        <p:spPr>
          <a:xfrm>
            <a:off x="9585107" y="1426464"/>
            <a:ext cx="2057949" cy="676656"/>
          </a:xfrm>
          <a:prstGeom prst="rect">
            <a:avLst/>
          </a:prstGeom>
          <a:solidFill>
            <a:srgbClr val="0B3B75"/>
          </a:solidFill>
          <a:ln w="12700">
            <a:solidFill>
              <a:srgbClr val="0B3B75"/>
            </a:solidFill>
            <a:prstDash val="solid"/>
          </a:ln>
        </p:spPr>
        <p:txBody>
          <a:bodyPr/>
          <a:lstStyle/>
          <a:p>
            <a:endParaRPr lang="en-US"/>
          </a:p>
        </p:txBody>
      </p:sp>
      <p:sp>
        <p:nvSpPr>
          <p:cNvPr id="29" name="Text 27"/>
          <p:cNvSpPr txBox="1"/>
          <p:nvPr/>
        </p:nvSpPr>
        <p:spPr>
          <a:xfrm>
            <a:off x="9731411" y="1517904"/>
            <a:ext cx="1765341" cy="274320"/>
          </a:xfrm>
          <a:prstGeom prst="rect">
            <a:avLst/>
          </a:prstGeom>
          <a:noFill/>
          <a:ln/>
        </p:spPr>
        <p:txBody>
          <a:bodyPr wrap="square" lIns="0" tIns="0" rIns="0" bIns="0" rtlCol="0" anchor="t"/>
          <a:lstStyle/>
          <a:p>
            <a:pPr marL="0" indent="0">
              <a:buNone/>
            </a:pPr>
            <a:r>
              <a:rPr lang="en-US" sz="1150" b="1" dirty="0">
                <a:solidFill>
                  <a:srgbClr val="FFFFFF"/>
                </a:solidFill>
                <a:latin typeface="Calibri" pitchFamily="34" charset="0"/>
                <a:ea typeface="Calibri" pitchFamily="34" charset="-122"/>
                <a:cs typeface="Calibri" pitchFamily="34" charset="-120"/>
              </a:rPr>
              <a:t>Hệ thống ITSM</a:t>
            </a:r>
            <a:endParaRPr lang="en-US" sz="1150" dirty="0"/>
          </a:p>
        </p:txBody>
      </p:sp>
      <p:sp>
        <p:nvSpPr>
          <p:cNvPr id="30" name="Text 28"/>
          <p:cNvSpPr txBox="1"/>
          <p:nvPr/>
        </p:nvSpPr>
        <p:spPr>
          <a:xfrm>
            <a:off x="9731411" y="1792224"/>
            <a:ext cx="1765341" cy="237744"/>
          </a:xfrm>
          <a:prstGeom prst="rect">
            <a:avLst/>
          </a:prstGeom>
          <a:noFill/>
          <a:ln/>
        </p:spPr>
        <p:txBody>
          <a:bodyPr wrap="square" lIns="0" tIns="0" rIns="0" bIns="0" rtlCol="0" anchor="t"/>
          <a:lstStyle/>
          <a:p>
            <a:pPr marL="0" indent="0">
              <a:buNone/>
            </a:pPr>
            <a:r>
              <a:rPr lang="en-US" sz="900" i="1" dirty="0">
                <a:solidFill>
                  <a:srgbClr val="AFC6E4"/>
                </a:solidFill>
                <a:latin typeface="Calibri" pitchFamily="34" charset="0"/>
                <a:ea typeface="Calibri" pitchFamily="34" charset="-122"/>
                <a:cs typeface="Calibri" pitchFamily="34" charset="-120"/>
              </a:rPr>
              <a:t>BMC Helix / SmartIT</a:t>
            </a:r>
            <a:endParaRPr lang="en-US" sz="900" dirty="0"/>
          </a:p>
        </p:txBody>
      </p:sp>
      <p:sp>
        <p:nvSpPr>
          <p:cNvPr id="31" name="Text 29"/>
          <p:cNvSpPr txBox="1"/>
          <p:nvPr/>
        </p:nvSpPr>
        <p:spPr>
          <a:xfrm>
            <a:off x="9731411" y="2231136"/>
            <a:ext cx="1765341" cy="2560320"/>
          </a:xfrm>
          <a:prstGeom prst="rect">
            <a:avLst/>
          </a:prstGeom>
          <a:noFill/>
          <a:ln/>
        </p:spPr>
        <p:txBody>
          <a:bodyPr wrap="square" lIns="0" tIns="0" rIns="0" bIns="0" rtlCol="0" anchor="t"/>
          <a:lstStyle/>
          <a:p>
            <a:pPr marL="342900" indent="-342900">
              <a:spcAft>
                <a:spcPts val="500"/>
              </a:spcAft>
              <a:buSzPct val="100000"/>
              <a:buChar char="•"/>
            </a:pPr>
            <a:r>
              <a:rPr lang="en-US" sz="950" dirty="0">
                <a:solidFill>
                  <a:srgbClr val="2A3442"/>
                </a:solidFill>
                <a:latin typeface="Calibri" pitchFamily="34" charset="0"/>
                <a:ea typeface="Calibri" pitchFamily="34" charset="-122"/>
                <a:cs typeface="Calibri" pitchFamily="34" charset="-120"/>
              </a:rPr>
              <a:t>Tự động sinh Work Order từ PYC đã phê duyệt.</a:t>
            </a:r>
            <a:endParaRPr lang="en-US" sz="950" dirty="0"/>
          </a:p>
          <a:p>
            <a:pPr marL="342900" indent="-342900">
              <a:spcAft>
                <a:spcPts val="500"/>
              </a:spcAft>
              <a:buSzPct val="100000"/>
              <a:buChar char="•"/>
            </a:pPr>
            <a:r>
              <a:rPr lang="en-US" sz="950" dirty="0">
                <a:solidFill>
                  <a:srgbClr val="2A3442"/>
                </a:solidFill>
                <a:latin typeface="Calibri" pitchFamily="34" charset="0"/>
                <a:ea typeface="Calibri" pitchFamily="34" charset="-122"/>
                <a:cs typeface="Calibri" pitchFamily="34" charset="-120"/>
              </a:rPr>
              <a:t>Phân loại rủi ro quyền theo ma trận đã cấu hình.</a:t>
            </a:r>
            <a:endParaRPr lang="en-US" sz="950" dirty="0"/>
          </a:p>
          <a:p>
            <a:pPr marL="342900" indent="-342900">
              <a:spcAft>
                <a:spcPts val="500"/>
              </a:spcAft>
              <a:buSzPct val="100000"/>
              <a:buChar char="•"/>
            </a:pPr>
            <a:r>
              <a:rPr lang="en-US" sz="950" dirty="0">
                <a:solidFill>
                  <a:srgbClr val="2A3442"/>
                </a:solidFill>
                <a:latin typeface="Calibri" pitchFamily="34" charset="0"/>
                <a:ea typeface="Calibri" pitchFamily="34" charset="-122"/>
                <a:cs typeface="Calibri" pitchFamily="34" charset="-120"/>
              </a:rPr>
              <a:t>Theo dõi trạng thái, đếm thời gian SLA, cảnh báo khi gần hết hạn.</a:t>
            </a:r>
            <a:endParaRPr lang="en-US" sz="950" dirty="0"/>
          </a:p>
          <a:p>
            <a:pPr marL="342900" indent="-342900">
              <a:spcAft>
                <a:spcPts val="500"/>
              </a:spcAft>
              <a:buSzPct val="100000"/>
              <a:buChar char="•"/>
            </a:pPr>
            <a:r>
              <a:rPr lang="en-US" sz="950" dirty="0">
                <a:solidFill>
                  <a:srgbClr val="2A3442"/>
                </a:solidFill>
                <a:latin typeface="Calibri" pitchFamily="34" charset="0"/>
                <a:ea typeface="Calibri" pitchFamily="34" charset="-122"/>
                <a:cs typeface="Calibri" pitchFamily="34" charset="-120"/>
              </a:rPr>
              <a:t>Auto-close phiếu nếu người dùng không phản hồi trong 48 giờ.</a:t>
            </a:r>
            <a:endParaRPr lang="en-US" sz="9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2">
    <p:bg>
      <p:bgPr>
        <a:solidFill>
          <a:srgbClr val="0B3B75"/>
        </a:solidFill>
        <a:effectLst/>
      </p:bgPr>
    </p:bg>
    <p:spTree>
      <p:nvGrpSpPr>
        <p:cNvPr id="1" name=""/>
        <p:cNvGrpSpPr/>
        <p:nvPr/>
      </p:nvGrpSpPr>
      <p:grpSpPr>
        <a:xfrm>
          <a:off x="0" y="0"/>
          <a:ext cx="0" cy="0"/>
          <a:chOff x="0" y="0"/>
          <a:chExt cx="0" cy="0"/>
        </a:xfrm>
      </p:grpSpPr>
      <p:sp>
        <p:nvSpPr>
          <p:cNvPr id="2" name="Text 0"/>
          <p:cNvSpPr txBox="1"/>
          <p:nvPr/>
        </p:nvSpPr>
        <p:spPr>
          <a:xfrm>
            <a:off x="548640" y="1920240"/>
            <a:ext cx="1828800" cy="1097280"/>
          </a:xfrm>
          <a:prstGeom prst="rect">
            <a:avLst/>
          </a:prstGeom>
          <a:noFill/>
          <a:ln/>
        </p:spPr>
        <p:txBody>
          <a:bodyPr wrap="square" lIns="0" tIns="0" rIns="0" bIns="0" rtlCol="0" anchor="t"/>
          <a:lstStyle/>
          <a:p>
            <a:pPr marL="0" indent="0">
              <a:buNone/>
            </a:pPr>
            <a:r>
              <a:rPr lang="en-US" sz="6600" b="1" dirty="0">
                <a:solidFill>
                  <a:srgbClr val="D9A227"/>
                </a:solidFill>
                <a:latin typeface="Calibri" pitchFamily="34" charset="0"/>
                <a:ea typeface="Calibri" pitchFamily="34" charset="-122"/>
                <a:cs typeface="Calibri" pitchFamily="34" charset="-120"/>
              </a:rPr>
              <a:t>03</a:t>
            </a:r>
            <a:endParaRPr lang="en-US" sz="6600" dirty="0"/>
          </a:p>
        </p:txBody>
      </p:sp>
      <p:sp>
        <p:nvSpPr>
          <p:cNvPr id="3" name="Text 1"/>
          <p:cNvSpPr txBox="1"/>
          <p:nvPr/>
        </p:nvSpPr>
        <p:spPr>
          <a:xfrm>
            <a:off x="548640" y="3072384"/>
            <a:ext cx="11094415" cy="274320"/>
          </a:xfrm>
          <a:prstGeom prst="rect">
            <a:avLst/>
          </a:prstGeom>
          <a:noFill/>
          <a:ln/>
        </p:spPr>
        <p:txBody>
          <a:bodyPr wrap="square" lIns="0" tIns="0" rIns="0" bIns="0" rtlCol="0" anchor="t"/>
          <a:lstStyle/>
          <a:p>
            <a:pPr marL="0" indent="0">
              <a:buNone/>
            </a:pPr>
            <a:r>
              <a:rPr lang="en-US" sz="1100" b="1" kern="0" spc="140" dirty="0">
                <a:solidFill>
                  <a:srgbClr val="AFC6E4"/>
                </a:solidFill>
                <a:latin typeface="Calibri" pitchFamily="34" charset="0"/>
                <a:ea typeface="Calibri" pitchFamily="34" charset="-122"/>
                <a:cs typeface="Calibri" pitchFamily="34" charset="-120"/>
              </a:rPr>
              <a:t>PHẦN 3 · MODELLING AS-IS</a:t>
            </a:r>
            <a:endParaRPr lang="en-US" sz="1100" dirty="0"/>
          </a:p>
        </p:txBody>
      </p:sp>
      <p:sp>
        <p:nvSpPr>
          <p:cNvPr id="4" name="Text 2"/>
          <p:cNvSpPr txBox="1"/>
          <p:nvPr/>
        </p:nvSpPr>
        <p:spPr>
          <a:xfrm>
            <a:off x="548640" y="3383280"/>
            <a:ext cx="11094415" cy="640080"/>
          </a:xfrm>
          <a:prstGeom prst="rect">
            <a:avLst/>
          </a:prstGeom>
          <a:noFill/>
          <a:ln/>
        </p:spPr>
        <p:txBody>
          <a:bodyPr wrap="square" lIns="0" tIns="0" rIns="0" bIns="0" rtlCol="0" anchor="t"/>
          <a:lstStyle/>
          <a:p>
            <a:pPr marL="0" indent="0">
              <a:buNone/>
            </a:pPr>
            <a:r>
              <a:rPr lang="en-US" sz="3200" b="1" dirty="0">
                <a:solidFill>
                  <a:srgbClr val="FFFFFF"/>
                </a:solidFill>
                <a:latin typeface="Calibri" pitchFamily="34" charset="0"/>
                <a:ea typeface="Calibri" pitchFamily="34" charset="-122"/>
                <a:cs typeface="Calibri" pitchFamily="34" charset="-120"/>
              </a:rPr>
              <a:t>Mô hình hóa quy trình hiện trạng bằng BPMN 2.0</a:t>
            </a:r>
            <a:endParaRPr lang="en-US" sz="3200" dirty="0"/>
          </a:p>
        </p:txBody>
      </p:sp>
      <p:sp>
        <p:nvSpPr>
          <p:cNvPr id="5" name="Text 3"/>
          <p:cNvSpPr txBox="1"/>
          <p:nvPr/>
        </p:nvSpPr>
        <p:spPr>
          <a:xfrm>
            <a:off x="548640" y="4114800"/>
            <a:ext cx="9722815" cy="365760"/>
          </a:xfrm>
          <a:prstGeom prst="rect">
            <a:avLst/>
          </a:prstGeom>
          <a:noFill/>
          <a:ln/>
        </p:spPr>
        <p:txBody>
          <a:bodyPr wrap="square" lIns="0" tIns="0" rIns="0" bIns="0" rtlCol="0" anchor="t"/>
          <a:lstStyle/>
          <a:p>
            <a:pPr marL="0" indent="0">
              <a:buNone/>
            </a:pPr>
            <a:r>
              <a:rPr lang="en-US" sz="1200" dirty="0">
                <a:solidFill>
                  <a:srgbClr val="9BB2D2"/>
                </a:solidFill>
                <a:latin typeface="Calibri" pitchFamily="34" charset="0"/>
                <a:ea typeface="Calibri" pitchFamily="34" charset="-122"/>
                <a:cs typeface="Calibri" pitchFamily="34" charset="-120"/>
              </a:rPr>
              <a:t>Phạm vi mô hình hóa 06/10 quy trình  ·  Sơ đồ BPMN từng quy trình  ·  Bảng đánh giá độ phức tạp</a:t>
            </a:r>
            <a:endParaRPr lang="en-US" sz="1200" dirty="0"/>
          </a:p>
        </p:txBody>
      </p:sp>
      <p:sp>
        <p:nvSpPr>
          <p:cNvPr id="6" name="Text 4"/>
          <p:cNvSpPr txBox="1"/>
          <p:nvPr/>
        </p:nvSpPr>
        <p:spPr>
          <a:xfrm>
            <a:off x="548640" y="6419088"/>
            <a:ext cx="8778240" cy="237744"/>
          </a:xfrm>
          <a:prstGeom prst="rect">
            <a:avLst/>
          </a:prstGeom>
          <a:noFill/>
          <a:ln/>
        </p:spPr>
        <p:txBody>
          <a:bodyPr wrap="square" lIns="0" tIns="0" rIns="0" bIns="0" rtlCol="0" anchor="t"/>
          <a:lstStyle/>
          <a:p>
            <a:pPr marL="0" indent="0">
              <a:buNone/>
            </a:pPr>
            <a:r>
              <a:rPr lang="en-US" sz="850" dirty="0">
                <a:solidFill>
                  <a:srgbClr val="7089AE"/>
                </a:solidFill>
                <a:latin typeface="Calibri" pitchFamily="34" charset="0"/>
                <a:ea typeface="Calibri" pitchFamily="34" charset="-122"/>
                <a:cs typeface="Calibri" pitchFamily="34" charset="-120"/>
              </a:rPr>
              <a:t>HỆ THỐNG QUẢN TRỊ QUY TRÌNH NGHIỆP VỤ  ·  SACOMBANK — QUY TRÌNH PYC</a:t>
            </a:r>
            <a:endParaRPr lang="en-US" sz="850" dirty="0"/>
          </a:p>
        </p:txBody>
      </p:sp>
      <p:sp>
        <p:nvSpPr>
          <p:cNvPr id="7" name="Text 5"/>
          <p:cNvSpPr txBox="1"/>
          <p:nvPr/>
        </p:nvSpPr>
        <p:spPr>
          <a:xfrm>
            <a:off x="11155680" y="6382512"/>
            <a:ext cx="484632" cy="274320"/>
          </a:xfrm>
          <a:prstGeom prst="rect">
            <a:avLst/>
          </a:prstGeom>
          <a:noFill/>
          <a:ln/>
        </p:spPr>
        <p:txBody>
          <a:bodyPr wrap="square" lIns="0" tIns="0" rIns="0" bIns="0" rtlCol="0" anchor="t"/>
          <a:lstStyle/>
          <a:p>
            <a:pPr marL="0" indent="0" algn="r">
              <a:buNone/>
            </a:pPr>
            <a:r>
              <a:rPr lang="en-US" sz="1100" b="1" dirty="0">
                <a:solidFill>
                  <a:srgbClr val="D9A227"/>
                </a:solidFill>
                <a:latin typeface="Calibri" pitchFamily="34" charset="0"/>
                <a:ea typeface="Calibri" pitchFamily="34" charset="-122"/>
                <a:cs typeface="Calibri" pitchFamily="34" charset="-120"/>
              </a:rPr>
              <a:t>21</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65760"/>
            <a:ext cx="123444" cy="123444"/>
          </a:xfrm>
          <a:prstGeom prst="ellipse">
            <a:avLst/>
          </a:prstGeom>
          <a:solidFill>
            <a:srgbClr val="D9A227"/>
          </a:solidFill>
          <a:ln w="12700">
            <a:solidFill>
              <a:srgbClr val="D9A227"/>
            </a:solidFill>
            <a:prstDash val="solid"/>
          </a:ln>
        </p:spPr>
        <p:txBody>
          <a:bodyPr/>
          <a:lstStyle/>
          <a:p>
            <a:endParaRPr lang="en-US"/>
          </a:p>
        </p:txBody>
      </p:sp>
      <p:sp>
        <p:nvSpPr>
          <p:cNvPr id="3" name="Text 1"/>
          <p:cNvSpPr txBox="1"/>
          <p:nvPr/>
        </p:nvSpPr>
        <p:spPr>
          <a:xfrm>
            <a:off x="804672" y="292608"/>
            <a:ext cx="10838383" cy="237744"/>
          </a:xfrm>
          <a:prstGeom prst="rect">
            <a:avLst/>
          </a:prstGeom>
          <a:noFill/>
          <a:ln/>
        </p:spPr>
        <p:txBody>
          <a:bodyPr wrap="square" lIns="0" tIns="0" rIns="0" bIns="0" rtlCol="0" anchor="t"/>
          <a:lstStyle/>
          <a:p>
            <a:pPr marL="0" indent="0">
              <a:buNone/>
            </a:pPr>
            <a:r>
              <a:rPr lang="en-US" sz="1050" b="1" kern="0" spc="120" dirty="0">
                <a:solidFill>
                  <a:srgbClr val="A5741A"/>
                </a:solidFill>
                <a:latin typeface="Calibri" pitchFamily="34" charset="0"/>
                <a:ea typeface="Calibri" pitchFamily="34" charset="-122"/>
                <a:cs typeface="Calibri" pitchFamily="34" charset="-120"/>
              </a:rPr>
              <a:t>CHƯƠNG 3 · PHẠM VI MÔ HÌNH HÓA</a:t>
            </a:r>
            <a:endParaRPr lang="en-US" sz="1050" dirty="0"/>
          </a:p>
        </p:txBody>
      </p:sp>
      <p:sp>
        <p:nvSpPr>
          <p:cNvPr id="4" name="Text 2"/>
          <p:cNvSpPr txBox="1"/>
          <p:nvPr/>
        </p:nvSpPr>
        <p:spPr>
          <a:xfrm>
            <a:off x="548640" y="566928"/>
            <a:ext cx="11094415" cy="457200"/>
          </a:xfrm>
          <a:prstGeom prst="rect">
            <a:avLst/>
          </a:prstGeom>
          <a:noFill/>
          <a:ln/>
        </p:spPr>
        <p:txBody>
          <a:bodyPr wrap="square" lIns="0" tIns="0" rIns="0" bIns="0" rtlCol="0" anchor="t"/>
          <a:lstStyle/>
          <a:p>
            <a:pPr marL="0" indent="0">
              <a:buNone/>
            </a:pPr>
            <a:r>
              <a:rPr lang="en-US" sz="2500" b="1" dirty="0">
                <a:solidFill>
                  <a:srgbClr val="0B3B75"/>
                </a:solidFill>
                <a:latin typeface="Calibri" pitchFamily="34" charset="0"/>
                <a:ea typeface="Calibri" pitchFamily="34" charset="-122"/>
                <a:cs typeface="Calibri" pitchFamily="34" charset="-120"/>
              </a:rPr>
              <a:t>TỪ 10 QUY TRÌNH SANG 06 QUY TRÌNH ĐƯỢC MÔ HÌNH HÓA</a:t>
            </a:r>
            <a:endParaRPr lang="en-US" sz="2500" dirty="0"/>
          </a:p>
        </p:txBody>
      </p:sp>
      <p:sp>
        <p:nvSpPr>
          <p:cNvPr id="5" name="Text 3"/>
          <p:cNvSpPr txBox="1"/>
          <p:nvPr/>
        </p:nvSpPr>
        <p:spPr>
          <a:xfrm>
            <a:off x="548640" y="6419088"/>
            <a:ext cx="8778240" cy="237744"/>
          </a:xfrm>
          <a:prstGeom prst="rect">
            <a:avLst/>
          </a:prstGeom>
          <a:noFill/>
          <a:ln/>
        </p:spPr>
        <p:txBody>
          <a:bodyPr wrap="square" lIns="0" tIns="0" rIns="0" bIns="0" rtlCol="0" anchor="t"/>
          <a:lstStyle/>
          <a:p>
            <a:pPr marL="0" indent="0">
              <a:buNone/>
            </a:pPr>
            <a:r>
              <a:rPr lang="en-US" sz="850" dirty="0">
                <a:solidFill>
                  <a:srgbClr val="6E7A88"/>
                </a:solidFill>
                <a:latin typeface="Calibri" pitchFamily="34" charset="0"/>
                <a:ea typeface="Calibri" pitchFamily="34" charset="-122"/>
                <a:cs typeface="Calibri" pitchFamily="34" charset="-120"/>
              </a:rPr>
              <a:t>HỆ THỐNG QUẢN TRỊ QUY TRÌNH NGHIỆP VỤ  ·  SACOMBANK — QUY TRÌNH PYC</a:t>
            </a:r>
            <a:endParaRPr lang="en-US" sz="850" dirty="0"/>
          </a:p>
        </p:txBody>
      </p:sp>
      <p:sp>
        <p:nvSpPr>
          <p:cNvPr id="6" name="Text 4"/>
          <p:cNvSpPr txBox="1"/>
          <p:nvPr/>
        </p:nvSpPr>
        <p:spPr>
          <a:xfrm>
            <a:off x="11155680" y="6382512"/>
            <a:ext cx="484632" cy="274320"/>
          </a:xfrm>
          <a:prstGeom prst="rect">
            <a:avLst/>
          </a:prstGeom>
          <a:noFill/>
          <a:ln/>
        </p:spPr>
        <p:txBody>
          <a:bodyPr wrap="square" lIns="0" tIns="0" rIns="0" bIns="0" rtlCol="0" anchor="t"/>
          <a:lstStyle/>
          <a:p>
            <a:pPr marL="0" indent="0" algn="r">
              <a:buNone/>
            </a:pPr>
            <a:r>
              <a:rPr lang="en-US" sz="1100" b="1" dirty="0">
                <a:solidFill>
                  <a:srgbClr val="A5741A"/>
                </a:solidFill>
                <a:latin typeface="Calibri" pitchFamily="34" charset="0"/>
                <a:ea typeface="Calibri" pitchFamily="34" charset="-122"/>
                <a:cs typeface="Calibri" pitchFamily="34" charset="-120"/>
              </a:rPr>
              <a:t>22</a:t>
            </a:r>
            <a:endParaRPr lang="en-US" sz="1100" dirty="0"/>
          </a:p>
        </p:txBody>
      </p:sp>
      <p:sp>
        <p:nvSpPr>
          <p:cNvPr id="7" name="Shape 5"/>
          <p:cNvSpPr/>
          <p:nvPr/>
        </p:nvSpPr>
        <p:spPr>
          <a:xfrm>
            <a:off x="548640" y="1426464"/>
            <a:ext cx="3515258" cy="3200400"/>
          </a:xfrm>
          <a:prstGeom prst="roundRect">
            <a:avLst>
              <a:gd name="adj" fmla="val 1714"/>
            </a:avLst>
          </a:prstGeom>
          <a:solidFill>
            <a:srgbClr val="FFFFFF"/>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8" name="Text 6"/>
          <p:cNvSpPr txBox="1"/>
          <p:nvPr/>
        </p:nvSpPr>
        <p:spPr>
          <a:xfrm>
            <a:off x="731520" y="1572768"/>
            <a:ext cx="3149498" cy="256032"/>
          </a:xfrm>
          <a:prstGeom prst="rect">
            <a:avLst/>
          </a:prstGeom>
          <a:noFill/>
          <a:ln/>
        </p:spPr>
        <p:txBody>
          <a:bodyPr wrap="square" lIns="0" tIns="0" rIns="0" bIns="0" rtlCol="0" anchor="t"/>
          <a:lstStyle/>
          <a:p>
            <a:pPr marL="0" indent="0">
              <a:buNone/>
            </a:pPr>
            <a:r>
              <a:rPr lang="en-US" sz="1050" b="1" kern="0" spc="80" dirty="0">
                <a:solidFill>
                  <a:srgbClr val="1660BF"/>
                </a:solidFill>
                <a:latin typeface="Calibri" pitchFamily="34" charset="0"/>
                <a:ea typeface="Calibri" pitchFamily="34" charset="-122"/>
                <a:cs typeface="Calibri" pitchFamily="34" charset="-120"/>
              </a:rPr>
              <a:t>MANAGEMENT PROCESSES</a:t>
            </a:r>
            <a:endParaRPr lang="en-US" sz="1050" dirty="0"/>
          </a:p>
        </p:txBody>
      </p:sp>
      <p:sp>
        <p:nvSpPr>
          <p:cNvPr id="9" name="Shape 7"/>
          <p:cNvSpPr/>
          <p:nvPr/>
        </p:nvSpPr>
        <p:spPr>
          <a:xfrm>
            <a:off x="731520" y="1956816"/>
            <a:ext cx="3149498" cy="603504"/>
          </a:xfrm>
          <a:prstGeom prst="roundRect">
            <a:avLst>
              <a:gd name="adj" fmla="val 9091"/>
            </a:avLst>
          </a:prstGeom>
          <a:solidFill>
            <a:srgbClr val="EFF4FB"/>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10" name="Text 8"/>
          <p:cNvSpPr txBox="1"/>
          <p:nvPr/>
        </p:nvSpPr>
        <p:spPr>
          <a:xfrm>
            <a:off x="859536" y="2011680"/>
            <a:ext cx="731520" cy="237744"/>
          </a:xfrm>
          <a:prstGeom prst="rect">
            <a:avLst/>
          </a:prstGeom>
          <a:noFill/>
          <a:ln/>
        </p:spPr>
        <p:txBody>
          <a:bodyPr wrap="square" lIns="0" tIns="0" rIns="0" bIns="0" rtlCol="0" anchor="t"/>
          <a:lstStyle/>
          <a:p>
            <a:pPr marL="0" indent="0">
              <a:buNone/>
            </a:pPr>
            <a:r>
              <a:rPr lang="en-US" sz="1200" b="1" dirty="0">
                <a:solidFill>
                  <a:srgbClr val="1660BF"/>
                </a:solidFill>
                <a:latin typeface="Calibri" pitchFamily="34" charset="0"/>
                <a:ea typeface="Calibri" pitchFamily="34" charset="-122"/>
                <a:cs typeface="Calibri" pitchFamily="34" charset="-120"/>
              </a:rPr>
              <a:t>M01</a:t>
            </a:r>
            <a:endParaRPr lang="en-US" sz="1200" dirty="0"/>
          </a:p>
        </p:txBody>
      </p:sp>
      <p:sp>
        <p:nvSpPr>
          <p:cNvPr id="11" name="Text 9"/>
          <p:cNvSpPr txBox="1"/>
          <p:nvPr/>
        </p:nvSpPr>
        <p:spPr>
          <a:xfrm>
            <a:off x="859536" y="2249424"/>
            <a:ext cx="2893466" cy="256032"/>
          </a:xfrm>
          <a:prstGeom prst="rect">
            <a:avLst/>
          </a:prstGeom>
          <a:noFill/>
          <a:ln/>
        </p:spPr>
        <p:txBody>
          <a:bodyPr wrap="square" lIns="0" tIns="0" rIns="0" bIns="0" rtlCol="0" anchor="t"/>
          <a:lstStyle/>
          <a:p>
            <a:pPr marL="0" indent="0">
              <a:buNone/>
            </a:pPr>
            <a:r>
              <a:rPr lang="en-US" sz="1000" dirty="0">
                <a:solidFill>
                  <a:srgbClr val="2A3442"/>
                </a:solidFill>
                <a:latin typeface="Calibri" pitchFamily="34" charset="0"/>
                <a:ea typeface="Calibri" pitchFamily="34" charset="-122"/>
                <a:cs typeface="Calibri" pitchFamily="34" charset="-120"/>
              </a:rPr>
              <a:t>Quản lý Mức Dịch vụ (SLA)</a:t>
            </a:r>
            <a:endParaRPr lang="en-US" sz="1000" dirty="0"/>
          </a:p>
        </p:txBody>
      </p:sp>
      <p:sp>
        <p:nvSpPr>
          <p:cNvPr id="12" name="Shape 10"/>
          <p:cNvSpPr/>
          <p:nvPr/>
        </p:nvSpPr>
        <p:spPr>
          <a:xfrm>
            <a:off x="731520" y="2670048"/>
            <a:ext cx="3149498" cy="603504"/>
          </a:xfrm>
          <a:prstGeom prst="roundRect">
            <a:avLst>
              <a:gd name="adj" fmla="val 9091"/>
            </a:avLst>
          </a:prstGeom>
          <a:solidFill>
            <a:srgbClr val="EFF4FB"/>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13" name="Text 11"/>
          <p:cNvSpPr txBox="1"/>
          <p:nvPr/>
        </p:nvSpPr>
        <p:spPr>
          <a:xfrm>
            <a:off x="859536" y="2724912"/>
            <a:ext cx="731520" cy="237744"/>
          </a:xfrm>
          <a:prstGeom prst="rect">
            <a:avLst/>
          </a:prstGeom>
          <a:noFill/>
          <a:ln/>
        </p:spPr>
        <p:txBody>
          <a:bodyPr wrap="square" lIns="0" tIns="0" rIns="0" bIns="0" rtlCol="0" anchor="t"/>
          <a:lstStyle/>
          <a:p>
            <a:pPr marL="0" indent="0">
              <a:buNone/>
            </a:pPr>
            <a:r>
              <a:rPr lang="en-US" sz="1200" b="1" dirty="0">
                <a:solidFill>
                  <a:srgbClr val="1660BF"/>
                </a:solidFill>
                <a:latin typeface="Calibri" pitchFamily="34" charset="0"/>
                <a:ea typeface="Calibri" pitchFamily="34" charset="-122"/>
                <a:cs typeface="Calibri" pitchFamily="34" charset="-120"/>
              </a:rPr>
              <a:t>M02</a:t>
            </a:r>
            <a:endParaRPr lang="en-US" sz="1200" dirty="0"/>
          </a:p>
        </p:txBody>
      </p:sp>
      <p:sp>
        <p:nvSpPr>
          <p:cNvPr id="14" name="Text 12"/>
          <p:cNvSpPr txBox="1"/>
          <p:nvPr/>
        </p:nvSpPr>
        <p:spPr>
          <a:xfrm>
            <a:off x="859536" y="2962656"/>
            <a:ext cx="2893466" cy="256032"/>
          </a:xfrm>
          <a:prstGeom prst="rect">
            <a:avLst/>
          </a:prstGeom>
          <a:noFill/>
          <a:ln/>
        </p:spPr>
        <p:txBody>
          <a:bodyPr wrap="square" lIns="0" tIns="0" rIns="0" bIns="0" rtlCol="0" anchor="t"/>
          <a:lstStyle/>
          <a:p>
            <a:pPr marL="0" indent="0">
              <a:buNone/>
            </a:pPr>
            <a:r>
              <a:rPr lang="en-US" sz="1000" dirty="0">
                <a:solidFill>
                  <a:srgbClr val="2A3442"/>
                </a:solidFill>
                <a:latin typeface="Calibri" pitchFamily="34" charset="0"/>
                <a:ea typeface="Calibri" pitchFamily="34" charset="-122"/>
                <a:cs typeface="Calibri" pitchFamily="34" charset="-120"/>
              </a:rPr>
              <a:t>Quản lý Rủi ro &amp; An toàn Thông tin</a:t>
            </a:r>
            <a:endParaRPr lang="en-US" sz="1000" dirty="0"/>
          </a:p>
        </p:txBody>
      </p:sp>
      <p:sp>
        <p:nvSpPr>
          <p:cNvPr id="15" name="Text 13"/>
          <p:cNvSpPr txBox="1"/>
          <p:nvPr/>
        </p:nvSpPr>
        <p:spPr>
          <a:xfrm>
            <a:off x="731520" y="3493008"/>
            <a:ext cx="3149498" cy="219456"/>
          </a:xfrm>
          <a:prstGeom prst="rect">
            <a:avLst/>
          </a:prstGeom>
          <a:noFill/>
          <a:ln/>
        </p:spPr>
        <p:txBody>
          <a:bodyPr wrap="square" lIns="0" tIns="0" rIns="0" bIns="0" rtlCol="0" anchor="t"/>
          <a:lstStyle/>
          <a:p>
            <a:pPr marL="0" indent="0">
              <a:buNone/>
            </a:pPr>
            <a:r>
              <a:rPr lang="en-US" sz="900" b="1" kern="0" spc="80" dirty="0">
                <a:solidFill>
                  <a:srgbClr val="6E7A88"/>
                </a:solidFill>
                <a:latin typeface="Calibri" pitchFamily="34" charset="0"/>
                <a:ea typeface="Calibri" pitchFamily="34" charset="-122"/>
                <a:cs typeface="Calibri" pitchFamily="34" charset="-120"/>
              </a:rPr>
              <a:t>LÝ DO LỰA CHỌN</a:t>
            </a:r>
            <a:endParaRPr lang="en-US" sz="900" dirty="0"/>
          </a:p>
        </p:txBody>
      </p:sp>
      <p:sp>
        <p:nvSpPr>
          <p:cNvPr id="16" name="Text 14"/>
          <p:cNvSpPr txBox="1"/>
          <p:nvPr/>
        </p:nvSpPr>
        <p:spPr>
          <a:xfrm>
            <a:off x="731520" y="3730752"/>
            <a:ext cx="3149498" cy="786384"/>
          </a:xfrm>
          <a:prstGeom prst="rect">
            <a:avLst/>
          </a:prstGeom>
          <a:noFill/>
          <a:ln/>
        </p:spPr>
        <p:txBody>
          <a:bodyPr wrap="square" lIns="0" tIns="0" rIns="0" bIns="0" rtlCol="0" anchor="t"/>
          <a:lstStyle/>
          <a:p>
            <a:pPr marL="0" indent="0">
              <a:buNone/>
            </a:pPr>
            <a:r>
              <a:rPr lang="en-US" sz="1000" dirty="0">
                <a:solidFill>
                  <a:srgbClr val="6E7A88"/>
                </a:solidFill>
                <a:latin typeface="Calibri" pitchFamily="34" charset="0"/>
                <a:ea typeface="Calibri" pitchFamily="34" charset="-122"/>
                <a:cs typeface="Calibri" pitchFamily="34" charset="-120"/>
              </a:rPr>
              <a:t>Đại diện cho giám sát và kiểm soát: đo lường hiệu suất dịch vụ và kiểm soát rủi ro an toàn thông tin.</a:t>
            </a:r>
            <a:endParaRPr lang="en-US" sz="1000" dirty="0"/>
          </a:p>
        </p:txBody>
      </p:sp>
      <p:sp>
        <p:nvSpPr>
          <p:cNvPr id="17" name="Shape 15"/>
          <p:cNvSpPr/>
          <p:nvPr/>
        </p:nvSpPr>
        <p:spPr>
          <a:xfrm>
            <a:off x="4338218" y="1426464"/>
            <a:ext cx="3515258" cy="3200400"/>
          </a:xfrm>
          <a:prstGeom prst="roundRect">
            <a:avLst>
              <a:gd name="adj" fmla="val 1714"/>
            </a:avLst>
          </a:prstGeom>
          <a:solidFill>
            <a:srgbClr val="FFFFFF"/>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18" name="Text 16"/>
          <p:cNvSpPr txBox="1"/>
          <p:nvPr/>
        </p:nvSpPr>
        <p:spPr>
          <a:xfrm>
            <a:off x="4521098" y="1572768"/>
            <a:ext cx="3149498" cy="256032"/>
          </a:xfrm>
          <a:prstGeom prst="rect">
            <a:avLst/>
          </a:prstGeom>
          <a:noFill/>
          <a:ln/>
        </p:spPr>
        <p:txBody>
          <a:bodyPr wrap="square" lIns="0" tIns="0" rIns="0" bIns="0" rtlCol="0" anchor="t"/>
          <a:lstStyle/>
          <a:p>
            <a:pPr marL="0" indent="0">
              <a:buNone/>
            </a:pPr>
            <a:r>
              <a:rPr lang="en-US" sz="1050" b="1" kern="0" spc="80" dirty="0">
                <a:solidFill>
                  <a:srgbClr val="A5741A"/>
                </a:solidFill>
                <a:latin typeface="Calibri" pitchFamily="34" charset="0"/>
                <a:ea typeface="Calibri" pitchFamily="34" charset="-122"/>
                <a:cs typeface="Calibri" pitchFamily="34" charset="-120"/>
              </a:rPr>
              <a:t>CORE BUSINESS PROCESSES</a:t>
            </a:r>
            <a:endParaRPr lang="en-US" sz="1050" dirty="0"/>
          </a:p>
        </p:txBody>
      </p:sp>
      <p:sp>
        <p:nvSpPr>
          <p:cNvPr id="19" name="Shape 17"/>
          <p:cNvSpPr/>
          <p:nvPr/>
        </p:nvSpPr>
        <p:spPr>
          <a:xfrm>
            <a:off x="4521098" y="1956816"/>
            <a:ext cx="3149498" cy="603504"/>
          </a:xfrm>
          <a:prstGeom prst="roundRect">
            <a:avLst>
              <a:gd name="adj" fmla="val 9091"/>
            </a:avLst>
          </a:prstGeom>
          <a:solidFill>
            <a:srgbClr val="EFF4FB"/>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20" name="Text 18"/>
          <p:cNvSpPr txBox="1"/>
          <p:nvPr/>
        </p:nvSpPr>
        <p:spPr>
          <a:xfrm>
            <a:off x="4649114" y="2011680"/>
            <a:ext cx="731520" cy="237744"/>
          </a:xfrm>
          <a:prstGeom prst="rect">
            <a:avLst/>
          </a:prstGeom>
          <a:noFill/>
          <a:ln/>
        </p:spPr>
        <p:txBody>
          <a:bodyPr wrap="square" lIns="0" tIns="0" rIns="0" bIns="0" rtlCol="0" anchor="t"/>
          <a:lstStyle/>
          <a:p>
            <a:pPr marL="0" indent="0">
              <a:buNone/>
            </a:pPr>
            <a:r>
              <a:rPr lang="en-US" sz="1200" b="1" dirty="0">
                <a:solidFill>
                  <a:srgbClr val="A5741A"/>
                </a:solidFill>
                <a:latin typeface="Calibri" pitchFamily="34" charset="0"/>
                <a:ea typeface="Calibri" pitchFamily="34" charset="-122"/>
                <a:cs typeface="Calibri" pitchFamily="34" charset="-120"/>
              </a:rPr>
              <a:t>C01</a:t>
            </a:r>
            <a:endParaRPr lang="en-US" sz="1200" dirty="0"/>
          </a:p>
        </p:txBody>
      </p:sp>
      <p:sp>
        <p:nvSpPr>
          <p:cNvPr id="21" name="Text 19"/>
          <p:cNvSpPr txBox="1"/>
          <p:nvPr/>
        </p:nvSpPr>
        <p:spPr>
          <a:xfrm>
            <a:off x="4649114" y="2249424"/>
            <a:ext cx="2893466" cy="256032"/>
          </a:xfrm>
          <a:prstGeom prst="rect">
            <a:avLst/>
          </a:prstGeom>
          <a:noFill/>
          <a:ln/>
        </p:spPr>
        <p:txBody>
          <a:bodyPr wrap="square" lIns="0" tIns="0" rIns="0" bIns="0" rtlCol="0" anchor="t"/>
          <a:lstStyle/>
          <a:p>
            <a:pPr marL="0" indent="0">
              <a:buNone/>
            </a:pPr>
            <a:r>
              <a:rPr lang="en-US" sz="1000" dirty="0">
                <a:solidFill>
                  <a:srgbClr val="2A3442"/>
                </a:solidFill>
                <a:latin typeface="Calibri" pitchFamily="34" charset="0"/>
                <a:ea typeface="Calibri" pitchFamily="34" charset="-122"/>
                <a:cs typeface="Calibri" pitchFamily="34" charset="-120"/>
              </a:rPr>
              <a:t>Quản lý Yêu cầu Dịch vụ (PYC)</a:t>
            </a:r>
            <a:endParaRPr lang="en-US" sz="1000" dirty="0"/>
          </a:p>
        </p:txBody>
      </p:sp>
      <p:sp>
        <p:nvSpPr>
          <p:cNvPr id="22" name="Shape 20"/>
          <p:cNvSpPr/>
          <p:nvPr/>
        </p:nvSpPr>
        <p:spPr>
          <a:xfrm>
            <a:off x="4521098" y="2670048"/>
            <a:ext cx="3149498" cy="603504"/>
          </a:xfrm>
          <a:prstGeom prst="roundRect">
            <a:avLst>
              <a:gd name="adj" fmla="val 9091"/>
            </a:avLst>
          </a:prstGeom>
          <a:solidFill>
            <a:srgbClr val="EFF4FB"/>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23" name="Text 21"/>
          <p:cNvSpPr txBox="1"/>
          <p:nvPr/>
        </p:nvSpPr>
        <p:spPr>
          <a:xfrm>
            <a:off x="4649114" y="2724912"/>
            <a:ext cx="731520" cy="237744"/>
          </a:xfrm>
          <a:prstGeom prst="rect">
            <a:avLst/>
          </a:prstGeom>
          <a:noFill/>
          <a:ln/>
        </p:spPr>
        <p:txBody>
          <a:bodyPr wrap="square" lIns="0" tIns="0" rIns="0" bIns="0" rtlCol="0" anchor="t"/>
          <a:lstStyle/>
          <a:p>
            <a:pPr marL="0" indent="0">
              <a:buNone/>
            </a:pPr>
            <a:r>
              <a:rPr lang="en-US" sz="1200" b="1" dirty="0">
                <a:solidFill>
                  <a:srgbClr val="A5741A"/>
                </a:solidFill>
                <a:latin typeface="Calibri" pitchFamily="34" charset="0"/>
                <a:ea typeface="Calibri" pitchFamily="34" charset="-122"/>
                <a:cs typeface="Calibri" pitchFamily="34" charset="-120"/>
              </a:rPr>
              <a:t>C02</a:t>
            </a:r>
            <a:endParaRPr lang="en-US" sz="1200" dirty="0"/>
          </a:p>
        </p:txBody>
      </p:sp>
      <p:sp>
        <p:nvSpPr>
          <p:cNvPr id="24" name="Text 22"/>
          <p:cNvSpPr txBox="1"/>
          <p:nvPr/>
        </p:nvSpPr>
        <p:spPr>
          <a:xfrm>
            <a:off x="4649114" y="2962656"/>
            <a:ext cx="2893466" cy="256032"/>
          </a:xfrm>
          <a:prstGeom prst="rect">
            <a:avLst/>
          </a:prstGeom>
          <a:noFill/>
          <a:ln/>
        </p:spPr>
        <p:txBody>
          <a:bodyPr wrap="square" lIns="0" tIns="0" rIns="0" bIns="0" rtlCol="0" anchor="t"/>
          <a:lstStyle/>
          <a:p>
            <a:pPr marL="0" indent="0">
              <a:buNone/>
            </a:pPr>
            <a:r>
              <a:rPr lang="en-US" sz="1000" dirty="0">
                <a:solidFill>
                  <a:srgbClr val="2A3442"/>
                </a:solidFill>
                <a:latin typeface="Calibri" pitchFamily="34" charset="0"/>
                <a:ea typeface="Calibri" pitchFamily="34" charset="-122"/>
                <a:cs typeface="Calibri" pitchFamily="34" charset="-120"/>
              </a:rPr>
              <a:t>Quản lý Sự cố (Incident)</a:t>
            </a:r>
            <a:endParaRPr lang="en-US" sz="1000" dirty="0"/>
          </a:p>
        </p:txBody>
      </p:sp>
      <p:sp>
        <p:nvSpPr>
          <p:cNvPr id="25" name="Text 23"/>
          <p:cNvSpPr txBox="1"/>
          <p:nvPr/>
        </p:nvSpPr>
        <p:spPr>
          <a:xfrm>
            <a:off x="4521098" y="3493008"/>
            <a:ext cx="3149498" cy="219456"/>
          </a:xfrm>
          <a:prstGeom prst="rect">
            <a:avLst/>
          </a:prstGeom>
          <a:noFill/>
          <a:ln/>
        </p:spPr>
        <p:txBody>
          <a:bodyPr wrap="square" lIns="0" tIns="0" rIns="0" bIns="0" rtlCol="0" anchor="t"/>
          <a:lstStyle/>
          <a:p>
            <a:pPr marL="0" indent="0">
              <a:buNone/>
            </a:pPr>
            <a:r>
              <a:rPr lang="en-US" sz="900" b="1" kern="0" spc="80" dirty="0">
                <a:solidFill>
                  <a:srgbClr val="6E7A88"/>
                </a:solidFill>
                <a:latin typeface="Calibri" pitchFamily="34" charset="0"/>
                <a:ea typeface="Calibri" pitchFamily="34" charset="-122"/>
                <a:cs typeface="Calibri" pitchFamily="34" charset="-120"/>
              </a:rPr>
              <a:t>LÝ DO LỰA CHỌN</a:t>
            </a:r>
            <a:endParaRPr lang="en-US" sz="900" dirty="0"/>
          </a:p>
        </p:txBody>
      </p:sp>
      <p:sp>
        <p:nvSpPr>
          <p:cNvPr id="26" name="Text 24"/>
          <p:cNvSpPr txBox="1"/>
          <p:nvPr/>
        </p:nvSpPr>
        <p:spPr>
          <a:xfrm>
            <a:off x="4521098" y="3730752"/>
            <a:ext cx="3149498" cy="786384"/>
          </a:xfrm>
          <a:prstGeom prst="rect">
            <a:avLst/>
          </a:prstGeom>
          <a:noFill/>
          <a:ln/>
        </p:spPr>
        <p:txBody>
          <a:bodyPr wrap="square" lIns="0" tIns="0" rIns="0" bIns="0" rtlCol="0" anchor="t"/>
          <a:lstStyle/>
          <a:p>
            <a:pPr marL="0" indent="0">
              <a:buNone/>
            </a:pPr>
            <a:r>
              <a:rPr lang="en-US" sz="1000" dirty="0">
                <a:solidFill>
                  <a:srgbClr val="6E7A88"/>
                </a:solidFill>
                <a:latin typeface="Calibri" pitchFamily="34" charset="0"/>
                <a:ea typeface="Calibri" pitchFamily="34" charset="-122"/>
                <a:cs typeface="Calibri" pitchFamily="34" charset="-120"/>
              </a:rPr>
              <a:t>Đại diện cho chuỗi tạo giá trị trực tiếp cho người dùng nội bộ: yêu cầu chủ động và sự cố ngoài kế hoạch.</a:t>
            </a:r>
            <a:endParaRPr lang="en-US" sz="1000" dirty="0"/>
          </a:p>
        </p:txBody>
      </p:sp>
      <p:sp>
        <p:nvSpPr>
          <p:cNvPr id="27" name="Shape 25"/>
          <p:cNvSpPr/>
          <p:nvPr/>
        </p:nvSpPr>
        <p:spPr>
          <a:xfrm>
            <a:off x="8127797" y="1426464"/>
            <a:ext cx="3515258" cy="3200400"/>
          </a:xfrm>
          <a:prstGeom prst="roundRect">
            <a:avLst>
              <a:gd name="adj" fmla="val 1714"/>
            </a:avLst>
          </a:prstGeom>
          <a:solidFill>
            <a:srgbClr val="FFFFFF"/>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28" name="Text 26"/>
          <p:cNvSpPr txBox="1"/>
          <p:nvPr/>
        </p:nvSpPr>
        <p:spPr>
          <a:xfrm>
            <a:off x="8310677" y="1572768"/>
            <a:ext cx="3149498" cy="256032"/>
          </a:xfrm>
          <a:prstGeom prst="rect">
            <a:avLst/>
          </a:prstGeom>
          <a:noFill/>
          <a:ln/>
        </p:spPr>
        <p:txBody>
          <a:bodyPr wrap="square" lIns="0" tIns="0" rIns="0" bIns="0" rtlCol="0" anchor="t"/>
          <a:lstStyle/>
          <a:p>
            <a:pPr marL="0" indent="0">
              <a:buNone/>
            </a:pPr>
            <a:r>
              <a:rPr lang="en-US" sz="1050" b="1" kern="0" spc="80" dirty="0">
                <a:solidFill>
                  <a:srgbClr val="0E7A5F"/>
                </a:solidFill>
                <a:latin typeface="Calibri" pitchFamily="34" charset="0"/>
                <a:ea typeface="Calibri" pitchFamily="34" charset="-122"/>
                <a:cs typeface="Calibri" pitchFamily="34" charset="-120"/>
              </a:rPr>
              <a:t>SUPPORTING PROCESSES</a:t>
            </a:r>
            <a:endParaRPr lang="en-US" sz="1050" dirty="0"/>
          </a:p>
        </p:txBody>
      </p:sp>
      <p:sp>
        <p:nvSpPr>
          <p:cNvPr id="29" name="Shape 27"/>
          <p:cNvSpPr/>
          <p:nvPr/>
        </p:nvSpPr>
        <p:spPr>
          <a:xfrm>
            <a:off x="8310677" y="1956816"/>
            <a:ext cx="3149498" cy="603504"/>
          </a:xfrm>
          <a:prstGeom prst="roundRect">
            <a:avLst>
              <a:gd name="adj" fmla="val 9091"/>
            </a:avLst>
          </a:prstGeom>
          <a:solidFill>
            <a:srgbClr val="EFF4FB"/>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30" name="Text 28"/>
          <p:cNvSpPr txBox="1"/>
          <p:nvPr/>
        </p:nvSpPr>
        <p:spPr>
          <a:xfrm>
            <a:off x="8438693" y="2011680"/>
            <a:ext cx="731520" cy="237744"/>
          </a:xfrm>
          <a:prstGeom prst="rect">
            <a:avLst/>
          </a:prstGeom>
          <a:noFill/>
          <a:ln/>
        </p:spPr>
        <p:txBody>
          <a:bodyPr wrap="square" lIns="0" tIns="0" rIns="0" bIns="0" rtlCol="0" anchor="t"/>
          <a:lstStyle/>
          <a:p>
            <a:pPr marL="0" indent="0">
              <a:buNone/>
            </a:pPr>
            <a:r>
              <a:rPr lang="en-US" sz="1200" b="1" dirty="0">
                <a:solidFill>
                  <a:srgbClr val="0E7A5F"/>
                </a:solidFill>
                <a:latin typeface="Calibri" pitchFamily="34" charset="0"/>
                <a:ea typeface="Calibri" pitchFamily="34" charset="-122"/>
                <a:cs typeface="Calibri" pitchFamily="34" charset="-120"/>
              </a:rPr>
              <a:t>S02</a:t>
            </a:r>
            <a:endParaRPr lang="en-US" sz="1200" dirty="0"/>
          </a:p>
        </p:txBody>
      </p:sp>
      <p:sp>
        <p:nvSpPr>
          <p:cNvPr id="31" name="Text 29"/>
          <p:cNvSpPr txBox="1"/>
          <p:nvPr/>
        </p:nvSpPr>
        <p:spPr>
          <a:xfrm>
            <a:off x="8438693" y="2249424"/>
            <a:ext cx="2893466" cy="256032"/>
          </a:xfrm>
          <a:prstGeom prst="rect">
            <a:avLst/>
          </a:prstGeom>
          <a:noFill/>
          <a:ln/>
        </p:spPr>
        <p:txBody>
          <a:bodyPr wrap="square" lIns="0" tIns="0" rIns="0" bIns="0" rtlCol="0" anchor="t"/>
          <a:lstStyle/>
          <a:p>
            <a:pPr marL="0" indent="0">
              <a:buNone/>
            </a:pPr>
            <a:r>
              <a:rPr lang="en-US" sz="1000" dirty="0">
                <a:solidFill>
                  <a:srgbClr val="2A3442"/>
                </a:solidFill>
                <a:latin typeface="Calibri" pitchFamily="34" charset="0"/>
                <a:ea typeface="Calibri" pitchFamily="34" charset="-122"/>
                <a:cs typeface="Calibri" pitchFamily="34" charset="-120"/>
              </a:rPr>
              <a:t>Quản lý Thay đổi (Change)</a:t>
            </a:r>
            <a:endParaRPr lang="en-US" sz="1000" dirty="0"/>
          </a:p>
        </p:txBody>
      </p:sp>
      <p:sp>
        <p:nvSpPr>
          <p:cNvPr id="32" name="Shape 30"/>
          <p:cNvSpPr/>
          <p:nvPr/>
        </p:nvSpPr>
        <p:spPr>
          <a:xfrm>
            <a:off x="8310677" y="2670048"/>
            <a:ext cx="3149498" cy="603504"/>
          </a:xfrm>
          <a:prstGeom prst="roundRect">
            <a:avLst>
              <a:gd name="adj" fmla="val 9091"/>
            </a:avLst>
          </a:prstGeom>
          <a:solidFill>
            <a:srgbClr val="EFF4FB"/>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33" name="Text 31"/>
          <p:cNvSpPr txBox="1"/>
          <p:nvPr/>
        </p:nvSpPr>
        <p:spPr>
          <a:xfrm>
            <a:off x="8438693" y="2724912"/>
            <a:ext cx="731520" cy="237744"/>
          </a:xfrm>
          <a:prstGeom prst="rect">
            <a:avLst/>
          </a:prstGeom>
          <a:noFill/>
          <a:ln/>
        </p:spPr>
        <p:txBody>
          <a:bodyPr wrap="square" lIns="0" tIns="0" rIns="0" bIns="0" rtlCol="0" anchor="t"/>
          <a:lstStyle/>
          <a:p>
            <a:pPr marL="0" indent="0">
              <a:buNone/>
            </a:pPr>
            <a:r>
              <a:rPr lang="en-US" sz="1200" b="1" dirty="0">
                <a:solidFill>
                  <a:srgbClr val="0E7A5F"/>
                </a:solidFill>
                <a:latin typeface="Calibri" pitchFamily="34" charset="0"/>
                <a:ea typeface="Calibri" pitchFamily="34" charset="-122"/>
                <a:cs typeface="Calibri" pitchFamily="34" charset="-120"/>
              </a:rPr>
              <a:t>S03</a:t>
            </a:r>
            <a:endParaRPr lang="en-US" sz="1200" dirty="0"/>
          </a:p>
        </p:txBody>
      </p:sp>
      <p:sp>
        <p:nvSpPr>
          <p:cNvPr id="34" name="Text 32"/>
          <p:cNvSpPr txBox="1"/>
          <p:nvPr/>
        </p:nvSpPr>
        <p:spPr>
          <a:xfrm>
            <a:off x="8438693" y="2962656"/>
            <a:ext cx="2893466" cy="256032"/>
          </a:xfrm>
          <a:prstGeom prst="rect">
            <a:avLst/>
          </a:prstGeom>
          <a:noFill/>
          <a:ln/>
        </p:spPr>
        <p:txBody>
          <a:bodyPr wrap="square" lIns="0" tIns="0" rIns="0" bIns="0" rtlCol="0" anchor="t"/>
          <a:lstStyle/>
          <a:p>
            <a:pPr marL="0" indent="0">
              <a:buNone/>
            </a:pPr>
            <a:r>
              <a:rPr lang="en-US" sz="1000" dirty="0">
                <a:solidFill>
                  <a:srgbClr val="2A3442"/>
                </a:solidFill>
                <a:latin typeface="Calibri" pitchFamily="34" charset="0"/>
                <a:ea typeface="Calibri" pitchFamily="34" charset="-122"/>
                <a:cs typeface="Calibri" pitchFamily="34" charset="-120"/>
              </a:rPr>
              <a:t>Quản lý Tài sản CNTT</a:t>
            </a:r>
            <a:endParaRPr lang="en-US" sz="1000" dirty="0"/>
          </a:p>
        </p:txBody>
      </p:sp>
      <p:sp>
        <p:nvSpPr>
          <p:cNvPr id="35" name="Text 33"/>
          <p:cNvSpPr txBox="1"/>
          <p:nvPr/>
        </p:nvSpPr>
        <p:spPr>
          <a:xfrm>
            <a:off x="8310677" y="3493008"/>
            <a:ext cx="3149498" cy="219456"/>
          </a:xfrm>
          <a:prstGeom prst="rect">
            <a:avLst/>
          </a:prstGeom>
          <a:noFill/>
          <a:ln/>
        </p:spPr>
        <p:txBody>
          <a:bodyPr wrap="square" lIns="0" tIns="0" rIns="0" bIns="0" rtlCol="0" anchor="t"/>
          <a:lstStyle/>
          <a:p>
            <a:pPr marL="0" indent="0">
              <a:buNone/>
            </a:pPr>
            <a:r>
              <a:rPr lang="en-US" sz="900" b="1" kern="0" spc="80" dirty="0">
                <a:solidFill>
                  <a:srgbClr val="6E7A88"/>
                </a:solidFill>
                <a:latin typeface="Calibri" pitchFamily="34" charset="0"/>
                <a:ea typeface="Calibri" pitchFamily="34" charset="-122"/>
                <a:cs typeface="Calibri" pitchFamily="34" charset="-120"/>
              </a:rPr>
              <a:t>LÝ DO LỰA CHỌN</a:t>
            </a:r>
            <a:endParaRPr lang="en-US" sz="900" dirty="0"/>
          </a:p>
        </p:txBody>
      </p:sp>
      <p:sp>
        <p:nvSpPr>
          <p:cNvPr id="36" name="Text 34"/>
          <p:cNvSpPr txBox="1"/>
          <p:nvPr/>
        </p:nvSpPr>
        <p:spPr>
          <a:xfrm>
            <a:off x="8310677" y="3730752"/>
            <a:ext cx="3149498" cy="786384"/>
          </a:xfrm>
          <a:prstGeom prst="rect">
            <a:avLst/>
          </a:prstGeom>
          <a:noFill/>
          <a:ln/>
        </p:spPr>
        <p:txBody>
          <a:bodyPr wrap="square" lIns="0" tIns="0" rIns="0" bIns="0" rtlCol="0" anchor="t"/>
          <a:lstStyle/>
          <a:p>
            <a:pPr marL="0" indent="0">
              <a:buNone/>
            </a:pPr>
            <a:r>
              <a:rPr lang="en-US" sz="1000" dirty="0">
                <a:solidFill>
                  <a:srgbClr val="6E7A88"/>
                </a:solidFill>
                <a:latin typeface="Calibri" pitchFamily="34" charset="0"/>
                <a:ea typeface="Calibri" pitchFamily="34" charset="-122"/>
                <a:cs typeface="Calibri" pitchFamily="34" charset="-120"/>
              </a:rPr>
              <a:t>Đại diện cho nền tảng hỗ trợ: kiểm soát thay đổi hạ tầng và cung cấp tài sản cho quy trình cốt lõi.</a:t>
            </a:r>
            <a:endParaRPr lang="en-US" sz="1000" dirty="0"/>
          </a:p>
        </p:txBody>
      </p:sp>
      <p:sp>
        <p:nvSpPr>
          <p:cNvPr id="37" name="Text 35"/>
          <p:cNvSpPr txBox="1"/>
          <p:nvPr/>
        </p:nvSpPr>
        <p:spPr>
          <a:xfrm>
            <a:off x="548640" y="4809744"/>
            <a:ext cx="11094415" cy="365760"/>
          </a:xfrm>
          <a:prstGeom prst="rect">
            <a:avLst/>
          </a:prstGeom>
          <a:noFill/>
          <a:ln/>
        </p:spPr>
        <p:txBody>
          <a:bodyPr wrap="square" lIns="0" tIns="0" rIns="0" bIns="0" rtlCol="0" anchor="t"/>
          <a:lstStyle/>
          <a:p>
            <a:pPr marL="0" indent="0">
              <a:buNone/>
            </a:pPr>
            <a:r>
              <a:rPr lang="en-US" sz="1050" dirty="0">
                <a:solidFill>
                  <a:srgbClr val="2A3442"/>
                </a:solidFill>
                <a:latin typeface="Calibri" pitchFamily="34" charset="0"/>
                <a:ea typeface="Calibri" pitchFamily="34" charset="-122"/>
                <a:cs typeface="Calibri" pitchFamily="34" charset="-120"/>
              </a:rPr>
              <a:t>BỐN QUY TRÌNH KHÔNG MÔ HÌNH HÓA:  M03 Quản lý Ngân sách &amp; Nguồn lực  ·  C03 Quản lý Phát hành Phần mềm  ·  S01 Quản lý Vấn đề  ·  S04 Quản lý Tri thức — chỉ dừng ở mức mô tả tổng quan trong Chương 1.</a:t>
            </a:r>
            <a:endParaRPr lang="en-US" sz="10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65760"/>
            <a:ext cx="123444" cy="123444"/>
          </a:xfrm>
          <a:prstGeom prst="ellipse">
            <a:avLst/>
          </a:prstGeom>
          <a:solidFill>
            <a:srgbClr val="D9A227"/>
          </a:solidFill>
          <a:ln w="12700">
            <a:solidFill>
              <a:srgbClr val="D9A227"/>
            </a:solidFill>
            <a:prstDash val="solid"/>
          </a:ln>
        </p:spPr>
        <p:txBody>
          <a:bodyPr/>
          <a:lstStyle/>
          <a:p>
            <a:endParaRPr lang="en-US"/>
          </a:p>
        </p:txBody>
      </p:sp>
      <p:sp>
        <p:nvSpPr>
          <p:cNvPr id="3" name="Text 1"/>
          <p:cNvSpPr txBox="1"/>
          <p:nvPr/>
        </p:nvSpPr>
        <p:spPr>
          <a:xfrm>
            <a:off x="804672" y="292608"/>
            <a:ext cx="10838383" cy="237744"/>
          </a:xfrm>
          <a:prstGeom prst="rect">
            <a:avLst/>
          </a:prstGeom>
          <a:noFill/>
          <a:ln/>
        </p:spPr>
        <p:txBody>
          <a:bodyPr wrap="square" lIns="0" tIns="0" rIns="0" bIns="0" rtlCol="0" anchor="t"/>
          <a:lstStyle/>
          <a:p>
            <a:pPr marL="0" indent="0">
              <a:buNone/>
            </a:pPr>
            <a:r>
              <a:rPr lang="en-US" sz="1050" b="1" kern="0" spc="120" dirty="0">
                <a:solidFill>
                  <a:srgbClr val="A5741A"/>
                </a:solidFill>
                <a:latin typeface="Calibri" pitchFamily="34" charset="0"/>
                <a:ea typeface="Calibri" pitchFamily="34" charset="-122"/>
                <a:cs typeface="Calibri" pitchFamily="34" charset="-120"/>
              </a:rPr>
              <a:t>CHƯƠNG 3 · 3.1.1 NHÓM CỐT LÕI</a:t>
            </a:r>
            <a:endParaRPr lang="en-US" sz="1050" dirty="0"/>
          </a:p>
        </p:txBody>
      </p:sp>
      <p:sp>
        <p:nvSpPr>
          <p:cNvPr id="4" name="Text 2"/>
          <p:cNvSpPr txBox="1"/>
          <p:nvPr/>
        </p:nvSpPr>
        <p:spPr>
          <a:xfrm>
            <a:off x="548640" y="566928"/>
            <a:ext cx="11094415" cy="457200"/>
          </a:xfrm>
          <a:prstGeom prst="rect">
            <a:avLst/>
          </a:prstGeom>
          <a:noFill/>
          <a:ln/>
        </p:spPr>
        <p:txBody>
          <a:bodyPr wrap="square" lIns="0" tIns="0" rIns="0" bIns="0" rtlCol="0" anchor="t"/>
          <a:lstStyle/>
          <a:p>
            <a:pPr marL="0" indent="0">
              <a:buNone/>
            </a:pPr>
            <a:r>
              <a:rPr lang="en-US" sz="2500" b="1" dirty="0">
                <a:solidFill>
                  <a:srgbClr val="0B3B75"/>
                </a:solidFill>
                <a:latin typeface="Calibri" pitchFamily="34" charset="0"/>
                <a:ea typeface="Calibri" pitchFamily="34" charset="-122"/>
                <a:cs typeface="Calibri" pitchFamily="34" charset="-120"/>
              </a:rPr>
              <a:t>C01  —  Quản lý Yêu cầu Dịch vụ (PYC) — AS-IS</a:t>
            </a:r>
            <a:endParaRPr lang="en-US" sz="2500" dirty="0"/>
          </a:p>
        </p:txBody>
      </p:sp>
      <p:sp>
        <p:nvSpPr>
          <p:cNvPr id="5" name="Text 3"/>
          <p:cNvSpPr txBox="1"/>
          <p:nvPr/>
        </p:nvSpPr>
        <p:spPr>
          <a:xfrm>
            <a:off x="548640" y="6419088"/>
            <a:ext cx="8778240" cy="237744"/>
          </a:xfrm>
          <a:prstGeom prst="rect">
            <a:avLst/>
          </a:prstGeom>
          <a:noFill/>
          <a:ln/>
        </p:spPr>
        <p:txBody>
          <a:bodyPr wrap="square" lIns="0" tIns="0" rIns="0" bIns="0" rtlCol="0" anchor="t"/>
          <a:lstStyle/>
          <a:p>
            <a:pPr marL="0" indent="0">
              <a:buNone/>
            </a:pPr>
            <a:r>
              <a:rPr lang="en-US" sz="850" dirty="0">
                <a:solidFill>
                  <a:srgbClr val="6E7A88"/>
                </a:solidFill>
                <a:latin typeface="Calibri" pitchFamily="34" charset="0"/>
                <a:ea typeface="Calibri" pitchFamily="34" charset="-122"/>
                <a:cs typeface="Calibri" pitchFamily="34" charset="-120"/>
              </a:rPr>
              <a:t>HỆ THỐNG QUẢN TRỊ QUY TRÌNH NGHIỆP VỤ  ·  SACOMBANK — QUY TRÌNH PYC</a:t>
            </a:r>
            <a:endParaRPr lang="en-US" sz="850" dirty="0"/>
          </a:p>
        </p:txBody>
      </p:sp>
      <p:sp>
        <p:nvSpPr>
          <p:cNvPr id="6" name="Text 4"/>
          <p:cNvSpPr txBox="1"/>
          <p:nvPr/>
        </p:nvSpPr>
        <p:spPr>
          <a:xfrm>
            <a:off x="11155680" y="6382512"/>
            <a:ext cx="484632" cy="274320"/>
          </a:xfrm>
          <a:prstGeom prst="rect">
            <a:avLst/>
          </a:prstGeom>
          <a:noFill/>
          <a:ln/>
        </p:spPr>
        <p:txBody>
          <a:bodyPr wrap="square" lIns="0" tIns="0" rIns="0" bIns="0" rtlCol="0" anchor="t"/>
          <a:lstStyle/>
          <a:p>
            <a:pPr marL="0" indent="0" algn="r">
              <a:buNone/>
            </a:pPr>
            <a:r>
              <a:rPr lang="en-US" sz="1100" b="1" dirty="0">
                <a:solidFill>
                  <a:srgbClr val="A5741A"/>
                </a:solidFill>
                <a:latin typeface="Calibri" pitchFamily="34" charset="0"/>
                <a:ea typeface="Calibri" pitchFamily="34" charset="-122"/>
                <a:cs typeface="Calibri" pitchFamily="34" charset="-120"/>
              </a:rPr>
              <a:t>23</a:t>
            </a:r>
            <a:endParaRPr lang="en-US" sz="1100" dirty="0"/>
          </a:p>
        </p:txBody>
      </p:sp>
      <p:sp>
        <p:nvSpPr>
          <p:cNvPr id="7" name="Text 5"/>
          <p:cNvSpPr txBox="1"/>
          <p:nvPr/>
        </p:nvSpPr>
        <p:spPr>
          <a:xfrm>
            <a:off x="548640" y="1371600"/>
            <a:ext cx="5074920" cy="237744"/>
          </a:xfrm>
          <a:prstGeom prst="rect">
            <a:avLst/>
          </a:prstGeom>
          <a:noFill/>
          <a:ln/>
        </p:spPr>
        <p:txBody>
          <a:bodyPr wrap="square" lIns="0" tIns="0" rIns="0" bIns="0" rtlCol="0" anchor="t"/>
          <a:lstStyle/>
          <a:p>
            <a:pPr marL="0" indent="0">
              <a:buNone/>
            </a:pPr>
            <a:r>
              <a:rPr lang="en-US" sz="1000" b="1" kern="0" spc="80" dirty="0">
                <a:solidFill>
                  <a:srgbClr val="1660BF"/>
                </a:solidFill>
                <a:latin typeface="Calibri" pitchFamily="34" charset="0"/>
                <a:ea typeface="Calibri" pitchFamily="34" charset="-122"/>
                <a:cs typeface="Calibri" pitchFamily="34" charset="-120"/>
              </a:rPr>
              <a:t>CẤU TRÚC LUỒNG NGHIỆP VỤ</a:t>
            </a:r>
            <a:endParaRPr lang="en-US" sz="1000" dirty="0"/>
          </a:p>
        </p:txBody>
      </p:sp>
      <p:sp>
        <p:nvSpPr>
          <p:cNvPr id="8" name="Shape 6"/>
          <p:cNvSpPr/>
          <p:nvPr/>
        </p:nvSpPr>
        <p:spPr>
          <a:xfrm>
            <a:off x="548640" y="1664208"/>
            <a:ext cx="11091672" cy="1155032"/>
          </a:xfrm>
          <a:prstGeom prst="roundRect">
            <a:avLst>
              <a:gd name="adj" fmla="val 4750"/>
            </a:avLst>
          </a:prstGeom>
          <a:solidFill>
            <a:srgbClr val="EFF4FB"/>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9" name="Text 7"/>
          <p:cNvSpPr txBox="1"/>
          <p:nvPr/>
        </p:nvSpPr>
        <p:spPr>
          <a:xfrm>
            <a:off x="713232" y="1755648"/>
            <a:ext cx="4745736" cy="237744"/>
          </a:xfrm>
          <a:prstGeom prst="rect">
            <a:avLst/>
          </a:prstGeom>
          <a:noFill/>
          <a:ln/>
        </p:spPr>
        <p:txBody>
          <a:bodyPr wrap="square" lIns="0" tIns="0" rIns="0" bIns="0" rtlCol="0" anchor="t"/>
          <a:lstStyle/>
          <a:p>
            <a:pPr marL="0" indent="0">
              <a:buNone/>
            </a:pPr>
            <a:r>
              <a:rPr lang="en-US" sz="1100" b="1" dirty="0">
                <a:solidFill>
                  <a:srgbClr val="0B3B75"/>
                </a:solidFill>
                <a:latin typeface="Calibri" pitchFamily="34" charset="0"/>
                <a:ea typeface="Calibri" pitchFamily="34" charset="-122"/>
                <a:cs typeface="Calibri" pitchFamily="34" charset="-120"/>
              </a:rPr>
              <a:t>POOL 1 — End User</a:t>
            </a:r>
            <a:endParaRPr lang="en-US" sz="1100" dirty="0"/>
          </a:p>
        </p:txBody>
      </p:sp>
      <p:sp>
        <p:nvSpPr>
          <p:cNvPr id="10" name="Text 8"/>
          <p:cNvSpPr txBox="1"/>
          <p:nvPr/>
        </p:nvSpPr>
        <p:spPr>
          <a:xfrm>
            <a:off x="713231" y="2011680"/>
            <a:ext cx="10699515" cy="697832"/>
          </a:xfrm>
          <a:prstGeom prst="rect">
            <a:avLst/>
          </a:prstGeom>
          <a:noFill/>
          <a:ln/>
        </p:spPr>
        <p:txBody>
          <a:bodyPr wrap="square" lIns="0" tIns="0" rIns="0" bIns="0" rtlCol="0" anchor="t"/>
          <a:lstStyle/>
          <a:p>
            <a:pPr marL="0" indent="0">
              <a:buNone/>
            </a:pPr>
            <a:r>
              <a:rPr lang="en-US" sz="920" dirty="0">
                <a:solidFill>
                  <a:srgbClr val="2A3442"/>
                </a:solidFill>
                <a:latin typeface="Calibri" pitchFamily="34" charset="0"/>
                <a:ea typeface="Calibri" pitchFamily="34" charset="-122"/>
                <a:cs typeface="Calibri" pitchFamily="34" charset="-120"/>
              </a:rPr>
              <a:t>Start Event “Nhu cầu hỗ trợ” → Đăng nhập ITSM → Chọn dịch vụ → Điền biểu mẫu PYC → Gateway AND Split “Đính kèm” tách 3 nhánh (email phê duyệt, mã dự án, ảnh chụp màn hình) → AND Join → Send Task “Gửi yêu cầu” → Message Flow sang Pool 2.</a:t>
            </a:r>
            <a:endParaRPr lang="en-US" sz="920" dirty="0"/>
          </a:p>
        </p:txBody>
      </p:sp>
      <p:sp>
        <p:nvSpPr>
          <p:cNvPr id="11" name="Shape 9"/>
          <p:cNvSpPr/>
          <p:nvPr/>
        </p:nvSpPr>
        <p:spPr>
          <a:xfrm>
            <a:off x="548639" y="2965544"/>
            <a:ext cx="11094415" cy="1247434"/>
          </a:xfrm>
          <a:prstGeom prst="roundRect">
            <a:avLst>
              <a:gd name="adj" fmla="val 4398"/>
            </a:avLst>
          </a:prstGeom>
          <a:solidFill>
            <a:srgbClr val="EFF4FB"/>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12" name="Text 10"/>
          <p:cNvSpPr txBox="1"/>
          <p:nvPr/>
        </p:nvSpPr>
        <p:spPr>
          <a:xfrm>
            <a:off x="713232" y="3056984"/>
            <a:ext cx="4745736" cy="237744"/>
          </a:xfrm>
          <a:prstGeom prst="rect">
            <a:avLst/>
          </a:prstGeom>
          <a:noFill/>
          <a:ln/>
        </p:spPr>
        <p:txBody>
          <a:bodyPr wrap="square" lIns="0" tIns="0" rIns="0" bIns="0" rtlCol="0" anchor="t"/>
          <a:lstStyle/>
          <a:p>
            <a:pPr marL="0" indent="0">
              <a:buNone/>
            </a:pPr>
            <a:r>
              <a:rPr lang="en-US" sz="1100" b="1" dirty="0">
                <a:solidFill>
                  <a:srgbClr val="0B3B75"/>
                </a:solidFill>
                <a:latin typeface="Calibri" pitchFamily="34" charset="0"/>
                <a:ea typeface="Calibri" pitchFamily="34" charset="-122"/>
                <a:cs typeface="Calibri" pitchFamily="34" charset="-120"/>
              </a:rPr>
              <a:t>POOL 2 — Hệ thống ITSM</a:t>
            </a:r>
            <a:endParaRPr lang="en-US" sz="1100" dirty="0"/>
          </a:p>
        </p:txBody>
      </p:sp>
      <p:sp>
        <p:nvSpPr>
          <p:cNvPr id="13" name="Text 11"/>
          <p:cNvSpPr txBox="1"/>
          <p:nvPr/>
        </p:nvSpPr>
        <p:spPr>
          <a:xfrm>
            <a:off x="713232" y="3313016"/>
            <a:ext cx="10699514" cy="790234"/>
          </a:xfrm>
          <a:prstGeom prst="rect">
            <a:avLst/>
          </a:prstGeom>
          <a:noFill/>
          <a:ln/>
        </p:spPr>
        <p:txBody>
          <a:bodyPr wrap="square" lIns="0" tIns="0" rIns="0" bIns="0" rtlCol="0" anchor="t"/>
          <a:lstStyle/>
          <a:p>
            <a:pPr marL="0" indent="0">
              <a:buNone/>
            </a:pPr>
            <a:r>
              <a:rPr lang="en-US" sz="920" dirty="0">
                <a:solidFill>
                  <a:srgbClr val="2A3442"/>
                </a:solidFill>
                <a:latin typeface="Calibri" pitchFamily="34" charset="0"/>
                <a:ea typeface="Calibri" pitchFamily="34" charset="-122"/>
                <a:cs typeface="Calibri" pitchFamily="34" charset="-120"/>
              </a:rPr>
              <a:t>Message Start Event → Phân loại rủi ro quyền → XOR “Rủi ro?”: Thấp → Tạo Work Order; Cao → gửi thông báo Quản lý → XOR “Approved?”: Không → Reject kèm lý do → End Event; Có → Xác nhận PYC → hợp luồng về Tạo WO → Send Task gán WO cho nhóm xử lý.</a:t>
            </a:r>
            <a:endParaRPr lang="en-US" sz="920" dirty="0"/>
          </a:p>
        </p:txBody>
      </p:sp>
      <p:sp>
        <p:nvSpPr>
          <p:cNvPr id="14" name="Shape 12"/>
          <p:cNvSpPr/>
          <p:nvPr/>
        </p:nvSpPr>
        <p:spPr>
          <a:xfrm>
            <a:off x="548640" y="4359282"/>
            <a:ext cx="11166032" cy="1694046"/>
          </a:xfrm>
          <a:prstGeom prst="roundRect">
            <a:avLst>
              <a:gd name="adj" fmla="val 3239"/>
            </a:avLst>
          </a:prstGeom>
          <a:solidFill>
            <a:srgbClr val="EFF4FB"/>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15" name="Text 13"/>
          <p:cNvSpPr txBox="1"/>
          <p:nvPr/>
        </p:nvSpPr>
        <p:spPr>
          <a:xfrm>
            <a:off x="713232" y="4450722"/>
            <a:ext cx="4745736" cy="237744"/>
          </a:xfrm>
          <a:prstGeom prst="rect">
            <a:avLst/>
          </a:prstGeom>
          <a:noFill/>
          <a:ln/>
        </p:spPr>
        <p:txBody>
          <a:bodyPr wrap="square" lIns="0" tIns="0" rIns="0" bIns="0" rtlCol="0" anchor="t"/>
          <a:lstStyle/>
          <a:p>
            <a:pPr marL="0" indent="0">
              <a:buNone/>
            </a:pPr>
            <a:r>
              <a:rPr lang="en-US" sz="1100" b="1" dirty="0">
                <a:solidFill>
                  <a:srgbClr val="0B3B75"/>
                </a:solidFill>
                <a:latin typeface="Calibri" pitchFamily="34" charset="0"/>
                <a:ea typeface="Calibri" pitchFamily="34" charset="-122"/>
                <a:cs typeface="Calibri" pitchFamily="34" charset="-120"/>
              </a:rPr>
              <a:t>POOL 3 — Service Desk L1</a:t>
            </a:r>
            <a:endParaRPr lang="en-US" sz="1100" dirty="0"/>
          </a:p>
        </p:txBody>
      </p:sp>
      <p:sp>
        <p:nvSpPr>
          <p:cNvPr id="16" name="Text 14"/>
          <p:cNvSpPr txBox="1"/>
          <p:nvPr/>
        </p:nvSpPr>
        <p:spPr>
          <a:xfrm>
            <a:off x="713232" y="4706754"/>
            <a:ext cx="10699514" cy="1236846"/>
          </a:xfrm>
          <a:prstGeom prst="rect">
            <a:avLst/>
          </a:prstGeom>
          <a:noFill/>
          <a:ln/>
        </p:spPr>
        <p:txBody>
          <a:bodyPr wrap="square" lIns="0" tIns="0" rIns="0" bIns="0" rtlCol="0" anchor="t"/>
          <a:lstStyle/>
          <a:p>
            <a:pPr marL="0" indent="0">
              <a:buNone/>
            </a:pPr>
            <a:r>
              <a:rPr lang="en-US" sz="920" dirty="0">
                <a:solidFill>
                  <a:srgbClr val="2A3442"/>
                </a:solidFill>
                <a:latin typeface="Calibri" pitchFamily="34" charset="0"/>
                <a:ea typeface="Calibri" pitchFamily="34" charset="-122"/>
                <a:cs typeface="Calibri" pitchFamily="34" charset="-120"/>
              </a:rPr>
              <a:t>Timer Start “Bắt đầu SLA” → Xác minh thông tin → XOR “Trong scope?”: Trong scope → Xử lý trực tiếp → AND Split ghi log ITSM + ghi log SIEM → AND Join; Ngoài scope → Ghi chú phân tích → gửi WO cho L2 → Sub-Process “L2 xử lý kỹ thuật”. Hợp luồng → Cập nhật “Resolved” → User kiểm tra kết quả → Event-Based Gateway chờ Message “confirm” hoặc Timer “1 ngày” → Đóng ticket → End Event.</a:t>
            </a:r>
            <a:endParaRPr lang="en-US" sz="92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06724B99-5BE9-2677-D2CA-55B60F3EFE6D}"/>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1663B06B-2D4B-17C1-31D2-F39BD3BE7E5B}"/>
              </a:ext>
            </a:extLst>
          </p:cNvPr>
          <p:cNvSpPr/>
          <p:nvPr/>
        </p:nvSpPr>
        <p:spPr>
          <a:xfrm>
            <a:off x="548640" y="365760"/>
            <a:ext cx="123444" cy="123444"/>
          </a:xfrm>
          <a:prstGeom prst="ellipse">
            <a:avLst/>
          </a:prstGeom>
          <a:solidFill>
            <a:srgbClr val="D9A227"/>
          </a:solidFill>
          <a:ln w="12700">
            <a:solidFill>
              <a:srgbClr val="D9A227"/>
            </a:solidFill>
            <a:prstDash val="solid"/>
          </a:ln>
        </p:spPr>
        <p:txBody>
          <a:bodyPr/>
          <a:lstStyle/>
          <a:p>
            <a:endParaRPr lang="en-US"/>
          </a:p>
        </p:txBody>
      </p:sp>
      <p:sp>
        <p:nvSpPr>
          <p:cNvPr id="3" name="Text 1">
            <a:extLst>
              <a:ext uri="{FF2B5EF4-FFF2-40B4-BE49-F238E27FC236}">
                <a16:creationId xmlns:a16="http://schemas.microsoft.com/office/drawing/2014/main" id="{B5A86070-CB9C-E934-4D69-AF453D8C2319}"/>
              </a:ext>
            </a:extLst>
          </p:cNvPr>
          <p:cNvSpPr txBox="1"/>
          <p:nvPr/>
        </p:nvSpPr>
        <p:spPr>
          <a:xfrm>
            <a:off x="804672" y="292608"/>
            <a:ext cx="10838383" cy="237744"/>
          </a:xfrm>
          <a:prstGeom prst="rect">
            <a:avLst/>
          </a:prstGeom>
          <a:noFill/>
          <a:ln/>
        </p:spPr>
        <p:txBody>
          <a:bodyPr wrap="square" lIns="0" tIns="0" rIns="0" bIns="0" rtlCol="0" anchor="t"/>
          <a:lstStyle/>
          <a:p>
            <a:r>
              <a:rPr lang="en-US" sz="1050" b="1" kern="0" spc="120" dirty="0">
                <a:solidFill>
                  <a:srgbClr val="A5741A"/>
                </a:solidFill>
                <a:latin typeface="Calibri" pitchFamily="34" charset="0"/>
                <a:ea typeface="Calibri" pitchFamily="34" charset="-122"/>
                <a:cs typeface="Calibri" pitchFamily="34" charset="-120"/>
              </a:rPr>
              <a:t>CHƯƠNG 3 · 3.1.1 NHÓM CỐT LÕI</a:t>
            </a:r>
            <a:endParaRPr lang="en-US" sz="1050" dirty="0"/>
          </a:p>
        </p:txBody>
      </p:sp>
      <p:sp>
        <p:nvSpPr>
          <p:cNvPr id="4" name="Text 2">
            <a:extLst>
              <a:ext uri="{FF2B5EF4-FFF2-40B4-BE49-F238E27FC236}">
                <a16:creationId xmlns:a16="http://schemas.microsoft.com/office/drawing/2014/main" id="{8B08EA2C-76B2-BCD2-5144-EA779A2068AC}"/>
              </a:ext>
            </a:extLst>
          </p:cNvPr>
          <p:cNvSpPr txBox="1"/>
          <p:nvPr/>
        </p:nvSpPr>
        <p:spPr>
          <a:xfrm>
            <a:off x="548640" y="566928"/>
            <a:ext cx="11094415" cy="457200"/>
          </a:xfrm>
          <a:prstGeom prst="rect">
            <a:avLst/>
          </a:prstGeom>
          <a:noFill/>
          <a:ln/>
        </p:spPr>
        <p:txBody>
          <a:bodyPr wrap="square" lIns="0" tIns="0" rIns="0" bIns="0" rtlCol="0" anchor="t"/>
          <a:lstStyle/>
          <a:p>
            <a:r>
              <a:rPr lang="en-US" sz="2500" b="1" dirty="0">
                <a:solidFill>
                  <a:srgbClr val="0B3B75"/>
                </a:solidFill>
                <a:latin typeface="Calibri" pitchFamily="34" charset="0"/>
                <a:ea typeface="Calibri" pitchFamily="34" charset="-122"/>
                <a:cs typeface="Calibri" pitchFamily="34" charset="-120"/>
              </a:rPr>
              <a:t>C01  —  Quản </a:t>
            </a:r>
            <a:r>
              <a:rPr lang="en-US" sz="2500" b="1" dirty="0" err="1">
                <a:solidFill>
                  <a:srgbClr val="0B3B75"/>
                </a:solidFill>
                <a:latin typeface="Calibri" pitchFamily="34" charset="0"/>
                <a:ea typeface="Calibri" pitchFamily="34" charset="-122"/>
                <a:cs typeface="Calibri" pitchFamily="34" charset="-120"/>
              </a:rPr>
              <a:t>lý</a:t>
            </a:r>
            <a:r>
              <a:rPr lang="en-US" sz="2500" b="1" dirty="0">
                <a:solidFill>
                  <a:srgbClr val="0B3B75"/>
                </a:solidFill>
                <a:latin typeface="Calibri" pitchFamily="34" charset="0"/>
                <a:ea typeface="Calibri" pitchFamily="34" charset="-122"/>
                <a:cs typeface="Calibri" pitchFamily="34" charset="-120"/>
              </a:rPr>
              <a:t> </a:t>
            </a:r>
            <a:r>
              <a:rPr lang="en-US" sz="2500" b="1" dirty="0" err="1">
                <a:solidFill>
                  <a:srgbClr val="0B3B75"/>
                </a:solidFill>
                <a:latin typeface="Calibri" pitchFamily="34" charset="0"/>
                <a:ea typeface="Calibri" pitchFamily="34" charset="-122"/>
                <a:cs typeface="Calibri" pitchFamily="34" charset="-120"/>
              </a:rPr>
              <a:t>Yêu</a:t>
            </a:r>
            <a:r>
              <a:rPr lang="en-US" sz="2500" b="1" dirty="0">
                <a:solidFill>
                  <a:srgbClr val="0B3B75"/>
                </a:solidFill>
                <a:latin typeface="Calibri" pitchFamily="34" charset="0"/>
                <a:ea typeface="Calibri" pitchFamily="34" charset="-122"/>
                <a:cs typeface="Calibri" pitchFamily="34" charset="-120"/>
              </a:rPr>
              <a:t> </a:t>
            </a:r>
            <a:r>
              <a:rPr lang="en-US" sz="2500" b="1" dirty="0" err="1">
                <a:solidFill>
                  <a:srgbClr val="0B3B75"/>
                </a:solidFill>
                <a:latin typeface="Calibri" pitchFamily="34" charset="0"/>
                <a:ea typeface="Calibri" pitchFamily="34" charset="-122"/>
                <a:cs typeface="Calibri" pitchFamily="34" charset="-120"/>
              </a:rPr>
              <a:t>cầu</a:t>
            </a:r>
            <a:r>
              <a:rPr lang="en-US" sz="2500" b="1" dirty="0">
                <a:solidFill>
                  <a:srgbClr val="0B3B75"/>
                </a:solidFill>
                <a:latin typeface="Calibri" pitchFamily="34" charset="0"/>
                <a:ea typeface="Calibri" pitchFamily="34" charset="-122"/>
                <a:cs typeface="Calibri" pitchFamily="34" charset="-120"/>
              </a:rPr>
              <a:t> </a:t>
            </a:r>
            <a:r>
              <a:rPr lang="en-US" sz="2500" b="1" dirty="0" err="1">
                <a:solidFill>
                  <a:srgbClr val="0B3B75"/>
                </a:solidFill>
                <a:latin typeface="Calibri" pitchFamily="34" charset="0"/>
                <a:ea typeface="Calibri" pitchFamily="34" charset="-122"/>
                <a:cs typeface="Calibri" pitchFamily="34" charset="-120"/>
              </a:rPr>
              <a:t>Dịch</a:t>
            </a:r>
            <a:r>
              <a:rPr lang="en-US" sz="2500" b="1" dirty="0">
                <a:solidFill>
                  <a:srgbClr val="0B3B75"/>
                </a:solidFill>
                <a:latin typeface="Calibri" pitchFamily="34" charset="0"/>
                <a:ea typeface="Calibri" pitchFamily="34" charset="-122"/>
                <a:cs typeface="Calibri" pitchFamily="34" charset="-120"/>
              </a:rPr>
              <a:t> </a:t>
            </a:r>
            <a:r>
              <a:rPr lang="en-US" sz="2500" b="1" dirty="0" err="1">
                <a:solidFill>
                  <a:srgbClr val="0B3B75"/>
                </a:solidFill>
                <a:latin typeface="Calibri" pitchFamily="34" charset="0"/>
                <a:ea typeface="Calibri" pitchFamily="34" charset="-122"/>
                <a:cs typeface="Calibri" pitchFamily="34" charset="-120"/>
              </a:rPr>
              <a:t>vụ</a:t>
            </a:r>
            <a:r>
              <a:rPr lang="en-US" sz="2500" b="1" dirty="0">
                <a:solidFill>
                  <a:srgbClr val="0B3B75"/>
                </a:solidFill>
                <a:latin typeface="Calibri" pitchFamily="34" charset="0"/>
                <a:ea typeface="Calibri" pitchFamily="34" charset="-122"/>
                <a:cs typeface="Calibri" pitchFamily="34" charset="-120"/>
              </a:rPr>
              <a:t> (PYC) — AS-IS</a:t>
            </a:r>
            <a:endParaRPr lang="en-US" sz="2500" dirty="0"/>
          </a:p>
        </p:txBody>
      </p:sp>
      <p:sp>
        <p:nvSpPr>
          <p:cNvPr id="5" name="Text 3">
            <a:extLst>
              <a:ext uri="{FF2B5EF4-FFF2-40B4-BE49-F238E27FC236}">
                <a16:creationId xmlns:a16="http://schemas.microsoft.com/office/drawing/2014/main" id="{47B27791-3F62-9D7D-0D20-BC4D11E92BD1}"/>
              </a:ext>
            </a:extLst>
          </p:cNvPr>
          <p:cNvSpPr txBox="1"/>
          <p:nvPr/>
        </p:nvSpPr>
        <p:spPr>
          <a:xfrm>
            <a:off x="548640" y="6419088"/>
            <a:ext cx="8778240" cy="237744"/>
          </a:xfrm>
          <a:prstGeom prst="rect">
            <a:avLst/>
          </a:prstGeom>
          <a:noFill/>
          <a:ln/>
        </p:spPr>
        <p:txBody>
          <a:bodyPr wrap="square" lIns="0" tIns="0" rIns="0" bIns="0" rtlCol="0" anchor="t"/>
          <a:lstStyle/>
          <a:p>
            <a:pPr marL="0" indent="0">
              <a:buNone/>
            </a:pPr>
            <a:r>
              <a:rPr lang="en-US" sz="850" dirty="0">
                <a:solidFill>
                  <a:srgbClr val="6E7A88"/>
                </a:solidFill>
                <a:latin typeface="Calibri" pitchFamily="34" charset="0"/>
                <a:ea typeface="Calibri" pitchFamily="34" charset="-122"/>
                <a:cs typeface="Calibri" pitchFamily="34" charset="-120"/>
              </a:rPr>
              <a:t>HỆ THỐNG QUẢN TRỊ QUY TRÌNH NGHIỆP VỤ  ·  SACOMBANK — QUY TRÌNH PYC</a:t>
            </a:r>
            <a:endParaRPr lang="en-US" sz="850" dirty="0"/>
          </a:p>
        </p:txBody>
      </p:sp>
      <p:sp>
        <p:nvSpPr>
          <p:cNvPr id="6" name="Text 4">
            <a:extLst>
              <a:ext uri="{FF2B5EF4-FFF2-40B4-BE49-F238E27FC236}">
                <a16:creationId xmlns:a16="http://schemas.microsoft.com/office/drawing/2014/main" id="{E3793502-5D2E-3EB7-E4FC-2B2BE91EEBC7}"/>
              </a:ext>
            </a:extLst>
          </p:cNvPr>
          <p:cNvSpPr txBox="1"/>
          <p:nvPr/>
        </p:nvSpPr>
        <p:spPr>
          <a:xfrm>
            <a:off x="11155680" y="6382512"/>
            <a:ext cx="484632" cy="274320"/>
          </a:xfrm>
          <a:prstGeom prst="rect">
            <a:avLst/>
          </a:prstGeom>
          <a:noFill/>
          <a:ln/>
        </p:spPr>
        <p:txBody>
          <a:bodyPr wrap="square" lIns="0" tIns="0" rIns="0" bIns="0" rtlCol="0" anchor="t"/>
          <a:lstStyle/>
          <a:p>
            <a:pPr marL="0" indent="0" algn="r">
              <a:buNone/>
            </a:pPr>
            <a:r>
              <a:rPr lang="en-US" sz="1100" b="1" dirty="0">
                <a:solidFill>
                  <a:srgbClr val="A5741A"/>
                </a:solidFill>
                <a:latin typeface="Calibri" pitchFamily="34" charset="0"/>
                <a:ea typeface="Calibri" pitchFamily="34" charset="-122"/>
                <a:cs typeface="Calibri" pitchFamily="34" charset="-120"/>
              </a:rPr>
              <a:t>24</a:t>
            </a:r>
            <a:endParaRPr lang="en-US" sz="1100" dirty="0"/>
          </a:p>
        </p:txBody>
      </p:sp>
      <p:grpSp>
        <p:nvGrpSpPr>
          <p:cNvPr id="7" name="Group 6">
            <a:extLst>
              <a:ext uri="{FF2B5EF4-FFF2-40B4-BE49-F238E27FC236}">
                <a16:creationId xmlns:a16="http://schemas.microsoft.com/office/drawing/2014/main" id="{545387C7-B328-5F99-CE92-9866BB0E89FD}"/>
              </a:ext>
            </a:extLst>
          </p:cNvPr>
          <p:cNvGrpSpPr/>
          <p:nvPr/>
        </p:nvGrpSpPr>
        <p:grpSpPr>
          <a:xfrm>
            <a:off x="548640" y="1056222"/>
            <a:ext cx="8388326" cy="5248656"/>
            <a:chOff x="6047462" y="1078992"/>
            <a:chExt cx="5831112" cy="4315968"/>
          </a:xfrm>
        </p:grpSpPr>
        <p:sp>
          <p:nvSpPr>
            <p:cNvPr id="8" name="Shape 15">
              <a:extLst>
                <a:ext uri="{FF2B5EF4-FFF2-40B4-BE49-F238E27FC236}">
                  <a16:creationId xmlns:a16="http://schemas.microsoft.com/office/drawing/2014/main" id="{D244DCE1-B705-28CC-FFE1-28EFAD55E033}"/>
                </a:ext>
              </a:extLst>
            </p:cNvPr>
            <p:cNvSpPr/>
            <p:nvPr/>
          </p:nvSpPr>
          <p:spPr>
            <a:xfrm>
              <a:off x="6047462" y="1078992"/>
              <a:ext cx="5831112" cy="4315968"/>
            </a:xfrm>
            <a:prstGeom prst="roundRect">
              <a:avLst>
                <a:gd name="adj" fmla="val 1364"/>
              </a:avLst>
            </a:prstGeom>
            <a:solidFill>
              <a:srgbClr val="FCF7EA"/>
            </a:solidFill>
            <a:ln w="15875">
              <a:solidFill>
                <a:srgbClr val="D9A227"/>
              </a:solidFill>
              <a:prstDash val="dash"/>
            </a:ln>
          </p:spPr>
          <p:txBody>
            <a:bodyPr/>
            <a:lstStyle/>
            <a:p>
              <a:endParaRPr lang="en-US"/>
            </a:p>
          </p:txBody>
        </p:sp>
        <p:pic>
          <p:nvPicPr>
            <p:cNvPr id="9" name="Picture 8">
              <a:extLst>
                <a:ext uri="{FF2B5EF4-FFF2-40B4-BE49-F238E27FC236}">
                  <a16:creationId xmlns:a16="http://schemas.microsoft.com/office/drawing/2014/main" id="{779C71EB-88C0-C0B1-DD1B-B882A86FA096}"/>
                </a:ext>
              </a:extLst>
            </p:cNvPr>
            <p:cNvPicPr>
              <a:picLocks noChangeAspect="1"/>
            </p:cNvPicPr>
            <p:nvPr/>
          </p:nvPicPr>
          <p:blipFill>
            <a:blip r:embed="rId3"/>
            <a:stretch>
              <a:fillRect/>
            </a:stretch>
          </p:blipFill>
          <p:spPr>
            <a:xfrm>
              <a:off x="6126480" y="1154329"/>
              <a:ext cx="5681067" cy="4202430"/>
            </a:xfrm>
            <a:prstGeom prst="rect">
              <a:avLst/>
            </a:prstGeom>
          </p:spPr>
        </p:pic>
      </p:grpSp>
    </p:spTree>
    <p:extLst>
      <p:ext uri="{BB962C8B-B14F-4D97-AF65-F5344CB8AC3E}">
        <p14:creationId xmlns:p14="http://schemas.microsoft.com/office/powerpoint/2010/main" val="94037491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65760"/>
            <a:ext cx="123444" cy="123444"/>
          </a:xfrm>
          <a:prstGeom prst="ellipse">
            <a:avLst/>
          </a:prstGeom>
          <a:solidFill>
            <a:srgbClr val="D9A227"/>
          </a:solidFill>
          <a:ln w="12700">
            <a:solidFill>
              <a:srgbClr val="D9A227"/>
            </a:solidFill>
            <a:prstDash val="solid"/>
          </a:ln>
        </p:spPr>
        <p:txBody>
          <a:bodyPr/>
          <a:lstStyle/>
          <a:p>
            <a:endParaRPr lang="en-US"/>
          </a:p>
        </p:txBody>
      </p:sp>
      <p:sp>
        <p:nvSpPr>
          <p:cNvPr id="3" name="Text 1"/>
          <p:cNvSpPr txBox="1"/>
          <p:nvPr/>
        </p:nvSpPr>
        <p:spPr>
          <a:xfrm>
            <a:off x="804672" y="292608"/>
            <a:ext cx="10838383" cy="237744"/>
          </a:xfrm>
          <a:prstGeom prst="rect">
            <a:avLst/>
          </a:prstGeom>
          <a:noFill/>
          <a:ln/>
        </p:spPr>
        <p:txBody>
          <a:bodyPr wrap="square" lIns="0" tIns="0" rIns="0" bIns="0" rtlCol="0" anchor="t"/>
          <a:lstStyle/>
          <a:p>
            <a:pPr marL="0" indent="0">
              <a:buNone/>
            </a:pPr>
            <a:r>
              <a:rPr lang="en-US" sz="1050" b="1" kern="0" spc="120" dirty="0">
                <a:solidFill>
                  <a:srgbClr val="A5741A"/>
                </a:solidFill>
                <a:latin typeface="Calibri" pitchFamily="34" charset="0"/>
                <a:ea typeface="Calibri" pitchFamily="34" charset="-122"/>
                <a:cs typeface="Calibri" pitchFamily="34" charset="-120"/>
              </a:rPr>
              <a:t>CHƯƠNG 3 · 3.2.1 NHÓM QUẢN LÝ</a:t>
            </a:r>
            <a:endParaRPr lang="en-US" sz="1050" dirty="0"/>
          </a:p>
        </p:txBody>
      </p:sp>
      <p:sp>
        <p:nvSpPr>
          <p:cNvPr id="4" name="Text 2"/>
          <p:cNvSpPr txBox="1"/>
          <p:nvPr/>
        </p:nvSpPr>
        <p:spPr>
          <a:xfrm>
            <a:off x="548640" y="566928"/>
            <a:ext cx="11094415" cy="457200"/>
          </a:xfrm>
          <a:prstGeom prst="rect">
            <a:avLst/>
          </a:prstGeom>
          <a:noFill/>
          <a:ln/>
        </p:spPr>
        <p:txBody>
          <a:bodyPr wrap="square" lIns="0" tIns="0" rIns="0" bIns="0" rtlCol="0" anchor="t"/>
          <a:lstStyle/>
          <a:p>
            <a:pPr marL="0" indent="0">
              <a:buNone/>
            </a:pPr>
            <a:r>
              <a:rPr lang="en-US" sz="2500" b="1" dirty="0">
                <a:solidFill>
                  <a:srgbClr val="0B3B75"/>
                </a:solidFill>
                <a:latin typeface="Calibri" pitchFamily="34" charset="0"/>
                <a:ea typeface="Calibri" pitchFamily="34" charset="-122"/>
                <a:cs typeface="Calibri" pitchFamily="34" charset="-120"/>
              </a:rPr>
              <a:t>M01  —  Quản lý Mức Dịch vụ (SLA) — AS-IS</a:t>
            </a:r>
            <a:endParaRPr lang="en-US" sz="2500" dirty="0"/>
          </a:p>
        </p:txBody>
      </p:sp>
      <p:sp>
        <p:nvSpPr>
          <p:cNvPr id="5" name="Text 3"/>
          <p:cNvSpPr txBox="1"/>
          <p:nvPr/>
        </p:nvSpPr>
        <p:spPr>
          <a:xfrm>
            <a:off x="548640" y="6419088"/>
            <a:ext cx="8778240" cy="237744"/>
          </a:xfrm>
          <a:prstGeom prst="rect">
            <a:avLst/>
          </a:prstGeom>
          <a:noFill/>
          <a:ln/>
        </p:spPr>
        <p:txBody>
          <a:bodyPr wrap="square" lIns="0" tIns="0" rIns="0" bIns="0" rtlCol="0" anchor="t"/>
          <a:lstStyle/>
          <a:p>
            <a:pPr marL="0" indent="0">
              <a:buNone/>
            </a:pPr>
            <a:r>
              <a:rPr lang="en-US" sz="850" dirty="0">
                <a:solidFill>
                  <a:srgbClr val="6E7A88"/>
                </a:solidFill>
                <a:latin typeface="Calibri" pitchFamily="34" charset="0"/>
                <a:ea typeface="Calibri" pitchFamily="34" charset="-122"/>
                <a:cs typeface="Calibri" pitchFamily="34" charset="-120"/>
              </a:rPr>
              <a:t>HỆ THỐNG QUẢN TRỊ QUY TRÌNH NGHIỆP VỤ  ·  SACOMBANK — QUY TRÌNH PYC</a:t>
            </a:r>
            <a:endParaRPr lang="en-US" sz="850" dirty="0"/>
          </a:p>
        </p:txBody>
      </p:sp>
      <p:sp>
        <p:nvSpPr>
          <p:cNvPr id="6" name="Text 4"/>
          <p:cNvSpPr txBox="1"/>
          <p:nvPr/>
        </p:nvSpPr>
        <p:spPr>
          <a:xfrm>
            <a:off x="11155680" y="6382512"/>
            <a:ext cx="484632" cy="274320"/>
          </a:xfrm>
          <a:prstGeom prst="rect">
            <a:avLst/>
          </a:prstGeom>
          <a:noFill/>
          <a:ln/>
        </p:spPr>
        <p:txBody>
          <a:bodyPr wrap="square" lIns="0" tIns="0" rIns="0" bIns="0" rtlCol="0" anchor="t"/>
          <a:lstStyle/>
          <a:p>
            <a:pPr marL="0" indent="0" algn="r">
              <a:buNone/>
            </a:pPr>
            <a:r>
              <a:rPr lang="en-US" sz="1100" b="1" dirty="0">
                <a:solidFill>
                  <a:srgbClr val="A5741A"/>
                </a:solidFill>
                <a:latin typeface="Calibri" pitchFamily="34" charset="0"/>
                <a:ea typeface="Calibri" pitchFamily="34" charset="-122"/>
                <a:cs typeface="Calibri" pitchFamily="34" charset="-120"/>
              </a:rPr>
              <a:t>25</a:t>
            </a:r>
            <a:endParaRPr lang="en-US" sz="1100" dirty="0"/>
          </a:p>
        </p:txBody>
      </p:sp>
      <p:sp>
        <p:nvSpPr>
          <p:cNvPr id="7" name="Text 5"/>
          <p:cNvSpPr txBox="1"/>
          <p:nvPr/>
        </p:nvSpPr>
        <p:spPr>
          <a:xfrm>
            <a:off x="548640" y="1371600"/>
            <a:ext cx="5074920" cy="237744"/>
          </a:xfrm>
          <a:prstGeom prst="rect">
            <a:avLst/>
          </a:prstGeom>
          <a:noFill/>
          <a:ln/>
        </p:spPr>
        <p:txBody>
          <a:bodyPr wrap="square" lIns="0" tIns="0" rIns="0" bIns="0" rtlCol="0" anchor="t"/>
          <a:lstStyle/>
          <a:p>
            <a:pPr marL="0" indent="0">
              <a:buNone/>
            </a:pPr>
            <a:r>
              <a:rPr lang="en-US" sz="1100" b="1" kern="0" spc="80" dirty="0">
                <a:solidFill>
                  <a:srgbClr val="1660BF"/>
                </a:solidFill>
                <a:latin typeface="Calibri" pitchFamily="34" charset="0"/>
                <a:ea typeface="Calibri" pitchFamily="34" charset="-122"/>
                <a:cs typeface="Calibri" pitchFamily="34" charset="-120"/>
              </a:rPr>
              <a:t>CẤU TRÚC LUỒNG NGHIỆP VỤ</a:t>
            </a:r>
            <a:endParaRPr lang="en-US" sz="1100" dirty="0"/>
          </a:p>
        </p:txBody>
      </p:sp>
      <p:sp>
        <p:nvSpPr>
          <p:cNvPr id="8" name="Shape 6"/>
          <p:cNvSpPr/>
          <p:nvPr/>
        </p:nvSpPr>
        <p:spPr>
          <a:xfrm>
            <a:off x="548640" y="1664208"/>
            <a:ext cx="11091672" cy="1463040"/>
          </a:xfrm>
          <a:prstGeom prst="roundRect">
            <a:avLst>
              <a:gd name="adj" fmla="val 3750"/>
            </a:avLst>
          </a:prstGeom>
          <a:solidFill>
            <a:srgbClr val="EFF4FB"/>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9" name="Text 7"/>
          <p:cNvSpPr txBox="1"/>
          <p:nvPr/>
        </p:nvSpPr>
        <p:spPr>
          <a:xfrm>
            <a:off x="713232" y="1755648"/>
            <a:ext cx="4745736" cy="237744"/>
          </a:xfrm>
          <a:prstGeom prst="rect">
            <a:avLst/>
          </a:prstGeom>
          <a:noFill/>
          <a:ln/>
        </p:spPr>
        <p:txBody>
          <a:bodyPr wrap="square" lIns="0" tIns="0" rIns="0" bIns="0" rtlCol="0" anchor="t"/>
          <a:lstStyle/>
          <a:p>
            <a:pPr marL="0" indent="0">
              <a:buNone/>
            </a:pPr>
            <a:r>
              <a:rPr lang="en-US" sz="1200" b="1" dirty="0">
                <a:solidFill>
                  <a:srgbClr val="0B3B75"/>
                </a:solidFill>
                <a:latin typeface="Calibri" pitchFamily="34" charset="0"/>
                <a:ea typeface="Calibri" pitchFamily="34" charset="-122"/>
                <a:cs typeface="Calibri" pitchFamily="34" charset="-120"/>
              </a:rPr>
              <a:t>POOL 1 — Bộ phận vận hành</a:t>
            </a:r>
            <a:endParaRPr lang="en-US" sz="1200" dirty="0"/>
          </a:p>
        </p:txBody>
      </p:sp>
      <p:sp>
        <p:nvSpPr>
          <p:cNvPr id="10" name="Text 8"/>
          <p:cNvSpPr txBox="1"/>
          <p:nvPr/>
        </p:nvSpPr>
        <p:spPr>
          <a:xfrm>
            <a:off x="713232" y="2011680"/>
            <a:ext cx="10708142" cy="1005840"/>
          </a:xfrm>
          <a:prstGeom prst="rect">
            <a:avLst/>
          </a:prstGeom>
          <a:noFill/>
          <a:ln/>
        </p:spPr>
        <p:txBody>
          <a:bodyPr wrap="square" lIns="0" tIns="0" rIns="0" bIns="0" rtlCol="0" anchor="t"/>
          <a:lstStyle/>
          <a:p>
            <a:pPr marL="0" indent="0">
              <a:buNone/>
            </a:pPr>
            <a:r>
              <a:rPr lang="en-US" sz="1100" dirty="0">
                <a:solidFill>
                  <a:srgbClr val="2A3442"/>
                </a:solidFill>
                <a:latin typeface="Calibri" pitchFamily="34" charset="0"/>
                <a:ea typeface="Calibri" pitchFamily="34" charset="-122"/>
                <a:cs typeface="Calibri" pitchFamily="34" charset="-120"/>
              </a:rPr>
              <a:t>Timer Start “Đến kỳ đánh giá” → Thu thập dữ liệu xử lý PYC → Xác minh dữ liệu → XOR “Có bất thường?”: Có → Loại trừ outlier → XOR “Dữ liệu sạch?”: Không → Gia hạn kỳ đánh giá → vòng lại; Có → hợp luồng. Không bất thường → hợp luồng.</a:t>
            </a:r>
            <a:endParaRPr lang="en-US" sz="1100" dirty="0"/>
          </a:p>
        </p:txBody>
      </p:sp>
      <p:sp>
        <p:nvSpPr>
          <p:cNvPr id="11" name="Shape 9"/>
          <p:cNvSpPr/>
          <p:nvPr/>
        </p:nvSpPr>
        <p:spPr>
          <a:xfrm>
            <a:off x="548639" y="3273552"/>
            <a:ext cx="11094415" cy="1572768"/>
          </a:xfrm>
          <a:prstGeom prst="roundRect">
            <a:avLst>
              <a:gd name="adj" fmla="val 3488"/>
            </a:avLst>
          </a:prstGeom>
          <a:solidFill>
            <a:srgbClr val="EFF4FB"/>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12" name="Text 10"/>
          <p:cNvSpPr txBox="1"/>
          <p:nvPr/>
        </p:nvSpPr>
        <p:spPr>
          <a:xfrm>
            <a:off x="713232" y="3364992"/>
            <a:ext cx="4745736" cy="237744"/>
          </a:xfrm>
          <a:prstGeom prst="rect">
            <a:avLst/>
          </a:prstGeom>
          <a:noFill/>
          <a:ln/>
        </p:spPr>
        <p:txBody>
          <a:bodyPr wrap="square" lIns="0" tIns="0" rIns="0" bIns="0" rtlCol="0" anchor="t"/>
          <a:lstStyle/>
          <a:p>
            <a:pPr marL="0" indent="0">
              <a:buNone/>
            </a:pPr>
            <a:r>
              <a:rPr lang="en-US" sz="1200" b="1" dirty="0">
                <a:solidFill>
                  <a:srgbClr val="0B3B75"/>
                </a:solidFill>
                <a:latin typeface="Calibri" pitchFamily="34" charset="0"/>
                <a:ea typeface="Calibri" pitchFamily="34" charset="-122"/>
                <a:cs typeface="Calibri" pitchFamily="34" charset="-120"/>
              </a:rPr>
              <a:t>POOL 1 (tiếp)</a:t>
            </a:r>
            <a:endParaRPr lang="en-US" sz="1200" dirty="0"/>
          </a:p>
        </p:txBody>
      </p:sp>
      <p:sp>
        <p:nvSpPr>
          <p:cNvPr id="13" name="Text 11"/>
          <p:cNvSpPr txBox="1"/>
          <p:nvPr/>
        </p:nvSpPr>
        <p:spPr>
          <a:xfrm>
            <a:off x="713232" y="3621024"/>
            <a:ext cx="10708142" cy="1115568"/>
          </a:xfrm>
          <a:prstGeom prst="rect">
            <a:avLst/>
          </a:prstGeom>
          <a:noFill/>
          <a:ln/>
        </p:spPr>
        <p:txBody>
          <a:bodyPr wrap="square" lIns="0" tIns="0" rIns="0" bIns="0" rtlCol="0" anchor="t"/>
          <a:lstStyle/>
          <a:p>
            <a:pPr marL="0" indent="0">
              <a:buNone/>
            </a:pPr>
            <a:r>
              <a:rPr lang="en-US" sz="1100" dirty="0">
                <a:solidFill>
                  <a:srgbClr val="2A3442"/>
                </a:solidFill>
                <a:latin typeface="Calibri" pitchFamily="34" charset="0"/>
                <a:ea typeface="Calibri" pitchFamily="34" charset="-122"/>
                <a:cs typeface="Calibri" pitchFamily="34" charset="-120"/>
              </a:rPr>
              <a:t>Tính tỷ lệ đạt/trễ hạn SLA → So sánh ngưỡng cam kết → XOR “Đạt target?”: Không đạt → Phân tích nguyên nhân vi phạm; Đạt → Báo cáo tích cực → hợp luồng → Lập báo cáo → AND Split (Báo cáo Phòng Ban / Báo cáo theo Danh mục) → AND Join → Send Task gửi báo cáo.</a:t>
            </a:r>
            <a:endParaRPr lang="en-US" sz="1100" dirty="0"/>
          </a:p>
        </p:txBody>
      </p:sp>
      <p:sp>
        <p:nvSpPr>
          <p:cNvPr id="14" name="Shape 12"/>
          <p:cNvSpPr/>
          <p:nvPr/>
        </p:nvSpPr>
        <p:spPr>
          <a:xfrm>
            <a:off x="548639" y="4992624"/>
            <a:ext cx="11094415" cy="969264"/>
          </a:xfrm>
          <a:prstGeom prst="roundRect">
            <a:avLst>
              <a:gd name="adj" fmla="val 5660"/>
            </a:avLst>
          </a:prstGeom>
          <a:solidFill>
            <a:srgbClr val="EFF4FB"/>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15" name="Text 13"/>
          <p:cNvSpPr txBox="1"/>
          <p:nvPr/>
        </p:nvSpPr>
        <p:spPr>
          <a:xfrm>
            <a:off x="713232" y="5084064"/>
            <a:ext cx="4745736" cy="237744"/>
          </a:xfrm>
          <a:prstGeom prst="rect">
            <a:avLst/>
          </a:prstGeom>
          <a:noFill/>
          <a:ln/>
        </p:spPr>
        <p:txBody>
          <a:bodyPr wrap="square" lIns="0" tIns="0" rIns="0" bIns="0" rtlCol="0" anchor="t"/>
          <a:lstStyle/>
          <a:p>
            <a:pPr marL="0" indent="0">
              <a:buNone/>
            </a:pPr>
            <a:r>
              <a:rPr lang="en-US" sz="1200" b="1" dirty="0">
                <a:solidFill>
                  <a:srgbClr val="0B3B75"/>
                </a:solidFill>
                <a:latin typeface="Calibri" pitchFamily="34" charset="0"/>
                <a:ea typeface="Calibri" pitchFamily="34" charset="-122"/>
                <a:cs typeface="Calibri" pitchFamily="34" charset="-120"/>
              </a:rPr>
              <a:t>POOL 2 — Ban Giám đốc Khối</a:t>
            </a:r>
            <a:endParaRPr lang="en-US" sz="1200" dirty="0"/>
          </a:p>
        </p:txBody>
      </p:sp>
      <p:sp>
        <p:nvSpPr>
          <p:cNvPr id="16" name="Text 14"/>
          <p:cNvSpPr txBox="1"/>
          <p:nvPr/>
        </p:nvSpPr>
        <p:spPr>
          <a:xfrm>
            <a:off x="713232" y="5340096"/>
            <a:ext cx="10708142" cy="512064"/>
          </a:xfrm>
          <a:prstGeom prst="rect">
            <a:avLst/>
          </a:prstGeom>
          <a:noFill/>
          <a:ln/>
        </p:spPr>
        <p:txBody>
          <a:bodyPr wrap="square" lIns="0" tIns="0" rIns="0" bIns="0" rtlCol="0" anchor="t"/>
          <a:lstStyle/>
          <a:p>
            <a:pPr marL="0" indent="0">
              <a:buNone/>
            </a:pPr>
            <a:r>
              <a:rPr lang="en-US" sz="1100" dirty="0">
                <a:solidFill>
                  <a:srgbClr val="2A3442"/>
                </a:solidFill>
                <a:latin typeface="Calibri" pitchFamily="34" charset="0"/>
                <a:ea typeface="Calibri" pitchFamily="34" charset="-122"/>
                <a:cs typeface="Calibri" pitchFamily="34" charset="-120"/>
              </a:rPr>
              <a:t>Message Start “Nhận báo cáo” → Xem xét → XOR “Đồng ý triển khai?”: Không → End Event; Có → Áp dụng giải pháp cải tiến → End Event.</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32B17E35-7179-A782-DAF0-D9F60286B298}"/>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A88409D3-74B9-5254-C926-2E8F27F8A83D}"/>
              </a:ext>
            </a:extLst>
          </p:cNvPr>
          <p:cNvSpPr/>
          <p:nvPr/>
        </p:nvSpPr>
        <p:spPr>
          <a:xfrm>
            <a:off x="548640" y="365760"/>
            <a:ext cx="123444" cy="123444"/>
          </a:xfrm>
          <a:prstGeom prst="ellipse">
            <a:avLst/>
          </a:prstGeom>
          <a:solidFill>
            <a:srgbClr val="D9A227"/>
          </a:solidFill>
          <a:ln w="12700">
            <a:solidFill>
              <a:srgbClr val="D9A227"/>
            </a:solidFill>
            <a:prstDash val="solid"/>
          </a:ln>
        </p:spPr>
        <p:txBody>
          <a:bodyPr/>
          <a:lstStyle/>
          <a:p>
            <a:endParaRPr lang="en-US"/>
          </a:p>
        </p:txBody>
      </p:sp>
      <p:sp>
        <p:nvSpPr>
          <p:cNvPr id="3" name="Text 1">
            <a:extLst>
              <a:ext uri="{FF2B5EF4-FFF2-40B4-BE49-F238E27FC236}">
                <a16:creationId xmlns:a16="http://schemas.microsoft.com/office/drawing/2014/main" id="{FD49866B-6121-0121-D87D-7AC7E11CC9DA}"/>
              </a:ext>
            </a:extLst>
          </p:cNvPr>
          <p:cNvSpPr txBox="1"/>
          <p:nvPr/>
        </p:nvSpPr>
        <p:spPr>
          <a:xfrm>
            <a:off x="804672" y="292608"/>
            <a:ext cx="10838383" cy="237744"/>
          </a:xfrm>
          <a:prstGeom prst="rect">
            <a:avLst/>
          </a:prstGeom>
          <a:noFill/>
          <a:ln/>
        </p:spPr>
        <p:txBody>
          <a:bodyPr wrap="square" lIns="0" tIns="0" rIns="0" bIns="0" rtlCol="0" anchor="t"/>
          <a:lstStyle/>
          <a:p>
            <a:pPr marL="0" indent="0">
              <a:buNone/>
            </a:pPr>
            <a:r>
              <a:rPr lang="en-US" sz="1050" b="1" kern="0" spc="120" dirty="0">
                <a:solidFill>
                  <a:srgbClr val="A5741A"/>
                </a:solidFill>
                <a:latin typeface="Calibri" pitchFamily="34" charset="0"/>
                <a:ea typeface="Calibri" pitchFamily="34" charset="-122"/>
                <a:cs typeface="Calibri" pitchFamily="34" charset="-120"/>
              </a:rPr>
              <a:t>CHƯƠNG 3 · 3.2.1 NHÓM QUẢN LÝ</a:t>
            </a:r>
            <a:endParaRPr lang="en-US" sz="1050" dirty="0"/>
          </a:p>
        </p:txBody>
      </p:sp>
      <p:sp>
        <p:nvSpPr>
          <p:cNvPr id="4" name="Text 2">
            <a:extLst>
              <a:ext uri="{FF2B5EF4-FFF2-40B4-BE49-F238E27FC236}">
                <a16:creationId xmlns:a16="http://schemas.microsoft.com/office/drawing/2014/main" id="{E3526F21-F8A5-3B57-31B0-8A4DA0CE186D}"/>
              </a:ext>
            </a:extLst>
          </p:cNvPr>
          <p:cNvSpPr txBox="1"/>
          <p:nvPr/>
        </p:nvSpPr>
        <p:spPr>
          <a:xfrm>
            <a:off x="548640" y="566928"/>
            <a:ext cx="11094415" cy="457200"/>
          </a:xfrm>
          <a:prstGeom prst="rect">
            <a:avLst/>
          </a:prstGeom>
          <a:noFill/>
          <a:ln/>
        </p:spPr>
        <p:txBody>
          <a:bodyPr wrap="square" lIns="0" tIns="0" rIns="0" bIns="0" rtlCol="0" anchor="t"/>
          <a:lstStyle/>
          <a:p>
            <a:pPr marL="0" indent="0">
              <a:buNone/>
            </a:pPr>
            <a:r>
              <a:rPr lang="en-US" sz="2500" b="1" dirty="0">
                <a:solidFill>
                  <a:srgbClr val="0B3B75"/>
                </a:solidFill>
                <a:latin typeface="Calibri" pitchFamily="34" charset="0"/>
                <a:ea typeface="Calibri" pitchFamily="34" charset="-122"/>
                <a:cs typeface="Calibri" pitchFamily="34" charset="-120"/>
              </a:rPr>
              <a:t>M01  —  Quản lý Mức Dịch vụ (SLA) — AS-IS</a:t>
            </a:r>
            <a:endParaRPr lang="en-US" sz="2500" dirty="0"/>
          </a:p>
        </p:txBody>
      </p:sp>
      <p:sp>
        <p:nvSpPr>
          <p:cNvPr id="5" name="Text 3">
            <a:extLst>
              <a:ext uri="{FF2B5EF4-FFF2-40B4-BE49-F238E27FC236}">
                <a16:creationId xmlns:a16="http://schemas.microsoft.com/office/drawing/2014/main" id="{3EEF8CCB-FADE-21B5-8C06-09F5B96D0994}"/>
              </a:ext>
            </a:extLst>
          </p:cNvPr>
          <p:cNvSpPr txBox="1"/>
          <p:nvPr/>
        </p:nvSpPr>
        <p:spPr>
          <a:xfrm>
            <a:off x="548640" y="6419088"/>
            <a:ext cx="8778240" cy="237744"/>
          </a:xfrm>
          <a:prstGeom prst="rect">
            <a:avLst/>
          </a:prstGeom>
          <a:noFill/>
          <a:ln/>
        </p:spPr>
        <p:txBody>
          <a:bodyPr wrap="square" lIns="0" tIns="0" rIns="0" bIns="0" rtlCol="0" anchor="t"/>
          <a:lstStyle/>
          <a:p>
            <a:pPr marL="0" indent="0">
              <a:buNone/>
            </a:pPr>
            <a:r>
              <a:rPr lang="en-US" sz="850" dirty="0">
                <a:solidFill>
                  <a:srgbClr val="6E7A88"/>
                </a:solidFill>
                <a:latin typeface="Calibri" pitchFamily="34" charset="0"/>
                <a:ea typeface="Calibri" pitchFamily="34" charset="-122"/>
                <a:cs typeface="Calibri" pitchFamily="34" charset="-120"/>
              </a:rPr>
              <a:t>HỆ THỐNG QUẢN TRỊ QUY TRÌNH NGHIỆP VỤ  ·  SACOMBANK — QUY TRÌNH PYC</a:t>
            </a:r>
            <a:endParaRPr lang="en-US" sz="850" dirty="0"/>
          </a:p>
        </p:txBody>
      </p:sp>
      <p:sp>
        <p:nvSpPr>
          <p:cNvPr id="6" name="Text 4">
            <a:extLst>
              <a:ext uri="{FF2B5EF4-FFF2-40B4-BE49-F238E27FC236}">
                <a16:creationId xmlns:a16="http://schemas.microsoft.com/office/drawing/2014/main" id="{59DE0981-D940-BB49-2C21-B5A98A2F419C}"/>
              </a:ext>
            </a:extLst>
          </p:cNvPr>
          <p:cNvSpPr txBox="1"/>
          <p:nvPr/>
        </p:nvSpPr>
        <p:spPr>
          <a:xfrm>
            <a:off x="11155680" y="6382512"/>
            <a:ext cx="484632" cy="274320"/>
          </a:xfrm>
          <a:prstGeom prst="rect">
            <a:avLst/>
          </a:prstGeom>
          <a:noFill/>
          <a:ln/>
        </p:spPr>
        <p:txBody>
          <a:bodyPr wrap="square" lIns="0" tIns="0" rIns="0" bIns="0" rtlCol="0" anchor="t"/>
          <a:lstStyle/>
          <a:p>
            <a:pPr marL="0" indent="0" algn="r">
              <a:buNone/>
            </a:pPr>
            <a:r>
              <a:rPr lang="en-US" sz="1100" b="1" dirty="0">
                <a:solidFill>
                  <a:srgbClr val="A5741A"/>
                </a:solidFill>
                <a:latin typeface="Calibri" pitchFamily="34" charset="0"/>
                <a:ea typeface="Calibri" pitchFamily="34" charset="-122"/>
                <a:cs typeface="Calibri" pitchFamily="34" charset="-120"/>
              </a:rPr>
              <a:t>26</a:t>
            </a:r>
            <a:endParaRPr lang="en-US" sz="1100" dirty="0"/>
          </a:p>
        </p:txBody>
      </p:sp>
      <p:sp>
        <p:nvSpPr>
          <p:cNvPr id="17" name="Shape 15">
            <a:extLst>
              <a:ext uri="{FF2B5EF4-FFF2-40B4-BE49-F238E27FC236}">
                <a16:creationId xmlns:a16="http://schemas.microsoft.com/office/drawing/2014/main" id="{14398AE9-9A51-525A-B182-4321606E8D2C}"/>
              </a:ext>
            </a:extLst>
          </p:cNvPr>
          <p:cNvSpPr/>
          <p:nvPr/>
        </p:nvSpPr>
        <p:spPr>
          <a:xfrm>
            <a:off x="422254" y="1211580"/>
            <a:ext cx="11347186" cy="3843499"/>
          </a:xfrm>
          <a:prstGeom prst="roundRect">
            <a:avLst>
              <a:gd name="adj" fmla="val 1364"/>
            </a:avLst>
          </a:prstGeom>
          <a:solidFill>
            <a:srgbClr val="FCF7EA"/>
          </a:solidFill>
          <a:ln w="15875">
            <a:solidFill>
              <a:srgbClr val="D9A227"/>
            </a:solidFill>
            <a:prstDash val="dash"/>
          </a:ln>
        </p:spPr>
        <p:txBody>
          <a:bodyPr/>
          <a:lstStyle/>
          <a:p>
            <a:endParaRPr lang="en-US"/>
          </a:p>
        </p:txBody>
      </p:sp>
      <p:pic>
        <p:nvPicPr>
          <p:cNvPr id="22" name="Picture 21">
            <a:extLst>
              <a:ext uri="{FF2B5EF4-FFF2-40B4-BE49-F238E27FC236}">
                <a16:creationId xmlns:a16="http://schemas.microsoft.com/office/drawing/2014/main" id="{1381A767-553D-8573-7081-4A1ABF02D3DA}"/>
              </a:ext>
            </a:extLst>
          </p:cNvPr>
          <p:cNvPicPr>
            <a:picLocks noChangeAspect="1"/>
          </p:cNvPicPr>
          <p:nvPr/>
        </p:nvPicPr>
        <p:blipFill>
          <a:blip r:embed="rId3"/>
          <a:stretch>
            <a:fillRect/>
          </a:stretch>
        </p:blipFill>
        <p:spPr>
          <a:xfrm>
            <a:off x="485476" y="1252728"/>
            <a:ext cx="11198833" cy="3724714"/>
          </a:xfrm>
          <a:prstGeom prst="rect">
            <a:avLst/>
          </a:prstGeom>
        </p:spPr>
      </p:pic>
    </p:spTree>
    <p:extLst>
      <p:ext uri="{BB962C8B-B14F-4D97-AF65-F5344CB8AC3E}">
        <p14:creationId xmlns:p14="http://schemas.microsoft.com/office/powerpoint/2010/main" val="343058663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65760"/>
            <a:ext cx="123444" cy="123444"/>
          </a:xfrm>
          <a:prstGeom prst="ellipse">
            <a:avLst/>
          </a:prstGeom>
          <a:solidFill>
            <a:srgbClr val="D9A227"/>
          </a:solidFill>
          <a:ln w="12700">
            <a:solidFill>
              <a:srgbClr val="D9A227"/>
            </a:solidFill>
            <a:prstDash val="solid"/>
          </a:ln>
        </p:spPr>
        <p:txBody>
          <a:bodyPr/>
          <a:lstStyle/>
          <a:p>
            <a:endParaRPr lang="en-US"/>
          </a:p>
        </p:txBody>
      </p:sp>
      <p:sp>
        <p:nvSpPr>
          <p:cNvPr id="3" name="Text 1"/>
          <p:cNvSpPr txBox="1"/>
          <p:nvPr/>
        </p:nvSpPr>
        <p:spPr>
          <a:xfrm>
            <a:off x="804672" y="292608"/>
            <a:ext cx="10838383" cy="237744"/>
          </a:xfrm>
          <a:prstGeom prst="rect">
            <a:avLst/>
          </a:prstGeom>
          <a:noFill/>
          <a:ln/>
        </p:spPr>
        <p:txBody>
          <a:bodyPr wrap="square" lIns="0" tIns="0" rIns="0" bIns="0" rtlCol="0" anchor="t"/>
          <a:lstStyle/>
          <a:p>
            <a:pPr marL="0" indent="0">
              <a:buNone/>
            </a:pPr>
            <a:r>
              <a:rPr lang="en-US" sz="1050" b="1" kern="0" spc="120" dirty="0">
                <a:solidFill>
                  <a:srgbClr val="A5741A"/>
                </a:solidFill>
                <a:latin typeface="Calibri" pitchFamily="34" charset="0"/>
                <a:ea typeface="Calibri" pitchFamily="34" charset="-122"/>
                <a:cs typeface="Calibri" pitchFamily="34" charset="-120"/>
              </a:rPr>
              <a:t>CHƯƠNG 3 · 3.3.1 NHÓM HỖ TRỢ</a:t>
            </a:r>
            <a:endParaRPr lang="en-US" sz="1050" dirty="0"/>
          </a:p>
        </p:txBody>
      </p:sp>
      <p:sp>
        <p:nvSpPr>
          <p:cNvPr id="4" name="Text 2"/>
          <p:cNvSpPr txBox="1"/>
          <p:nvPr/>
        </p:nvSpPr>
        <p:spPr>
          <a:xfrm>
            <a:off x="548640" y="566928"/>
            <a:ext cx="11094415" cy="457200"/>
          </a:xfrm>
          <a:prstGeom prst="rect">
            <a:avLst/>
          </a:prstGeom>
          <a:noFill/>
          <a:ln/>
        </p:spPr>
        <p:txBody>
          <a:bodyPr wrap="square" lIns="0" tIns="0" rIns="0" bIns="0" rtlCol="0" anchor="t"/>
          <a:lstStyle/>
          <a:p>
            <a:pPr marL="0" indent="0">
              <a:buNone/>
            </a:pPr>
            <a:r>
              <a:rPr lang="en-US" sz="2500" b="1" dirty="0">
                <a:solidFill>
                  <a:srgbClr val="0B3B75"/>
                </a:solidFill>
                <a:latin typeface="Calibri" pitchFamily="34" charset="0"/>
                <a:ea typeface="Calibri" pitchFamily="34" charset="-122"/>
                <a:cs typeface="Calibri" pitchFamily="34" charset="-120"/>
              </a:rPr>
              <a:t>S02  -  Quản lý Thay đổi (Change Request) - </a:t>
            </a:r>
          </a:p>
          <a:p>
            <a:pPr marL="0" indent="0">
              <a:buNone/>
            </a:pPr>
            <a:r>
              <a:rPr lang="en-US" sz="2500" b="1" dirty="0">
                <a:solidFill>
                  <a:srgbClr val="0B3B75"/>
                </a:solidFill>
                <a:latin typeface="Calibri" pitchFamily="34" charset="0"/>
                <a:ea typeface="Calibri" pitchFamily="34" charset="-122"/>
                <a:cs typeface="Calibri" pitchFamily="34" charset="-120"/>
              </a:rPr>
              <a:t>AS-IS</a:t>
            </a:r>
            <a:endParaRPr lang="en-US" sz="2500" dirty="0"/>
          </a:p>
        </p:txBody>
      </p:sp>
      <p:sp>
        <p:nvSpPr>
          <p:cNvPr id="5" name="Text 3"/>
          <p:cNvSpPr txBox="1"/>
          <p:nvPr/>
        </p:nvSpPr>
        <p:spPr>
          <a:xfrm>
            <a:off x="548640" y="6419088"/>
            <a:ext cx="8778240" cy="237744"/>
          </a:xfrm>
          <a:prstGeom prst="rect">
            <a:avLst/>
          </a:prstGeom>
          <a:noFill/>
          <a:ln/>
        </p:spPr>
        <p:txBody>
          <a:bodyPr wrap="square" lIns="0" tIns="0" rIns="0" bIns="0" rtlCol="0" anchor="t"/>
          <a:lstStyle/>
          <a:p>
            <a:pPr marL="0" indent="0">
              <a:buNone/>
            </a:pPr>
            <a:r>
              <a:rPr lang="en-US" sz="850" dirty="0">
                <a:solidFill>
                  <a:srgbClr val="6E7A88"/>
                </a:solidFill>
                <a:latin typeface="Calibri" pitchFamily="34" charset="0"/>
                <a:ea typeface="Calibri" pitchFamily="34" charset="-122"/>
                <a:cs typeface="Calibri" pitchFamily="34" charset="-120"/>
              </a:rPr>
              <a:t>HỆ THỐNG QUẢN TRỊ QUY TRÌNH NGHIỆP VỤ  ·  SACOMBANK — QUY TRÌNH PYC</a:t>
            </a:r>
            <a:endParaRPr lang="en-US" sz="850" dirty="0"/>
          </a:p>
        </p:txBody>
      </p:sp>
      <p:sp>
        <p:nvSpPr>
          <p:cNvPr id="6" name="Text 4"/>
          <p:cNvSpPr txBox="1"/>
          <p:nvPr/>
        </p:nvSpPr>
        <p:spPr>
          <a:xfrm>
            <a:off x="11155680" y="6382512"/>
            <a:ext cx="484632" cy="274320"/>
          </a:xfrm>
          <a:prstGeom prst="rect">
            <a:avLst/>
          </a:prstGeom>
          <a:noFill/>
          <a:ln/>
        </p:spPr>
        <p:txBody>
          <a:bodyPr wrap="square" lIns="0" tIns="0" rIns="0" bIns="0" rtlCol="0" anchor="t"/>
          <a:lstStyle/>
          <a:p>
            <a:pPr marL="0" indent="0" algn="r">
              <a:buNone/>
            </a:pPr>
            <a:r>
              <a:rPr lang="en-US" sz="1100" b="1" dirty="0">
                <a:solidFill>
                  <a:srgbClr val="A5741A"/>
                </a:solidFill>
                <a:latin typeface="Calibri" pitchFamily="34" charset="0"/>
                <a:ea typeface="Calibri" pitchFamily="34" charset="-122"/>
                <a:cs typeface="Calibri" pitchFamily="34" charset="-120"/>
              </a:rPr>
              <a:t>27</a:t>
            </a:r>
            <a:endParaRPr lang="en-US" sz="1100" dirty="0"/>
          </a:p>
        </p:txBody>
      </p:sp>
      <p:sp>
        <p:nvSpPr>
          <p:cNvPr id="7" name="Text 5"/>
          <p:cNvSpPr txBox="1"/>
          <p:nvPr/>
        </p:nvSpPr>
        <p:spPr>
          <a:xfrm>
            <a:off x="548640" y="1371600"/>
            <a:ext cx="5074920" cy="237744"/>
          </a:xfrm>
          <a:prstGeom prst="rect">
            <a:avLst/>
          </a:prstGeom>
          <a:noFill/>
          <a:ln/>
        </p:spPr>
        <p:txBody>
          <a:bodyPr wrap="square" lIns="0" tIns="0" rIns="0" bIns="0" rtlCol="0" anchor="t"/>
          <a:lstStyle/>
          <a:p>
            <a:pPr marL="0" indent="0">
              <a:buNone/>
            </a:pPr>
            <a:r>
              <a:rPr lang="en-US" sz="1000" b="1" kern="0" spc="80" dirty="0">
                <a:solidFill>
                  <a:srgbClr val="1660BF"/>
                </a:solidFill>
                <a:latin typeface="Calibri" pitchFamily="34" charset="0"/>
                <a:ea typeface="Calibri" pitchFamily="34" charset="-122"/>
                <a:cs typeface="Calibri" pitchFamily="34" charset="-120"/>
              </a:rPr>
              <a:t>CẤU TRÚC LUỒNG NGHIỆP VỤ</a:t>
            </a:r>
            <a:endParaRPr lang="en-US" sz="1000" dirty="0"/>
          </a:p>
        </p:txBody>
      </p:sp>
      <p:sp>
        <p:nvSpPr>
          <p:cNvPr id="8" name="Shape 6"/>
          <p:cNvSpPr/>
          <p:nvPr/>
        </p:nvSpPr>
        <p:spPr>
          <a:xfrm>
            <a:off x="548640" y="1664208"/>
            <a:ext cx="5187926" cy="983768"/>
          </a:xfrm>
          <a:prstGeom prst="roundRect">
            <a:avLst>
              <a:gd name="adj" fmla="val 5577"/>
            </a:avLst>
          </a:prstGeom>
          <a:solidFill>
            <a:srgbClr val="EFF4FB"/>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9" name="Text 7"/>
          <p:cNvSpPr txBox="1"/>
          <p:nvPr/>
        </p:nvSpPr>
        <p:spPr>
          <a:xfrm>
            <a:off x="713232" y="1755648"/>
            <a:ext cx="4745736" cy="237744"/>
          </a:xfrm>
          <a:prstGeom prst="rect">
            <a:avLst/>
          </a:prstGeom>
          <a:noFill/>
          <a:ln/>
        </p:spPr>
        <p:txBody>
          <a:bodyPr wrap="square" lIns="0" tIns="0" rIns="0" bIns="0" rtlCol="0" anchor="t"/>
          <a:lstStyle/>
          <a:p>
            <a:pPr marL="0" indent="0">
              <a:buNone/>
            </a:pPr>
            <a:r>
              <a:rPr lang="en-US" sz="1100" b="1" dirty="0">
                <a:solidFill>
                  <a:srgbClr val="0B3B75"/>
                </a:solidFill>
                <a:latin typeface="Calibri" pitchFamily="34" charset="0"/>
                <a:ea typeface="Calibri" pitchFamily="34" charset="-122"/>
                <a:cs typeface="Calibri" pitchFamily="34" charset="-120"/>
              </a:rPr>
              <a:t>POOL 1 — End User</a:t>
            </a:r>
            <a:endParaRPr lang="en-US" sz="1100" dirty="0"/>
          </a:p>
        </p:txBody>
      </p:sp>
      <p:sp>
        <p:nvSpPr>
          <p:cNvPr id="10" name="Text 8"/>
          <p:cNvSpPr txBox="1"/>
          <p:nvPr/>
        </p:nvSpPr>
        <p:spPr>
          <a:xfrm>
            <a:off x="713231" y="2011680"/>
            <a:ext cx="4745737" cy="526568"/>
          </a:xfrm>
          <a:prstGeom prst="rect">
            <a:avLst/>
          </a:prstGeom>
          <a:noFill/>
          <a:ln/>
        </p:spPr>
        <p:txBody>
          <a:bodyPr wrap="square" lIns="0" tIns="0" rIns="0" bIns="0" rtlCol="0" anchor="t"/>
          <a:lstStyle/>
          <a:p>
            <a:pPr marL="0" indent="0">
              <a:buNone/>
            </a:pPr>
            <a:r>
              <a:rPr lang="en-US" sz="920" dirty="0">
                <a:solidFill>
                  <a:srgbClr val="2A3442"/>
                </a:solidFill>
                <a:latin typeface="Calibri" pitchFamily="34" charset="0"/>
                <a:ea typeface="Calibri" pitchFamily="34" charset="-122"/>
                <a:cs typeface="Calibri" pitchFamily="34" charset="-120"/>
              </a:rPr>
              <a:t>Start Event “Phát sinh nhu cầu” → Tạo phiếu yêu cầu thay đổi (hạ tầng, server, application) → AND Split (điền nội dung chi tiết / đính kèm tài liệu kỹ thuật) → AND Join → Send Task xác nhận gửi ticket.</a:t>
            </a:r>
            <a:endParaRPr lang="en-US" sz="920" dirty="0"/>
          </a:p>
        </p:txBody>
      </p:sp>
      <p:sp>
        <p:nvSpPr>
          <p:cNvPr id="11" name="Shape 9"/>
          <p:cNvSpPr/>
          <p:nvPr/>
        </p:nvSpPr>
        <p:spPr>
          <a:xfrm>
            <a:off x="548640" y="2794280"/>
            <a:ext cx="5187926" cy="983768"/>
          </a:xfrm>
          <a:prstGeom prst="roundRect">
            <a:avLst>
              <a:gd name="adj" fmla="val 5577"/>
            </a:avLst>
          </a:prstGeom>
          <a:solidFill>
            <a:srgbClr val="EFF4FB"/>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12" name="Text 10"/>
          <p:cNvSpPr txBox="1"/>
          <p:nvPr/>
        </p:nvSpPr>
        <p:spPr>
          <a:xfrm>
            <a:off x="713232" y="2885720"/>
            <a:ext cx="4745736" cy="237744"/>
          </a:xfrm>
          <a:prstGeom prst="rect">
            <a:avLst/>
          </a:prstGeom>
          <a:noFill/>
          <a:ln/>
        </p:spPr>
        <p:txBody>
          <a:bodyPr wrap="square" lIns="0" tIns="0" rIns="0" bIns="0" rtlCol="0" anchor="t"/>
          <a:lstStyle/>
          <a:p>
            <a:pPr marL="0" indent="0">
              <a:buNone/>
            </a:pPr>
            <a:r>
              <a:rPr lang="en-US" sz="1100" b="1" dirty="0">
                <a:solidFill>
                  <a:srgbClr val="0B3B75"/>
                </a:solidFill>
                <a:latin typeface="Calibri" pitchFamily="34" charset="0"/>
                <a:ea typeface="Calibri" pitchFamily="34" charset="-122"/>
                <a:cs typeface="Calibri" pitchFamily="34" charset="-120"/>
              </a:rPr>
              <a:t>POOL 2 — Change Manager</a:t>
            </a:r>
            <a:endParaRPr lang="en-US" sz="1100" dirty="0"/>
          </a:p>
        </p:txBody>
      </p:sp>
      <p:sp>
        <p:nvSpPr>
          <p:cNvPr id="13" name="Text 11"/>
          <p:cNvSpPr txBox="1"/>
          <p:nvPr/>
        </p:nvSpPr>
        <p:spPr>
          <a:xfrm>
            <a:off x="713232" y="3141752"/>
            <a:ext cx="4745736" cy="526568"/>
          </a:xfrm>
          <a:prstGeom prst="rect">
            <a:avLst/>
          </a:prstGeom>
          <a:noFill/>
          <a:ln/>
        </p:spPr>
        <p:txBody>
          <a:bodyPr wrap="square" lIns="0" tIns="0" rIns="0" bIns="0" rtlCol="0" anchor="t"/>
          <a:lstStyle/>
          <a:p>
            <a:pPr marL="0" indent="0">
              <a:buNone/>
            </a:pPr>
            <a:r>
              <a:rPr lang="en-US" sz="920" dirty="0">
                <a:solidFill>
                  <a:srgbClr val="2A3442"/>
                </a:solidFill>
                <a:latin typeface="Calibri" pitchFamily="34" charset="0"/>
                <a:ea typeface="Calibri" pitchFamily="34" charset="-122"/>
                <a:cs typeface="Calibri" pitchFamily="34" charset="-120"/>
              </a:rPr>
              <a:t>Message Start “Tiếp nhận phiếu” → Phân loại Change Request → XOR: Standard Change → auto-approve gửi thẳng Pool 4; Normal Change → gửi Quản lý Cấp 1; Emergency Change → chuyển Ban CAB.</a:t>
            </a:r>
            <a:endParaRPr lang="en-US" sz="920" dirty="0"/>
          </a:p>
        </p:txBody>
      </p:sp>
      <p:sp>
        <p:nvSpPr>
          <p:cNvPr id="14" name="Shape 12"/>
          <p:cNvSpPr/>
          <p:nvPr/>
        </p:nvSpPr>
        <p:spPr>
          <a:xfrm>
            <a:off x="548640" y="3924353"/>
            <a:ext cx="5187926" cy="1180522"/>
          </a:xfrm>
          <a:prstGeom prst="roundRect">
            <a:avLst>
              <a:gd name="adj" fmla="val 4647"/>
            </a:avLst>
          </a:prstGeom>
          <a:solidFill>
            <a:srgbClr val="EFF4FB"/>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15" name="Text 13"/>
          <p:cNvSpPr txBox="1"/>
          <p:nvPr/>
        </p:nvSpPr>
        <p:spPr>
          <a:xfrm>
            <a:off x="713232" y="4015793"/>
            <a:ext cx="4745736" cy="237744"/>
          </a:xfrm>
          <a:prstGeom prst="rect">
            <a:avLst/>
          </a:prstGeom>
          <a:noFill/>
          <a:ln/>
        </p:spPr>
        <p:txBody>
          <a:bodyPr wrap="square" lIns="0" tIns="0" rIns="0" bIns="0" rtlCol="0" anchor="t"/>
          <a:lstStyle/>
          <a:p>
            <a:pPr marL="0" indent="0">
              <a:buNone/>
            </a:pPr>
            <a:r>
              <a:rPr lang="en-US" sz="1100" b="1" dirty="0">
                <a:solidFill>
                  <a:srgbClr val="0B3B75"/>
                </a:solidFill>
                <a:latin typeface="Calibri" pitchFamily="34" charset="0"/>
                <a:ea typeface="Calibri" pitchFamily="34" charset="-122"/>
                <a:cs typeface="Calibri" pitchFamily="34" charset="-120"/>
              </a:rPr>
              <a:t>POOL 3 — Quản lý Cấp 1 + Ban CAB (2 lane)</a:t>
            </a:r>
            <a:endParaRPr lang="en-US" sz="1100" dirty="0"/>
          </a:p>
        </p:txBody>
      </p:sp>
      <p:sp>
        <p:nvSpPr>
          <p:cNvPr id="16" name="Text 14"/>
          <p:cNvSpPr txBox="1"/>
          <p:nvPr/>
        </p:nvSpPr>
        <p:spPr>
          <a:xfrm>
            <a:off x="713232" y="4271825"/>
            <a:ext cx="4745736" cy="723322"/>
          </a:xfrm>
          <a:prstGeom prst="rect">
            <a:avLst/>
          </a:prstGeom>
          <a:noFill/>
          <a:ln/>
        </p:spPr>
        <p:txBody>
          <a:bodyPr wrap="square" lIns="0" tIns="0" rIns="0" bIns="0" rtlCol="0" anchor="t"/>
          <a:lstStyle/>
          <a:p>
            <a:pPr marL="0" indent="0">
              <a:buNone/>
            </a:pPr>
            <a:r>
              <a:rPr lang="en-US" sz="920" dirty="0">
                <a:solidFill>
                  <a:srgbClr val="2A3442"/>
                </a:solidFill>
                <a:latin typeface="Calibri" pitchFamily="34" charset="0"/>
                <a:ea typeface="Calibri" pitchFamily="34" charset="-122"/>
                <a:cs typeface="Calibri" pitchFamily="34" charset="-120"/>
              </a:rPr>
              <a:t>Quản lý Cấp 1: Đánh giá rủi ro → XOR “Rủi ro cao?”: Thấp → Phê duyệt trực tiếp; Cao → chuyển Ban CAB. Ban CAB: họp phê duyệt → XOR “Đồng ý thay đổi?”: Từ chối → End Event “Hủy PYC”; Đồng ý → Send Task phê duyệt.</a:t>
            </a:r>
            <a:endParaRPr lang="en-US" sz="920" dirty="0"/>
          </a:p>
        </p:txBody>
      </p:sp>
      <p:sp>
        <p:nvSpPr>
          <p:cNvPr id="17" name="Shape 15"/>
          <p:cNvSpPr/>
          <p:nvPr/>
        </p:nvSpPr>
        <p:spPr>
          <a:xfrm>
            <a:off x="548639" y="5251178"/>
            <a:ext cx="5187927" cy="802150"/>
          </a:xfrm>
          <a:prstGeom prst="roundRect">
            <a:avLst>
              <a:gd name="adj" fmla="val 6840"/>
            </a:avLst>
          </a:prstGeom>
          <a:solidFill>
            <a:srgbClr val="EFF4FB"/>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18" name="Text 16"/>
          <p:cNvSpPr txBox="1"/>
          <p:nvPr/>
        </p:nvSpPr>
        <p:spPr>
          <a:xfrm>
            <a:off x="713232" y="5342618"/>
            <a:ext cx="4745736" cy="237744"/>
          </a:xfrm>
          <a:prstGeom prst="rect">
            <a:avLst/>
          </a:prstGeom>
          <a:noFill/>
          <a:ln/>
        </p:spPr>
        <p:txBody>
          <a:bodyPr wrap="square" lIns="0" tIns="0" rIns="0" bIns="0" rtlCol="0" anchor="t"/>
          <a:lstStyle/>
          <a:p>
            <a:pPr marL="0" indent="0">
              <a:buNone/>
            </a:pPr>
            <a:r>
              <a:rPr lang="en-US" sz="1100" b="1" dirty="0">
                <a:solidFill>
                  <a:srgbClr val="0B3B75"/>
                </a:solidFill>
                <a:latin typeface="Calibri" pitchFamily="34" charset="0"/>
                <a:ea typeface="Calibri" pitchFamily="34" charset="-122"/>
                <a:cs typeface="Calibri" pitchFamily="34" charset="-120"/>
              </a:rPr>
              <a:t>POOL 4 — Bộ phận Triển khai IT</a:t>
            </a:r>
            <a:endParaRPr lang="en-US" sz="1100" dirty="0"/>
          </a:p>
        </p:txBody>
      </p:sp>
      <p:sp>
        <p:nvSpPr>
          <p:cNvPr id="19" name="Text 17"/>
          <p:cNvSpPr txBox="1"/>
          <p:nvPr/>
        </p:nvSpPr>
        <p:spPr>
          <a:xfrm>
            <a:off x="713232" y="5598650"/>
            <a:ext cx="4745736" cy="344950"/>
          </a:xfrm>
          <a:prstGeom prst="rect">
            <a:avLst/>
          </a:prstGeom>
          <a:noFill/>
          <a:ln/>
        </p:spPr>
        <p:txBody>
          <a:bodyPr wrap="square" lIns="0" tIns="0" rIns="0" bIns="0" rtlCol="0" anchor="t"/>
          <a:lstStyle/>
          <a:p>
            <a:pPr marL="0" indent="0">
              <a:buNone/>
            </a:pPr>
            <a:r>
              <a:rPr lang="en-US" sz="920" dirty="0">
                <a:solidFill>
                  <a:srgbClr val="2A3442"/>
                </a:solidFill>
                <a:latin typeface="Calibri" pitchFamily="34" charset="0"/>
                <a:ea typeface="Calibri" pitchFamily="34" charset="-122"/>
                <a:cs typeface="Calibri" pitchFamily="34" charset="-120"/>
              </a:rPr>
              <a:t>Áp dụng thay đổi (nhận từ 3 nguồn: auto-approve, phê duyệt trực tiếp, phê duyệt CAB) → Đóng phiếu → End Event “Hoàn tất thay đổi”.</a:t>
            </a:r>
            <a:endParaRPr lang="en-US" sz="920" dirty="0"/>
          </a:p>
        </p:txBody>
      </p:sp>
      <p:grpSp>
        <p:nvGrpSpPr>
          <p:cNvPr id="25" name="Group 24">
            <a:extLst>
              <a:ext uri="{FF2B5EF4-FFF2-40B4-BE49-F238E27FC236}">
                <a16:creationId xmlns:a16="http://schemas.microsoft.com/office/drawing/2014/main" id="{6CB53EA4-8E81-6668-7EFD-B84588E3B2F6}"/>
              </a:ext>
            </a:extLst>
          </p:cNvPr>
          <p:cNvGrpSpPr/>
          <p:nvPr/>
        </p:nvGrpSpPr>
        <p:grpSpPr>
          <a:xfrm>
            <a:off x="6410663" y="133537"/>
            <a:ext cx="4976665" cy="6590926"/>
            <a:chOff x="6797615" y="201168"/>
            <a:chExt cx="4358065" cy="6089904"/>
          </a:xfrm>
        </p:grpSpPr>
        <p:sp>
          <p:nvSpPr>
            <p:cNvPr id="26" name="Shape 15">
              <a:extLst>
                <a:ext uri="{FF2B5EF4-FFF2-40B4-BE49-F238E27FC236}">
                  <a16:creationId xmlns:a16="http://schemas.microsoft.com/office/drawing/2014/main" id="{B6AF2D34-02B2-5497-3E8A-B694843E3925}"/>
                </a:ext>
              </a:extLst>
            </p:cNvPr>
            <p:cNvSpPr/>
            <p:nvPr/>
          </p:nvSpPr>
          <p:spPr>
            <a:xfrm>
              <a:off x="6797615" y="201168"/>
              <a:ext cx="4358065" cy="6089904"/>
            </a:xfrm>
            <a:prstGeom prst="roundRect">
              <a:avLst>
                <a:gd name="adj" fmla="val 1364"/>
              </a:avLst>
            </a:prstGeom>
            <a:solidFill>
              <a:srgbClr val="FCF7EA"/>
            </a:solidFill>
            <a:ln w="15875">
              <a:solidFill>
                <a:srgbClr val="D9A227"/>
              </a:solidFill>
              <a:prstDash val="dash"/>
            </a:ln>
          </p:spPr>
          <p:txBody>
            <a:bodyPr/>
            <a:lstStyle/>
            <a:p>
              <a:endParaRPr lang="en-US"/>
            </a:p>
          </p:txBody>
        </p:sp>
        <p:pic>
          <p:nvPicPr>
            <p:cNvPr id="27" name="Picture 26">
              <a:extLst>
                <a:ext uri="{FF2B5EF4-FFF2-40B4-BE49-F238E27FC236}">
                  <a16:creationId xmlns:a16="http://schemas.microsoft.com/office/drawing/2014/main" id="{726B27B1-0E29-3890-5F33-F0398CA203B6}"/>
                </a:ext>
              </a:extLst>
            </p:cNvPr>
            <p:cNvPicPr>
              <a:picLocks noChangeAspect="1"/>
            </p:cNvPicPr>
            <p:nvPr/>
          </p:nvPicPr>
          <p:blipFill>
            <a:blip r:embed="rId3"/>
            <a:stretch>
              <a:fillRect/>
            </a:stretch>
          </p:blipFill>
          <p:spPr>
            <a:xfrm>
              <a:off x="6884242" y="292608"/>
              <a:ext cx="4202331" cy="5861304"/>
            </a:xfrm>
            <a:prstGeom prst="rect">
              <a:avLst/>
            </a:prstGeom>
          </p:spPr>
        </p:pic>
      </p:gr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65760"/>
            <a:ext cx="123444" cy="123444"/>
          </a:xfrm>
          <a:prstGeom prst="ellipse">
            <a:avLst/>
          </a:prstGeom>
          <a:solidFill>
            <a:srgbClr val="D9A227"/>
          </a:solidFill>
          <a:ln w="12700">
            <a:solidFill>
              <a:srgbClr val="D9A227"/>
            </a:solidFill>
            <a:prstDash val="solid"/>
          </a:ln>
        </p:spPr>
        <p:txBody>
          <a:bodyPr/>
          <a:lstStyle/>
          <a:p>
            <a:endParaRPr lang="en-US"/>
          </a:p>
        </p:txBody>
      </p:sp>
      <p:sp>
        <p:nvSpPr>
          <p:cNvPr id="3" name="Text 1"/>
          <p:cNvSpPr txBox="1"/>
          <p:nvPr/>
        </p:nvSpPr>
        <p:spPr>
          <a:xfrm>
            <a:off x="804672" y="292608"/>
            <a:ext cx="10838383" cy="237744"/>
          </a:xfrm>
          <a:prstGeom prst="rect">
            <a:avLst/>
          </a:prstGeom>
          <a:noFill/>
          <a:ln/>
        </p:spPr>
        <p:txBody>
          <a:bodyPr wrap="square" lIns="0" tIns="0" rIns="0" bIns="0" rtlCol="0" anchor="t"/>
          <a:lstStyle/>
          <a:p>
            <a:pPr marL="0" indent="0">
              <a:buNone/>
            </a:pPr>
            <a:r>
              <a:rPr lang="en-US" sz="1050" b="1" kern="0" spc="120" dirty="0">
                <a:solidFill>
                  <a:srgbClr val="A5741A"/>
                </a:solidFill>
                <a:latin typeface="Calibri" pitchFamily="34" charset="0"/>
                <a:ea typeface="Calibri" pitchFamily="34" charset="-122"/>
                <a:cs typeface="Calibri" pitchFamily="34" charset="-120"/>
              </a:rPr>
              <a:t>CHƯƠNG 3 · 3.4 ĐÁNH GIÁ ĐỘ PHỨC TẠP</a:t>
            </a:r>
            <a:endParaRPr lang="en-US" sz="1050" dirty="0"/>
          </a:p>
        </p:txBody>
      </p:sp>
      <p:sp>
        <p:nvSpPr>
          <p:cNvPr id="4" name="Text 2"/>
          <p:cNvSpPr txBox="1"/>
          <p:nvPr/>
        </p:nvSpPr>
        <p:spPr>
          <a:xfrm>
            <a:off x="548640" y="566928"/>
            <a:ext cx="11094415" cy="457200"/>
          </a:xfrm>
          <a:prstGeom prst="rect">
            <a:avLst/>
          </a:prstGeom>
          <a:noFill/>
          <a:ln/>
        </p:spPr>
        <p:txBody>
          <a:bodyPr wrap="square" lIns="0" tIns="0" rIns="0" bIns="0" rtlCol="0" anchor="t"/>
          <a:lstStyle/>
          <a:p>
            <a:pPr marL="0" indent="0">
              <a:buNone/>
            </a:pPr>
            <a:r>
              <a:rPr lang="en-US" sz="2500" b="1" dirty="0">
                <a:solidFill>
                  <a:srgbClr val="0B3B75"/>
                </a:solidFill>
                <a:latin typeface="Calibri" pitchFamily="34" charset="0"/>
                <a:ea typeface="Calibri" pitchFamily="34" charset="-122"/>
                <a:cs typeface="Calibri" pitchFamily="34" charset="-120"/>
              </a:rPr>
              <a:t>BẢNG TỔNG HỢP CHỈ SỐ ĐỘ PHỨC TẠP BPMN CỦA 06 QUY TRÌNH</a:t>
            </a:r>
            <a:endParaRPr lang="en-US" sz="2500" dirty="0"/>
          </a:p>
        </p:txBody>
      </p:sp>
      <p:sp>
        <p:nvSpPr>
          <p:cNvPr id="5" name="Text 3"/>
          <p:cNvSpPr txBox="1"/>
          <p:nvPr/>
        </p:nvSpPr>
        <p:spPr>
          <a:xfrm>
            <a:off x="548640" y="1024128"/>
            <a:ext cx="11094415" cy="274320"/>
          </a:xfrm>
          <a:prstGeom prst="rect">
            <a:avLst/>
          </a:prstGeom>
          <a:noFill/>
          <a:ln/>
        </p:spPr>
        <p:txBody>
          <a:bodyPr wrap="square" lIns="0" tIns="0" rIns="0" bIns="0" rtlCol="0" anchor="t"/>
          <a:lstStyle/>
          <a:p>
            <a:pPr marL="0" indent="0">
              <a:buNone/>
            </a:pPr>
            <a:r>
              <a:rPr lang="en-US" sz="1100" i="1" dirty="0">
                <a:solidFill>
                  <a:srgbClr val="6E7A88"/>
                </a:solidFill>
                <a:latin typeface="Calibri" pitchFamily="34" charset="0"/>
                <a:ea typeface="Calibri" pitchFamily="34" charset="-122"/>
                <a:cs typeface="Calibri" pitchFamily="34" charset="-120"/>
              </a:rPr>
              <a:t>Bảng 13 — Toàn bộ 06 quy trình đã mô hình hóa đầy đủ pool, lane, gateway, task, event và message flow liên pool</a:t>
            </a:r>
            <a:endParaRPr lang="en-US" sz="1100" dirty="0"/>
          </a:p>
        </p:txBody>
      </p:sp>
      <p:sp>
        <p:nvSpPr>
          <p:cNvPr id="6" name="Text 4"/>
          <p:cNvSpPr txBox="1"/>
          <p:nvPr/>
        </p:nvSpPr>
        <p:spPr>
          <a:xfrm>
            <a:off x="548640" y="6419088"/>
            <a:ext cx="8778240" cy="237744"/>
          </a:xfrm>
          <a:prstGeom prst="rect">
            <a:avLst/>
          </a:prstGeom>
          <a:noFill/>
          <a:ln/>
        </p:spPr>
        <p:txBody>
          <a:bodyPr wrap="square" lIns="0" tIns="0" rIns="0" bIns="0" rtlCol="0" anchor="t"/>
          <a:lstStyle/>
          <a:p>
            <a:pPr marL="0" indent="0">
              <a:buNone/>
            </a:pPr>
            <a:r>
              <a:rPr lang="en-US" sz="850" dirty="0">
                <a:solidFill>
                  <a:srgbClr val="6E7A88"/>
                </a:solidFill>
                <a:latin typeface="Calibri" pitchFamily="34" charset="0"/>
                <a:ea typeface="Calibri" pitchFamily="34" charset="-122"/>
                <a:cs typeface="Calibri" pitchFamily="34" charset="-120"/>
              </a:rPr>
              <a:t>HỆ THỐNG QUẢN TRỊ QUY TRÌNH NGHIỆP VỤ  ·  SACOMBANK — QUY TRÌNH PYC</a:t>
            </a:r>
            <a:endParaRPr lang="en-US" sz="850" dirty="0"/>
          </a:p>
        </p:txBody>
      </p:sp>
      <p:sp>
        <p:nvSpPr>
          <p:cNvPr id="7" name="Text 5"/>
          <p:cNvSpPr txBox="1"/>
          <p:nvPr/>
        </p:nvSpPr>
        <p:spPr>
          <a:xfrm>
            <a:off x="11155680" y="6382512"/>
            <a:ext cx="484632" cy="274320"/>
          </a:xfrm>
          <a:prstGeom prst="rect">
            <a:avLst/>
          </a:prstGeom>
          <a:noFill/>
          <a:ln/>
        </p:spPr>
        <p:txBody>
          <a:bodyPr wrap="square" lIns="0" tIns="0" rIns="0" bIns="0" rtlCol="0" anchor="t"/>
          <a:lstStyle/>
          <a:p>
            <a:pPr marL="0" indent="0" algn="r">
              <a:buNone/>
            </a:pPr>
            <a:r>
              <a:rPr lang="en-US" sz="1100" b="1" dirty="0">
                <a:solidFill>
                  <a:srgbClr val="A5741A"/>
                </a:solidFill>
                <a:latin typeface="Calibri" pitchFamily="34" charset="0"/>
                <a:ea typeface="Calibri" pitchFamily="34" charset="-122"/>
                <a:cs typeface="Calibri" pitchFamily="34" charset="-120"/>
              </a:rPr>
              <a:t>28</a:t>
            </a:r>
            <a:endParaRPr lang="en-US" sz="110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548640" y="1481328"/>
          <a:ext cx="11091672" cy="3584448"/>
        </p:xfrm>
        <a:graphic>
          <a:graphicData uri="http://schemas.openxmlformats.org/drawingml/2006/table">
            <a:tbl>
              <a:tblPr/>
              <a:tblGrid>
                <a:gridCol w="2926080">
                  <a:extLst>
                    <a:ext uri="{9D8B030D-6E8A-4147-A177-3AD203B41FA5}">
                      <a16:colId xmlns:a16="http://schemas.microsoft.com/office/drawing/2014/main" val="20000"/>
                    </a:ext>
                  </a:extLst>
                </a:gridCol>
                <a:gridCol w="192024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gridCol w="2404872">
                  <a:extLst>
                    <a:ext uri="{9D8B030D-6E8A-4147-A177-3AD203B41FA5}">
                      <a16:colId xmlns:a16="http://schemas.microsoft.com/office/drawing/2014/main" val="20003"/>
                    </a:ext>
                  </a:extLst>
                </a:gridCol>
                <a:gridCol w="1097280">
                  <a:extLst>
                    <a:ext uri="{9D8B030D-6E8A-4147-A177-3AD203B41FA5}">
                      <a16:colId xmlns:a16="http://schemas.microsoft.com/office/drawing/2014/main" val="20004"/>
                    </a:ext>
                  </a:extLst>
                </a:gridCol>
              </a:tblGrid>
              <a:tr h="512064">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QUY TRÌNH</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0B3B75"/>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SỐ POOL / LANE</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0B3B75"/>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SỐ GATEWAY</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0B3B75"/>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SỐ TASK / EVENT CHÍNH</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0B3B75"/>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MỨC ĐỘ PHỨC TẠP</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0B3B75"/>
                    </a:solidFill>
                  </a:tcPr>
                </a:tc>
                <a:extLst>
                  <a:ext uri="{0D108BD9-81ED-4DB2-BD59-A6C34878D82A}">
                    <a16:rowId xmlns:a16="http://schemas.microsoft.com/office/drawing/2014/main" val="10000"/>
                  </a:ext>
                </a:extLst>
              </a:tr>
              <a:tr h="512064">
                <a:tc>
                  <a:txBody>
                    <a:bodyPr/>
                    <a:lstStyle/>
                    <a:p>
                      <a:pPr marL="0" indent="0">
                        <a:buNone/>
                      </a:pPr>
                      <a:r>
                        <a:rPr lang="en-US" sz="950" dirty="0">
                          <a:solidFill>
                            <a:srgbClr val="2A3442"/>
                          </a:solidFill>
                          <a:latin typeface="Calibri" pitchFamily="34" charset="0"/>
                          <a:ea typeface="Calibri" pitchFamily="34" charset="-122"/>
                          <a:cs typeface="Calibri" pitchFamily="34" charset="-120"/>
                        </a:rPr>
                        <a:t>C01  Xử lý Yêu cầu Dịch vụ (PYC)</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950" dirty="0">
                          <a:solidFill>
                            <a:srgbClr val="2A3442"/>
                          </a:solidFill>
                          <a:latin typeface="Calibri" pitchFamily="34" charset="0"/>
                          <a:ea typeface="Calibri" pitchFamily="34" charset="-122"/>
                          <a:cs typeface="Calibri" pitchFamily="34" charset="-120"/>
                        </a:rPr>
                        <a:t>3 pool</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950" dirty="0">
                          <a:solidFill>
                            <a:srgbClr val="2A3442"/>
                          </a:solidFill>
                          <a:latin typeface="Calibri" pitchFamily="34" charset="0"/>
                          <a:ea typeface="Calibri" pitchFamily="34" charset="-122"/>
                          <a:cs typeface="Calibri" pitchFamily="34" charset="-120"/>
                        </a:rPr>
                        <a:t>8  (3 XOR, 2 AND-split, 2 AND-join, 1 Event-based)</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950" dirty="0">
                          <a:solidFill>
                            <a:srgbClr val="2A3442"/>
                          </a:solidFill>
                          <a:latin typeface="Calibri" pitchFamily="34" charset="0"/>
                          <a:ea typeface="Calibri" pitchFamily="34" charset="-122"/>
                          <a:cs typeface="Calibri" pitchFamily="34" charset="-120"/>
                        </a:rPr>
                        <a:t>23 task + 7 event (3 start, 2 end, 2 intermediate catch)</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lgn="ctr">
                        <a:buNone/>
                      </a:pPr>
                      <a:r>
                        <a:rPr lang="en-US" sz="950" b="1" dirty="0">
                          <a:solidFill>
                            <a:srgbClr val="C0392B"/>
                          </a:solidFill>
                          <a:latin typeface="Calibri" pitchFamily="34" charset="0"/>
                          <a:ea typeface="Calibri" pitchFamily="34" charset="-122"/>
                          <a:cs typeface="Calibri" pitchFamily="34" charset="-120"/>
                        </a:rPr>
                        <a:t>Cao</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extLst>
                  <a:ext uri="{0D108BD9-81ED-4DB2-BD59-A6C34878D82A}">
                    <a16:rowId xmlns:a16="http://schemas.microsoft.com/office/drawing/2014/main" val="10001"/>
                  </a:ext>
                </a:extLst>
              </a:tr>
              <a:tr h="512064">
                <a:tc>
                  <a:txBody>
                    <a:bodyPr/>
                    <a:lstStyle/>
                    <a:p>
                      <a:pPr marL="0" indent="0">
                        <a:buNone/>
                      </a:pPr>
                      <a:r>
                        <a:rPr lang="en-US" sz="950" dirty="0">
                          <a:solidFill>
                            <a:srgbClr val="2A3442"/>
                          </a:solidFill>
                          <a:latin typeface="Calibri" pitchFamily="34" charset="0"/>
                          <a:ea typeface="Calibri" pitchFamily="34" charset="-122"/>
                          <a:cs typeface="Calibri" pitchFamily="34" charset="-120"/>
                        </a:rPr>
                        <a:t>C02  Xử lý Sự cố (Incident)</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950" dirty="0">
                          <a:solidFill>
                            <a:srgbClr val="2A3442"/>
                          </a:solidFill>
                          <a:latin typeface="Calibri" pitchFamily="34" charset="0"/>
                          <a:ea typeface="Calibri" pitchFamily="34" charset="-122"/>
                          <a:cs typeface="Calibri" pitchFamily="34" charset="-120"/>
                        </a:rPr>
                        <a:t>3 pool (1 pool chứa 2 lane)</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950" dirty="0">
                          <a:solidFill>
                            <a:srgbClr val="2A3442"/>
                          </a:solidFill>
                          <a:latin typeface="Calibri" pitchFamily="34" charset="0"/>
                          <a:ea typeface="Calibri" pitchFamily="34" charset="-122"/>
                          <a:cs typeface="Calibri" pitchFamily="34" charset="-120"/>
                        </a:rPr>
                        <a:t>8  (6 XOR, 1 AND-split, 1 AND-join)</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950" dirty="0">
                          <a:solidFill>
                            <a:srgbClr val="2A3442"/>
                          </a:solidFill>
                          <a:latin typeface="Calibri" pitchFamily="34" charset="0"/>
                          <a:ea typeface="Calibri" pitchFamily="34" charset="-122"/>
                          <a:cs typeface="Calibri" pitchFamily="34" charset="-120"/>
                        </a:rPr>
                        <a:t>20 task + 5 event (3 start, 2 end), 2 sub-process</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lgn="ctr">
                        <a:buNone/>
                      </a:pPr>
                      <a:r>
                        <a:rPr lang="en-US" sz="950" b="1" dirty="0">
                          <a:solidFill>
                            <a:srgbClr val="C0392B"/>
                          </a:solidFill>
                          <a:latin typeface="Calibri" pitchFamily="34" charset="0"/>
                          <a:ea typeface="Calibri" pitchFamily="34" charset="-122"/>
                          <a:cs typeface="Calibri" pitchFamily="34" charset="-120"/>
                        </a:rPr>
                        <a:t>Cao</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extLst>
                  <a:ext uri="{0D108BD9-81ED-4DB2-BD59-A6C34878D82A}">
                    <a16:rowId xmlns:a16="http://schemas.microsoft.com/office/drawing/2014/main" val="10002"/>
                  </a:ext>
                </a:extLst>
              </a:tr>
              <a:tr h="512064">
                <a:tc>
                  <a:txBody>
                    <a:bodyPr/>
                    <a:lstStyle/>
                    <a:p>
                      <a:pPr marL="0" indent="0">
                        <a:buNone/>
                      </a:pPr>
                      <a:r>
                        <a:rPr lang="en-US" sz="950" dirty="0">
                          <a:solidFill>
                            <a:srgbClr val="2A3442"/>
                          </a:solidFill>
                          <a:latin typeface="Calibri" pitchFamily="34" charset="0"/>
                          <a:ea typeface="Calibri" pitchFamily="34" charset="-122"/>
                          <a:cs typeface="Calibri" pitchFamily="34" charset="-120"/>
                        </a:rPr>
                        <a:t>M02  Quản lý Rủi ro &amp; ATTT</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950" dirty="0">
                          <a:solidFill>
                            <a:srgbClr val="2A3442"/>
                          </a:solidFill>
                          <a:latin typeface="Calibri" pitchFamily="34" charset="0"/>
                          <a:ea typeface="Calibri" pitchFamily="34" charset="-122"/>
                          <a:cs typeface="Calibri" pitchFamily="34" charset="-120"/>
                        </a:rPr>
                        <a:t>3 pool</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950" dirty="0">
                          <a:solidFill>
                            <a:srgbClr val="2A3442"/>
                          </a:solidFill>
                          <a:latin typeface="Calibri" pitchFamily="34" charset="0"/>
                          <a:ea typeface="Calibri" pitchFamily="34" charset="-122"/>
                          <a:cs typeface="Calibri" pitchFamily="34" charset="-120"/>
                        </a:rPr>
                        <a:t>8  (4 XOR, 2 AND-split, 2 AND-join)</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950" dirty="0">
                          <a:solidFill>
                            <a:srgbClr val="2A3442"/>
                          </a:solidFill>
                          <a:latin typeface="Calibri" pitchFamily="34" charset="0"/>
                          <a:ea typeface="Calibri" pitchFamily="34" charset="-122"/>
                          <a:cs typeface="Calibri" pitchFamily="34" charset="-120"/>
                        </a:rPr>
                        <a:t>17 task + 5 event (2 start, 3 end)</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lgn="ctr">
                        <a:buNone/>
                      </a:pPr>
                      <a:r>
                        <a:rPr lang="en-US" sz="950" b="1" dirty="0">
                          <a:solidFill>
                            <a:srgbClr val="C0392B"/>
                          </a:solidFill>
                          <a:latin typeface="Calibri" pitchFamily="34" charset="0"/>
                          <a:ea typeface="Calibri" pitchFamily="34" charset="-122"/>
                          <a:cs typeface="Calibri" pitchFamily="34" charset="-120"/>
                        </a:rPr>
                        <a:t>Cao</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extLst>
                  <a:ext uri="{0D108BD9-81ED-4DB2-BD59-A6C34878D82A}">
                    <a16:rowId xmlns:a16="http://schemas.microsoft.com/office/drawing/2014/main" val="10003"/>
                  </a:ext>
                </a:extLst>
              </a:tr>
              <a:tr h="512064">
                <a:tc>
                  <a:txBody>
                    <a:bodyPr/>
                    <a:lstStyle/>
                    <a:p>
                      <a:pPr marL="0" indent="0">
                        <a:buNone/>
                      </a:pPr>
                      <a:r>
                        <a:rPr lang="en-US" sz="950" dirty="0">
                          <a:solidFill>
                            <a:srgbClr val="2A3442"/>
                          </a:solidFill>
                          <a:latin typeface="Calibri" pitchFamily="34" charset="0"/>
                          <a:ea typeface="Calibri" pitchFamily="34" charset="-122"/>
                          <a:cs typeface="Calibri" pitchFamily="34" charset="-120"/>
                        </a:rPr>
                        <a:t>S02  Quản lý Thay đổi (Change Request)</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950" dirty="0">
                          <a:solidFill>
                            <a:srgbClr val="2A3442"/>
                          </a:solidFill>
                          <a:latin typeface="Calibri" pitchFamily="34" charset="0"/>
                          <a:ea typeface="Calibri" pitchFamily="34" charset="-122"/>
                          <a:cs typeface="Calibri" pitchFamily="34" charset="-120"/>
                        </a:rPr>
                        <a:t>4 pool (1 pool chứa 2 lane)</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950" dirty="0">
                          <a:solidFill>
                            <a:srgbClr val="2A3442"/>
                          </a:solidFill>
                          <a:latin typeface="Calibri" pitchFamily="34" charset="0"/>
                          <a:ea typeface="Calibri" pitchFamily="34" charset="-122"/>
                          <a:cs typeface="Calibri" pitchFamily="34" charset="-120"/>
                        </a:rPr>
                        <a:t>5  (3 XOR, 1 AND-split, 1 AND-join)</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950" dirty="0">
                          <a:solidFill>
                            <a:srgbClr val="2A3442"/>
                          </a:solidFill>
                          <a:latin typeface="Calibri" pitchFamily="34" charset="0"/>
                          <a:ea typeface="Calibri" pitchFamily="34" charset="-122"/>
                          <a:cs typeface="Calibri" pitchFamily="34" charset="-120"/>
                        </a:rPr>
                        <a:t>15 task + 5 event (3 start, 2 end)</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lgn="ctr">
                        <a:buNone/>
                      </a:pPr>
                      <a:r>
                        <a:rPr lang="en-US" sz="950" b="1" dirty="0">
                          <a:solidFill>
                            <a:srgbClr val="A5741A"/>
                          </a:solidFill>
                          <a:latin typeface="Calibri" pitchFamily="34" charset="0"/>
                          <a:ea typeface="Calibri" pitchFamily="34" charset="-122"/>
                          <a:cs typeface="Calibri" pitchFamily="34" charset="-120"/>
                        </a:rPr>
                        <a:t>Trung bình – Cao</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extLst>
                  <a:ext uri="{0D108BD9-81ED-4DB2-BD59-A6C34878D82A}">
                    <a16:rowId xmlns:a16="http://schemas.microsoft.com/office/drawing/2014/main" val="10004"/>
                  </a:ext>
                </a:extLst>
              </a:tr>
              <a:tr h="512064">
                <a:tc>
                  <a:txBody>
                    <a:bodyPr/>
                    <a:lstStyle/>
                    <a:p>
                      <a:pPr marL="0" indent="0">
                        <a:buNone/>
                      </a:pPr>
                      <a:r>
                        <a:rPr lang="en-US" sz="950" dirty="0">
                          <a:solidFill>
                            <a:srgbClr val="2A3442"/>
                          </a:solidFill>
                          <a:latin typeface="Calibri" pitchFamily="34" charset="0"/>
                          <a:ea typeface="Calibri" pitchFamily="34" charset="-122"/>
                          <a:cs typeface="Calibri" pitchFamily="34" charset="-120"/>
                        </a:rPr>
                        <a:t>S03  Request Tài sản CNTT</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950" dirty="0">
                          <a:solidFill>
                            <a:srgbClr val="2A3442"/>
                          </a:solidFill>
                          <a:latin typeface="Calibri" pitchFamily="34" charset="0"/>
                          <a:ea typeface="Calibri" pitchFamily="34" charset="-122"/>
                          <a:cs typeface="Calibri" pitchFamily="34" charset="-120"/>
                        </a:rPr>
                        <a:t>2 pool</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950" dirty="0">
                          <a:solidFill>
                            <a:srgbClr val="2A3442"/>
                          </a:solidFill>
                          <a:latin typeface="Calibri" pitchFamily="34" charset="0"/>
                          <a:ea typeface="Calibri" pitchFamily="34" charset="-122"/>
                          <a:cs typeface="Calibri" pitchFamily="34" charset="-120"/>
                        </a:rPr>
                        <a:t>7  (3 XOR, 2 AND-split, 2 AND-join)</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950" dirty="0">
                          <a:solidFill>
                            <a:srgbClr val="2A3442"/>
                          </a:solidFill>
                          <a:latin typeface="Calibri" pitchFamily="34" charset="0"/>
                          <a:ea typeface="Calibri" pitchFamily="34" charset="-122"/>
                          <a:cs typeface="Calibri" pitchFamily="34" charset="-120"/>
                        </a:rPr>
                        <a:t>12 task + 5 event (2 start, 3 end)</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lgn="ctr">
                        <a:buNone/>
                      </a:pPr>
                      <a:r>
                        <a:rPr lang="en-US" sz="950" b="1" dirty="0">
                          <a:solidFill>
                            <a:srgbClr val="0E7A5F"/>
                          </a:solidFill>
                          <a:latin typeface="Calibri" pitchFamily="34" charset="0"/>
                          <a:ea typeface="Calibri" pitchFamily="34" charset="-122"/>
                          <a:cs typeface="Calibri" pitchFamily="34" charset="-120"/>
                        </a:rPr>
                        <a:t>Trung bình</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extLst>
                  <a:ext uri="{0D108BD9-81ED-4DB2-BD59-A6C34878D82A}">
                    <a16:rowId xmlns:a16="http://schemas.microsoft.com/office/drawing/2014/main" val="10005"/>
                  </a:ext>
                </a:extLst>
              </a:tr>
              <a:tr h="512064">
                <a:tc>
                  <a:txBody>
                    <a:bodyPr/>
                    <a:lstStyle/>
                    <a:p>
                      <a:pPr marL="0" indent="0">
                        <a:buNone/>
                      </a:pPr>
                      <a:r>
                        <a:rPr lang="en-US" sz="950" dirty="0">
                          <a:solidFill>
                            <a:srgbClr val="2A3442"/>
                          </a:solidFill>
                          <a:latin typeface="Calibri" pitchFamily="34" charset="0"/>
                          <a:ea typeface="Calibri" pitchFamily="34" charset="-122"/>
                          <a:cs typeface="Calibri" pitchFamily="34" charset="-120"/>
                        </a:rPr>
                        <a:t>M01  Quản lý Mức Dịch vụ (SLA)</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950" dirty="0">
                          <a:solidFill>
                            <a:srgbClr val="2A3442"/>
                          </a:solidFill>
                          <a:latin typeface="Calibri" pitchFamily="34" charset="0"/>
                          <a:ea typeface="Calibri" pitchFamily="34" charset="-122"/>
                          <a:cs typeface="Calibri" pitchFamily="34" charset="-120"/>
                        </a:rPr>
                        <a:t>2 pool</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950" dirty="0">
                          <a:solidFill>
                            <a:srgbClr val="2A3442"/>
                          </a:solidFill>
                          <a:latin typeface="Calibri" pitchFamily="34" charset="0"/>
                          <a:ea typeface="Calibri" pitchFamily="34" charset="-122"/>
                          <a:cs typeface="Calibri" pitchFamily="34" charset="-120"/>
                        </a:rPr>
                        <a:t>7  (5 XOR, 1 AND-split, 1 AND-join)</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950" dirty="0">
                          <a:solidFill>
                            <a:srgbClr val="2A3442"/>
                          </a:solidFill>
                          <a:latin typeface="Calibri" pitchFamily="34" charset="0"/>
                          <a:ea typeface="Calibri" pitchFamily="34" charset="-122"/>
                          <a:cs typeface="Calibri" pitchFamily="34" charset="-120"/>
                        </a:rPr>
                        <a:t>14 task + 5 event (2 start, 3 end)</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lgn="ctr">
                        <a:buNone/>
                      </a:pPr>
                      <a:r>
                        <a:rPr lang="en-US" sz="950" b="1" dirty="0">
                          <a:solidFill>
                            <a:srgbClr val="0E7A5F"/>
                          </a:solidFill>
                          <a:latin typeface="Calibri" pitchFamily="34" charset="0"/>
                          <a:ea typeface="Calibri" pitchFamily="34" charset="-122"/>
                          <a:cs typeface="Calibri" pitchFamily="34" charset="-120"/>
                        </a:rPr>
                        <a:t>Trung bình</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extLst>
                  <a:ext uri="{0D108BD9-81ED-4DB2-BD59-A6C34878D82A}">
                    <a16:rowId xmlns:a16="http://schemas.microsoft.com/office/drawing/2014/main" val="10006"/>
                  </a:ext>
                </a:extLst>
              </a:tr>
            </a:tbl>
          </a:graphicData>
        </a:graphic>
      </p:graphicFrame>
      <p:sp>
        <p:nvSpPr>
          <p:cNvPr id="9" name="Shape 6"/>
          <p:cNvSpPr/>
          <p:nvPr/>
        </p:nvSpPr>
        <p:spPr>
          <a:xfrm>
            <a:off x="545897" y="5157216"/>
            <a:ext cx="11094415" cy="969264"/>
          </a:xfrm>
          <a:prstGeom prst="roundRect">
            <a:avLst>
              <a:gd name="adj" fmla="val 5660"/>
            </a:avLst>
          </a:prstGeom>
          <a:solidFill>
            <a:srgbClr val="EFF4FB"/>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10" name="Text 7"/>
          <p:cNvSpPr txBox="1"/>
          <p:nvPr/>
        </p:nvSpPr>
        <p:spPr>
          <a:xfrm>
            <a:off x="768096" y="5175504"/>
            <a:ext cx="10655503" cy="694944"/>
          </a:xfrm>
          <a:prstGeom prst="rect">
            <a:avLst/>
          </a:prstGeom>
          <a:noFill/>
          <a:ln/>
        </p:spPr>
        <p:txBody>
          <a:bodyPr wrap="square" lIns="0" tIns="0" rIns="0" bIns="0" rtlCol="0" anchor="t"/>
          <a:lstStyle/>
          <a:p>
            <a:pPr marL="0" indent="0">
              <a:buNone/>
            </a:pPr>
            <a:r>
              <a:rPr lang="en-US" sz="1050" dirty="0">
                <a:solidFill>
                  <a:srgbClr val="2A3442"/>
                </a:solidFill>
                <a:latin typeface="Calibri" pitchFamily="34" charset="0"/>
                <a:ea typeface="Calibri" pitchFamily="34" charset="-122"/>
                <a:cs typeface="Calibri" pitchFamily="34" charset="-120"/>
              </a:rPr>
              <a:t>PYC, Rủi ro &amp; ATTT và Xử lý Sự cố phức tạp nhất — mỗi quy trình 8 gateway với nhiều nhánh rẽ điều kiện (XOR), xử lý song song (AND split/join) và cơ chế chờ sự kiện (Event-based Gateway, Intermediate Catch Event). Quản lý Thay đổi có cấu trúc phân tầng phê duyệt qua 4 pool với 5 vai trò và gateway phân luồng 3 nhánh Standard / Normal / Emergency.</a:t>
            </a:r>
            <a:endParaRPr lang="en-US" sz="10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31">
    <p:bg>
      <p:bgPr>
        <a:solidFill>
          <a:srgbClr val="0B3B75"/>
        </a:solidFill>
        <a:effectLst/>
      </p:bgPr>
    </p:bg>
    <p:spTree>
      <p:nvGrpSpPr>
        <p:cNvPr id="1" name=""/>
        <p:cNvGrpSpPr/>
        <p:nvPr/>
      </p:nvGrpSpPr>
      <p:grpSpPr>
        <a:xfrm>
          <a:off x="0" y="0"/>
          <a:ext cx="0" cy="0"/>
          <a:chOff x="0" y="0"/>
          <a:chExt cx="0" cy="0"/>
        </a:xfrm>
      </p:grpSpPr>
      <p:sp>
        <p:nvSpPr>
          <p:cNvPr id="2" name="Text 0"/>
          <p:cNvSpPr txBox="1"/>
          <p:nvPr/>
        </p:nvSpPr>
        <p:spPr>
          <a:xfrm>
            <a:off x="548640" y="1920240"/>
            <a:ext cx="1828800" cy="1097280"/>
          </a:xfrm>
          <a:prstGeom prst="rect">
            <a:avLst/>
          </a:prstGeom>
          <a:noFill/>
          <a:ln/>
        </p:spPr>
        <p:txBody>
          <a:bodyPr wrap="square" lIns="0" tIns="0" rIns="0" bIns="0" rtlCol="0" anchor="t"/>
          <a:lstStyle/>
          <a:p>
            <a:pPr marL="0" indent="0">
              <a:buNone/>
            </a:pPr>
            <a:r>
              <a:rPr lang="en-US" sz="6600" b="1" dirty="0">
                <a:solidFill>
                  <a:srgbClr val="D9A227"/>
                </a:solidFill>
                <a:latin typeface="Calibri" pitchFamily="34" charset="0"/>
                <a:ea typeface="Calibri" pitchFamily="34" charset="-122"/>
                <a:cs typeface="Calibri" pitchFamily="34" charset="-120"/>
              </a:rPr>
              <a:t>04</a:t>
            </a:r>
            <a:endParaRPr lang="en-US" sz="6600" dirty="0"/>
          </a:p>
        </p:txBody>
      </p:sp>
      <p:sp>
        <p:nvSpPr>
          <p:cNvPr id="3" name="Text 1"/>
          <p:cNvSpPr txBox="1"/>
          <p:nvPr/>
        </p:nvSpPr>
        <p:spPr>
          <a:xfrm>
            <a:off x="548640" y="3072384"/>
            <a:ext cx="11094415" cy="274320"/>
          </a:xfrm>
          <a:prstGeom prst="rect">
            <a:avLst/>
          </a:prstGeom>
          <a:noFill/>
          <a:ln/>
        </p:spPr>
        <p:txBody>
          <a:bodyPr wrap="square" lIns="0" tIns="0" rIns="0" bIns="0" rtlCol="0" anchor="t"/>
          <a:lstStyle/>
          <a:p>
            <a:pPr marL="0" indent="0">
              <a:buNone/>
            </a:pPr>
            <a:r>
              <a:rPr lang="en-US" sz="1100" b="1" kern="0" spc="140" dirty="0">
                <a:solidFill>
                  <a:srgbClr val="AFC6E4"/>
                </a:solidFill>
                <a:latin typeface="Calibri" pitchFamily="34" charset="0"/>
                <a:ea typeface="Calibri" pitchFamily="34" charset="-122"/>
                <a:cs typeface="Calibri" pitchFamily="34" charset="-120"/>
              </a:rPr>
              <a:t>PHẦN 4 · PROCESS ANALYSIS</a:t>
            </a:r>
            <a:endParaRPr lang="en-US" sz="1100" dirty="0"/>
          </a:p>
        </p:txBody>
      </p:sp>
      <p:sp>
        <p:nvSpPr>
          <p:cNvPr id="4" name="Text 2"/>
          <p:cNvSpPr txBox="1"/>
          <p:nvPr/>
        </p:nvSpPr>
        <p:spPr>
          <a:xfrm>
            <a:off x="548640" y="3383280"/>
            <a:ext cx="11094415" cy="640080"/>
          </a:xfrm>
          <a:prstGeom prst="rect">
            <a:avLst/>
          </a:prstGeom>
          <a:noFill/>
          <a:ln/>
        </p:spPr>
        <p:txBody>
          <a:bodyPr wrap="square" lIns="0" tIns="0" rIns="0" bIns="0" rtlCol="0" anchor="t"/>
          <a:lstStyle/>
          <a:p>
            <a:pPr marL="0" indent="0">
              <a:buNone/>
            </a:pPr>
            <a:r>
              <a:rPr lang="en-US" sz="3200" b="1" dirty="0">
                <a:solidFill>
                  <a:srgbClr val="FFFFFF"/>
                </a:solidFill>
                <a:latin typeface="Calibri" pitchFamily="34" charset="0"/>
                <a:ea typeface="Calibri" pitchFamily="34" charset="-122"/>
                <a:cs typeface="Calibri" pitchFamily="34" charset="-120"/>
              </a:rPr>
              <a:t>Phân tích và đánh giá hiệu suất quy trình</a:t>
            </a:r>
            <a:endParaRPr lang="en-US" sz="3200" dirty="0"/>
          </a:p>
        </p:txBody>
      </p:sp>
      <p:sp>
        <p:nvSpPr>
          <p:cNvPr id="5" name="Text 3"/>
          <p:cNvSpPr txBox="1"/>
          <p:nvPr/>
        </p:nvSpPr>
        <p:spPr>
          <a:xfrm>
            <a:off x="548640" y="4114800"/>
            <a:ext cx="9722815" cy="365760"/>
          </a:xfrm>
          <a:prstGeom prst="rect">
            <a:avLst/>
          </a:prstGeom>
          <a:noFill/>
          <a:ln/>
        </p:spPr>
        <p:txBody>
          <a:bodyPr wrap="square" lIns="0" tIns="0" rIns="0" bIns="0" rtlCol="0" anchor="t"/>
          <a:lstStyle/>
          <a:p>
            <a:pPr marL="0" indent="0">
              <a:buNone/>
            </a:pPr>
            <a:r>
              <a:rPr lang="en-US" sz="1200" dirty="0">
                <a:solidFill>
                  <a:srgbClr val="9BB2D2"/>
                </a:solidFill>
                <a:latin typeface="Calibri" pitchFamily="34" charset="0"/>
                <a:ea typeface="Calibri" pitchFamily="34" charset="-122"/>
                <a:cs typeface="Calibri" pitchFamily="34" charset="-120"/>
              </a:rPr>
              <a:t>Định tính VA – NVA – VBA  ·  Lãng phí Move – Hold – Overdo  ·  Nguyên nhân gốc rễ  ·  Định lượng thời gian, chất lượng, chi phí</a:t>
            </a:r>
            <a:endParaRPr lang="en-US" sz="1200" dirty="0"/>
          </a:p>
        </p:txBody>
      </p:sp>
      <p:sp>
        <p:nvSpPr>
          <p:cNvPr id="6" name="Text 4"/>
          <p:cNvSpPr txBox="1"/>
          <p:nvPr/>
        </p:nvSpPr>
        <p:spPr>
          <a:xfrm>
            <a:off x="548640" y="6419088"/>
            <a:ext cx="8778240" cy="237744"/>
          </a:xfrm>
          <a:prstGeom prst="rect">
            <a:avLst/>
          </a:prstGeom>
          <a:noFill/>
          <a:ln/>
        </p:spPr>
        <p:txBody>
          <a:bodyPr wrap="square" lIns="0" tIns="0" rIns="0" bIns="0" rtlCol="0" anchor="t"/>
          <a:lstStyle/>
          <a:p>
            <a:pPr marL="0" indent="0">
              <a:buNone/>
            </a:pPr>
            <a:r>
              <a:rPr lang="en-US" sz="850" dirty="0">
                <a:solidFill>
                  <a:srgbClr val="7089AE"/>
                </a:solidFill>
                <a:latin typeface="Calibri" pitchFamily="34" charset="0"/>
                <a:ea typeface="Calibri" pitchFamily="34" charset="-122"/>
                <a:cs typeface="Calibri" pitchFamily="34" charset="-120"/>
              </a:rPr>
              <a:t>HỆ THỐNG QUẢN TRỊ QUY TRÌNH NGHIỆP VỤ  ·  SACOMBANK — QUY TRÌNH PYC</a:t>
            </a:r>
            <a:endParaRPr lang="en-US" sz="850" dirty="0"/>
          </a:p>
        </p:txBody>
      </p:sp>
      <p:sp>
        <p:nvSpPr>
          <p:cNvPr id="7" name="Text 5"/>
          <p:cNvSpPr txBox="1"/>
          <p:nvPr/>
        </p:nvSpPr>
        <p:spPr>
          <a:xfrm>
            <a:off x="11155680" y="6382512"/>
            <a:ext cx="484632" cy="274320"/>
          </a:xfrm>
          <a:prstGeom prst="rect">
            <a:avLst/>
          </a:prstGeom>
          <a:noFill/>
          <a:ln/>
        </p:spPr>
        <p:txBody>
          <a:bodyPr wrap="square" lIns="0" tIns="0" rIns="0" bIns="0" rtlCol="0" anchor="t"/>
          <a:lstStyle/>
          <a:p>
            <a:pPr marL="0" indent="0" algn="r">
              <a:buNone/>
            </a:pPr>
            <a:r>
              <a:rPr lang="en-US" sz="1100" b="1" dirty="0">
                <a:solidFill>
                  <a:srgbClr val="D9A227"/>
                </a:solidFill>
                <a:latin typeface="Calibri" pitchFamily="34" charset="0"/>
                <a:ea typeface="Calibri" pitchFamily="34" charset="-122"/>
                <a:cs typeface="Calibri" pitchFamily="34" charset="-120"/>
              </a:rPr>
              <a:t>29</a:t>
            </a:r>
            <a:endParaRPr lang="en-US" sz="11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65760"/>
            <a:ext cx="123444" cy="123444"/>
          </a:xfrm>
          <a:prstGeom prst="ellipse">
            <a:avLst/>
          </a:prstGeom>
          <a:solidFill>
            <a:srgbClr val="D9A227"/>
          </a:solidFill>
          <a:ln w="12700">
            <a:solidFill>
              <a:srgbClr val="D9A227"/>
            </a:solidFill>
            <a:prstDash val="solid"/>
          </a:ln>
        </p:spPr>
        <p:txBody>
          <a:bodyPr/>
          <a:lstStyle/>
          <a:p>
            <a:endParaRPr lang="en-US"/>
          </a:p>
        </p:txBody>
      </p:sp>
      <p:sp>
        <p:nvSpPr>
          <p:cNvPr id="3" name="Text 1"/>
          <p:cNvSpPr txBox="1"/>
          <p:nvPr/>
        </p:nvSpPr>
        <p:spPr>
          <a:xfrm>
            <a:off x="804672" y="292608"/>
            <a:ext cx="10838383" cy="237744"/>
          </a:xfrm>
          <a:prstGeom prst="rect">
            <a:avLst/>
          </a:prstGeom>
          <a:noFill/>
          <a:ln/>
        </p:spPr>
        <p:txBody>
          <a:bodyPr wrap="square" lIns="0" tIns="0" rIns="0" bIns="0" rtlCol="0" anchor="t"/>
          <a:lstStyle/>
          <a:p>
            <a:pPr marL="0" indent="0">
              <a:buNone/>
            </a:pPr>
            <a:r>
              <a:rPr lang="en-US" sz="1050" b="1" kern="0" spc="120" dirty="0">
                <a:solidFill>
                  <a:srgbClr val="A5741A"/>
                </a:solidFill>
                <a:latin typeface="Calibri" pitchFamily="34" charset="0"/>
                <a:ea typeface="Calibri" pitchFamily="34" charset="-122"/>
                <a:cs typeface="Calibri" pitchFamily="34" charset="-120"/>
              </a:rPr>
              <a:t>CHƯƠNG 4 · KHUNG PHÂN TÍCH</a:t>
            </a:r>
            <a:endParaRPr lang="en-US" sz="1050" dirty="0"/>
          </a:p>
        </p:txBody>
      </p:sp>
      <p:sp>
        <p:nvSpPr>
          <p:cNvPr id="4" name="Text 2"/>
          <p:cNvSpPr txBox="1"/>
          <p:nvPr/>
        </p:nvSpPr>
        <p:spPr>
          <a:xfrm>
            <a:off x="548640" y="566928"/>
            <a:ext cx="11094415" cy="457200"/>
          </a:xfrm>
          <a:prstGeom prst="rect">
            <a:avLst/>
          </a:prstGeom>
          <a:noFill/>
          <a:ln/>
        </p:spPr>
        <p:txBody>
          <a:bodyPr wrap="square" lIns="0" tIns="0" rIns="0" bIns="0" rtlCol="0" anchor="t"/>
          <a:lstStyle/>
          <a:p>
            <a:pPr marL="0" indent="0">
              <a:buNone/>
            </a:pPr>
            <a:r>
              <a:rPr lang="en-US" sz="2500" b="1" dirty="0">
                <a:solidFill>
                  <a:srgbClr val="0B3B75"/>
                </a:solidFill>
                <a:latin typeface="Calibri" pitchFamily="34" charset="0"/>
                <a:ea typeface="Calibri" pitchFamily="34" charset="-122"/>
                <a:cs typeface="Calibri" pitchFamily="34" charset="-120"/>
              </a:rPr>
              <a:t>KHUNG PHÂN TÍCH ÁP DỤNG CHO QUY TRÌNH PYC VÀ INCIDENT</a:t>
            </a:r>
            <a:endParaRPr lang="en-US" sz="2500" dirty="0"/>
          </a:p>
        </p:txBody>
      </p:sp>
      <p:sp>
        <p:nvSpPr>
          <p:cNvPr id="5" name="Text 3"/>
          <p:cNvSpPr txBox="1"/>
          <p:nvPr/>
        </p:nvSpPr>
        <p:spPr>
          <a:xfrm>
            <a:off x="548640" y="6419088"/>
            <a:ext cx="8778240" cy="237744"/>
          </a:xfrm>
          <a:prstGeom prst="rect">
            <a:avLst/>
          </a:prstGeom>
          <a:noFill/>
          <a:ln/>
        </p:spPr>
        <p:txBody>
          <a:bodyPr wrap="square" lIns="0" tIns="0" rIns="0" bIns="0" rtlCol="0" anchor="t"/>
          <a:lstStyle/>
          <a:p>
            <a:pPr marL="0" indent="0">
              <a:buNone/>
            </a:pPr>
            <a:r>
              <a:rPr lang="en-US" sz="850" dirty="0">
                <a:solidFill>
                  <a:srgbClr val="6E7A88"/>
                </a:solidFill>
                <a:latin typeface="Calibri" pitchFamily="34" charset="0"/>
                <a:ea typeface="Calibri" pitchFamily="34" charset="-122"/>
                <a:cs typeface="Calibri" pitchFamily="34" charset="-120"/>
              </a:rPr>
              <a:t>HỆ THỐNG QUẢN TRỊ QUY TRÌNH NGHIỆP VỤ  ·  SACOMBANK — QUY TRÌNH PYC</a:t>
            </a:r>
            <a:endParaRPr lang="en-US" sz="850" dirty="0"/>
          </a:p>
        </p:txBody>
      </p:sp>
      <p:sp>
        <p:nvSpPr>
          <p:cNvPr id="6" name="Text 4"/>
          <p:cNvSpPr txBox="1"/>
          <p:nvPr/>
        </p:nvSpPr>
        <p:spPr>
          <a:xfrm>
            <a:off x="11155680" y="6382512"/>
            <a:ext cx="484632" cy="274320"/>
          </a:xfrm>
          <a:prstGeom prst="rect">
            <a:avLst/>
          </a:prstGeom>
          <a:noFill/>
          <a:ln/>
        </p:spPr>
        <p:txBody>
          <a:bodyPr wrap="square" lIns="0" tIns="0" rIns="0" bIns="0" rtlCol="0" anchor="t"/>
          <a:lstStyle/>
          <a:p>
            <a:pPr marL="0" indent="0" algn="r">
              <a:buNone/>
            </a:pPr>
            <a:r>
              <a:rPr lang="en-US" sz="1100" b="1" dirty="0">
                <a:solidFill>
                  <a:srgbClr val="A5741A"/>
                </a:solidFill>
                <a:latin typeface="Calibri" pitchFamily="34" charset="0"/>
                <a:ea typeface="Calibri" pitchFamily="34" charset="-122"/>
                <a:cs typeface="Calibri" pitchFamily="34" charset="-120"/>
              </a:rPr>
              <a:t>30</a:t>
            </a:r>
            <a:endParaRPr lang="en-US" sz="1100" dirty="0"/>
          </a:p>
        </p:txBody>
      </p:sp>
      <p:sp>
        <p:nvSpPr>
          <p:cNvPr id="7" name="Shape 5"/>
          <p:cNvSpPr/>
          <p:nvPr/>
        </p:nvSpPr>
        <p:spPr>
          <a:xfrm>
            <a:off x="548640" y="1463040"/>
            <a:ext cx="5410048" cy="3200400"/>
          </a:xfrm>
          <a:prstGeom prst="roundRect">
            <a:avLst>
              <a:gd name="adj" fmla="val 1714"/>
            </a:avLst>
          </a:prstGeom>
          <a:solidFill>
            <a:srgbClr val="EFF4FB"/>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8" name="Text 6"/>
          <p:cNvSpPr txBox="1"/>
          <p:nvPr/>
        </p:nvSpPr>
        <p:spPr>
          <a:xfrm>
            <a:off x="786384" y="1645920"/>
            <a:ext cx="4572000" cy="274320"/>
          </a:xfrm>
          <a:prstGeom prst="rect">
            <a:avLst/>
          </a:prstGeom>
          <a:noFill/>
          <a:ln/>
        </p:spPr>
        <p:txBody>
          <a:bodyPr wrap="square" lIns="0" tIns="0" rIns="0" bIns="0" rtlCol="0" anchor="t"/>
          <a:lstStyle/>
          <a:p>
            <a:pPr marL="0" indent="0">
              <a:buNone/>
            </a:pPr>
            <a:r>
              <a:rPr lang="en-US" sz="1400" b="1" dirty="0">
                <a:solidFill>
                  <a:srgbClr val="0B3B75"/>
                </a:solidFill>
                <a:latin typeface="Calibri" pitchFamily="34" charset="0"/>
                <a:ea typeface="Calibri" pitchFamily="34" charset="-122"/>
                <a:cs typeface="Calibri" pitchFamily="34" charset="-120"/>
              </a:rPr>
              <a:t>PHÂN TÍCH ĐỊNH TÍNH</a:t>
            </a:r>
            <a:endParaRPr lang="en-US" sz="1400" dirty="0"/>
          </a:p>
        </p:txBody>
      </p:sp>
      <p:sp>
        <p:nvSpPr>
          <p:cNvPr id="9" name="Text 7"/>
          <p:cNvSpPr txBox="1"/>
          <p:nvPr/>
        </p:nvSpPr>
        <p:spPr>
          <a:xfrm>
            <a:off x="786384" y="2048256"/>
            <a:ext cx="4998568" cy="256032"/>
          </a:xfrm>
          <a:prstGeom prst="rect">
            <a:avLst/>
          </a:prstGeom>
          <a:noFill/>
          <a:ln/>
        </p:spPr>
        <p:txBody>
          <a:bodyPr wrap="square" lIns="0" tIns="0" rIns="0" bIns="0" rtlCol="0" anchor="t"/>
          <a:lstStyle/>
          <a:p>
            <a:pPr marL="0" indent="0">
              <a:buNone/>
            </a:pPr>
            <a:r>
              <a:rPr lang="en-US" sz="1150" b="1" dirty="0">
                <a:solidFill>
                  <a:srgbClr val="1660BF"/>
                </a:solidFill>
                <a:latin typeface="Calibri" pitchFamily="34" charset="0"/>
                <a:ea typeface="Calibri" pitchFamily="34" charset="-122"/>
                <a:cs typeface="Calibri" pitchFamily="34" charset="-120"/>
              </a:rPr>
              <a:t>▪  Giá trị gia tăng   —   Value-added Analysis</a:t>
            </a:r>
            <a:endParaRPr lang="en-US" sz="1150" dirty="0"/>
          </a:p>
        </p:txBody>
      </p:sp>
      <p:sp>
        <p:nvSpPr>
          <p:cNvPr id="10" name="Text 8"/>
          <p:cNvSpPr txBox="1"/>
          <p:nvPr/>
        </p:nvSpPr>
        <p:spPr>
          <a:xfrm>
            <a:off x="1005840" y="2304288"/>
            <a:ext cx="4769968" cy="457200"/>
          </a:xfrm>
          <a:prstGeom prst="rect">
            <a:avLst/>
          </a:prstGeom>
          <a:noFill/>
          <a:ln/>
        </p:spPr>
        <p:txBody>
          <a:bodyPr wrap="square" lIns="0" tIns="0" rIns="0" bIns="0" rtlCol="0" anchor="t"/>
          <a:lstStyle/>
          <a:p>
            <a:pPr marL="0" indent="0">
              <a:buNone/>
            </a:pPr>
            <a:r>
              <a:rPr lang="en-US" sz="1000" dirty="0">
                <a:solidFill>
                  <a:srgbClr val="6E7A88"/>
                </a:solidFill>
                <a:latin typeface="Calibri" pitchFamily="34" charset="0"/>
                <a:ea typeface="Calibri" pitchFamily="34" charset="-122"/>
                <a:cs typeface="Calibri" pitchFamily="34" charset="-120"/>
              </a:rPr>
              <a:t>Phân loại từng tác vụ thành VA – VBA – NVA kèm giải thích và hướng khắc phục.</a:t>
            </a:r>
            <a:endParaRPr lang="en-US" sz="1000" dirty="0"/>
          </a:p>
        </p:txBody>
      </p:sp>
      <p:sp>
        <p:nvSpPr>
          <p:cNvPr id="11" name="Text 9"/>
          <p:cNvSpPr txBox="1"/>
          <p:nvPr/>
        </p:nvSpPr>
        <p:spPr>
          <a:xfrm>
            <a:off x="786384" y="2871216"/>
            <a:ext cx="4998568" cy="256032"/>
          </a:xfrm>
          <a:prstGeom prst="rect">
            <a:avLst/>
          </a:prstGeom>
          <a:noFill/>
          <a:ln/>
        </p:spPr>
        <p:txBody>
          <a:bodyPr wrap="square" lIns="0" tIns="0" rIns="0" bIns="0" rtlCol="0" anchor="t"/>
          <a:lstStyle/>
          <a:p>
            <a:pPr marL="0" indent="0">
              <a:buNone/>
            </a:pPr>
            <a:r>
              <a:rPr lang="en-US" sz="1150" b="1" dirty="0">
                <a:solidFill>
                  <a:srgbClr val="1660BF"/>
                </a:solidFill>
                <a:latin typeface="Calibri" pitchFamily="34" charset="0"/>
                <a:ea typeface="Calibri" pitchFamily="34" charset="-122"/>
                <a:cs typeface="Calibri" pitchFamily="34" charset="-120"/>
              </a:rPr>
              <a:t>▪  Sự lãng phí   —   Waste Analysis</a:t>
            </a:r>
            <a:endParaRPr lang="en-US" sz="1150" dirty="0"/>
          </a:p>
        </p:txBody>
      </p:sp>
      <p:sp>
        <p:nvSpPr>
          <p:cNvPr id="12" name="Text 10"/>
          <p:cNvSpPr txBox="1"/>
          <p:nvPr/>
        </p:nvSpPr>
        <p:spPr>
          <a:xfrm>
            <a:off x="1005840" y="3127248"/>
            <a:ext cx="4769968" cy="457200"/>
          </a:xfrm>
          <a:prstGeom prst="rect">
            <a:avLst/>
          </a:prstGeom>
          <a:noFill/>
          <a:ln/>
        </p:spPr>
        <p:txBody>
          <a:bodyPr wrap="square" lIns="0" tIns="0" rIns="0" bIns="0" rtlCol="0" anchor="t"/>
          <a:lstStyle/>
          <a:p>
            <a:pPr marL="0" indent="0">
              <a:buNone/>
            </a:pPr>
            <a:r>
              <a:rPr lang="en-US" sz="1000" dirty="0">
                <a:solidFill>
                  <a:srgbClr val="6E7A88"/>
                </a:solidFill>
                <a:latin typeface="Calibri" pitchFamily="34" charset="0"/>
                <a:ea typeface="Calibri" pitchFamily="34" charset="-122"/>
                <a:cs typeface="Calibri" pitchFamily="34" charset="-120"/>
              </a:rPr>
              <a:t>Nhận diện ba dạng Move – Hold – Overdo theo tư duy Lean và vị trí phát sinh.</a:t>
            </a:r>
            <a:endParaRPr lang="en-US" sz="1000" dirty="0"/>
          </a:p>
        </p:txBody>
      </p:sp>
      <p:sp>
        <p:nvSpPr>
          <p:cNvPr id="13" name="Text 11"/>
          <p:cNvSpPr txBox="1"/>
          <p:nvPr/>
        </p:nvSpPr>
        <p:spPr>
          <a:xfrm>
            <a:off x="786384" y="3694176"/>
            <a:ext cx="4998568" cy="256032"/>
          </a:xfrm>
          <a:prstGeom prst="rect">
            <a:avLst/>
          </a:prstGeom>
          <a:noFill/>
          <a:ln/>
        </p:spPr>
        <p:txBody>
          <a:bodyPr wrap="square" lIns="0" tIns="0" rIns="0" bIns="0" rtlCol="0" anchor="t"/>
          <a:lstStyle/>
          <a:p>
            <a:pPr marL="0" indent="0">
              <a:buNone/>
            </a:pPr>
            <a:r>
              <a:rPr lang="en-US" sz="1150" b="1" dirty="0">
                <a:solidFill>
                  <a:srgbClr val="1660BF"/>
                </a:solidFill>
                <a:latin typeface="Calibri" pitchFamily="34" charset="0"/>
                <a:ea typeface="Calibri" pitchFamily="34" charset="-122"/>
                <a:cs typeface="Calibri" pitchFamily="34" charset="-120"/>
              </a:rPr>
              <a:t>▪  Nguyên nhân gốc rễ   —   Fishbone / Pareto</a:t>
            </a:r>
            <a:endParaRPr lang="en-US" sz="1150" dirty="0"/>
          </a:p>
        </p:txBody>
      </p:sp>
      <p:sp>
        <p:nvSpPr>
          <p:cNvPr id="14" name="Text 12"/>
          <p:cNvSpPr txBox="1"/>
          <p:nvPr/>
        </p:nvSpPr>
        <p:spPr>
          <a:xfrm>
            <a:off x="1005840" y="3950208"/>
            <a:ext cx="4769968" cy="457200"/>
          </a:xfrm>
          <a:prstGeom prst="rect">
            <a:avLst/>
          </a:prstGeom>
          <a:noFill/>
          <a:ln/>
        </p:spPr>
        <p:txBody>
          <a:bodyPr wrap="square" lIns="0" tIns="0" rIns="0" bIns="0" rtlCol="0" anchor="t"/>
          <a:lstStyle/>
          <a:p>
            <a:pPr marL="0" indent="0">
              <a:buNone/>
            </a:pPr>
            <a:r>
              <a:rPr lang="en-US" sz="1000" dirty="0">
                <a:solidFill>
                  <a:srgbClr val="6E7A88"/>
                </a:solidFill>
                <a:latin typeface="Calibri" pitchFamily="34" charset="0"/>
                <a:ea typeface="Calibri" pitchFamily="34" charset="-122"/>
                <a:cs typeface="Calibri" pitchFamily="34" charset="-120"/>
              </a:rPr>
              <a:t>Bốn nhóm nhân tố Con người – Quy trình – Hệ thống – Đo lường; xác định nhóm chi phối theo 80/20.</a:t>
            </a:r>
            <a:endParaRPr lang="en-US" sz="1000" dirty="0"/>
          </a:p>
        </p:txBody>
      </p:sp>
      <p:sp>
        <p:nvSpPr>
          <p:cNvPr id="15" name="Shape 13"/>
          <p:cNvSpPr/>
          <p:nvPr/>
        </p:nvSpPr>
        <p:spPr>
          <a:xfrm>
            <a:off x="6233008" y="1463040"/>
            <a:ext cx="5410048" cy="3200400"/>
          </a:xfrm>
          <a:prstGeom prst="roundRect">
            <a:avLst>
              <a:gd name="adj" fmla="val 1714"/>
            </a:avLst>
          </a:prstGeom>
          <a:solidFill>
            <a:srgbClr val="EFF4FB"/>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16" name="Text 14"/>
          <p:cNvSpPr txBox="1"/>
          <p:nvPr/>
        </p:nvSpPr>
        <p:spPr>
          <a:xfrm>
            <a:off x="6470752" y="1645920"/>
            <a:ext cx="4572000" cy="274320"/>
          </a:xfrm>
          <a:prstGeom prst="rect">
            <a:avLst/>
          </a:prstGeom>
          <a:noFill/>
          <a:ln/>
        </p:spPr>
        <p:txBody>
          <a:bodyPr wrap="square" lIns="0" tIns="0" rIns="0" bIns="0" rtlCol="0" anchor="t"/>
          <a:lstStyle/>
          <a:p>
            <a:pPr marL="0" indent="0">
              <a:buNone/>
            </a:pPr>
            <a:r>
              <a:rPr lang="en-US" sz="1400" b="1" dirty="0">
                <a:solidFill>
                  <a:srgbClr val="0B3B75"/>
                </a:solidFill>
                <a:latin typeface="Calibri" pitchFamily="34" charset="0"/>
                <a:ea typeface="Calibri" pitchFamily="34" charset="-122"/>
                <a:cs typeface="Calibri" pitchFamily="34" charset="-120"/>
              </a:rPr>
              <a:t>PHÂN TÍCH ĐỊNH LƯỢNG</a:t>
            </a:r>
            <a:endParaRPr lang="en-US" sz="1400" dirty="0"/>
          </a:p>
        </p:txBody>
      </p:sp>
      <p:sp>
        <p:nvSpPr>
          <p:cNvPr id="17" name="Text 15"/>
          <p:cNvSpPr txBox="1"/>
          <p:nvPr/>
        </p:nvSpPr>
        <p:spPr>
          <a:xfrm>
            <a:off x="6470752" y="2048256"/>
            <a:ext cx="4998568" cy="256032"/>
          </a:xfrm>
          <a:prstGeom prst="rect">
            <a:avLst/>
          </a:prstGeom>
          <a:noFill/>
          <a:ln/>
        </p:spPr>
        <p:txBody>
          <a:bodyPr wrap="square" lIns="0" tIns="0" rIns="0" bIns="0" rtlCol="0" anchor="t"/>
          <a:lstStyle/>
          <a:p>
            <a:pPr marL="0" indent="0">
              <a:buNone/>
            </a:pPr>
            <a:r>
              <a:rPr lang="en-US" sz="1150" b="1" dirty="0">
                <a:solidFill>
                  <a:srgbClr val="1660BF"/>
                </a:solidFill>
                <a:latin typeface="Calibri" pitchFamily="34" charset="0"/>
                <a:ea typeface="Calibri" pitchFamily="34" charset="-122"/>
                <a:cs typeface="Calibri" pitchFamily="34" charset="-120"/>
              </a:rPr>
              <a:t>▪  Thời gian   —   Time</a:t>
            </a:r>
            <a:endParaRPr lang="en-US" sz="1150" dirty="0"/>
          </a:p>
        </p:txBody>
      </p:sp>
      <p:sp>
        <p:nvSpPr>
          <p:cNvPr id="18" name="Text 16"/>
          <p:cNvSpPr txBox="1"/>
          <p:nvPr/>
        </p:nvSpPr>
        <p:spPr>
          <a:xfrm>
            <a:off x="6690208" y="2304288"/>
            <a:ext cx="4769968" cy="457200"/>
          </a:xfrm>
          <a:prstGeom prst="rect">
            <a:avLst/>
          </a:prstGeom>
          <a:noFill/>
          <a:ln/>
        </p:spPr>
        <p:txBody>
          <a:bodyPr wrap="square" lIns="0" tIns="0" rIns="0" bIns="0" rtlCol="0" anchor="t"/>
          <a:lstStyle/>
          <a:p>
            <a:pPr marL="0" indent="0">
              <a:buNone/>
            </a:pPr>
            <a:r>
              <a:rPr lang="en-US" sz="1000" dirty="0">
                <a:solidFill>
                  <a:srgbClr val="6E7A88"/>
                </a:solidFill>
                <a:latin typeface="Calibri" pitchFamily="34" charset="0"/>
                <a:ea typeface="Calibri" pitchFamily="34" charset="-122"/>
                <a:cs typeface="Calibri" pitchFamily="34" charset="-120"/>
              </a:rPr>
              <a:t>Processing Time, Wait Time và Lead Time; tính thời gian kỳ vọng qua từng khối gateway.</a:t>
            </a:r>
            <a:endParaRPr lang="en-US" sz="1000" dirty="0"/>
          </a:p>
        </p:txBody>
      </p:sp>
      <p:sp>
        <p:nvSpPr>
          <p:cNvPr id="19" name="Text 17"/>
          <p:cNvSpPr txBox="1"/>
          <p:nvPr/>
        </p:nvSpPr>
        <p:spPr>
          <a:xfrm>
            <a:off x="6470752" y="2871216"/>
            <a:ext cx="4998568" cy="256032"/>
          </a:xfrm>
          <a:prstGeom prst="rect">
            <a:avLst/>
          </a:prstGeom>
          <a:noFill/>
          <a:ln/>
        </p:spPr>
        <p:txBody>
          <a:bodyPr wrap="square" lIns="0" tIns="0" rIns="0" bIns="0" rtlCol="0" anchor="t"/>
          <a:lstStyle/>
          <a:p>
            <a:pPr marL="0" indent="0">
              <a:buNone/>
            </a:pPr>
            <a:r>
              <a:rPr lang="en-US" sz="1150" b="1" dirty="0">
                <a:solidFill>
                  <a:srgbClr val="1660BF"/>
                </a:solidFill>
                <a:latin typeface="Calibri" pitchFamily="34" charset="0"/>
                <a:ea typeface="Calibri" pitchFamily="34" charset="-122"/>
                <a:cs typeface="Calibri" pitchFamily="34" charset="-120"/>
              </a:rPr>
              <a:t>▪  Chất lượng   —   Quality</a:t>
            </a:r>
            <a:endParaRPr lang="en-US" sz="1150" dirty="0"/>
          </a:p>
        </p:txBody>
      </p:sp>
      <p:sp>
        <p:nvSpPr>
          <p:cNvPr id="20" name="Text 18"/>
          <p:cNvSpPr txBox="1"/>
          <p:nvPr/>
        </p:nvSpPr>
        <p:spPr>
          <a:xfrm>
            <a:off x="6690208" y="3127248"/>
            <a:ext cx="4769968" cy="457200"/>
          </a:xfrm>
          <a:prstGeom prst="rect">
            <a:avLst/>
          </a:prstGeom>
          <a:noFill/>
          <a:ln/>
        </p:spPr>
        <p:txBody>
          <a:bodyPr wrap="square" lIns="0" tIns="0" rIns="0" bIns="0" rtlCol="0" anchor="t"/>
          <a:lstStyle/>
          <a:p>
            <a:pPr marL="0" indent="0">
              <a:buNone/>
            </a:pPr>
            <a:r>
              <a:rPr lang="en-US" sz="1000" dirty="0">
                <a:solidFill>
                  <a:srgbClr val="6E7A88"/>
                </a:solidFill>
                <a:latin typeface="Calibri" pitchFamily="34" charset="0"/>
                <a:ea typeface="Calibri" pitchFamily="34" charset="-122"/>
                <a:cs typeface="Calibri" pitchFamily="34" charset="-120"/>
              </a:rPr>
              <a:t>Tỷ lệ quá hạn SLA và tỷ lệ làm lại (rework) của phiếu PYC.</a:t>
            </a:r>
            <a:endParaRPr lang="en-US" sz="1000" dirty="0"/>
          </a:p>
        </p:txBody>
      </p:sp>
      <p:sp>
        <p:nvSpPr>
          <p:cNvPr id="21" name="Text 19"/>
          <p:cNvSpPr txBox="1"/>
          <p:nvPr/>
        </p:nvSpPr>
        <p:spPr>
          <a:xfrm>
            <a:off x="6470752" y="3694176"/>
            <a:ext cx="4998568" cy="256032"/>
          </a:xfrm>
          <a:prstGeom prst="rect">
            <a:avLst/>
          </a:prstGeom>
          <a:noFill/>
          <a:ln/>
        </p:spPr>
        <p:txBody>
          <a:bodyPr wrap="square" lIns="0" tIns="0" rIns="0" bIns="0" rtlCol="0" anchor="t"/>
          <a:lstStyle/>
          <a:p>
            <a:pPr marL="0" indent="0">
              <a:buNone/>
            </a:pPr>
            <a:r>
              <a:rPr lang="en-US" sz="1150" b="1" dirty="0">
                <a:solidFill>
                  <a:srgbClr val="1660BF"/>
                </a:solidFill>
                <a:latin typeface="Calibri" pitchFamily="34" charset="0"/>
                <a:ea typeface="Calibri" pitchFamily="34" charset="-122"/>
                <a:cs typeface="Calibri" pitchFamily="34" charset="-120"/>
              </a:rPr>
              <a:t>▪  Chi phí lãng phí   —   Cost</a:t>
            </a:r>
            <a:endParaRPr lang="en-US" sz="1150" dirty="0"/>
          </a:p>
        </p:txBody>
      </p:sp>
      <p:sp>
        <p:nvSpPr>
          <p:cNvPr id="22" name="Text 20"/>
          <p:cNvSpPr txBox="1"/>
          <p:nvPr/>
        </p:nvSpPr>
        <p:spPr>
          <a:xfrm>
            <a:off x="6690208" y="3950208"/>
            <a:ext cx="4769968" cy="457200"/>
          </a:xfrm>
          <a:prstGeom prst="rect">
            <a:avLst/>
          </a:prstGeom>
          <a:noFill/>
          <a:ln/>
        </p:spPr>
        <p:txBody>
          <a:bodyPr wrap="square" lIns="0" tIns="0" rIns="0" bIns="0" rtlCol="0" anchor="t"/>
          <a:lstStyle/>
          <a:p>
            <a:pPr marL="0" indent="0">
              <a:buNone/>
            </a:pPr>
            <a:r>
              <a:rPr lang="en-US" sz="1000" dirty="0">
                <a:solidFill>
                  <a:srgbClr val="6E7A88"/>
                </a:solidFill>
                <a:latin typeface="Calibri" pitchFamily="34" charset="0"/>
                <a:ea typeface="Calibri" pitchFamily="34" charset="-122"/>
                <a:cs typeface="Calibri" pitchFamily="34" charset="-120"/>
              </a:rPr>
              <a:t>Chi phí do các hoạt động không tạo giá trị: nhập sai danh mục, xác minh lại thông tin thủ công.</a:t>
            </a:r>
            <a:endParaRPr lang="en-US" sz="1000" dirty="0"/>
          </a:p>
        </p:txBody>
      </p:sp>
      <p:sp>
        <p:nvSpPr>
          <p:cNvPr id="23" name="Shape 21"/>
          <p:cNvSpPr/>
          <p:nvPr/>
        </p:nvSpPr>
        <p:spPr>
          <a:xfrm>
            <a:off x="548640" y="4828032"/>
            <a:ext cx="11094415" cy="822960"/>
          </a:xfrm>
          <a:prstGeom prst="roundRect">
            <a:avLst>
              <a:gd name="adj" fmla="val 6667"/>
            </a:avLst>
          </a:prstGeom>
          <a:solidFill>
            <a:srgbClr val="FFFFFF"/>
          </a:solidFill>
          <a:ln w="9525">
            <a:solidFill>
              <a:srgbClr val="1660BF"/>
            </a:solidFill>
            <a:prstDash val="solid"/>
          </a:ln>
          <a:effectLst>
            <a:outerShdw blurRad="101600" dist="19050" dir="5400000" algn="bl" rotWithShape="0">
              <a:srgbClr val="9AAFC6">
                <a:alpha val="16000"/>
              </a:srgbClr>
            </a:outerShdw>
          </a:effectLst>
        </p:spPr>
        <p:txBody>
          <a:bodyPr/>
          <a:lstStyle/>
          <a:p>
            <a:endParaRPr lang="en-US"/>
          </a:p>
        </p:txBody>
      </p:sp>
      <p:sp>
        <p:nvSpPr>
          <p:cNvPr id="24" name="Text 22"/>
          <p:cNvSpPr txBox="1"/>
          <p:nvPr/>
        </p:nvSpPr>
        <p:spPr>
          <a:xfrm>
            <a:off x="768096" y="4974336"/>
            <a:ext cx="10655503" cy="548640"/>
          </a:xfrm>
          <a:prstGeom prst="rect">
            <a:avLst/>
          </a:prstGeom>
          <a:noFill/>
          <a:ln/>
        </p:spPr>
        <p:txBody>
          <a:bodyPr wrap="square" lIns="0" tIns="0" rIns="0" bIns="0" rtlCol="0" anchor="t"/>
          <a:lstStyle/>
          <a:p>
            <a:pPr marL="0" indent="0">
              <a:buNone/>
            </a:pPr>
            <a:r>
              <a:rPr lang="en-US" sz="1100" dirty="0">
                <a:solidFill>
                  <a:srgbClr val="2A3442"/>
                </a:solidFill>
                <a:latin typeface="Calibri" pitchFamily="34" charset="0"/>
                <a:ea typeface="Calibri" pitchFamily="34" charset="-122"/>
                <a:cs typeface="Calibri" pitchFamily="34" charset="-120"/>
              </a:rPr>
              <a:t>Dữ liệu phân tích khai thác từ nguồn bằng chứng và thông tin thu thập trong Process Discovery ở Chương 2. Trường hợp chưa có số liệu vận hành đầy đủ, giá trị được ước lượng theo cấu trúc luồng của mô hình BPMN.</a:t>
            </a:r>
            <a:endParaRPr lang="en-US" sz="11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65760"/>
            <a:ext cx="123444" cy="123444"/>
          </a:xfrm>
          <a:prstGeom prst="ellipse">
            <a:avLst/>
          </a:prstGeom>
          <a:solidFill>
            <a:srgbClr val="D9A227"/>
          </a:solidFill>
          <a:ln w="12700">
            <a:solidFill>
              <a:srgbClr val="D9A227"/>
            </a:solidFill>
            <a:prstDash val="solid"/>
          </a:ln>
        </p:spPr>
        <p:txBody>
          <a:bodyPr/>
          <a:lstStyle/>
          <a:p>
            <a:endParaRPr lang="en-US"/>
          </a:p>
        </p:txBody>
      </p:sp>
      <p:sp>
        <p:nvSpPr>
          <p:cNvPr id="3" name="Text 1"/>
          <p:cNvSpPr txBox="1"/>
          <p:nvPr/>
        </p:nvSpPr>
        <p:spPr>
          <a:xfrm>
            <a:off x="804672" y="292608"/>
            <a:ext cx="10838383" cy="237744"/>
          </a:xfrm>
          <a:prstGeom prst="rect">
            <a:avLst/>
          </a:prstGeom>
          <a:noFill/>
          <a:ln/>
        </p:spPr>
        <p:txBody>
          <a:bodyPr wrap="square" lIns="0" tIns="0" rIns="0" bIns="0" rtlCol="0" anchor="t"/>
          <a:lstStyle/>
          <a:p>
            <a:pPr marL="0" indent="0">
              <a:buNone/>
            </a:pPr>
            <a:r>
              <a:rPr lang="en-US" sz="1050" b="1" kern="0" spc="120" dirty="0">
                <a:solidFill>
                  <a:srgbClr val="A5741A"/>
                </a:solidFill>
                <a:latin typeface="Calibri" pitchFamily="34" charset="0"/>
                <a:ea typeface="Calibri" pitchFamily="34" charset="-122"/>
                <a:cs typeface="Calibri" pitchFamily="34" charset="-120"/>
              </a:rPr>
              <a:t>CHƯƠNG 4 · 4.1.1 PHÂN TÍCH ĐỊNH TÍNH</a:t>
            </a:r>
            <a:endParaRPr lang="en-US" sz="1050" dirty="0"/>
          </a:p>
        </p:txBody>
      </p:sp>
      <p:sp>
        <p:nvSpPr>
          <p:cNvPr id="4" name="Text 2"/>
          <p:cNvSpPr txBox="1"/>
          <p:nvPr/>
        </p:nvSpPr>
        <p:spPr>
          <a:xfrm>
            <a:off x="548640" y="566928"/>
            <a:ext cx="11094415" cy="457200"/>
          </a:xfrm>
          <a:prstGeom prst="rect">
            <a:avLst/>
          </a:prstGeom>
          <a:noFill/>
          <a:ln/>
        </p:spPr>
        <p:txBody>
          <a:bodyPr wrap="square" lIns="0" tIns="0" rIns="0" bIns="0" rtlCol="0" anchor="t"/>
          <a:lstStyle/>
          <a:p>
            <a:pPr marL="0" indent="0">
              <a:buNone/>
            </a:pPr>
            <a:r>
              <a:rPr lang="en-US" sz="2500" b="1" dirty="0">
                <a:solidFill>
                  <a:srgbClr val="0B3B75"/>
                </a:solidFill>
                <a:latin typeface="Calibri" pitchFamily="34" charset="0"/>
                <a:ea typeface="Calibri" pitchFamily="34" charset="-122"/>
                <a:cs typeface="Calibri" pitchFamily="34" charset="-120"/>
              </a:rPr>
              <a:t>PHÂN LOẠI VA – VBA – NVA CỦA QUY TRÌNH PYC  ·  PHẦN 1/2</a:t>
            </a:r>
            <a:endParaRPr lang="en-US" sz="2500" dirty="0"/>
          </a:p>
        </p:txBody>
      </p:sp>
      <p:sp>
        <p:nvSpPr>
          <p:cNvPr id="5" name="Text 3"/>
          <p:cNvSpPr txBox="1"/>
          <p:nvPr/>
        </p:nvSpPr>
        <p:spPr>
          <a:xfrm>
            <a:off x="548640" y="1024128"/>
            <a:ext cx="11094415" cy="274320"/>
          </a:xfrm>
          <a:prstGeom prst="rect">
            <a:avLst/>
          </a:prstGeom>
          <a:noFill/>
          <a:ln/>
        </p:spPr>
        <p:txBody>
          <a:bodyPr wrap="square" lIns="0" tIns="0" rIns="0" bIns="0" rtlCol="0" anchor="t"/>
          <a:lstStyle/>
          <a:p>
            <a:pPr marL="0" indent="0">
              <a:buNone/>
            </a:pPr>
            <a:r>
              <a:rPr lang="en-US" sz="1100" i="1" dirty="0">
                <a:solidFill>
                  <a:srgbClr val="6E7A88"/>
                </a:solidFill>
                <a:latin typeface="Calibri" pitchFamily="34" charset="0"/>
                <a:ea typeface="Calibri" pitchFamily="34" charset="-122"/>
                <a:cs typeface="Calibri" pitchFamily="34" charset="-120"/>
              </a:rPr>
              <a:t>Bảng 14 — Phân loại 23 hoạt động trên mô hình BPMN theo mức độ đóng góp giá trị  ·  STT 01 – 12</a:t>
            </a:r>
            <a:endParaRPr lang="en-US" sz="1100" dirty="0"/>
          </a:p>
        </p:txBody>
      </p:sp>
      <p:sp>
        <p:nvSpPr>
          <p:cNvPr id="6" name="Text 4"/>
          <p:cNvSpPr txBox="1"/>
          <p:nvPr/>
        </p:nvSpPr>
        <p:spPr>
          <a:xfrm>
            <a:off x="548640" y="6419088"/>
            <a:ext cx="8778240" cy="237744"/>
          </a:xfrm>
          <a:prstGeom prst="rect">
            <a:avLst/>
          </a:prstGeom>
          <a:noFill/>
          <a:ln/>
        </p:spPr>
        <p:txBody>
          <a:bodyPr wrap="square" lIns="0" tIns="0" rIns="0" bIns="0" rtlCol="0" anchor="t"/>
          <a:lstStyle/>
          <a:p>
            <a:pPr marL="0" indent="0">
              <a:buNone/>
            </a:pPr>
            <a:r>
              <a:rPr lang="en-US" sz="850" dirty="0">
                <a:solidFill>
                  <a:srgbClr val="6E7A88"/>
                </a:solidFill>
                <a:latin typeface="Calibri" pitchFamily="34" charset="0"/>
                <a:ea typeface="Calibri" pitchFamily="34" charset="-122"/>
                <a:cs typeface="Calibri" pitchFamily="34" charset="-120"/>
              </a:rPr>
              <a:t>HỆ THỐNG QUẢN TRỊ QUY TRÌNH NGHIỆP VỤ  ·  SACOMBANK — QUY TRÌNH PYC</a:t>
            </a:r>
            <a:endParaRPr lang="en-US" sz="850" dirty="0"/>
          </a:p>
        </p:txBody>
      </p:sp>
      <p:sp>
        <p:nvSpPr>
          <p:cNvPr id="7" name="Text 5"/>
          <p:cNvSpPr txBox="1"/>
          <p:nvPr/>
        </p:nvSpPr>
        <p:spPr>
          <a:xfrm>
            <a:off x="11155680" y="6382512"/>
            <a:ext cx="484632" cy="274320"/>
          </a:xfrm>
          <a:prstGeom prst="rect">
            <a:avLst/>
          </a:prstGeom>
          <a:noFill/>
          <a:ln/>
        </p:spPr>
        <p:txBody>
          <a:bodyPr wrap="square" lIns="0" tIns="0" rIns="0" bIns="0" rtlCol="0" anchor="t"/>
          <a:lstStyle/>
          <a:p>
            <a:pPr marL="0" indent="0" algn="r">
              <a:buNone/>
            </a:pPr>
            <a:r>
              <a:rPr lang="en-US" sz="1100" b="1" dirty="0">
                <a:solidFill>
                  <a:srgbClr val="A5741A"/>
                </a:solidFill>
                <a:latin typeface="Calibri" pitchFamily="34" charset="0"/>
                <a:ea typeface="Calibri" pitchFamily="34" charset="-122"/>
                <a:cs typeface="Calibri" pitchFamily="34" charset="-120"/>
              </a:rPr>
              <a:t>31</a:t>
            </a:r>
            <a:endParaRPr lang="en-US" sz="1100" dirty="0"/>
          </a:p>
        </p:txBody>
      </p:sp>
      <p:graphicFrame>
        <p:nvGraphicFramePr>
          <p:cNvPr id="34" name="Table 0"/>
          <p:cNvGraphicFramePr>
            <a:graphicFrameLocks noGrp="1"/>
          </p:cNvGraphicFramePr>
          <p:nvPr>
            <p:extLst>
              <p:ext uri="{D42A27DB-BD31-4B8C-83A1-F6EECF244321}">
                <p14:modId xmlns:p14="http://schemas.microsoft.com/office/powerpoint/2010/main" val="3440843372"/>
              </p:ext>
            </p:extLst>
          </p:nvPr>
        </p:nvGraphicFramePr>
        <p:xfrm>
          <a:off x="548640" y="1517904"/>
          <a:ext cx="11091672" cy="4626859"/>
        </p:xfrm>
        <a:graphic>
          <a:graphicData uri="http://schemas.openxmlformats.org/drawingml/2006/table">
            <a:tbl>
              <a:tblPr/>
              <a:tblGrid>
                <a:gridCol w="59436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1920240">
                  <a:extLst>
                    <a:ext uri="{9D8B030D-6E8A-4147-A177-3AD203B41FA5}">
                      <a16:colId xmlns:a16="http://schemas.microsoft.com/office/drawing/2014/main" val="20002"/>
                    </a:ext>
                  </a:extLst>
                </a:gridCol>
                <a:gridCol w="1005840">
                  <a:extLst>
                    <a:ext uri="{9D8B030D-6E8A-4147-A177-3AD203B41FA5}">
                      <a16:colId xmlns:a16="http://schemas.microsoft.com/office/drawing/2014/main" val="20003"/>
                    </a:ext>
                  </a:extLst>
                </a:gridCol>
                <a:gridCol w="5285232">
                  <a:extLst>
                    <a:ext uri="{9D8B030D-6E8A-4147-A177-3AD203B41FA5}">
                      <a16:colId xmlns:a16="http://schemas.microsoft.com/office/drawing/2014/main" val="20004"/>
                    </a:ext>
                  </a:extLst>
                </a:gridCol>
              </a:tblGrid>
              <a:tr h="599335">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STT</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0B3B75"/>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TÊN TÁC VỤ</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0B3B75"/>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NGƯỜI THỰC HIỆN</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0B3B75"/>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PHÂN LOẠI</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0B3B75"/>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GIẢI THÍCH</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0B3B75"/>
                    </a:solidFill>
                  </a:tcPr>
                </a:tc>
                <a:extLst>
                  <a:ext uri="{0D108BD9-81ED-4DB2-BD59-A6C34878D82A}">
                    <a16:rowId xmlns:a16="http://schemas.microsoft.com/office/drawing/2014/main" val="10000"/>
                  </a:ext>
                </a:extLst>
              </a:tr>
              <a:tr h="335627">
                <a:tc>
                  <a:txBody>
                    <a:bodyPr/>
                    <a:lstStyle/>
                    <a:p>
                      <a:pPr marL="0" indent="0" algn="ctr">
                        <a:buNone/>
                      </a:pPr>
                      <a:r>
                        <a:rPr lang="en-US" sz="900" dirty="0">
                          <a:solidFill>
                            <a:srgbClr val="2A3442"/>
                          </a:solidFill>
                          <a:latin typeface="Calibri" pitchFamily="34" charset="0"/>
                          <a:ea typeface="Calibri" pitchFamily="34" charset="-122"/>
                          <a:cs typeface="Calibri" pitchFamily="34" charset="-120"/>
                        </a:rPr>
                        <a:t>1</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900" dirty="0">
                          <a:solidFill>
                            <a:srgbClr val="2A3442"/>
                          </a:solidFill>
                          <a:latin typeface="Calibri" pitchFamily="34" charset="0"/>
                          <a:ea typeface="Calibri" pitchFamily="34" charset="-122"/>
                          <a:cs typeface="Calibri" pitchFamily="34" charset="-120"/>
                        </a:rPr>
                        <a:t>Tạo và gửi PYC</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900" dirty="0">
                          <a:solidFill>
                            <a:srgbClr val="2A3442"/>
                          </a:solidFill>
                          <a:latin typeface="Calibri" pitchFamily="34" charset="0"/>
                          <a:ea typeface="Calibri" pitchFamily="34" charset="-122"/>
                          <a:cs typeface="Calibri" pitchFamily="34" charset="-120"/>
                        </a:rPr>
                        <a:t>Người dùng (End-User)</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lgn="ctr">
                        <a:buNone/>
                      </a:pPr>
                      <a:r>
                        <a:rPr lang="en-US" sz="900" b="1" dirty="0">
                          <a:solidFill>
                            <a:srgbClr val="0E7A5F"/>
                          </a:solidFill>
                          <a:latin typeface="Calibri" pitchFamily="34" charset="0"/>
                          <a:ea typeface="Calibri" pitchFamily="34" charset="-122"/>
                          <a:cs typeface="Calibri" pitchFamily="34" charset="-120"/>
                        </a:rPr>
                        <a:t>VA</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900" dirty="0">
                          <a:solidFill>
                            <a:srgbClr val="2A3442"/>
                          </a:solidFill>
                          <a:latin typeface="Calibri" pitchFamily="34" charset="0"/>
                          <a:ea typeface="Calibri" pitchFamily="34" charset="-122"/>
                          <a:cs typeface="Calibri" pitchFamily="34" charset="-120"/>
                        </a:rPr>
                        <a:t>Khởi xướng yêu cầu cần thiết để giải quyết nhu cầu công việc của người dùng.</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extLst>
                  <a:ext uri="{0D108BD9-81ED-4DB2-BD59-A6C34878D82A}">
                    <a16:rowId xmlns:a16="http://schemas.microsoft.com/office/drawing/2014/main" val="10001"/>
                  </a:ext>
                </a:extLst>
              </a:tr>
              <a:tr h="335627">
                <a:tc>
                  <a:txBody>
                    <a:bodyPr/>
                    <a:lstStyle/>
                    <a:p>
                      <a:pPr marL="0" indent="0" algn="ctr">
                        <a:buNone/>
                      </a:pPr>
                      <a:r>
                        <a:rPr lang="en-US" sz="900" dirty="0">
                          <a:solidFill>
                            <a:srgbClr val="2A3442"/>
                          </a:solidFill>
                          <a:latin typeface="Calibri" pitchFamily="34" charset="0"/>
                          <a:ea typeface="Calibri" pitchFamily="34" charset="-122"/>
                          <a:cs typeface="Calibri" pitchFamily="34" charset="-120"/>
                        </a:rPr>
                        <a:t>2</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900" dirty="0">
                          <a:solidFill>
                            <a:srgbClr val="2A3442"/>
                          </a:solidFill>
                          <a:latin typeface="Calibri" pitchFamily="34" charset="0"/>
                          <a:ea typeface="Calibri" pitchFamily="34" charset="-122"/>
                          <a:cs typeface="Calibri" pitchFamily="34" charset="-120"/>
                        </a:rPr>
                        <a:t>Bổ sung thông tin</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900" dirty="0">
                          <a:solidFill>
                            <a:srgbClr val="2A3442"/>
                          </a:solidFill>
                          <a:latin typeface="Calibri" pitchFamily="34" charset="0"/>
                          <a:ea typeface="Calibri" pitchFamily="34" charset="-122"/>
                          <a:cs typeface="Calibri" pitchFamily="34" charset="-120"/>
                        </a:rPr>
                        <a:t>Người dùng (End-User)</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lgn="ctr">
                        <a:buNone/>
                      </a:pPr>
                      <a:r>
                        <a:rPr lang="en-US" sz="900" b="1" dirty="0">
                          <a:solidFill>
                            <a:srgbClr val="C0392B"/>
                          </a:solidFill>
                          <a:latin typeface="Calibri" pitchFamily="34" charset="0"/>
                          <a:ea typeface="Calibri" pitchFamily="34" charset="-122"/>
                          <a:cs typeface="Calibri" pitchFamily="34" charset="-120"/>
                        </a:rPr>
                        <a:t>NVA</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900" dirty="0">
                          <a:solidFill>
                            <a:srgbClr val="2A3442"/>
                          </a:solidFill>
                          <a:latin typeface="Calibri" pitchFamily="34" charset="0"/>
                          <a:ea typeface="Calibri" pitchFamily="34" charset="-122"/>
                          <a:cs typeface="Calibri" pitchFamily="34" charset="-120"/>
                        </a:rPr>
                        <a:t>Bước lặp lại (rework) do thông tin ban đầu không đầy đủ, gây lãng phí thời gian chờ đợi.</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extLst>
                  <a:ext uri="{0D108BD9-81ED-4DB2-BD59-A6C34878D82A}">
                    <a16:rowId xmlns:a16="http://schemas.microsoft.com/office/drawing/2014/main" val="10002"/>
                  </a:ext>
                </a:extLst>
              </a:tr>
              <a:tr h="335627">
                <a:tc>
                  <a:txBody>
                    <a:bodyPr/>
                    <a:lstStyle/>
                    <a:p>
                      <a:pPr marL="0" indent="0" algn="ctr">
                        <a:buNone/>
                      </a:pPr>
                      <a:r>
                        <a:rPr lang="en-US" sz="900" dirty="0">
                          <a:solidFill>
                            <a:srgbClr val="2A3442"/>
                          </a:solidFill>
                          <a:latin typeface="Calibri" pitchFamily="34" charset="0"/>
                          <a:ea typeface="Calibri" pitchFamily="34" charset="-122"/>
                          <a:cs typeface="Calibri" pitchFamily="34" charset="-120"/>
                        </a:rPr>
                        <a:t>3</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900" dirty="0">
                          <a:solidFill>
                            <a:srgbClr val="2A3442"/>
                          </a:solidFill>
                          <a:latin typeface="Calibri" pitchFamily="34" charset="0"/>
                          <a:ea typeface="Calibri" pitchFamily="34" charset="-122"/>
                          <a:cs typeface="Calibri" pitchFamily="34" charset="-120"/>
                        </a:rPr>
                        <a:t>Xem xét phê duyệt</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900" dirty="0">
                          <a:solidFill>
                            <a:srgbClr val="2A3442"/>
                          </a:solidFill>
                          <a:latin typeface="Calibri" pitchFamily="34" charset="0"/>
                          <a:ea typeface="Calibri" pitchFamily="34" charset="-122"/>
                          <a:cs typeface="Calibri" pitchFamily="34" charset="-120"/>
                        </a:rPr>
                        <a:t>Quản lý (Manager)</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lgn="ctr">
                        <a:buNone/>
                      </a:pPr>
                      <a:r>
                        <a:rPr lang="en-US" sz="900" b="1" dirty="0">
                          <a:solidFill>
                            <a:srgbClr val="A5741A"/>
                          </a:solidFill>
                          <a:latin typeface="Calibri" pitchFamily="34" charset="0"/>
                          <a:ea typeface="Calibri" pitchFamily="34" charset="-122"/>
                          <a:cs typeface="Calibri" pitchFamily="34" charset="-120"/>
                        </a:rPr>
                        <a:t>VBA</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900" dirty="0">
                          <a:solidFill>
                            <a:srgbClr val="2A3442"/>
                          </a:solidFill>
                          <a:latin typeface="Calibri" pitchFamily="34" charset="0"/>
                          <a:ea typeface="Calibri" pitchFamily="34" charset="-122"/>
                          <a:cs typeface="Calibri" pitchFamily="34" charset="-120"/>
                        </a:rPr>
                        <a:t>Cần cho kiểm soát và tuân thủ chính sách, không trực tiếp giải quyết vấn đề kỹ thuật.</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extLst>
                  <a:ext uri="{0D108BD9-81ED-4DB2-BD59-A6C34878D82A}">
                    <a16:rowId xmlns:a16="http://schemas.microsoft.com/office/drawing/2014/main" val="10003"/>
                  </a:ext>
                </a:extLst>
              </a:tr>
              <a:tr h="335627">
                <a:tc>
                  <a:txBody>
                    <a:bodyPr/>
                    <a:lstStyle/>
                    <a:p>
                      <a:pPr marL="0" indent="0" algn="ctr">
                        <a:buNone/>
                      </a:pPr>
                      <a:r>
                        <a:rPr lang="en-US" sz="900" dirty="0">
                          <a:solidFill>
                            <a:srgbClr val="2A3442"/>
                          </a:solidFill>
                          <a:latin typeface="Calibri" pitchFamily="34" charset="0"/>
                          <a:ea typeface="Calibri" pitchFamily="34" charset="-122"/>
                          <a:cs typeface="Calibri" pitchFamily="34" charset="-120"/>
                        </a:rPr>
                        <a:t>4</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900" dirty="0">
                          <a:solidFill>
                            <a:srgbClr val="2A3442"/>
                          </a:solidFill>
                          <a:latin typeface="Calibri" pitchFamily="34" charset="0"/>
                          <a:ea typeface="Calibri" pitchFamily="34" charset="-122"/>
                          <a:cs typeface="Calibri" pitchFamily="34" charset="-120"/>
                        </a:rPr>
                        <a:t>Tự động tạo WO</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900" dirty="0">
                          <a:solidFill>
                            <a:srgbClr val="2A3442"/>
                          </a:solidFill>
                          <a:latin typeface="Calibri" pitchFamily="34" charset="0"/>
                          <a:ea typeface="Calibri" pitchFamily="34" charset="-122"/>
                          <a:cs typeface="Calibri" pitchFamily="34" charset="-120"/>
                        </a:rPr>
                        <a:t>Hệ thống ITSM</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lgn="ctr">
                        <a:buNone/>
                      </a:pPr>
                      <a:r>
                        <a:rPr lang="en-US" sz="900" b="1" dirty="0">
                          <a:solidFill>
                            <a:srgbClr val="A5741A"/>
                          </a:solidFill>
                          <a:latin typeface="Calibri" pitchFamily="34" charset="0"/>
                          <a:ea typeface="Calibri" pitchFamily="34" charset="-122"/>
                          <a:cs typeface="Calibri" pitchFamily="34" charset="-120"/>
                        </a:rPr>
                        <a:t>VBA</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900" dirty="0">
                          <a:solidFill>
                            <a:srgbClr val="2A3442"/>
                          </a:solidFill>
                          <a:latin typeface="Calibri" pitchFamily="34" charset="0"/>
                          <a:ea typeface="Calibri" pitchFamily="34" charset="-122"/>
                          <a:cs typeface="Calibri" pitchFamily="34" charset="-120"/>
                        </a:rPr>
                        <a:t>Hỗ trợ theo dõi, quản lý công việc; không phải hành động xử lý trực tiếp.</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extLst>
                  <a:ext uri="{0D108BD9-81ED-4DB2-BD59-A6C34878D82A}">
                    <a16:rowId xmlns:a16="http://schemas.microsoft.com/office/drawing/2014/main" val="10004"/>
                  </a:ext>
                </a:extLst>
              </a:tr>
              <a:tr h="335627">
                <a:tc>
                  <a:txBody>
                    <a:bodyPr/>
                    <a:lstStyle/>
                    <a:p>
                      <a:pPr marL="0" indent="0" algn="ctr">
                        <a:buNone/>
                      </a:pPr>
                      <a:r>
                        <a:rPr lang="en-US" sz="900" dirty="0">
                          <a:solidFill>
                            <a:srgbClr val="2A3442"/>
                          </a:solidFill>
                          <a:latin typeface="Calibri" pitchFamily="34" charset="0"/>
                          <a:ea typeface="Calibri" pitchFamily="34" charset="-122"/>
                          <a:cs typeface="Calibri" pitchFamily="34" charset="-120"/>
                        </a:rPr>
                        <a:t>5</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900" dirty="0">
                          <a:solidFill>
                            <a:srgbClr val="2A3442"/>
                          </a:solidFill>
                          <a:latin typeface="Calibri" pitchFamily="34" charset="0"/>
                          <a:ea typeface="Calibri" pitchFamily="34" charset="-122"/>
                          <a:cs typeface="Calibri" pitchFamily="34" charset="-120"/>
                        </a:rPr>
                        <a:t>Tiếp nhận &amp; Phân loại</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900" dirty="0">
                          <a:solidFill>
                            <a:srgbClr val="2A3442"/>
                          </a:solidFill>
                          <a:latin typeface="Calibri" pitchFamily="34" charset="0"/>
                          <a:ea typeface="Calibri" pitchFamily="34" charset="-122"/>
                          <a:cs typeface="Calibri" pitchFamily="34" charset="-120"/>
                        </a:rPr>
                        <a:t>Service Desk L1</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lgn="ctr">
                        <a:buNone/>
                      </a:pPr>
                      <a:r>
                        <a:rPr lang="en-US" sz="900" b="1" dirty="0">
                          <a:solidFill>
                            <a:srgbClr val="A5741A"/>
                          </a:solidFill>
                          <a:latin typeface="Calibri" pitchFamily="34" charset="0"/>
                          <a:ea typeface="Calibri" pitchFamily="34" charset="-122"/>
                          <a:cs typeface="Calibri" pitchFamily="34" charset="-120"/>
                        </a:rPr>
                        <a:t>VBA</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900" dirty="0">
                          <a:solidFill>
                            <a:srgbClr val="2A3442"/>
                          </a:solidFill>
                          <a:latin typeface="Calibri" pitchFamily="34" charset="0"/>
                          <a:ea typeface="Calibri" pitchFamily="34" charset="-122"/>
                          <a:cs typeface="Calibri" pitchFamily="34" charset="-120"/>
                        </a:rPr>
                        <a:t>Bước đệm cần thiết để chuyển yêu cầu đến đúng chuyên môn.</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extLst>
                  <a:ext uri="{0D108BD9-81ED-4DB2-BD59-A6C34878D82A}">
                    <a16:rowId xmlns:a16="http://schemas.microsoft.com/office/drawing/2014/main" val="10005"/>
                  </a:ext>
                </a:extLst>
              </a:tr>
              <a:tr h="335627">
                <a:tc>
                  <a:txBody>
                    <a:bodyPr/>
                    <a:lstStyle/>
                    <a:p>
                      <a:pPr marL="0" indent="0" algn="ctr">
                        <a:buNone/>
                      </a:pPr>
                      <a:r>
                        <a:rPr lang="en-US" sz="900" dirty="0">
                          <a:solidFill>
                            <a:srgbClr val="2A3442"/>
                          </a:solidFill>
                          <a:latin typeface="Calibri" pitchFamily="34" charset="0"/>
                          <a:ea typeface="Calibri" pitchFamily="34" charset="-122"/>
                          <a:cs typeface="Calibri" pitchFamily="34" charset="-120"/>
                        </a:rPr>
                        <a:t>6</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900" dirty="0">
                          <a:solidFill>
                            <a:srgbClr val="2A3442"/>
                          </a:solidFill>
                          <a:latin typeface="Calibri" pitchFamily="34" charset="0"/>
                          <a:ea typeface="Calibri" pitchFamily="34" charset="-122"/>
                          <a:cs typeface="Calibri" pitchFamily="34" charset="-120"/>
                        </a:rPr>
                        <a:t>Cấu hình cấp quyền</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900" dirty="0">
                          <a:solidFill>
                            <a:srgbClr val="2A3442"/>
                          </a:solidFill>
                          <a:latin typeface="Calibri" pitchFamily="34" charset="0"/>
                          <a:ea typeface="Calibri" pitchFamily="34" charset="-122"/>
                          <a:cs typeface="Calibri" pitchFamily="34" charset="-120"/>
                        </a:rPr>
                        <a:t>Service Desk L1</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lgn="ctr">
                        <a:buNone/>
                      </a:pPr>
                      <a:r>
                        <a:rPr lang="en-US" sz="900" b="1" dirty="0">
                          <a:solidFill>
                            <a:srgbClr val="0E7A5F"/>
                          </a:solidFill>
                          <a:latin typeface="Calibri" pitchFamily="34" charset="0"/>
                          <a:ea typeface="Calibri" pitchFamily="34" charset="-122"/>
                          <a:cs typeface="Calibri" pitchFamily="34" charset="-120"/>
                        </a:rPr>
                        <a:t>VA</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900" dirty="0">
                          <a:solidFill>
                            <a:srgbClr val="2A3442"/>
                          </a:solidFill>
                          <a:latin typeface="Calibri" pitchFamily="34" charset="0"/>
                          <a:ea typeface="Calibri" pitchFamily="34" charset="-122"/>
                          <a:cs typeface="Calibri" pitchFamily="34" charset="-120"/>
                        </a:rPr>
                        <a:t>Hành động trực tiếp giải quyết yêu cầu, mang lại giá trị cuối cùng cho người dùng.</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extLst>
                  <a:ext uri="{0D108BD9-81ED-4DB2-BD59-A6C34878D82A}">
                    <a16:rowId xmlns:a16="http://schemas.microsoft.com/office/drawing/2014/main" val="10006"/>
                  </a:ext>
                </a:extLst>
              </a:tr>
              <a:tr h="335627">
                <a:tc>
                  <a:txBody>
                    <a:bodyPr/>
                    <a:lstStyle/>
                    <a:p>
                      <a:pPr marL="0" indent="0" algn="ctr">
                        <a:buNone/>
                      </a:pPr>
                      <a:r>
                        <a:rPr lang="en-US" sz="900" dirty="0">
                          <a:solidFill>
                            <a:srgbClr val="2A3442"/>
                          </a:solidFill>
                          <a:latin typeface="Calibri" pitchFamily="34" charset="0"/>
                          <a:ea typeface="Calibri" pitchFamily="34" charset="-122"/>
                          <a:cs typeface="Calibri" pitchFamily="34" charset="-120"/>
                        </a:rPr>
                        <a:t>7</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900" dirty="0">
                          <a:solidFill>
                            <a:srgbClr val="2A3442"/>
                          </a:solidFill>
                          <a:latin typeface="Calibri" pitchFamily="34" charset="0"/>
                          <a:ea typeface="Calibri" pitchFamily="34" charset="-122"/>
                          <a:cs typeface="Calibri" pitchFamily="34" charset="-120"/>
                        </a:rPr>
                        <a:t>Ghi log bảo mật</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900" dirty="0">
                          <a:solidFill>
                            <a:srgbClr val="2A3442"/>
                          </a:solidFill>
                          <a:latin typeface="Calibri" pitchFamily="34" charset="0"/>
                          <a:ea typeface="Calibri" pitchFamily="34" charset="-122"/>
                          <a:cs typeface="Calibri" pitchFamily="34" charset="-120"/>
                        </a:rPr>
                        <a:t>Service Desk L1</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lgn="ctr">
                        <a:buNone/>
                      </a:pPr>
                      <a:r>
                        <a:rPr lang="en-US" sz="900" b="1" dirty="0">
                          <a:solidFill>
                            <a:srgbClr val="A5741A"/>
                          </a:solidFill>
                          <a:latin typeface="Calibri" pitchFamily="34" charset="0"/>
                          <a:ea typeface="Calibri" pitchFamily="34" charset="-122"/>
                          <a:cs typeface="Calibri" pitchFamily="34" charset="-120"/>
                        </a:rPr>
                        <a:t>VBA</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900" dirty="0">
                          <a:solidFill>
                            <a:srgbClr val="2A3442"/>
                          </a:solidFill>
                          <a:latin typeface="Calibri" pitchFamily="34" charset="0"/>
                          <a:ea typeface="Calibri" pitchFamily="34" charset="-122"/>
                          <a:cs typeface="Calibri" pitchFamily="34" charset="-120"/>
                        </a:rPr>
                        <a:t>Bắt buộc tuân thủ an toàn thông tin ngân hàng; bảo vệ tổ chức, không tăng giá trị trực tiếp.</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extLst>
                  <a:ext uri="{0D108BD9-81ED-4DB2-BD59-A6C34878D82A}">
                    <a16:rowId xmlns:a16="http://schemas.microsoft.com/office/drawing/2014/main" val="10007"/>
                  </a:ext>
                </a:extLst>
              </a:tr>
              <a:tr h="335627">
                <a:tc>
                  <a:txBody>
                    <a:bodyPr/>
                    <a:lstStyle/>
                    <a:p>
                      <a:pPr marL="0" indent="0" algn="ctr">
                        <a:buNone/>
                      </a:pPr>
                      <a:r>
                        <a:rPr lang="en-US" sz="900" dirty="0">
                          <a:solidFill>
                            <a:srgbClr val="2A3442"/>
                          </a:solidFill>
                          <a:latin typeface="Calibri" pitchFamily="34" charset="0"/>
                          <a:ea typeface="Calibri" pitchFamily="34" charset="-122"/>
                          <a:cs typeface="Calibri" pitchFamily="34" charset="-120"/>
                        </a:rPr>
                        <a:t>8</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900" dirty="0">
                          <a:solidFill>
                            <a:srgbClr val="2A3442"/>
                          </a:solidFill>
                          <a:latin typeface="Calibri" pitchFamily="34" charset="0"/>
                          <a:ea typeface="Calibri" pitchFamily="34" charset="-122"/>
                          <a:cs typeface="Calibri" pitchFamily="34" charset="-120"/>
                        </a:rPr>
                        <a:t>Đăng nhập vào hệ thống ITSM</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900" dirty="0">
                          <a:solidFill>
                            <a:srgbClr val="2A3442"/>
                          </a:solidFill>
                          <a:latin typeface="Calibri" pitchFamily="34" charset="0"/>
                          <a:ea typeface="Calibri" pitchFamily="34" charset="-122"/>
                          <a:cs typeface="Calibri" pitchFamily="34" charset="-120"/>
                        </a:rPr>
                        <a:t>Người dùng (End-User)</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lgn="ctr">
                        <a:buNone/>
                      </a:pPr>
                      <a:r>
                        <a:rPr lang="en-US" sz="900" b="1" dirty="0">
                          <a:solidFill>
                            <a:srgbClr val="A5741A"/>
                          </a:solidFill>
                          <a:latin typeface="Calibri" pitchFamily="34" charset="0"/>
                          <a:ea typeface="Calibri" pitchFamily="34" charset="-122"/>
                          <a:cs typeface="Calibri" pitchFamily="34" charset="-120"/>
                        </a:rPr>
                        <a:t>VBA</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900" dirty="0">
                          <a:solidFill>
                            <a:srgbClr val="2A3442"/>
                          </a:solidFill>
                          <a:latin typeface="Calibri" pitchFamily="34" charset="0"/>
                          <a:ea typeface="Calibri" pitchFamily="34" charset="-122"/>
                          <a:cs typeface="Calibri" pitchFamily="34" charset="-120"/>
                        </a:rPr>
                        <a:t>Xác thực bằng tài khoản Active Directory để kiểm soát truy cập cổng dịch vụ.</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extLst>
                  <a:ext uri="{0D108BD9-81ED-4DB2-BD59-A6C34878D82A}">
                    <a16:rowId xmlns:a16="http://schemas.microsoft.com/office/drawing/2014/main" val="10008"/>
                  </a:ext>
                </a:extLst>
              </a:tr>
              <a:tr h="335627">
                <a:tc>
                  <a:txBody>
                    <a:bodyPr/>
                    <a:lstStyle/>
                    <a:p>
                      <a:pPr marL="0" indent="0" algn="ctr">
                        <a:buNone/>
                      </a:pPr>
                      <a:r>
                        <a:rPr lang="en-US" sz="900" dirty="0">
                          <a:solidFill>
                            <a:srgbClr val="2A3442"/>
                          </a:solidFill>
                          <a:latin typeface="Calibri" pitchFamily="34" charset="0"/>
                          <a:ea typeface="Calibri" pitchFamily="34" charset="-122"/>
                          <a:cs typeface="Calibri" pitchFamily="34" charset="-120"/>
                        </a:rPr>
                        <a:t>9</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900" dirty="0">
                          <a:solidFill>
                            <a:srgbClr val="2A3442"/>
                          </a:solidFill>
                          <a:latin typeface="Calibri" pitchFamily="34" charset="0"/>
                          <a:ea typeface="Calibri" pitchFamily="34" charset="-122"/>
                          <a:cs typeface="Calibri" pitchFamily="34" charset="-120"/>
                        </a:rPr>
                        <a:t>Lựa chọn dịch vụ cần hỗ trợ</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900" dirty="0">
                          <a:solidFill>
                            <a:srgbClr val="2A3442"/>
                          </a:solidFill>
                          <a:latin typeface="Calibri" pitchFamily="34" charset="0"/>
                          <a:ea typeface="Calibri" pitchFamily="34" charset="-122"/>
                          <a:cs typeface="Calibri" pitchFamily="34" charset="-120"/>
                        </a:rPr>
                        <a:t>Người dùng (End-User)</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lgn="ctr">
                        <a:buNone/>
                      </a:pPr>
                      <a:r>
                        <a:rPr lang="en-US" sz="900" b="1" dirty="0">
                          <a:solidFill>
                            <a:srgbClr val="A5741A"/>
                          </a:solidFill>
                          <a:latin typeface="Calibri" pitchFamily="34" charset="0"/>
                          <a:ea typeface="Calibri" pitchFamily="34" charset="-122"/>
                          <a:cs typeface="Calibri" pitchFamily="34" charset="-120"/>
                        </a:rPr>
                        <a:t>VBA</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900" dirty="0">
                          <a:solidFill>
                            <a:srgbClr val="2A3442"/>
                          </a:solidFill>
                          <a:latin typeface="Calibri" pitchFamily="34" charset="0"/>
                          <a:ea typeface="Calibri" pitchFamily="34" charset="-122"/>
                          <a:cs typeface="Calibri" pitchFamily="34" charset="-120"/>
                        </a:rPr>
                        <a:t>Điều hướng theo Service Catalog; chọn sai danh mục là nguyên nhân 20–50% PYC bị trả về.</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extLst>
                  <a:ext uri="{0D108BD9-81ED-4DB2-BD59-A6C34878D82A}">
                    <a16:rowId xmlns:a16="http://schemas.microsoft.com/office/drawing/2014/main" val="10009"/>
                  </a:ext>
                </a:extLst>
              </a:tr>
              <a:tr h="335627">
                <a:tc>
                  <a:txBody>
                    <a:bodyPr/>
                    <a:lstStyle/>
                    <a:p>
                      <a:pPr marL="0" indent="0" algn="ctr">
                        <a:buNone/>
                      </a:pPr>
                      <a:r>
                        <a:rPr lang="en-US" sz="900" dirty="0">
                          <a:solidFill>
                            <a:srgbClr val="2A3442"/>
                          </a:solidFill>
                          <a:latin typeface="Calibri" pitchFamily="34" charset="0"/>
                          <a:ea typeface="Calibri" pitchFamily="34" charset="-122"/>
                          <a:cs typeface="Calibri" pitchFamily="34" charset="-120"/>
                        </a:rPr>
                        <a:t>10</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900" dirty="0">
                          <a:solidFill>
                            <a:srgbClr val="2A3442"/>
                          </a:solidFill>
                          <a:latin typeface="Calibri" pitchFamily="34" charset="0"/>
                          <a:ea typeface="Calibri" pitchFamily="34" charset="-122"/>
                          <a:cs typeface="Calibri" pitchFamily="34" charset="-120"/>
                        </a:rPr>
                        <a:t>Đính kèm email phê duyệt cấp trên</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900" dirty="0">
                          <a:solidFill>
                            <a:srgbClr val="2A3442"/>
                          </a:solidFill>
                          <a:latin typeface="Calibri" pitchFamily="34" charset="0"/>
                          <a:ea typeface="Calibri" pitchFamily="34" charset="-122"/>
                          <a:cs typeface="Calibri" pitchFamily="34" charset="-120"/>
                        </a:rPr>
                        <a:t>Người dùng (End-User)</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lgn="ctr">
                        <a:buNone/>
                      </a:pPr>
                      <a:r>
                        <a:rPr lang="en-US" sz="900" b="1" dirty="0">
                          <a:solidFill>
                            <a:srgbClr val="A5741A"/>
                          </a:solidFill>
                          <a:latin typeface="Calibri" pitchFamily="34" charset="0"/>
                          <a:ea typeface="Calibri" pitchFamily="34" charset="-122"/>
                          <a:cs typeface="Calibri" pitchFamily="34" charset="-120"/>
                        </a:rPr>
                        <a:t>VBA</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900" dirty="0">
                          <a:solidFill>
                            <a:srgbClr val="2A3442"/>
                          </a:solidFill>
                          <a:latin typeface="Calibri" pitchFamily="34" charset="0"/>
                          <a:ea typeface="Calibri" pitchFamily="34" charset="-122"/>
                          <a:cs typeface="Calibri" pitchFamily="34" charset="-120"/>
                        </a:rPr>
                        <a:t>Bằng chứng tuân thủ chính sách ATTT khi xin cấp quyền hệ thống.</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extLst>
                  <a:ext uri="{0D108BD9-81ED-4DB2-BD59-A6C34878D82A}">
                    <a16:rowId xmlns:a16="http://schemas.microsoft.com/office/drawing/2014/main" val="10010"/>
                  </a:ext>
                </a:extLst>
              </a:tr>
              <a:tr h="335627">
                <a:tc>
                  <a:txBody>
                    <a:bodyPr/>
                    <a:lstStyle/>
                    <a:p>
                      <a:pPr marL="0" indent="0" algn="ctr">
                        <a:buNone/>
                      </a:pPr>
                      <a:r>
                        <a:rPr lang="en-US" sz="900" dirty="0">
                          <a:solidFill>
                            <a:srgbClr val="2A3442"/>
                          </a:solidFill>
                          <a:latin typeface="Calibri" pitchFamily="34" charset="0"/>
                          <a:ea typeface="Calibri" pitchFamily="34" charset="-122"/>
                          <a:cs typeface="Calibri" pitchFamily="34" charset="-120"/>
                        </a:rPr>
                        <a:t>11</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900" dirty="0">
                          <a:solidFill>
                            <a:srgbClr val="2A3442"/>
                          </a:solidFill>
                          <a:latin typeface="Calibri" pitchFamily="34" charset="0"/>
                          <a:ea typeface="Calibri" pitchFamily="34" charset="-122"/>
                          <a:cs typeface="Calibri" pitchFamily="34" charset="-120"/>
                        </a:rPr>
                        <a:t>Đính kèm mã dự án</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900" dirty="0">
                          <a:solidFill>
                            <a:srgbClr val="2A3442"/>
                          </a:solidFill>
                          <a:latin typeface="Calibri" pitchFamily="34" charset="0"/>
                          <a:ea typeface="Calibri" pitchFamily="34" charset="-122"/>
                          <a:cs typeface="Calibri" pitchFamily="34" charset="-120"/>
                        </a:rPr>
                        <a:t>Người dùng (End-User)</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lgn="ctr">
                        <a:buNone/>
                      </a:pPr>
                      <a:r>
                        <a:rPr lang="en-US" sz="900" b="1" dirty="0">
                          <a:solidFill>
                            <a:srgbClr val="A5741A"/>
                          </a:solidFill>
                          <a:latin typeface="Calibri" pitchFamily="34" charset="0"/>
                          <a:ea typeface="Calibri" pitchFamily="34" charset="-122"/>
                          <a:cs typeface="Calibri" pitchFamily="34" charset="-120"/>
                        </a:rPr>
                        <a:t>VBA</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900" dirty="0">
                          <a:solidFill>
                            <a:srgbClr val="2A3442"/>
                          </a:solidFill>
                          <a:latin typeface="Calibri" pitchFamily="34" charset="0"/>
                          <a:ea typeface="Calibri" pitchFamily="34" charset="-122"/>
                          <a:cs typeface="Calibri" pitchFamily="34" charset="-120"/>
                        </a:rPr>
                        <a:t>Phục vụ phân bổ chi phí và truy vết mục đích sử dụng quyền.</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extLst>
                  <a:ext uri="{0D108BD9-81ED-4DB2-BD59-A6C34878D82A}">
                    <a16:rowId xmlns:a16="http://schemas.microsoft.com/office/drawing/2014/main" val="10011"/>
                  </a:ext>
                </a:extLst>
              </a:tr>
              <a:tr h="335627">
                <a:tc>
                  <a:txBody>
                    <a:bodyPr/>
                    <a:lstStyle/>
                    <a:p>
                      <a:pPr marL="0" indent="0" algn="ctr">
                        <a:buNone/>
                      </a:pPr>
                      <a:r>
                        <a:rPr lang="en-US" sz="900" dirty="0">
                          <a:solidFill>
                            <a:srgbClr val="2A3442"/>
                          </a:solidFill>
                          <a:latin typeface="Calibri" pitchFamily="34" charset="0"/>
                          <a:ea typeface="Calibri" pitchFamily="34" charset="-122"/>
                          <a:cs typeface="Calibri" pitchFamily="34" charset="-120"/>
                        </a:rPr>
                        <a:t>12</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900" dirty="0">
                          <a:solidFill>
                            <a:srgbClr val="2A3442"/>
                          </a:solidFill>
                          <a:latin typeface="Calibri" pitchFamily="34" charset="0"/>
                          <a:ea typeface="Calibri" pitchFamily="34" charset="-122"/>
                          <a:cs typeface="Calibri" pitchFamily="34" charset="-120"/>
                        </a:rPr>
                        <a:t>Đính kèm ảnh chụp màn hình</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900" dirty="0">
                          <a:solidFill>
                            <a:srgbClr val="2A3442"/>
                          </a:solidFill>
                          <a:latin typeface="Calibri" pitchFamily="34" charset="0"/>
                          <a:ea typeface="Calibri" pitchFamily="34" charset="-122"/>
                          <a:cs typeface="Calibri" pitchFamily="34" charset="-120"/>
                        </a:rPr>
                        <a:t>Người dùng (End-User)</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lgn="ctr">
                        <a:buNone/>
                      </a:pPr>
                      <a:r>
                        <a:rPr lang="en-US" sz="900" b="1" dirty="0">
                          <a:solidFill>
                            <a:srgbClr val="A5741A"/>
                          </a:solidFill>
                          <a:latin typeface="Calibri" pitchFamily="34" charset="0"/>
                          <a:ea typeface="Calibri" pitchFamily="34" charset="-122"/>
                          <a:cs typeface="Calibri" pitchFamily="34" charset="-120"/>
                        </a:rPr>
                        <a:t>VBA</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900" dirty="0">
                          <a:solidFill>
                            <a:srgbClr val="2A3442"/>
                          </a:solidFill>
                          <a:latin typeface="Calibri" pitchFamily="34" charset="0"/>
                          <a:ea typeface="Calibri" pitchFamily="34" charset="-122"/>
                          <a:cs typeface="Calibri" pitchFamily="34" charset="-120"/>
                        </a:rPr>
                        <a:t>Bổ sung ngữ cảnh kỹ thuật; cổng AND buộc mọi PYC đủ ba tệp nên sinh lãng phí Overdo.</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extLst>
                  <a:ext uri="{0D108BD9-81ED-4DB2-BD59-A6C34878D82A}">
                    <a16:rowId xmlns:a16="http://schemas.microsoft.com/office/drawing/2014/main" val="10012"/>
                  </a:ext>
                </a:extLst>
              </a:tr>
            </a:tbl>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65760"/>
            <a:ext cx="123444" cy="123444"/>
          </a:xfrm>
          <a:prstGeom prst="ellipse">
            <a:avLst/>
          </a:prstGeom>
          <a:solidFill>
            <a:srgbClr val="D9A227"/>
          </a:solidFill>
          <a:ln w="12700">
            <a:solidFill>
              <a:srgbClr val="D9A227"/>
            </a:solidFill>
            <a:prstDash val="solid"/>
          </a:ln>
        </p:spPr>
        <p:txBody>
          <a:bodyPr/>
          <a:lstStyle/>
          <a:p>
            <a:endParaRPr lang="en-US"/>
          </a:p>
        </p:txBody>
      </p:sp>
      <p:sp>
        <p:nvSpPr>
          <p:cNvPr id="3" name="Text 1"/>
          <p:cNvSpPr txBox="1"/>
          <p:nvPr/>
        </p:nvSpPr>
        <p:spPr>
          <a:xfrm>
            <a:off x="804672" y="292608"/>
            <a:ext cx="10838383" cy="237744"/>
          </a:xfrm>
          <a:prstGeom prst="rect">
            <a:avLst/>
          </a:prstGeom>
          <a:noFill/>
          <a:ln/>
        </p:spPr>
        <p:txBody>
          <a:bodyPr wrap="square" lIns="0" tIns="0" rIns="0" bIns="0" rtlCol="0" anchor="t"/>
          <a:lstStyle/>
          <a:p>
            <a:pPr marL="0" indent="0">
              <a:buNone/>
            </a:pPr>
            <a:r>
              <a:rPr lang="en-US" sz="1050" b="1" kern="0" spc="120" dirty="0">
                <a:solidFill>
                  <a:srgbClr val="A5741A"/>
                </a:solidFill>
                <a:latin typeface="Calibri" pitchFamily="34" charset="0"/>
                <a:ea typeface="Calibri" pitchFamily="34" charset="-122"/>
                <a:cs typeface="Calibri" pitchFamily="34" charset="-120"/>
              </a:rPr>
              <a:t>CHƯƠNG 4 · 4.1.1 PHÂN TÍCH ĐỊNH TÍNH</a:t>
            </a:r>
            <a:endParaRPr lang="en-US" sz="1050" dirty="0"/>
          </a:p>
        </p:txBody>
      </p:sp>
      <p:sp>
        <p:nvSpPr>
          <p:cNvPr id="4" name="Text 2"/>
          <p:cNvSpPr txBox="1"/>
          <p:nvPr/>
        </p:nvSpPr>
        <p:spPr>
          <a:xfrm>
            <a:off x="548640" y="566928"/>
            <a:ext cx="11094415" cy="457200"/>
          </a:xfrm>
          <a:prstGeom prst="rect">
            <a:avLst/>
          </a:prstGeom>
          <a:noFill/>
          <a:ln/>
        </p:spPr>
        <p:txBody>
          <a:bodyPr wrap="square" lIns="0" tIns="0" rIns="0" bIns="0" rtlCol="0" anchor="t"/>
          <a:lstStyle/>
          <a:p>
            <a:pPr marL="0" indent="0">
              <a:buNone/>
            </a:pPr>
            <a:r>
              <a:rPr lang="en-US" sz="2500" b="1" dirty="0">
                <a:solidFill>
                  <a:srgbClr val="0B3B75"/>
                </a:solidFill>
                <a:latin typeface="Calibri" pitchFamily="34" charset="0"/>
                <a:ea typeface="Calibri" pitchFamily="34" charset="-122"/>
                <a:cs typeface="Calibri" pitchFamily="34" charset="-120"/>
              </a:rPr>
              <a:t>PHÂN LOẠI VA – VBA – NVA CỦA QUY TRÌNH PYC  ·  PHẦN 2/2</a:t>
            </a:r>
            <a:endParaRPr lang="en-US" sz="2500" dirty="0"/>
          </a:p>
        </p:txBody>
      </p:sp>
      <p:sp>
        <p:nvSpPr>
          <p:cNvPr id="5" name="Text 3"/>
          <p:cNvSpPr txBox="1"/>
          <p:nvPr/>
        </p:nvSpPr>
        <p:spPr>
          <a:xfrm>
            <a:off x="548640" y="1024128"/>
            <a:ext cx="11094415" cy="274320"/>
          </a:xfrm>
          <a:prstGeom prst="rect">
            <a:avLst/>
          </a:prstGeom>
          <a:noFill/>
          <a:ln/>
        </p:spPr>
        <p:txBody>
          <a:bodyPr wrap="square" lIns="0" tIns="0" rIns="0" bIns="0" rtlCol="0" anchor="t"/>
          <a:lstStyle/>
          <a:p>
            <a:pPr marL="0" indent="0">
              <a:buNone/>
            </a:pPr>
            <a:r>
              <a:rPr lang="en-US" sz="1100" i="1" dirty="0">
                <a:solidFill>
                  <a:srgbClr val="6E7A88"/>
                </a:solidFill>
                <a:latin typeface="Calibri" pitchFamily="34" charset="0"/>
                <a:ea typeface="Calibri" pitchFamily="34" charset="-122"/>
                <a:cs typeface="Calibri" pitchFamily="34" charset="-120"/>
              </a:rPr>
              <a:t>Bảng 14 (tiếp theo) — STT 13 – 23  ·  Tổng hợp toàn quy trình: 03 VA  ·  18 VBA  ·  02 NVA</a:t>
            </a:r>
            <a:endParaRPr lang="en-US" sz="1100" dirty="0"/>
          </a:p>
        </p:txBody>
      </p:sp>
      <p:sp>
        <p:nvSpPr>
          <p:cNvPr id="6" name="Text 4"/>
          <p:cNvSpPr txBox="1"/>
          <p:nvPr/>
        </p:nvSpPr>
        <p:spPr>
          <a:xfrm>
            <a:off x="548640" y="6419088"/>
            <a:ext cx="8778240" cy="237744"/>
          </a:xfrm>
          <a:prstGeom prst="rect">
            <a:avLst/>
          </a:prstGeom>
          <a:noFill/>
          <a:ln/>
        </p:spPr>
        <p:txBody>
          <a:bodyPr wrap="square" lIns="0" tIns="0" rIns="0" bIns="0" rtlCol="0" anchor="t"/>
          <a:lstStyle/>
          <a:p>
            <a:pPr marL="0" indent="0">
              <a:buNone/>
            </a:pPr>
            <a:r>
              <a:rPr lang="en-US" sz="850" dirty="0">
                <a:solidFill>
                  <a:srgbClr val="6E7A88"/>
                </a:solidFill>
                <a:latin typeface="Calibri" pitchFamily="34" charset="0"/>
                <a:ea typeface="Calibri" pitchFamily="34" charset="-122"/>
                <a:cs typeface="Calibri" pitchFamily="34" charset="-120"/>
              </a:rPr>
              <a:t>HỆ THỐNG QUẢN TRỊ QUY TRÌNH NGHIỆP VỤ  ·  SACOMBANK — QUY TRÌNH PYC</a:t>
            </a:r>
            <a:endParaRPr lang="en-US" sz="850" dirty="0"/>
          </a:p>
        </p:txBody>
      </p:sp>
      <p:sp>
        <p:nvSpPr>
          <p:cNvPr id="7" name="Text 5"/>
          <p:cNvSpPr txBox="1"/>
          <p:nvPr/>
        </p:nvSpPr>
        <p:spPr>
          <a:xfrm>
            <a:off x="11155680" y="6382512"/>
            <a:ext cx="484632" cy="274320"/>
          </a:xfrm>
          <a:prstGeom prst="rect">
            <a:avLst/>
          </a:prstGeom>
          <a:noFill/>
          <a:ln/>
        </p:spPr>
        <p:txBody>
          <a:bodyPr wrap="square" lIns="0" tIns="0" rIns="0" bIns="0" rtlCol="0" anchor="t"/>
          <a:lstStyle/>
          <a:p>
            <a:pPr marL="0" indent="0" algn="r">
              <a:buNone/>
            </a:pPr>
            <a:r>
              <a:rPr lang="en-US" sz="1100" b="1" dirty="0">
                <a:solidFill>
                  <a:srgbClr val="A5741A"/>
                </a:solidFill>
                <a:latin typeface="Calibri" pitchFamily="34" charset="0"/>
                <a:ea typeface="Calibri" pitchFamily="34" charset="-122"/>
                <a:cs typeface="Calibri" pitchFamily="34" charset="-120"/>
              </a:rPr>
              <a:t>32</a:t>
            </a:r>
            <a:endParaRPr lang="en-US" sz="1100" dirty="0"/>
          </a:p>
        </p:txBody>
      </p:sp>
      <p:graphicFrame>
        <p:nvGraphicFramePr>
          <p:cNvPr id="34" name="Table 0"/>
          <p:cNvGraphicFramePr>
            <a:graphicFrameLocks noGrp="1"/>
          </p:cNvGraphicFramePr>
          <p:nvPr>
            <p:extLst>
              <p:ext uri="{D42A27DB-BD31-4B8C-83A1-F6EECF244321}">
                <p14:modId xmlns:p14="http://schemas.microsoft.com/office/powerpoint/2010/main" val="288390509"/>
              </p:ext>
            </p:extLst>
          </p:nvPr>
        </p:nvGraphicFramePr>
        <p:xfrm>
          <a:off x="548640" y="1517904"/>
          <a:ext cx="11091672" cy="4626868"/>
        </p:xfrm>
        <a:graphic>
          <a:graphicData uri="http://schemas.openxmlformats.org/drawingml/2006/table">
            <a:tbl>
              <a:tblPr/>
              <a:tblGrid>
                <a:gridCol w="59436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1920240">
                  <a:extLst>
                    <a:ext uri="{9D8B030D-6E8A-4147-A177-3AD203B41FA5}">
                      <a16:colId xmlns:a16="http://schemas.microsoft.com/office/drawing/2014/main" val="20002"/>
                    </a:ext>
                  </a:extLst>
                </a:gridCol>
                <a:gridCol w="1005840">
                  <a:extLst>
                    <a:ext uri="{9D8B030D-6E8A-4147-A177-3AD203B41FA5}">
                      <a16:colId xmlns:a16="http://schemas.microsoft.com/office/drawing/2014/main" val="20003"/>
                    </a:ext>
                  </a:extLst>
                </a:gridCol>
                <a:gridCol w="5285232">
                  <a:extLst>
                    <a:ext uri="{9D8B030D-6E8A-4147-A177-3AD203B41FA5}">
                      <a16:colId xmlns:a16="http://schemas.microsoft.com/office/drawing/2014/main" val="20004"/>
                    </a:ext>
                  </a:extLst>
                </a:gridCol>
              </a:tblGrid>
              <a:tr h="646210">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STT</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0B3B75"/>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TÊN TÁC VỤ</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0B3B75"/>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NGƯỜI THỰC HIỆN</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0B3B75"/>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PHÂN LOẠI</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0B3B75"/>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GIẢI THÍCH</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0B3B75"/>
                    </a:solidFill>
                  </a:tcPr>
                </a:tc>
                <a:extLst>
                  <a:ext uri="{0D108BD9-81ED-4DB2-BD59-A6C34878D82A}">
                    <a16:rowId xmlns:a16="http://schemas.microsoft.com/office/drawing/2014/main" val="10000"/>
                  </a:ext>
                </a:extLst>
              </a:tr>
              <a:tr h="361878">
                <a:tc>
                  <a:txBody>
                    <a:bodyPr/>
                    <a:lstStyle/>
                    <a:p>
                      <a:pPr marL="0" indent="0" algn="ctr">
                        <a:buNone/>
                      </a:pPr>
                      <a:r>
                        <a:rPr lang="en-US" sz="900" dirty="0">
                          <a:solidFill>
                            <a:srgbClr val="2A3442"/>
                          </a:solidFill>
                          <a:latin typeface="Calibri" pitchFamily="34" charset="0"/>
                          <a:ea typeface="Calibri" pitchFamily="34" charset="-122"/>
                          <a:cs typeface="Calibri" pitchFamily="34" charset="-120"/>
                        </a:rPr>
                        <a:t>13</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900" dirty="0">
                          <a:solidFill>
                            <a:srgbClr val="2A3442"/>
                          </a:solidFill>
                          <a:latin typeface="Calibri" pitchFamily="34" charset="0"/>
                          <a:ea typeface="Calibri" pitchFamily="34" charset="-122"/>
                          <a:cs typeface="Calibri" pitchFamily="34" charset="-120"/>
                        </a:rPr>
                        <a:t>Phân loại rủi ro quyền</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900" dirty="0">
                          <a:solidFill>
                            <a:srgbClr val="2A3442"/>
                          </a:solidFill>
                          <a:latin typeface="Calibri" pitchFamily="34" charset="0"/>
                          <a:ea typeface="Calibri" pitchFamily="34" charset="-122"/>
                          <a:cs typeface="Calibri" pitchFamily="34" charset="-120"/>
                        </a:rPr>
                        <a:t>Hệ thống ITSM</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lgn="ctr">
                        <a:buNone/>
                      </a:pPr>
                      <a:r>
                        <a:rPr lang="en-US" sz="900" b="1" dirty="0">
                          <a:solidFill>
                            <a:srgbClr val="A5741A"/>
                          </a:solidFill>
                          <a:latin typeface="Calibri" pitchFamily="34" charset="0"/>
                          <a:ea typeface="Calibri" pitchFamily="34" charset="-122"/>
                          <a:cs typeface="Calibri" pitchFamily="34" charset="-120"/>
                        </a:rPr>
                        <a:t>VBA</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900" dirty="0">
                          <a:solidFill>
                            <a:srgbClr val="2A3442"/>
                          </a:solidFill>
                          <a:latin typeface="Calibri" pitchFamily="34" charset="0"/>
                          <a:ea typeface="Calibri" pitchFamily="34" charset="-122"/>
                          <a:cs typeface="Calibri" pitchFamily="34" charset="-120"/>
                        </a:rPr>
                        <a:t>Đối chiếu ma trận rủi ro để quyết định yêu cầu có cần phê duyệt hay không.</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extLst>
                  <a:ext uri="{0D108BD9-81ED-4DB2-BD59-A6C34878D82A}">
                    <a16:rowId xmlns:a16="http://schemas.microsoft.com/office/drawing/2014/main" val="10001"/>
                  </a:ext>
                </a:extLst>
              </a:tr>
              <a:tr h="361878">
                <a:tc>
                  <a:txBody>
                    <a:bodyPr/>
                    <a:lstStyle/>
                    <a:p>
                      <a:pPr marL="0" indent="0" algn="ctr">
                        <a:buNone/>
                      </a:pPr>
                      <a:r>
                        <a:rPr lang="en-US" sz="900" dirty="0">
                          <a:solidFill>
                            <a:srgbClr val="2A3442"/>
                          </a:solidFill>
                          <a:latin typeface="Calibri" pitchFamily="34" charset="0"/>
                          <a:ea typeface="Calibri" pitchFamily="34" charset="-122"/>
                          <a:cs typeface="Calibri" pitchFamily="34" charset="-120"/>
                        </a:rPr>
                        <a:t>14</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900" dirty="0">
                          <a:solidFill>
                            <a:srgbClr val="2A3442"/>
                          </a:solidFill>
                          <a:latin typeface="Calibri" pitchFamily="34" charset="0"/>
                          <a:ea typeface="Calibri" pitchFamily="34" charset="-122"/>
                          <a:cs typeface="Calibri" pitchFamily="34" charset="-120"/>
                        </a:rPr>
                        <a:t>Gửi thông báo đến quản lý trực tiếp</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900" dirty="0">
                          <a:solidFill>
                            <a:srgbClr val="2A3442"/>
                          </a:solidFill>
                          <a:latin typeface="Calibri" pitchFamily="34" charset="0"/>
                          <a:ea typeface="Calibri" pitchFamily="34" charset="-122"/>
                          <a:cs typeface="Calibri" pitchFamily="34" charset="-120"/>
                        </a:rPr>
                        <a:t>Hệ thống ITSM</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lgn="ctr">
                        <a:buNone/>
                      </a:pPr>
                      <a:r>
                        <a:rPr lang="en-US" sz="900" b="1" dirty="0">
                          <a:solidFill>
                            <a:srgbClr val="A5741A"/>
                          </a:solidFill>
                          <a:latin typeface="Calibri" pitchFamily="34" charset="0"/>
                          <a:ea typeface="Calibri" pitchFamily="34" charset="-122"/>
                          <a:cs typeface="Calibri" pitchFamily="34" charset="-120"/>
                        </a:rPr>
                        <a:t>VBA</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900" dirty="0">
                          <a:solidFill>
                            <a:srgbClr val="2A3442"/>
                          </a:solidFill>
                          <a:latin typeface="Calibri" pitchFamily="34" charset="0"/>
                          <a:ea typeface="Calibri" pitchFamily="34" charset="-122"/>
                          <a:cs typeface="Calibri" pitchFamily="34" charset="-120"/>
                        </a:rPr>
                        <a:t>Kích hoạt bước phê duyệt cho nhóm quyền rủi ro cao.</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extLst>
                  <a:ext uri="{0D108BD9-81ED-4DB2-BD59-A6C34878D82A}">
                    <a16:rowId xmlns:a16="http://schemas.microsoft.com/office/drawing/2014/main" val="10002"/>
                  </a:ext>
                </a:extLst>
              </a:tr>
              <a:tr h="361878">
                <a:tc>
                  <a:txBody>
                    <a:bodyPr/>
                    <a:lstStyle/>
                    <a:p>
                      <a:pPr marL="0" indent="0" algn="ctr">
                        <a:buNone/>
                      </a:pPr>
                      <a:r>
                        <a:rPr lang="en-US" sz="900" dirty="0">
                          <a:solidFill>
                            <a:srgbClr val="2A3442"/>
                          </a:solidFill>
                          <a:latin typeface="Calibri" pitchFamily="34" charset="0"/>
                          <a:ea typeface="Calibri" pitchFamily="34" charset="-122"/>
                          <a:cs typeface="Calibri" pitchFamily="34" charset="-120"/>
                        </a:rPr>
                        <a:t>15</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900" dirty="0">
                          <a:solidFill>
                            <a:srgbClr val="2A3442"/>
                          </a:solidFill>
                          <a:latin typeface="Calibri" pitchFamily="34" charset="0"/>
                          <a:ea typeface="Calibri" pitchFamily="34" charset="-122"/>
                          <a:cs typeface="Calibri" pitchFamily="34" charset="-120"/>
                        </a:rPr>
                        <a:t>Reject kèm lý do</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900" dirty="0">
                          <a:solidFill>
                            <a:srgbClr val="2A3442"/>
                          </a:solidFill>
                          <a:latin typeface="Calibri" pitchFamily="34" charset="0"/>
                          <a:ea typeface="Calibri" pitchFamily="34" charset="-122"/>
                          <a:cs typeface="Calibri" pitchFamily="34" charset="-120"/>
                        </a:rPr>
                        <a:t>Hệ thống ITSM</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lgn="ctr">
                        <a:buNone/>
                      </a:pPr>
                      <a:r>
                        <a:rPr lang="en-US" sz="900" b="1" dirty="0">
                          <a:solidFill>
                            <a:srgbClr val="A5741A"/>
                          </a:solidFill>
                          <a:latin typeface="Calibri" pitchFamily="34" charset="0"/>
                          <a:ea typeface="Calibri" pitchFamily="34" charset="-122"/>
                          <a:cs typeface="Calibri" pitchFamily="34" charset="-120"/>
                        </a:rPr>
                        <a:t>VBA</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900" dirty="0">
                          <a:solidFill>
                            <a:srgbClr val="2A3442"/>
                          </a:solidFill>
                          <a:latin typeface="Calibri" pitchFamily="34" charset="0"/>
                          <a:ea typeface="Calibri" pitchFamily="34" charset="-122"/>
                          <a:cs typeface="Calibri" pitchFamily="34" charset="-120"/>
                        </a:rPr>
                        <a:t>Ghi nhận lý do từ chối để lưu vết và phản hồi lại người dùng.</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extLst>
                  <a:ext uri="{0D108BD9-81ED-4DB2-BD59-A6C34878D82A}">
                    <a16:rowId xmlns:a16="http://schemas.microsoft.com/office/drawing/2014/main" val="10003"/>
                  </a:ext>
                </a:extLst>
              </a:tr>
              <a:tr h="361878">
                <a:tc>
                  <a:txBody>
                    <a:bodyPr/>
                    <a:lstStyle/>
                    <a:p>
                      <a:pPr marL="0" indent="0" algn="ctr">
                        <a:buNone/>
                      </a:pPr>
                      <a:r>
                        <a:rPr lang="en-US" sz="900" dirty="0">
                          <a:solidFill>
                            <a:srgbClr val="2A3442"/>
                          </a:solidFill>
                          <a:latin typeface="Calibri" pitchFamily="34" charset="0"/>
                          <a:ea typeface="Calibri" pitchFamily="34" charset="-122"/>
                          <a:cs typeface="Calibri" pitchFamily="34" charset="-120"/>
                        </a:rPr>
                        <a:t>16</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900" dirty="0">
                          <a:solidFill>
                            <a:srgbClr val="2A3442"/>
                          </a:solidFill>
                          <a:latin typeface="Calibri" pitchFamily="34" charset="0"/>
                          <a:ea typeface="Calibri" pitchFamily="34" charset="-122"/>
                          <a:cs typeface="Calibri" pitchFamily="34" charset="-120"/>
                        </a:rPr>
                        <a:t>Xác nhận phiếu PYC</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900" dirty="0">
                          <a:solidFill>
                            <a:srgbClr val="2A3442"/>
                          </a:solidFill>
                          <a:latin typeface="Calibri" pitchFamily="34" charset="0"/>
                          <a:ea typeface="Calibri" pitchFamily="34" charset="-122"/>
                          <a:cs typeface="Calibri" pitchFamily="34" charset="-120"/>
                        </a:rPr>
                        <a:t>Hệ thống ITSM</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lgn="ctr">
                        <a:buNone/>
                      </a:pPr>
                      <a:r>
                        <a:rPr lang="en-US" sz="900" b="1" dirty="0">
                          <a:solidFill>
                            <a:srgbClr val="A5741A"/>
                          </a:solidFill>
                          <a:latin typeface="Calibri" pitchFamily="34" charset="0"/>
                          <a:ea typeface="Calibri" pitchFamily="34" charset="-122"/>
                          <a:cs typeface="Calibri" pitchFamily="34" charset="-120"/>
                        </a:rPr>
                        <a:t>VBA</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900" dirty="0">
                          <a:solidFill>
                            <a:srgbClr val="2A3442"/>
                          </a:solidFill>
                          <a:latin typeface="Calibri" pitchFamily="34" charset="0"/>
                          <a:ea typeface="Calibri" pitchFamily="34" charset="-122"/>
                          <a:cs typeface="Calibri" pitchFamily="34" charset="-120"/>
                        </a:rPr>
                        <a:t>Cập nhật trạng thái sau khi quản lý đồng ý; là điều kiện để sinh Work Order.</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extLst>
                  <a:ext uri="{0D108BD9-81ED-4DB2-BD59-A6C34878D82A}">
                    <a16:rowId xmlns:a16="http://schemas.microsoft.com/office/drawing/2014/main" val="10004"/>
                  </a:ext>
                </a:extLst>
              </a:tr>
              <a:tr h="361878">
                <a:tc>
                  <a:txBody>
                    <a:bodyPr/>
                    <a:lstStyle/>
                    <a:p>
                      <a:pPr marL="0" indent="0" algn="ctr">
                        <a:buNone/>
                      </a:pPr>
                      <a:r>
                        <a:rPr lang="en-US" sz="900" dirty="0">
                          <a:solidFill>
                            <a:srgbClr val="2A3442"/>
                          </a:solidFill>
                          <a:latin typeface="Calibri" pitchFamily="34" charset="0"/>
                          <a:ea typeface="Calibri" pitchFamily="34" charset="-122"/>
                          <a:cs typeface="Calibri" pitchFamily="34" charset="-120"/>
                        </a:rPr>
                        <a:t>17</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900" dirty="0">
                          <a:solidFill>
                            <a:srgbClr val="2A3442"/>
                          </a:solidFill>
                          <a:latin typeface="Calibri" pitchFamily="34" charset="0"/>
                          <a:ea typeface="Calibri" pitchFamily="34" charset="-122"/>
                          <a:cs typeface="Calibri" pitchFamily="34" charset="-120"/>
                        </a:rPr>
                        <a:t>Gán WO cho nhóm xử lý phù hợp</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900" dirty="0">
                          <a:solidFill>
                            <a:srgbClr val="2A3442"/>
                          </a:solidFill>
                          <a:latin typeface="Calibri" pitchFamily="34" charset="0"/>
                          <a:ea typeface="Calibri" pitchFamily="34" charset="-122"/>
                          <a:cs typeface="Calibri" pitchFamily="34" charset="-120"/>
                        </a:rPr>
                        <a:t>Hệ thống ITSM</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lgn="ctr">
                        <a:buNone/>
                      </a:pPr>
                      <a:r>
                        <a:rPr lang="en-US" sz="900" b="1" dirty="0">
                          <a:solidFill>
                            <a:srgbClr val="A5741A"/>
                          </a:solidFill>
                          <a:latin typeface="Calibri" pitchFamily="34" charset="0"/>
                          <a:ea typeface="Calibri" pitchFamily="34" charset="-122"/>
                          <a:cs typeface="Calibri" pitchFamily="34" charset="-120"/>
                        </a:rPr>
                        <a:t>VBA</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900" dirty="0">
                          <a:solidFill>
                            <a:srgbClr val="2A3442"/>
                          </a:solidFill>
                          <a:latin typeface="Calibri" pitchFamily="34" charset="0"/>
                          <a:ea typeface="Calibri" pitchFamily="34" charset="-122"/>
                          <a:cs typeface="Calibri" pitchFamily="34" charset="-120"/>
                        </a:rPr>
                        <a:t>Định tuyến Work Order theo Category và bắt đầu đếm thời gian SLA.</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extLst>
                  <a:ext uri="{0D108BD9-81ED-4DB2-BD59-A6C34878D82A}">
                    <a16:rowId xmlns:a16="http://schemas.microsoft.com/office/drawing/2014/main" val="10005"/>
                  </a:ext>
                </a:extLst>
              </a:tr>
              <a:tr h="361878">
                <a:tc>
                  <a:txBody>
                    <a:bodyPr/>
                    <a:lstStyle/>
                    <a:p>
                      <a:pPr marL="0" indent="0" algn="ctr">
                        <a:buNone/>
                      </a:pPr>
                      <a:r>
                        <a:rPr lang="en-US" sz="900" dirty="0">
                          <a:solidFill>
                            <a:srgbClr val="2A3442"/>
                          </a:solidFill>
                          <a:latin typeface="Calibri" pitchFamily="34" charset="0"/>
                          <a:ea typeface="Calibri" pitchFamily="34" charset="-122"/>
                          <a:cs typeface="Calibri" pitchFamily="34" charset="-120"/>
                        </a:rPr>
                        <a:t>18</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900" dirty="0">
                          <a:solidFill>
                            <a:srgbClr val="2A3442"/>
                          </a:solidFill>
                          <a:latin typeface="Calibri" pitchFamily="34" charset="0"/>
                          <a:ea typeface="Calibri" pitchFamily="34" charset="-122"/>
                          <a:cs typeface="Calibri" pitchFamily="34" charset="-120"/>
                        </a:rPr>
                        <a:t>Ghi log vào hệ thống SIEM</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900" dirty="0">
                          <a:solidFill>
                            <a:srgbClr val="2A3442"/>
                          </a:solidFill>
                          <a:latin typeface="Calibri" pitchFamily="34" charset="0"/>
                          <a:ea typeface="Calibri" pitchFamily="34" charset="-122"/>
                          <a:cs typeface="Calibri" pitchFamily="34" charset="-120"/>
                        </a:rPr>
                        <a:t>Service Desk L1</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lgn="ctr">
                        <a:buNone/>
                      </a:pPr>
                      <a:r>
                        <a:rPr lang="en-US" sz="900" b="1" dirty="0">
                          <a:solidFill>
                            <a:srgbClr val="A5741A"/>
                          </a:solidFill>
                          <a:latin typeface="Calibri" pitchFamily="34" charset="0"/>
                          <a:ea typeface="Calibri" pitchFamily="34" charset="-122"/>
                          <a:cs typeface="Calibri" pitchFamily="34" charset="-120"/>
                        </a:rPr>
                        <a:t>VBA</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900" dirty="0">
                          <a:solidFill>
                            <a:srgbClr val="2A3442"/>
                          </a:solidFill>
                          <a:latin typeface="Calibri" pitchFamily="34" charset="0"/>
                          <a:ea typeface="Calibri" pitchFamily="34" charset="-122"/>
                          <a:cs typeface="Calibri" pitchFamily="34" charset="-120"/>
                        </a:rPr>
                        <a:t>Bắt buộc theo quy định ATTT; nhập lại cùng nội dung log lần hai nên sinh Overdo.</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extLst>
                  <a:ext uri="{0D108BD9-81ED-4DB2-BD59-A6C34878D82A}">
                    <a16:rowId xmlns:a16="http://schemas.microsoft.com/office/drawing/2014/main" val="10006"/>
                  </a:ext>
                </a:extLst>
              </a:tr>
              <a:tr h="361878">
                <a:tc>
                  <a:txBody>
                    <a:bodyPr/>
                    <a:lstStyle/>
                    <a:p>
                      <a:pPr marL="0" indent="0" algn="ctr">
                        <a:buNone/>
                      </a:pPr>
                      <a:r>
                        <a:rPr lang="en-US" sz="900" dirty="0">
                          <a:solidFill>
                            <a:srgbClr val="2A3442"/>
                          </a:solidFill>
                          <a:latin typeface="Calibri" pitchFamily="34" charset="0"/>
                          <a:ea typeface="Calibri" pitchFamily="34" charset="-122"/>
                          <a:cs typeface="Calibri" pitchFamily="34" charset="-120"/>
                        </a:rPr>
                        <a:t>19</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900" dirty="0">
                          <a:solidFill>
                            <a:srgbClr val="2A3442"/>
                          </a:solidFill>
                          <a:latin typeface="Calibri" pitchFamily="34" charset="0"/>
                          <a:ea typeface="Calibri" pitchFamily="34" charset="-122"/>
                          <a:cs typeface="Calibri" pitchFamily="34" charset="-120"/>
                        </a:rPr>
                        <a:t>Ghi chú phân tích WO</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900" dirty="0">
                          <a:solidFill>
                            <a:srgbClr val="2A3442"/>
                          </a:solidFill>
                          <a:latin typeface="Calibri" pitchFamily="34" charset="0"/>
                          <a:ea typeface="Calibri" pitchFamily="34" charset="-122"/>
                          <a:cs typeface="Calibri" pitchFamily="34" charset="-120"/>
                        </a:rPr>
                        <a:t>Service Desk L1</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lgn="ctr">
                        <a:buNone/>
                      </a:pPr>
                      <a:r>
                        <a:rPr lang="en-US" sz="900" b="1" dirty="0">
                          <a:solidFill>
                            <a:srgbClr val="A5741A"/>
                          </a:solidFill>
                          <a:latin typeface="Calibri" pitchFamily="34" charset="0"/>
                          <a:ea typeface="Calibri" pitchFamily="34" charset="-122"/>
                          <a:cs typeface="Calibri" pitchFamily="34" charset="-120"/>
                        </a:rPr>
                        <a:t>VBA</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900" dirty="0">
                          <a:solidFill>
                            <a:srgbClr val="2A3442"/>
                          </a:solidFill>
                          <a:latin typeface="Calibri" pitchFamily="34" charset="0"/>
                          <a:ea typeface="Calibri" pitchFamily="34" charset="-122"/>
                          <a:cs typeface="Calibri" pitchFamily="34" charset="-120"/>
                        </a:rPr>
                        <a:t>Chuẩn bị thông tin bàn giao để Level 2 không phải phân tích lại từ đầu.</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extLst>
                  <a:ext uri="{0D108BD9-81ED-4DB2-BD59-A6C34878D82A}">
                    <a16:rowId xmlns:a16="http://schemas.microsoft.com/office/drawing/2014/main" val="10007"/>
                  </a:ext>
                </a:extLst>
              </a:tr>
              <a:tr h="361878">
                <a:tc>
                  <a:txBody>
                    <a:bodyPr/>
                    <a:lstStyle/>
                    <a:p>
                      <a:pPr marL="0" indent="0" algn="ctr">
                        <a:buNone/>
                      </a:pPr>
                      <a:r>
                        <a:rPr lang="en-US" sz="900" dirty="0">
                          <a:solidFill>
                            <a:srgbClr val="2A3442"/>
                          </a:solidFill>
                          <a:latin typeface="Calibri" pitchFamily="34" charset="0"/>
                          <a:ea typeface="Calibri" pitchFamily="34" charset="-122"/>
                          <a:cs typeface="Calibri" pitchFamily="34" charset="-120"/>
                        </a:rPr>
                        <a:t>20</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900" dirty="0">
                          <a:solidFill>
                            <a:srgbClr val="2A3442"/>
                          </a:solidFill>
                          <a:latin typeface="Calibri" pitchFamily="34" charset="0"/>
                          <a:ea typeface="Calibri" pitchFamily="34" charset="-122"/>
                          <a:cs typeface="Calibri" pitchFamily="34" charset="-120"/>
                        </a:rPr>
                        <a:t>Gửi WO đến Service Desk L2</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900" dirty="0">
                          <a:solidFill>
                            <a:srgbClr val="2A3442"/>
                          </a:solidFill>
                          <a:latin typeface="Calibri" pitchFamily="34" charset="0"/>
                          <a:ea typeface="Calibri" pitchFamily="34" charset="-122"/>
                          <a:cs typeface="Calibri" pitchFamily="34" charset="-120"/>
                        </a:rPr>
                        <a:t>Service Desk L1</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lgn="ctr">
                        <a:buNone/>
                      </a:pPr>
                      <a:r>
                        <a:rPr lang="en-US" sz="900" b="1" dirty="0">
                          <a:solidFill>
                            <a:srgbClr val="C0392B"/>
                          </a:solidFill>
                          <a:latin typeface="Calibri" pitchFamily="34" charset="0"/>
                          <a:ea typeface="Calibri" pitchFamily="34" charset="-122"/>
                          <a:cs typeface="Calibri" pitchFamily="34" charset="-120"/>
                        </a:rPr>
                        <a:t>NVA</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900" dirty="0">
                          <a:solidFill>
                            <a:srgbClr val="2A3442"/>
                          </a:solidFill>
                          <a:latin typeface="Calibri" pitchFamily="34" charset="0"/>
                          <a:ea typeface="Calibri" pitchFamily="34" charset="-122"/>
                          <a:cs typeface="Calibri" pitchFamily="34" charset="-120"/>
                        </a:rPr>
                        <a:t>Thuần chuyển giao giữa hai tuyến xử lý — chính là lãng phí Move đã nhận diện.</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extLst>
                  <a:ext uri="{0D108BD9-81ED-4DB2-BD59-A6C34878D82A}">
                    <a16:rowId xmlns:a16="http://schemas.microsoft.com/office/drawing/2014/main" val="10008"/>
                  </a:ext>
                </a:extLst>
              </a:tr>
              <a:tr h="361878">
                <a:tc>
                  <a:txBody>
                    <a:bodyPr/>
                    <a:lstStyle/>
                    <a:p>
                      <a:pPr marL="0" indent="0" algn="ctr">
                        <a:buNone/>
                      </a:pPr>
                      <a:r>
                        <a:rPr lang="en-US" sz="900" dirty="0">
                          <a:solidFill>
                            <a:srgbClr val="2A3442"/>
                          </a:solidFill>
                          <a:latin typeface="Calibri" pitchFamily="34" charset="0"/>
                          <a:ea typeface="Calibri" pitchFamily="34" charset="-122"/>
                          <a:cs typeface="Calibri" pitchFamily="34" charset="-120"/>
                        </a:rPr>
                        <a:t>21</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900" dirty="0">
                          <a:solidFill>
                            <a:srgbClr val="2A3442"/>
                          </a:solidFill>
                          <a:latin typeface="Calibri" pitchFamily="34" charset="0"/>
                          <a:ea typeface="Calibri" pitchFamily="34" charset="-122"/>
                          <a:cs typeface="Calibri" pitchFamily="34" charset="-120"/>
                        </a:rPr>
                        <a:t>Service Desk L2 xử lý kỹ thuật</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900" dirty="0">
                          <a:solidFill>
                            <a:srgbClr val="2A3442"/>
                          </a:solidFill>
                          <a:latin typeface="Calibri" pitchFamily="34" charset="0"/>
                          <a:ea typeface="Calibri" pitchFamily="34" charset="-122"/>
                          <a:cs typeface="Calibri" pitchFamily="34" charset="-120"/>
                        </a:rPr>
                        <a:t>Chuyên viên kỹ thuật L2</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lgn="ctr">
                        <a:buNone/>
                      </a:pPr>
                      <a:r>
                        <a:rPr lang="en-US" sz="900" b="1" dirty="0">
                          <a:solidFill>
                            <a:srgbClr val="0E7A5F"/>
                          </a:solidFill>
                          <a:latin typeface="Calibri" pitchFamily="34" charset="0"/>
                          <a:ea typeface="Calibri" pitchFamily="34" charset="-122"/>
                          <a:cs typeface="Calibri" pitchFamily="34" charset="-120"/>
                        </a:rPr>
                        <a:t>VA</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900" dirty="0">
                          <a:solidFill>
                            <a:srgbClr val="2A3442"/>
                          </a:solidFill>
                          <a:latin typeface="Calibri" pitchFamily="34" charset="0"/>
                          <a:ea typeface="Calibri" pitchFamily="34" charset="-122"/>
                          <a:cs typeface="Calibri" pitchFamily="34" charset="-120"/>
                        </a:rPr>
                        <a:t>Cấu hình cấp quyền trên T24, Active Directory, Database — tạo giá trị cuối cùng.</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extLst>
                  <a:ext uri="{0D108BD9-81ED-4DB2-BD59-A6C34878D82A}">
                    <a16:rowId xmlns:a16="http://schemas.microsoft.com/office/drawing/2014/main" val="10009"/>
                  </a:ext>
                </a:extLst>
              </a:tr>
              <a:tr h="361878">
                <a:tc>
                  <a:txBody>
                    <a:bodyPr/>
                    <a:lstStyle/>
                    <a:p>
                      <a:pPr marL="0" indent="0" algn="ctr">
                        <a:buNone/>
                      </a:pPr>
                      <a:r>
                        <a:rPr lang="en-US" sz="900" dirty="0">
                          <a:solidFill>
                            <a:srgbClr val="2A3442"/>
                          </a:solidFill>
                          <a:latin typeface="Calibri" pitchFamily="34" charset="0"/>
                          <a:ea typeface="Calibri" pitchFamily="34" charset="-122"/>
                          <a:cs typeface="Calibri" pitchFamily="34" charset="-120"/>
                        </a:rPr>
                        <a:t>22</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900" dirty="0">
                          <a:solidFill>
                            <a:srgbClr val="2A3442"/>
                          </a:solidFill>
                          <a:latin typeface="Calibri" pitchFamily="34" charset="0"/>
                          <a:ea typeface="Calibri" pitchFamily="34" charset="-122"/>
                          <a:cs typeface="Calibri" pitchFamily="34" charset="-120"/>
                        </a:rPr>
                        <a:t>Cập nhật trạng thái “Resolved”</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900" dirty="0">
                          <a:solidFill>
                            <a:srgbClr val="2A3442"/>
                          </a:solidFill>
                          <a:latin typeface="Calibri" pitchFamily="34" charset="0"/>
                          <a:ea typeface="Calibri" pitchFamily="34" charset="-122"/>
                          <a:cs typeface="Calibri" pitchFamily="34" charset="-120"/>
                        </a:rPr>
                        <a:t>Service Desk L1</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lgn="ctr">
                        <a:buNone/>
                      </a:pPr>
                      <a:r>
                        <a:rPr lang="en-US" sz="900" b="1" dirty="0">
                          <a:solidFill>
                            <a:srgbClr val="A5741A"/>
                          </a:solidFill>
                          <a:latin typeface="Calibri" pitchFamily="34" charset="0"/>
                          <a:ea typeface="Calibri" pitchFamily="34" charset="-122"/>
                          <a:cs typeface="Calibri" pitchFamily="34" charset="-120"/>
                        </a:rPr>
                        <a:t>VBA</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900" dirty="0">
                          <a:solidFill>
                            <a:srgbClr val="2A3442"/>
                          </a:solidFill>
                          <a:latin typeface="Calibri" pitchFamily="34" charset="0"/>
                          <a:ea typeface="Calibri" pitchFamily="34" charset="-122"/>
                          <a:cs typeface="Calibri" pitchFamily="34" charset="-120"/>
                        </a:rPr>
                        <a:t>Thông báo kết quả cho người dùng và làm mốc dừng đếm thời gian SLA.</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extLst>
                  <a:ext uri="{0D108BD9-81ED-4DB2-BD59-A6C34878D82A}">
                    <a16:rowId xmlns:a16="http://schemas.microsoft.com/office/drawing/2014/main" val="10010"/>
                  </a:ext>
                </a:extLst>
              </a:tr>
              <a:tr h="361878">
                <a:tc>
                  <a:txBody>
                    <a:bodyPr/>
                    <a:lstStyle/>
                    <a:p>
                      <a:pPr marL="0" indent="0" algn="ctr">
                        <a:buNone/>
                      </a:pPr>
                      <a:r>
                        <a:rPr lang="en-US" sz="900" dirty="0">
                          <a:solidFill>
                            <a:srgbClr val="2A3442"/>
                          </a:solidFill>
                          <a:latin typeface="Calibri" pitchFamily="34" charset="0"/>
                          <a:ea typeface="Calibri" pitchFamily="34" charset="-122"/>
                          <a:cs typeface="Calibri" pitchFamily="34" charset="-120"/>
                        </a:rPr>
                        <a:t>23</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900" dirty="0">
                          <a:solidFill>
                            <a:srgbClr val="2A3442"/>
                          </a:solidFill>
                          <a:latin typeface="Calibri" pitchFamily="34" charset="0"/>
                          <a:ea typeface="Calibri" pitchFamily="34" charset="-122"/>
                          <a:cs typeface="Calibri" pitchFamily="34" charset="-120"/>
                        </a:rPr>
                        <a:t>Đóng ticket</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900" dirty="0">
                          <a:solidFill>
                            <a:srgbClr val="2A3442"/>
                          </a:solidFill>
                          <a:latin typeface="Calibri" pitchFamily="34" charset="0"/>
                          <a:ea typeface="Calibri" pitchFamily="34" charset="-122"/>
                          <a:cs typeface="Calibri" pitchFamily="34" charset="-120"/>
                        </a:rPr>
                        <a:t>Service Desk L1</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lgn="ctr">
                        <a:buNone/>
                      </a:pPr>
                      <a:r>
                        <a:rPr lang="en-US" sz="900" b="1" dirty="0">
                          <a:solidFill>
                            <a:srgbClr val="A5741A"/>
                          </a:solidFill>
                          <a:latin typeface="Calibri" pitchFamily="34" charset="0"/>
                          <a:ea typeface="Calibri" pitchFamily="34" charset="-122"/>
                          <a:cs typeface="Calibri" pitchFamily="34" charset="-120"/>
                        </a:rPr>
                        <a:t>VBA</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900" dirty="0">
                          <a:solidFill>
                            <a:srgbClr val="2A3442"/>
                          </a:solidFill>
                          <a:latin typeface="Calibri" pitchFamily="34" charset="0"/>
                          <a:ea typeface="Calibri" pitchFamily="34" charset="-122"/>
                          <a:cs typeface="Calibri" pitchFamily="34" charset="-120"/>
                        </a:rPr>
                        <a:t>Kết thúc vòng đời phiếu và lưu vết phục vụ báo cáo SLA.</a:t>
                      </a:r>
                      <a:endParaRPr lang="en-US" sz="9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extLst>
                  <a:ext uri="{0D108BD9-81ED-4DB2-BD59-A6C34878D82A}">
                    <a16:rowId xmlns:a16="http://schemas.microsoft.com/office/drawing/2014/main" val="10011"/>
                  </a:ext>
                </a:extLst>
              </a:tr>
            </a:tbl>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65760"/>
            <a:ext cx="123444" cy="123444"/>
          </a:xfrm>
          <a:prstGeom prst="ellipse">
            <a:avLst/>
          </a:prstGeom>
          <a:solidFill>
            <a:srgbClr val="D9A227"/>
          </a:solidFill>
          <a:ln w="12700">
            <a:solidFill>
              <a:srgbClr val="D9A227"/>
            </a:solidFill>
            <a:prstDash val="solid"/>
          </a:ln>
        </p:spPr>
        <p:txBody>
          <a:bodyPr/>
          <a:lstStyle/>
          <a:p>
            <a:endParaRPr lang="en-US"/>
          </a:p>
        </p:txBody>
      </p:sp>
      <p:sp>
        <p:nvSpPr>
          <p:cNvPr id="3" name="Text 1"/>
          <p:cNvSpPr txBox="1"/>
          <p:nvPr/>
        </p:nvSpPr>
        <p:spPr>
          <a:xfrm>
            <a:off x="804672" y="292608"/>
            <a:ext cx="10838383" cy="237744"/>
          </a:xfrm>
          <a:prstGeom prst="rect">
            <a:avLst/>
          </a:prstGeom>
          <a:noFill/>
          <a:ln/>
        </p:spPr>
        <p:txBody>
          <a:bodyPr wrap="square" lIns="0" tIns="0" rIns="0" bIns="0" rtlCol="0" anchor="t"/>
          <a:lstStyle/>
          <a:p>
            <a:pPr marL="0" indent="0">
              <a:buNone/>
            </a:pPr>
            <a:r>
              <a:rPr lang="en-US" sz="1050" b="1" kern="0" spc="120" dirty="0">
                <a:solidFill>
                  <a:srgbClr val="A5741A"/>
                </a:solidFill>
                <a:latin typeface="Calibri" pitchFamily="34" charset="0"/>
                <a:ea typeface="Calibri" pitchFamily="34" charset="-122"/>
                <a:cs typeface="Calibri" pitchFamily="34" charset="-120"/>
              </a:rPr>
              <a:t>CHƯƠNG 4 · 4.1.1 PHÂN TÍCH ĐỊNH TÍNH</a:t>
            </a:r>
            <a:endParaRPr lang="en-US" sz="1050" dirty="0"/>
          </a:p>
        </p:txBody>
      </p:sp>
      <p:sp>
        <p:nvSpPr>
          <p:cNvPr id="4" name="Text 2"/>
          <p:cNvSpPr txBox="1"/>
          <p:nvPr/>
        </p:nvSpPr>
        <p:spPr>
          <a:xfrm>
            <a:off x="548640" y="566928"/>
            <a:ext cx="11094415" cy="457200"/>
          </a:xfrm>
          <a:prstGeom prst="rect">
            <a:avLst/>
          </a:prstGeom>
          <a:noFill/>
          <a:ln/>
        </p:spPr>
        <p:txBody>
          <a:bodyPr wrap="square" lIns="0" tIns="0" rIns="0" bIns="0" rtlCol="0" anchor="t"/>
          <a:lstStyle/>
          <a:p>
            <a:pPr marL="0" indent="0">
              <a:buNone/>
            </a:pPr>
            <a:r>
              <a:rPr lang="en-US" sz="2500" b="1" dirty="0">
                <a:solidFill>
                  <a:srgbClr val="0B3B75"/>
                </a:solidFill>
                <a:latin typeface="Calibri" pitchFamily="34" charset="0"/>
                <a:ea typeface="Calibri" pitchFamily="34" charset="-122"/>
                <a:cs typeface="Calibri" pitchFamily="34" charset="-120"/>
              </a:rPr>
              <a:t>TỔNG HỢP GIÁ TRỊ GIA TĂNG VÀ NHẬN XÉT</a:t>
            </a:r>
            <a:endParaRPr lang="en-US" sz="2500" dirty="0"/>
          </a:p>
        </p:txBody>
      </p:sp>
      <p:sp>
        <p:nvSpPr>
          <p:cNvPr id="5" name="Text 3"/>
          <p:cNvSpPr txBox="1"/>
          <p:nvPr/>
        </p:nvSpPr>
        <p:spPr>
          <a:xfrm>
            <a:off x="548640" y="6419088"/>
            <a:ext cx="8778240" cy="237744"/>
          </a:xfrm>
          <a:prstGeom prst="rect">
            <a:avLst/>
          </a:prstGeom>
          <a:noFill/>
          <a:ln/>
        </p:spPr>
        <p:txBody>
          <a:bodyPr wrap="square" lIns="0" tIns="0" rIns="0" bIns="0" rtlCol="0" anchor="t"/>
          <a:lstStyle/>
          <a:p>
            <a:pPr marL="0" indent="0">
              <a:buNone/>
            </a:pPr>
            <a:r>
              <a:rPr lang="en-US" sz="850" dirty="0">
                <a:solidFill>
                  <a:srgbClr val="6E7A88"/>
                </a:solidFill>
                <a:latin typeface="Calibri" pitchFamily="34" charset="0"/>
                <a:ea typeface="Calibri" pitchFamily="34" charset="-122"/>
                <a:cs typeface="Calibri" pitchFamily="34" charset="-120"/>
              </a:rPr>
              <a:t>HỆ THỐNG QUẢN TRỊ QUY TRÌNH NGHIỆP VỤ  ·  SACOMBANK — QUY TRÌNH PYC</a:t>
            </a:r>
            <a:endParaRPr lang="en-US" sz="850" dirty="0"/>
          </a:p>
        </p:txBody>
      </p:sp>
      <p:sp>
        <p:nvSpPr>
          <p:cNvPr id="6" name="Text 4"/>
          <p:cNvSpPr txBox="1"/>
          <p:nvPr/>
        </p:nvSpPr>
        <p:spPr>
          <a:xfrm>
            <a:off x="11155680" y="6382512"/>
            <a:ext cx="484632" cy="274320"/>
          </a:xfrm>
          <a:prstGeom prst="rect">
            <a:avLst/>
          </a:prstGeom>
          <a:noFill/>
          <a:ln/>
        </p:spPr>
        <p:txBody>
          <a:bodyPr wrap="square" lIns="0" tIns="0" rIns="0" bIns="0" rtlCol="0" anchor="t"/>
          <a:lstStyle/>
          <a:p>
            <a:pPr marL="0" indent="0" algn="r">
              <a:buNone/>
            </a:pPr>
            <a:r>
              <a:rPr lang="en-US" sz="1100" b="1" dirty="0">
                <a:solidFill>
                  <a:srgbClr val="A5741A"/>
                </a:solidFill>
                <a:latin typeface="Calibri" pitchFamily="34" charset="0"/>
                <a:ea typeface="Calibri" pitchFamily="34" charset="-122"/>
                <a:cs typeface="Calibri" pitchFamily="34" charset="-120"/>
              </a:rPr>
              <a:t>33</a:t>
            </a:r>
            <a:endParaRPr lang="en-US" sz="1100" dirty="0"/>
          </a:p>
        </p:txBody>
      </p:sp>
      <p:sp>
        <p:nvSpPr>
          <p:cNvPr id="7" name="Shape 5"/>
          <p:cNvSpPr/>
          <p:nvPr/>
        </p:nvSpPr>
        <p:spPr>
          <a:xfrm>
            <a:off x="548640" y="1426464"/>
            <a:ext cx="3515258" cy="1481328"/>
          </a:xfrm>
          <a:prstGeom prst="roundRect">
            <a:avLst>
              <a:gd name="adj" fmla="val 3704"/>
            </a:avLst>
          </a:prstGeom>
          <a:solidFill>
            <a:srgbClr val="EFF4FB"/>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8" name="Text 6"/>
          <p:cNvSpPr txBox="1"/>
          <p:nvPr/>
        </p:nvSpPr>
        <p:spPr>
          <a:xfrm>
            <a:off x="731520" y="1554480"/>
            <a:ext cx="3149498" cy="475488"/>
          </a:xfrm>
          <a:prstGeom prst="rect">
            <a:avLst/>
          </a:prstGeom>
          <a:noFill/>
          <a:ln/>
        </p:spPr>
        <p:txBody>
          <a:bodyPr wrap="square" lIns="0" tIns="0" rIns="0" bIns="0" rtlCol="0" anchor="t"/>
          <a:lstStyle/>
          <a:p>
            <a:pPr marL="0" indent="0">
              <a:buNone/>
            </a:pPr>
            <a:r>
              <a:rPr lang="en-US" sz="3000" b="1" dirty="0">
                <a:solidFill>
                  <a:srgbClr val="0E7A5F"/>
                </a:solidFill>
                <a:latin typeface="Calibri" pitchFamily="34" charset="0"/>
                <a:ea typeface="Calibri" pitchFamily="34" charset="-122"/>
                <a:cs typeface="Calibri" pitchFamily="34" charset="-120"/>
              </a:rPr>
              <a:t>03</a:t>
            </a:r>
            <a:endParaRPr lang="en-US" sz="3000" dirty="0"/>
          </a:p>
        </p:txBody>
      </p:sp>
      <p:sp>
        <p:nvSpPr>
          <p:cNvPr id="9" name="Text 7"/>
          <p:cNvSpPr txBox="1"/>
          <p:nvPr/>
        </p:nvSpPr>
        <p:spPr>
          <a:xfrm>
            <a:off x="731520" y="2029968"/>
            <a:ext cx="3149498" cy="237744"/>
          </a:xfrm>
          <a:prstGeom prst="rect">
            <a:avLst/>
          </a:prstGeom>
          <a:noFill/>
          <a:ln/>
        </p:spPr>
        <p:txBody>
          <a:bodyPr wrap="square" lIns="0" tIns="0" rIns="0" bIns="0" rtlCol="0" anchor="t"/>
          <a:lstStyle/>
          <a:p>
            <a:pPr marL="0" indent="0">
              <a:buNone/>
            </a:pPr>
            <a:r>
              <a:rPr lang="en-US" sz="950" b="1" kern="0" spc="80" dirty="0">
                <a:solidFill>
                  <a:srgbClr val="0B3B75"/>
                </a:solidFill>
                <a:latin typeface="Calibri" pitchFamily="34" charset="0"/>
                <a:ea typeface="Calibri" pitchFamily="34" charset="-122"/>
                <a:cs typeface="Calibri" pitchFamily="34" charset="-120"/>
              </a:rPr>
              <a:t>TÁC VỤ VA</a:t>
            </a:r>
            <a:endParaRPr lang="en-US" sz="950" dirty="0"/>
          </a:p>
        </p:txBody>
      </p:sp>
      <p:sp>
        <p:nvSpPr>
          <p:cNvPr id="10" name="Text 8"/>
          <p:cNvSpPr txBox="1"/>
          <p:nvPr/>
        </p:nvSpPr>
        <p:spPr>
          <a:xfrm>
            <a:off x="731520" y="2286000"/>
            <a:ext cx="3149498" cy="548640"/>
          </a:xfrm>
          <a:prstGeom prst="rect">
            <a:avLst/>
          </a:prstGeom>
          <a:noFill/>
          <a:ln/>
        </p:spPr>
        <p:txBody>
          <a:bodyPr wrap="square" lIns="0" tIns="0" rIns="0" bIns="0" rtlCol="0" anchor="t"/>
          <a:lstStyle/>
          <a:p>
            <a:pPr marL="0" indent="0">
              <a:buNone/>
            </a:pPr>
            <a:r>
              <a:rPr lang="en-US" sz="950" dirty="0">
                <a:solidFill>
                  <a:srgbClr val="6E7A88"/>
                </a:solidFill>
                <a:latin typeface="Calibri" pitchFamily="34" charset="0"/>
                <a:ea typeface="Calibri" pitchFamily="34" charset="-122"/>
                <a:cs typeface="Calibri" pitchFamily="34" charset="-120"/>
              </a:rPr>
              <a:t>Value-Adding — trực tiếp tạo giá trị: tạo và gửi PYC, cấu hình cấp quyền và xử lý kỹ thuật tại Level 2.</a:t>
            </a:r>
            <a:endParaRPr lang="en-US" sz="950" dirty="0"/>
          </a:p>
        </p:txBody>
      </p:sp>
      <p:sp>
        <p:nvSpPr>
          <p:cNvPr id="11" name="Shape 9"/>
          <p:cNvSpPr/>
          <p:nvPr/>
        </p:nvSpPr>
        <p:spPr>
          <a:xfrm>
            <a:off x="4338218" y="1426464"/>
            <a:ext cx="3515258" cy="1481328"/>
          </a:xfrm>
          <a:prstGeom prst="roundRect">
            <a:avLst>
              <a:gd name="adj" fmla="val 3704"/>
            </a:avLst>
          </a:prstGeom>
          <a:solidFill>
            <a:srgbClr val="EFF4FB"/>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12" name="Text 10"/>
          <p:cNvSpPr txBox="1"/>
          <p:nvPr/>
        </p:nvSpPr>
        <p:spPr>
          <a:xfrm>
            <a:off x="4521098" y="1554480"/>
            <a:ext cx="3149498" cy="475488"/>
          </a:xfrm>
          <a:prstGeom prst="rect">
            <a:avLst/>
          </a:prstGeom>
          <a:noFill/>
          <a:ln/>
        </p:spPr>
        <p:txBody>
          <a:bodyPr wrap="square" lIns="0" tIns="0" rIns="0" bIns="0" rtlCol="0" anchor="t"/>
          <a:lstStyle/>
          <a:p>
            <a:pPr marL="0" indent="0">
              <a:buNone/>
            </a:pPr>
            <a:r>
              <a:rPr lang="en-US" sz="3000" b="1" dirty="0">
                <a:solidFill>
                  <a:srgbClr val="A5741A"/>
                </a:solidFill>
                <a:latin typeface="Calibri" pitchFamily="34" charset="0"/>
                <a:ea typeface="Calibri" pitchFamily="34" charset="-122"/>
                <a:cs typeface="Calibri" pitchFamily="34" charset="-120"/>
              </a:rPr>
              <a:t>18</a:t>
            </a:r>
            <a:endParaRPr lang="en-US" sz="3000" dirty="0"/>
          </a:p>
        </p:txBody>
      </p:sp>
      <p:sp>
        <p:nvSpPr>
          <p:cNvPr id="13" name="Text 11"/>
          <p:cNvSpPr txBox="1"/>
          <p:nvPr/>
        </p:nvSpPr>
        <p:spPr>
          <a:xfrm>
            <a:off x="4521098" y="2029968"/>
            <a:ext cx="3149498" cy="237744"/>
          </a:xfrm>
          <a:prstGeom prst="rect">
            <a:avLst/>
          </a:prstGeom>
          <a:noFill/>
          <a:ln/>
        </p:spPr>
        <p:txBody>
          <a:bodyPr wrap="square" lIns="0" tIns="0" rIns="0" bIns="0" rtlCol="0" anchor="t"/>
          <a:lstStyle/>
          <a:p>
            <a:pPr marL="0" indent="0">
              <a:buNone/>
            </a:pPr>
            <a:r>
              <a:rPr lang="en-US" sz="950" b="1" kern="0" spc="80" dirty="0">
                <a:solidFill>
                  <a:srgbClr val="0B3B75"/>
                </a:solidFill>
                <a:latin typeface="Calibri" pitchFamily="34" charset="0"/>
                <a:ea typeface="Calibri" pitchFamily="34" charset="-122"/>
                <a:cs typeface="Calibri" pitchFamily="34" charset="-120"/>
              </a:rPr>
              <a:t>TÁC VỤ VBA</a:t>
            </a:r>
            <a:endParaRPr lang="en-US" sz="950" dirty="0"/>
          </a:p>
        </p:txBody>
      </p:sp>
      <p:sp>
        <p:nvSpPr>
          <p:cNvPr id="14" name="Text 12"/>
          <p:cNvSpPr txBox="1"/>
          <p:nvPr/>
        </p:nvSpPr>
        <p:spPr>
          <a:xfrm>
            <a:off x="4521098" y="2286000"/>
            <a:ext cx="3149498" cy="548640"/>
          </a:xfrm>
          <a:prstGeom prst="rect">
            <a:avLst/>
          </a:prstGeom>
          <a:noFill/>
          <a:ln/>
        </p:spPr>
        <p:txBody>
          <a:bodyPr wrap="square" lIns="0" tIns="0" rIns="0" bIns="0" rtlCol="0" anchor="t"/>
          <a:lstStyle/>
          <a:p>
            <a:pPr marL="0" indent="0">
              <a:buNone/>
            </a:pPr>
            <a:r>
              <a:rPr lang="en-US" sz="950" dirty="0">
                <a:solidFill>
                  <a:srgbClr val="6E7A88"/>
                </a:solidFill>
                <a:latin typeface="Calibri" pitchFamily="34" charset="0"/>
                <a:ea typeface="Calibri" pitchFamily="34" charset="-122"/>
                <a:cs typeface="Calibri" pitchFamily="34" charset="-120"/>
              </a:rPr>
              <a:t>Business Value-Adding — cần thiết để kiểm soát, tuân thủ và điều phối hồ sơ.</a:t>
            </a:r>
            <a:endParaRPr lang="en-US" sz="950" dirty="0"/>
          </a:p>
        </p:txBody>
      </p:sp>
      <p:sp>
        <p:nvSpPr>
          <p:cNvPr id="15" name="Shape 13"/>
          <p:cNvSpPr/>
          <p:nvPr/>
        </p:nvSpPr>
        <p:spPr>
          <a:xfrm>
            <a:off x="8127797" y="1426464"/>
            <a:ext cx="3515258" cy="1481328"/>
          </a:xfrm>
          <a:prstGeom prst="roundRect">
            <a:avLst>
              <a:gd name="adj" fmla="val 3704"/>
            </a:avLst>
          </a:prstGeom>
          <a:solidFill>
            <a:srgbClr val="EFF4FB"/>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16" name="Text 14"/>
          <p:cNvSpPr txBox="1"/>
          <p:nvPr/>
        </p:nvSpPr>
        <p:spPr>
          <a:xfrm>
            <a:off x="8310677" y="1554480"/>
            <a:ext cx="3149498" cy="475488"/>
          </a:xfrm>
          <a:prstGeom prst="rect">
            <a:avLst/>
          </a:prstGeom>
          <a:noFill/>
          <a:ln/>
        </p:spPr>
        <p:txBody>
          <a:bodyPr wrap="square" lIns="0" tIns="0" rIns="0" bIns="0" rtlCol="0" anchor="t"/>
          <a:lstStyle/>
          <a:p>
            <a:pPr marL="0" indent="0">
              <a:buNone/>
            </a:pPr>
            <a:r>
              <a:rPr lang="en-US" sz="3000" b="1" dirty="0">
                <a:solidFill>
                  <a:srgbClr val="C0392B"/>
                </a:solidFill>
                <a:latin typeface="Calibri" pitchFamily="34" charset="0"/>
                <a:ea typeface="Calibri" pitchFamily="34" charset="-122"/>
                <a:cs typeface="Calibri" pitchFamily="34" charset="-120"/>
              </a:rPr>
              <a:t>02</a:t>
            </a:r>
            <a:endParaRPr lang="en-US" sz="3000" dirty="0"/>
          </a:p>
        </p:txBody>
      </p:sp>
      <p:sp>
        <p:nvSpPr>
          <p:cNvPr id="17" name="Text 15"/>
          <p:cNvSpPr txBox="1"/>
          <p:nvPr/>
        </p:nvSpPr>
        <p:spPr>
          <a:xfrm>
            <a:off x="8310677" y="2029968"/>
            <a:ext cx="3149498" cy="237744"/>
          </a:xfrm>
          <a:prstGeom prst="rect">
            <a:avLst/>
          </a:prstGeom>
          <a:noFill/>
          <a:ln/>
        </p:spPr>
        <p:txBody>
          <a:bodyPr wrap="square" lIns="0" tIns="0" rIns="0" bIns="0" rtlCol="0" anchor="t"/>
          <a:lstStyle/>
          <a:p>
            <a:pPr marL="0" indent="0">
              <a:buNone/>
            </a:pPr>
            <a:r>
              <a:rPr lang="en-US" sz="950" b="1" kern="0" spc="80" dirty="0">
                <a:solidFill>
                  <a:srgbClr val="0B3B75"/>
                </a:solidFill>
                <a:latin typeface="Calibri" pitchFamily="34" charset="0"/>
                <a:ea typeface="Calibri" pitchFamily="34" charset="-122"/>
                <a:cs typeface="Calibri" pitchFamily="34" charset="-120"/>
              </a:rPr>
              <a:t>TÁC VỤ NVA</a:t>
            </a:r>
            <a:endParaRPr lang="en-US" sz="950" dirty="0"/>
          </a:p>
        </p:txBody>
      </p:sp>
      <p:sp>
        <p:nvSpPr>
          <p:cNvPr id="18" name="Text 16"/>
          <p:cNvSpPr txBox="1"/>
          <p:nvPr/>
        </p:nvSpPr>
        <p:spPr>
          <a:xfrm>
            <a:off x="8310677" y="2286000"/>
            <a:ext cx="3149498" cy="548640"/>
          </a:xfrm>
          <a:prstGeom prst="rect">
            <a:avLst/>
          </a:prstGeom>
          <a:noFill/>
          <a:ln/>
        </p:spPr>
        <p:txBody>
          <a:bodyPr wrap="square" lIns="0" tIns="0" rIns="0" bIns="0" rtlCol="0" anchor="t"/>
          <a:lstStyle/>
          <a:p>
            <a:pPr marL="0" indent="0">
              <a:buNone/>
            </a:pPr>
            <a:r>
              <a:rPr lang="en-US" sz="950" dirty="0">
                <a:solidFill>
                  <a:srgbClr val="6E7A88"/>
                </a:solidFill>
                <a:latin typeface="Calibri" pitchFamily="34" charset="0"/>
                <a:ea typeface="Calibri" pitchFamily="34" charset="-122"/>
                <a:cs typeface="Calibri" pitchFamily="34" charset="-120"/>
              </a:rPr>
              <a:t>Non-Value-Adding — “Bổ sung thông tin” (vòng lặp rework) và “Gửi WO đến Level 2” (chuyển giao).</a:t>
            </a:r>
            <a:endParaRPr lang="en-US" sz="950" dirty="0"/>
          </a:p>
        </p:txBody>
      </p:sp>
      <p:grpSp>
        <p:nvGrpSpPr>
          <p:cNvPr id="38" name="Group 37">
            <a:extLst>
              <a:ext uri="{FF2B5EF4-FFF2-40B4-BE49-F238E27FC236}">
                <a16:creationId xmlns:a16="http://schemas.microsoft.com/office/drawing/2014/main" id="{889B50DE-712C-9AB7-29ED-65720D8C2340}"/>
              </a:ext>
            </a:extLst>
          </p:cNvPr>
          <p:cNvGrpSpPr/>
          <p:nvPr/>
        </p:nvGrpSpPr>
        <p:grpSpPr>
          <a:xfrm>
            <a:off x="548640" y="2953131"/>
            <a:ext cx="3515258" cy="932688"/>
            <a:chOff x="548640" y="3163824"/>
            <a:chExt cx="2956560" cy="932688"/>
          </a:xfrm>
        </p:grpSpPr>
        <p:sp>
          <p:nvSpPr>
            <p:cNvPr id="19" name="Shape 17"/>
            <p:cNvSpPr/>
            <p:nvPr/>
          </p:nvSpPr>
          <p:spPr>
            <a:xfrm>
              <a:off x="548640" y="3163824"/>
              <a:ext cx="2956560" cy="932688"/>
            </a:xfrm>
            <a:prstGeom prst="roundRect">
              <a:avLst>
                <a:gd name="adj" fmla="val 7500"/>
              </a:avLst>
            </a:prstGeom>
            <a:solidFill>
              <a:srgbClr val="FFFFFF"/>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20" name="Shape 18"/>
            <p:cNvSpPr/>
            <p:nvPr/>
          </p:nvSpPr>
          <p:spPr>
            <a:xfrm>
              <a:off x="731520" y="3410712"/>
              <a:ext cx="237744" cy="237744"/>
            </a:xfrm>
            <a:prstGeom prst="ellipse">
              <a:avLst/>
            </a:prstGeom>
            <a:solidFill>
              <a:srgbClr val="0E7A5F"/>
            </a:solidFill>
            <a:ln w="12700">
              <a:solidFill>
                <a:srgbClr val="0E7A5F"/>
              </a:solidFill>
              <a:prstDash val="solid"/>
            </a:ln>
          </p:spPr>
          <p:txBody>
            <a:bodyPr/>
            <a:lstStyle/>
            <a:p>
              <a:endParaRPr lang="en-US"/>
            </a:p>
          </p:txBody>
        </p:sp>
        <p:sp>
          <p:nvSpPr>
            <p:cNvPr id="21" name="Text 19"/>
            <p:cNvSpPr txBox="1"/>
            <p:nvPr/>
          </p:nvSpPr>
          <p:spPr>
            <a:xfrm>
              <a:off x="1097280" y="3236976"/>
              <a:ext cx="1769745" cy="237744"/>
            </a:xfrm>
            <a:prstGeom prst="rect">
              <a:avLst/>
            </a:prstGeom>
            <a:noFill/>
            <a:ln/>
          </p:spPr>
          <p:txBody>
            <a:bodyPr wrap="square" lIns="0" tIns="0" rIns="0" bIns="0" rtlCol="0" anchor="t"/>
            <a:lstStyle/>
            <a:p>
              <a:pPr marL="0" indent="0">
                <a:buNone/>
              </a:pPr>
              <a:r>
                <a:rPr lang="en-US" sz="1150" b="1" dirty="0">
                  <a:solidFill>
                    <a:srgbClr val="0B3B75"/>
                  </a:solidFill>
                  <a:latin typeface="Calibri" pitchFamily="34" charset="0"/>
                  <a:ea typeface="Calibri" pitchFamily="34" charset="-122"/>
                  <a:cs typeface="Calibri" pitchFamily="34" charset="-120"/>
                </a:rPr>
                <a:t>VA — trung tâm tạo giá trị</a:t>
              </a:r>
              <a:endParaRPr lang="en-US" sz="1150" dirty="0"/>
            </a:p>
          </p:txBody>
        </p:sp>
        <p:sp>
          <p:nvSpPr>
            <p:cNvPr id="22" name="Text 20"/>
            <p:cNvSpPr txBox="1"/>
            <p:nvPr/>
          </p:nvSpPr>
          <p:spPr>
            <a:xfrm>
              <a:off x="1097279" y="3474720"/>
              <a:ext cx="2268093" cy="384048"/>
            </a:xfrm>
            <a:prstGeom prst="rect">
              <a:avLst/>
            </a:prstGeom>
            <a:noFill/>
            <a:ln/>
          </p:spPr>
          <p:txBody>
            <a:bodyPr wrap="square" lIns="0" tIns="0" rIns="0" bIns="0" rtlCol="0" anchor="t"/>
            <a:lstStyle/>
            <a:p>
              <a:pPr marL="0" indent="0">
                <a:buNone/>
              </a:pPr>
              <a:r>
                <a:rPr lang="en-US" sz="950" dirty="0">
                  <a:solidFill>
                    <a:srgbClr val="6E7A88"/>
                  </a:solidFill>
                  <a:latin typeface="Calibri" pitchFamily="34" charset="0"/>
                  <a:ea typeface="Calibri" pitchFamily="34" charset="-122"/>
                  <a:cs typeface="Calibri" pitchFamily="34" charset="-120"/>
                </a:rPr>
                <a:t>Chỉ 03/23 hoạt động (13%) trực tiếp tạo giá trị cho khách hàng nội bộ: tạo và gửi PYC, cấu hình cấp quyền, xử lý kỹ thuật tại Level 2.</a:t>
              </a:r>
              <a:endParaRPr lang="en-US" sz="950" dirty="0"/>
            </a:p>
          </p:txBody>
        </p:sp>
      </p:grpSp>
      <p:grpSp>
        <p:nvGrpSpPr>
          <p:cNvPr id="39" name="Group 38">
            <a:extLst>
              <a:ext uri="{FF2B5EF4-FFF2-40B4-BE49-F238E27FC236}">
                <a16:creationId xmlns:a16="http://schemas.microsoft.com/office/drawing/2014/main" id="{EEC43D36-7E6E-BA08-616E-F573AAC1111F}"/>
              </a:ext>
            </a:extLst>
          </p:cNvPr>
          <p:cNvGrpSpPr/>
          <p:nvPr/>
        </p:nvGrpSpPr>
        <p:grpSpPr>
          <a:xfrm>
            <a:off x="8127795" y="2950083"/>
            <a:ext cx="3515259" cy="932688"/>
            <a:chOff x="548640" y="4023360"/>
            <a:chExt cx="2956560" cy="932688"/>
          </a:xfrm>
        </p:grpSpPr>
        <p:sp>
          <p:nvSpPr>
            <p:cNvPr id="23" name="Shape 21"/>
            <p:cNvSpPr/>
            <p:nvPr/>
          </p:nvSpPr>
          <p:spPr>
            <a:xfrm>
              <a:off x="548640" y="4023360"/>
              <a:ext cx="2956560" cy="932688"/>
            </a:xfrm>
            <a:prstGeom prst="roundRect">
              <a:avLst>
                <a:gd name="adj" fmla="val 7500"/>
              </a:avLst>
            </a:prstGeom>
            <a:solidFill>
              <a:srgbClr val="FFFFFF"/>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24" name="Shape 22"/>
            <p:cNvSpPr/>
            <p:nvPr/>
          </p:nvSpPr>
          <p:spPr>
            <a:xfrm>
              <a:off x="731520" y="4270248"/>
              <a:ext cx="237744" cy="237744"/>
            </a:xfrm>
            <a:prstGeom prst="ellipse">
              <a:avLst/>
            </a:prstGeom>
            <a:solidFill>
              <a:srgbClr val="C0392B"/>
            </a:solidFill>
            <a:ln w="12700">
              <a:solidFill>
                <a:srgbClr val="C0392B"/>
              </a:solidFill>
              <a:prstDash val="solid"/>
            </a:ln>
          </p:spPr>
          <p:txBody>
            <a:bodyPr/>
            <a:lstStyle/>
            <a:p>
              <a:endParaRPr lang="en-US"/>
            </a:p>
          </p:txBody>
        </p:sp>
        <p:sp>
          <p:nvSpPr>
            <p:cNvPr id="25" name="Text 23"/>
            <p:cNvSpPr txBox="1"/>
            <p:nvPr/>
          </p:nvSpPr>
          <p:spPr>
            <a:xfrm>
              <a:off x="1097280" y="4096512"/>
              <a:ext cx="2179320" cy="237744"/>
            </a:xfrm>
            <a:prstGeom prst="rect">
              <a:avLst/>
            </a:prstGeom>
            <a:noFill/>
            <a:ln/>
          </p:spPr>
          <p:txBody>
            <a:bodyPr wrap="square" lIns="0" tIns="0" rIns="0" bIns="0" rtlCol="0" anchor="t"/>
            <a:lstStyle/>
            <a:p>
              <a:pPr marL="0" indent="0">
                <a:buNone/>
              </a:pPr>
              <a:r>
                <a:rPr lang="en-US" sz="1150" b="1" dirty="0">
                  <a:solidFill>
                    <a:srgbClr val="0B3B75"/>
                  </a:solidFill>
                  <a:latin typeface="Calibri" pitchFamily="34" charset="0"/>
                  <a:ea typeface="Calibri" pitchFamily="34" charset="-122"/>
                  <a:cs typeface="Calibri" pitchFamily="34" charset="-120"/>
                </a:rPr>
                <a:t>NVA — điểm nghẽn cần triệt tiêu</a:t>
              </a:r>
              <a:endParaRPr lang="en-US" sz="1150" dirty="0"/>
            </a:p>
          </p:txBody>
        </p:sp>
        <p:sp>
          <p:nvSpPr>
            <p:cNvPr id="26" name="Text 24"/>
            <p:cNvSpPr txBox="1"/>
            <p:nvPr/>
          </p:nvSpPr>
          <p:spPr>
            <a:xfrm>
              <a:off x="1097280" y="4334256"/>
              <a:ext cx="2268092" cy="384048"/>
            </a:xfrm>
            <a:prstGeom prst="rect">
              <a:avLst/>
            </a:prstGeom>
            <a:noFill/>
            <a:ln/>
          </p:spPr>
          <p:txBody>
            <a:bodyPr wrap="square" lIns="0" tIns="0" rIns="0" bIns="0" rtlCol="0" anchor="t"/>
            <a:lstStyle/>
            <a:p>
              <a:pPr marL="0" indent="0">
                <a:buNone/>
              </a:pPr>
              <a:r>
                <a:rPr lang="en-US" sz="950" dirty="0">
                  <a:solidFill>
                    <a:srgbClr val="6E7A88"/>
                  </a:solidFill>
                  <a:latin typeface="Calibri" pitchFamily="34" charset="0"/>
                  <a:ea typeface="Calibri" pitchFamily="34" charset="-122"/>
                  <a:cs typeface="Calibri" pitchFamily="34" charset="-120"/>
                </a:rPr>
                <a:t>“Bổ sung thông tin” là bottleneck sinh ra rework, “Gửi WO đến Level 2” là lãng phí Move — cần chuẩn hóa biểu mẫu đầu vào và rút gọn chuyển giao.</a:t>
              </a:r>
              <a:endParaRPr lang="en-US" sz="950" dirty="0"/>
            </a:p>
          </p:txBody>
        </p:sp>
      </p:grpSp>
      <p:grpSp>
        <p:nvGrpSpPr>
          <p:cNvPr id="40" name="Group 39">
            <a:extLst>
              <a:ext uri="{FF2B5EF4-FFF2-40B4-BE49-F238E27FC236}">
                <a16:creationId xmlns:a16="http://schemas.microsoft.com/office/drawing/2014/main" id="{8376FA92-6B70-6EEB-214C-4BC5E70C9A3D}"/>
              </a:ext>
            </a:extLst>
          </p:cNvPr>
          <p:cNvGrpSpPr/>
          <p:nvPr/>
        </p:nvGrpSpPr>
        <p:grpSpPr>
          <a:xfrm>
            <a:off x="4338218" y="2971419"/>
            <a:ext cx="3515258" cy="932688"/>
            <a:chOff x="548640" y="4882896"/>
            <a:chExt cx="2956560" cy="932688"/>
          </a:xfrm>
        </p:grpSpPr>
        <p:sp>
          <p:nvSpPr>
            <p:cNvPr id="27" name="Shape 25"/>
            <p:cNvSpPr/>
            <p:nvPr/>
          </p:nvSpPr>
          <p:spPr>
            <a:xfrm>
              <a:off x="548640" y="4882896"/>
              <a:ext cx="2956560" cy="932688"/>
            </a:xfrm>
            <a:prstGeom prst="roundRect">
              <a:avLst>
                <a:gd name="adj" fmla="val 7500"/>
              </a:avLst>
            </a:prstGeom>
            <a:solidFill>
              <a:srgbClr val="FFFFFF"/>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28" name="Shape 26"/>
            <p:cNvSpPr/>
            <p:nvPr/>
          </p:nvSpPr>
          <p:spPr>
            <a:xfrm>
              <a:off x="731520" y="5129784"/>
              <a:ext cx="237744" cy="237744"/>
            </a:xfrm>
            <a:prstGeom prst="ellipse">
              <a:avLst/>
            </a:prstGeom>
            <a:solidFill>
              <a:srgbClr val="A5741A"/>
            </a:solidFill>
            <a:ln w="12700">
              <a:solidFill>
                <a:srgbClr val="A5741A"/>
              </a:solidFill>
              <a:prstDash val="solid"/>
            </a:ln>
          </p:spPr>
          <p:txBody>
            <a:bodyPr/>
            <a:lstStyle/>
            <a:p>
              <a:endParaRPr lang="en-US"/>
            </a:p>
          </p:txBody>
        </p:sp>
        <p:sp>
          <p:nvSpPr>
            <p:cNvPr id="29" name="Text 27"/>
            <p:cNvSpPr txBox="1"/>
            <p:nvPr/>
          </p:nvSpPr>
          <p:spPr>
            <a:xfrm>
              <a:off x="1097280" y="4956048"/>
              <a:ext cx="2268092" cy="237744"/>
            </a:xfrm>
            <a:prstGeom prst="rect">
              <a:avLst/>
            </a:prstGeom>
            <a:noFill/>
            <a:ln/>
          </p:spPr>
          <p:txBody>
            <a:bodyPr wrap="square" lIns="0" tIns="0" rIns="0" bIns="0" rtlCol="0" anchor="t"/>
            <a:lstStyle/>
            <a:p>
              <a:pPr marL="0" indent="0">
                <a:buNone/>
              </a:pPr>
              <a:r>
                <a:rPr lang="en-US" sz="1150" b="1" dirty="0">
                  <a:solidFill>
                    <a:srgbClr val="0B3B75"/>
                  </a:solidFill>
                  <a:latin typeface="Calibri" pitchFamily="34" charset="0"/>
                  <a:ea typeface="Calibri" pitchFamily="34" charset="-122"/>
                  <a:cs typeface="Calibri" pitchFamily="34" charset="-120"/>
                </a:rPr>
                <a:t>VBA — cần tối ưu, không cắt bỏ</a:t>
              </a:r>
              <a:endParaRPr lang="en-US" sz="1150" dirty="0"/>
            </a:p>
          </p:txBody>
        </p:sp>
        <p:sp>
          <p:nvSpPr>
            <p:cNvPr id="30" name="Text 28"/>
            <p:cNvSpPr txBox="1"/>
            <p:nvPr/>
          </p:nvSpPr>
          <p:spPr>
            <a:xfrm>
              <a:off x="1097280" y="5193792"/>
              <a:ext cx="2268092" cy="384048"/>
            </a:xfrm>
            <a:prstGeom prst="rect">
              <a:avLst/>
            </a:prstGeom>
            <a:noFill/>
            <a:ln/>
          </p:spPr>
          <p:txBody>
            <a:bodyPr wrap="square" lIns="0" tIns="0" rIns="0" bIns="0" rtlCol="0" anchor="t"/>
            <a:lstStyle/>
            <a:p>
              <a:pPr marL="0" indent="0">
                <a:buNone/>
              </a:pPr>
              <a:r>
                <a:rPr lang="en-US" sz="950" dirty="0">
                  <a:solidFill>
                    <a:srgbClr val="6E7A88"/>
                  </a:solidFill>
                  <a:latin typeface="Calibri" pitchFamily="34" charset="0"/>
                  <a:ea typeface="Calibri" pitchFamily="34" charset="-122"/>
                  <a:cs typeface="Calibri" pitchFamily="34" charset="-120"/>
                </a:rPr>
                <a:t>Chiếm tới 18/23 hoạt động (78%) — quy trình nặng về kiểm soát và điều phối. Hướng đi là tự động duyệt quyền cơ bản để giảm Lead Time, không phải loại bỏ kiểm soát.</a:t>
              </a:r>
              <a:endParaRPr lang="en-US" sz="950" dirty="0"/>
            </a:p>
          </p:txBody>
        </p:sp>
      </p:gr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304BFCB-84E3-88C6-8653-8C136CF4F797}"/>
              </a:ext>
            </a:extLst>
          </p:cNvPr>
          <p:cNvPicPr>
            <a:picLocks noChangeAspect="1"/>
          </p:cNvPicPr>
          <p:nvPr/>
        </p:nvPicPr>
        <p:blipFill>
          <a:blip r:embed="rId2"/>
          <a:stretch>
            <a:fillRect/>
          </a:stretch>
        </p:blipFill>
        <p:spPr>
          <a:xfrm>
            <a:off x="2376788" y="1021842"/>
            <a:ext cx="8318529" cy="5543550"/>
          </a:xfrm>
          <a:prstGeom prst="rect">
            <a:avLst/>
          </a:prstGeom>
        </p:spPr>
      </p:pic>
      <p:sp>
        <p:nvSpPr>
          <p:cNvPr id="45" name="Shape 0">
            <a:extLst>
              <a:ext uri="{FF2B5EF4-FFF2-40B4-BE49-F238E27FC236}">
                <a16:creationId xmlns:a16="http://schemas.microsoft.com/office/drawing/2014/main" id="{0F571DE9-A353-A955-6F93-3E7CFC9E8E41}"/>
              </a:ext>
            </a:extLst>
          </p:cNvPr>
          <p:cNvSpPr/>
          <p:nvPr/>
        </p:nvSpPr>
        <p:spPr>
          <a:xfrm>
            <a:off x="548640" y="365760"/>
            <a:ext cx="123444" cy="123444"/>
          </a:xfrm>
          <a:prstGeom prst="ellipse">
            <a:avLst/>
          </a:prstGeom>
          <a:solidFill>
            <a:srgbClr val="D9A227"/>
          </a:solidFill>
          <a:ln w="12700">
            <a:solidFill>
              <a:srgbClr val="D9A227"/>
            </a:solidFill>
            <a:prstDash val="solid"/>
          </a:ln>
        </p:spPr>
        <p:txBody>
          <a:bodyPr/>
          <a:lstStyle/>
          <a:p>
            <a:endParaRPr lang="en-US"/>
          </a:p>
        </p:txBody>
      </p:sp>
      <p:sp>
        <p:nvSpPr>
          <p:cNvPr id="47" name="Text 1">
            <a:extLst>
              <a:ext uri="{FF2B5EF4-FFF2-40B4-BE49-F238E27FC236}">
                <a16:creationId xmlns:a16="http://schemas.microsoft.com/office/drawing/2014/main" id="{C765A68A-90E6-9C71-5D05-79387E54C62F}"/>
              </a:ext>
            </a:extLst>
          </p:cNvPr>
          <p:cNvSpPr txBox="1"/>
          <p:nvPr/>
        </p:nvSpPr>
        <p:spPr>
          <a:xfrm>
            <a:off x="804672" y="292608"/>
            <a:ext cx="10838383" cy="237744"/>
          </a:xfrm>
          <a:prstGeom prst="rect">
            <a:avLst/>
          </a:prstGeom>
          <a:noFill/>
          <a:ln/>
        </p:spPr>
        <p:txBody>
          <a:bodyPr wrap="square" lIns="0" tIns="0" rIns="0" bIns="0" rtlCol="0" anchor="t"/>
          <a:lstStyle/>
          <a:p>
            <a:pPr marL="0" indent="0">
              <a:buNone/>
            </a:pPr>
            <a:r>
              <a:rPr lang="en-US" sz="1050" b="1" kern="0" spc="120" dirty="0">
                <a:solidFill>
                  <a:srgbClr val="A5741A"/>
                </a:solidFill>
                <a:latin typeface="Calibri" pitchFamily="34" charset="0"/>
                <a:ea typeface="Calibri" pitchFamily="34" charset="-122"/>
                <a:cs typeface="Calibri" pitchFamily="34" charset="-120"/>
              </a:rPr>
              <a:t>CHƯƠNG 4 · 4.1.1 PHÂN TÍCH ĐỊNH TÍNH</a:t>
            </a:r>
            <a:endParaRPr lang="en-US" sz="1050" dirty="0"/>
          </a:p>
        </p:txBody>
      </p:sp>
      <p:sp>
        <p:nvSpPr>
          <p:cNvPr id="49" name="Text 2">
            <a:extLst>
              <a:ext uri="{FF2B5EF4-FFF2-40B4-BE49-F238E27FC236}">
                <a16:creationId xmlns:a16="http://schemas.microsoft.com/office/drawing/2014/main" id="{7DA07926-6C09-EBE3-9BBF-D571819F632B}"/>
              </a:ext>
            </a:extLst>
          </p:cNvPr>
          <p:cNvSpPr txBox="1"/>
          <p:nvPr/>
        </p:nvSpPr>
        <p:spPr>
          <a:xfrm>
            <a:off x="548640" y="566928"/>
            <a:ext cx="11094415" cy="457200"/>
          </a:xfrm>
          <a:prstGeom prst="rect">
            <a:avLst/>
          </a:prstGeom>
          <a:noFill/>
          <a:ln/>
        </p:spPr>
        <p:txBody>
          <a:bodyPr wrap="square" lIns="0" tIns="0" rIns="0" bIns="0" rtlCol="0" anchor="t"/>
          <a:lstStyle/>
          <a:p>
            <a:pPr marL="0" indent="0">
              <a:buNone/>
            </a:pPr>
            <a:r>
              <a:rPr lang="en-US" sz="2500" b="1" dirty="0">
                <a:solidFill>
                  <a:srgbClr val="0B3B75"/>
                </a:solidFill>
                <a:latin typeface="Calibri" pitchFamily="34" charset="0"/>
                <a:ea typeface="Calibri" pitchFamily="34" charset="-122"/>
                <a:cs typeface="Calibri" pitchFamily="34" charset="-120"/>
              </a:rPr>
              <a:t>TỔNG HỢP GIÁ TRỊ GIA TĂNG VÀ NHẬN XÉT</a:t>
            </a:r>
            <a:endParaRPr lang="en-US" sz="2500" dirty="0"/>
          </a:p>
        </p:txBody>
      </p:sp>
      <p:sp>
        <p:nvSpPr>
          <p:cNvPr id="39" name="Shape 25">
            <a:extLst>
              <a:ext uri="{FF2B5EF4-FFF2-40B4-BE49-F238E27FC236}">
                <a16:creationId xmlns:a16="http://schemas.microsoft.com/office/drawing/2014/main" id="{41C3719E-2CE6-4143-7192-CAFC3ED3AC96}"/>
              </a:ext>
            </a:extLst>
          </p:cNvPr>
          <p:cNvSpPr/>
          <p:nvPr/>
        </p:nvSpPr>
        <p:spPr>
          <a:xfrm>
            <a:off x="320040" y="1627250"/>
            <a:ext cx="1146810" cy="1249299"/>
          </a:xfrm>
          <a:prstGeom prst="roundRect">
            <a:avLst>
              <a:gd name="adj" fmla="val 7500"/>
            </a:avLst>
          </a:prstGeom>
          <a:solidFill>
            <a:srgbClr val="FFFFFF"/>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grpSp>
        <p:nvGrpSpPr>
          <p:cNvPr id="50" name="Group 49">
            <a:extLst>
              <a:ext uri="{FF2B5EF4-FFF2-40B4-BE49-F238E27FC236}">
                <a16:creationId xmlns:a16="http://schemas.microsoft.com/office/drawing/2014/main" id="{752F2DE3-5285-70BA-6799-767FF57F6FC4}"/>
              </a:ext>
            </a:extLst>
          </p:cNvPr>
          <p:cNvGrpSpPr/>
          <p:nvPr/>
        </p:nvGrpSpPr>
        <p:grpSpPr>
          <a:xfrm>
            <a:off x="470507" y="1681924"/>
            <a:ext cx="540314" cy="274701"/>
            <a:chOff x="502920" y="3200019"/>
            <a:chExt cx="540314" cy="274701"/>
          </a:xfrm>
        </p:grpSpPr>
        <p:sp>
          <p:nvSpPr>
            <p:cNvPr id="30" name="Shape 18">
              <a:extLst>
                <a:ext uri="{FF2B5EF4-FFF2-40B4-BE49-F238E27FC236}">
                  <a16:creationId xmlns:a16="http://schemas.microsoft.com/office/drawing/2014/main" id="{DB88EC5C-2F5D-2A8F-AEE7-7B560F350F94}"/>
                </a:ext>
              </a:extLst>
            </p:cNvPr>
            <p:cNvSpPr/>
            <p:nvPr/>
          </p:nvSpPr>
          <p:spPr>
            <a:xfrm>
              <a:off x="502920" y="3200019"/>
              <a:ext cx="237744" cy="237744"/>
            </a:xfrm>
            <a:prstGeom prst="ellipse">
              <a:avLst/>
            </a:prstGeom>
            <a:solidFill>
              <a:srgbClr val="0E7A5F"/>
            </a:solidFill>
            <a:ln w="12700">
              <a:solidFill>
                <a:srgbClr val="0E7A5F"/>
              </a:solidFill>
              <a:prstDash val="solid"/>
            </a:ln>
          </p:spPr>
          <p:txBody>
            <a:bodyPr/>
            <a:lstStyle/>
            <a:p>
              <a:endParaRPr lang="en-US"/>
            </a:p>
          </p:txBody>
        </p:sp>
        <p:sp>
          <p:nvSpPr>
            <p:cNvPr id="31" name="Text 19">
              <a:extLst>
                <a:ext uri="{FF2B5EF4-FFF2-40B4-BE49-F238E27FC236}">
                  <a16:creationId xmlns:a16="http://schemas.microsoft.com/office/drawing/2014/main" id="{3D819B59-43AC-9289-CBB0-DE9939EEF64C}"/>
                </a:ext>
              </a:extLst>
            </p:cNvPr>
            <p:cNvSpPr txBox="1"/>
            <p:nvPr/>
          </p:nvSpPr>
          <p:spPr>
            <a:xfrm>
              <a:off x="805489" y="3236976"/>
              <a:ext cx="237745" cy="237744"/>
            </a:xfrm>
            <a:prstGeom prst="rect">
              <a:avLst/>
            </a:prstGeom>
            <a:noFill/>
            <a:ln/>
          </p:spPr>
          <p:txBody>
            <a:bodyPr wrap="square" lIns="0" tIns="0" rIns="0" bIns="0" rtlCol="0" anchor="t"/>
            <a:lstStyle/>
            <a:p>
              <a:pPr marL="0" indent="0">
                <a:buNone/>
              </a:pPr>
              <a:r>
                <a:rPr lang="en-US" sz="1150" b="1" dirty="0">
                  <a:solidFill>
                    <a:srgbClr val="0B3B75"/>
                  </a:solidFill>
                  <a:latin typeface="Calibri" pitchFamily="34" charset="0"/>
                  <a:ea typeface="Calibri" pitchFamily="34" charset="-122"/>
                  <a:cs typeface="Calibri" pitchFamily="34" charset="-120"/>
                </a:rPr>
                <a:t>VA</a:t>
              </a:r>
              <a:endParaRPr lang="en-US" sz="1150" dirty="0"/>
            </a:p>
          </p:txBody>
        </p:sp>
      </p:grpSp>
      <p:grpSp>
        <p:nvGrpSpPr>
          <p:cNvPr id="51" name="Group 50">
            <a:extLst>
              <a:ext uri="{FF2B5EF4-FFF2-40B4-BE49-F238E27FC236}">
                <a16:creationId xmlns:a16="http://schemas.microsoft.com/office/drawing/2014/main" id="{3099115B-6CAF-3399-5095-48BF0D20B40F}"/>
              </a:ext>
            </a:extLst>
          </p:cNvPr>
          <p:cNvGrpSpPr/>
          <p:nvPr/>
        </p:nvGrpSpPr>
        <p:grpSpPr>
          <a:xfrm>
            <a:off x="470507" y="2048255"/>
            <a:ext cx="604757" cy="273177"/>
            <a:chOff x="502920" y="4270248"/>
            <a:chExt cx="604757" cy="273177"/>
          </a:xfrm>
        </p:grpSpPr>
        <p:sp>
          <p:nvSpPr>
            <p:cNvPr id="35" name="Shape 22">
              <a:extLst>
                <a:ext uri="{FF2B5EF4-FFF2-40B4-BE49-F238E27FC236}">
                  <a16:creationId xmlns:a16="http://schemas.microsoft.com/office/drawing/2014/main" id="{F02F071A-F279-B189-F114-5FAEBBD2A812}"/>
                </a:ext>
              </a:extLst>
            </p:cNvPr>
            <p:cNvSpPr/>
            <p:nvPr/>
          </p:nvSpPr>
          <p:spPr>
            <a:xfrm>
              <a:off x="502920" y="4270248"/>
              <a:ext cx="237744" cy="237744"/>
            </a:xfrm>
            <a:prstGeom prst="ellipse">
              <a:avLst/>
            </a:prstGeom>
            <a:solidFill>
              <a:srgbClr val="C0392B"/>
            </a:solidFill>
            <a:ln w="12700">
              <a:solidFill>
                <a:srgbClr val="C0392B"/>
              </a:solidFill>
              <a:prstDash val="solid"/>
            </a:ln>
          </p:spPr>
          <p:txBody>
            <a:bodyPr/>
            <a:lstStyle/>
            <a:p>
              <a:endParaRPr lang="en-US"/>
            </a:p>
          </p:txBody>
        </p:sp>
        <p:sp>
          <p:nvSpPr>
            <p:cNvPr id="36" name="Text 23">
              <a:extLst>
                <a:ext uri="{FF2B5EF4-FFF2-40B4-BE49-F238E27FC236}">
                  <a16:creationId xmlns:a16="http://schemas.microsoft.com/office/drawing/2014/main" id="{59FA447B-1D69-F9CA-6930-B7BF5DDCB0BE}"/>
                </a:ext>
              </a:extLst>
            </p:cNvPr>
            <p:cNvSpPr txBox="1"/>
            <p:nvPr/>
          </p:nvSpPr>
          <p:spPr>
            <a:xfrm>
              <a:off x="805489" y="4305681"/>
              <a:ext cx="302188" cy="237744"/>
            </a:xfrm>
            <a:prstGeom prst="rect">
              <a:avLst/>
            </a:prstGeom>
            <a:noFill/>
            <a:ln/>
          </p:spPr>
          <p:txBody>
            <a:bodyPr wrap="square" lIns="0" tIns="0" rIns="0" bIns="0" rtlCol="0" anchor="t"/>
            <a:lstStyle/>
            <a:p>
              <a:pPr marL="0" indent="0">
                <a:buNone/>
              </a:pPr>
              <a:r>
                <a:rPr lang="en-US" sz="1150" b="1" dirty="0">
                  <a:solidFill>
                    <a:srgbClr val="0B3B75"/>
                  </a:solidFill>
                  <a:latin typeface="Calibri" pitchFamily="34" charset="0"/>
                  <a:ea typeface="Calibri" pitchFamily="34" charset="-122"/>
                  <a:cs typeface="Calibri" pitchFamily="34" charset="-120"/>
                </a:rPr>
                <a:t>NVA</a:t>
              </a:r>
              <a:endParaRPr lang="en-US" sz="1150" dirty="0"/>
            </a:p>
          </p:txBody>
        </p:sp>
      </p:grpSp>
      <p:grpSp>
        <p:nvGrpSpPr>
          <p:cNvPr id="52" name="Group 51">
            <a:extLst>
              <a:ext uri="{FF2B5EF4-FFF2-40B4-BE49-F238E27FC236}">
                <a16:creationId xmlns:a16="http://schemas.microsoft.com/office/drawing/2014/main" id="{8EB47F0D-05BC-0885-265A-32BA1E80617C}"/>
              </a:ext>
            </a:extLst>
          </p:cNvPr>
          <p:cNvGrpSpPr/>
          <p:nvPr/>
        </p:nvGrpSpPr>
        <p:grpSpPr>
          <a:xfrm>
            <a:off x="485366" y="2418588"/>
            <a:ext cx="604757" cy="282702"/>
            <a:chOff x="502920" y="5367528"/>
            <a:chExt cx="604757" cy="282702"/>
          </a:xfrm>
        </p:grpSpPr>
        <p:sp>
          <p:nvSpPr>
            <p:cNvPr id="40" name="Shape 26">
              <a:extLst>
                <a:ext uri="{FF2B5EF4-FFF2-40B4-BE49-F238E27FC236}">
                  <a16:creationId xmlns:a16="http://schemas.microsoft.com/office/drawing/2014/main" id="{6450369B-DB1A-B6FC-9B7C-BD924B070705}"/>
                </a:ext>
              </a:extLst>
            </p:cNvPr>
            <p:cNvSpPr/>
            <p:nvPr/>
          </p:nvSpPr>
          <p:spPr>
            <a:xfrm>
              <a:off x="502920" y="5367528"/>
              <a:ext cx="237744" cy="237744"/>
            </a:xfrm>
            <a:prstGeom prst="ellipse">
              <a:avLst/>
            </a:prstGeom>
            <a:solidFill>
              <a:srgbClr val="A5741A"/>
            </a:solidFill>
            <a:ln w="12700">
              <a:solidFill>
                <a:srgbClr val="A5741A"/>
              </a:solidFill>
              <a:prstDash val="solid"/>
            </a:ln>
          </p:spPr>
          <p:txBody>
            <a:bodyPr/>
            <a:lstStyle/>
            <a:p>
              <a:endParaRPr lang="en-US"/>
            </a:p>
          </p:txBody>
        </p:sp>
        <p:sp>
          <p:nvSpPr>
            <p:cNvPr id="41" name="Text 27">
              <a:extLst>
                <a:ext uri="{FF2B5EF4-FFF2-40B4-BE49-F238E27FC236}">
                  <a16:creationId xmlns:a16="http://schemas.microsoft.com/office/drawing/2014/main" id="{3DEAD5A0-21CA-ACC1-9B26-EBD1FBCA3753}"/>
                </a:ext>
              </a:extLst>
            </p:cNvPr>
            <p:cNvSpPr txBox="1"/>
            <p:nvPr/>
          </p:nvSpPr>
          <p:spPr>
            <a:xfrm>
              <a:off x="805489" y="5412486"/>
              <a:ext cx="302188" cy="237744"/>
            </a:xfrm>
            <a:prstGeom prst="rect">
              <a:avLst/>
            </a:prstGeom>
            <a:noFill/>
            <a:ln/>
          </p:spPr>
          <p:txBody>
            <a:bodyPr wrap="square" lIns="0" tIns="0" rIns="0" bIns="0" rtlCol="0" anchor="t"/>
            <a:lstStyle/>
            <a:p>
              <a:pPr marL="0" indent="0">
                <a:buNone/>
              </a:pPr>
              <a:r>
                <a:rPr lang="en-US" sz="1150" b="1" dirty="0">
                  <a:solidFill>
                    <a:srgbClr val="0B3B75"/>
                  </a:solidFill>
                  <a:latin typeface="Calibri" pitchFamily="34" charset="0"/>
                  <a:ea typeface="Calibri" pitchFamily="34" charset="-122"/>
                  <a:cs typeface="Calibri" pitchFamily="34" charset="-120"/>
                </a:rPr>
                <a:t>VBA</a:t>
              </a:r>
              <a:endParaRPr lang="en-US" sz="1150" dirty="0"/>
            </a:p>
          </p:txBody>
        </p:sp>
      </p:grpSp>
      <p:sp>
        <p:nvSpPr>
          <p:cNvPr id="54" name="Text 4">
            <a:extLst>
              <a:ext uri="{FF2B5EF4-FFF2-40B4-BE49-F238E27FC236}">
                <a16:creationId xmlns:a16="http://schemas.microsoft.com/office/drawing/2014/main" id="{B73B5D7F-D80D-3373-4D9E-C09EB52893E9}"/>
              </a:ext>
            </a:extLst>
          </p:cNvPr>
          <p:cNvSpPr txBox="1"/>
          <p:nvPr/>
        </p:nvSpPr>
        <p:spPr>
          <a:xfrm>
            <a:off x="11155680" y="6382512"/>
            <a:ext cx="484632" cy="274320"/>
          </a:xfrm>
          <a:prstGeom prst="rect">
            <a:avLst/>
          </a:prstGeom>
          <a:noFill/>
          <a:ln/>
        </p:spPr>
        <p:txBody>
          <a:bodyPr wrap="square" lIns="0" tIns="0" rIns="0" bIns="0" rtlCol="0" anchor="t"/>
          <a:lstStyle/>
          <a:p>
            <a:pPr marL="0" indent="0" algn="r">
              <a:buNone/>
            </a:pPr>
            <a:r>
              <a:rPr lang="en-US" sz="1100" b="1" dirty="0">
                <a:solidFill>
                  <a:srgbClr val="A5741A"/>
                </a:solidFill>
                <a:latin typeface="Calibri" pitchFamily="34" charset="0"/>
                <a:ea typeface="Calibri" pitchFamily="34" charset="-122"/>
                <a:cs typeface="Calibri" pitchFamily="34" charset="-120"/>
              </a:rPr>
              <a:t>34</a:t>
            </a:r>
          </a:p>
        </p:txBody>
      </p:sp>
    </p:spTree>
    <p:extLst>
      <p:ext uri="{BB962C8B-B14F-4D97-AF65-F5344CB8AC3E}">
        <p14:creationId xmlns:p14="http://schemas.microsoft.com/office/powerpoint/2010/main" val="259808781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65760"/>
            <a:ext cx="123444" cy="123444"/>
          </a:xfrm>
          <a:prstGeom prst="ellipse">
            <a:avLst/>
          </a:prstGeom>
          <a:solidFill>
            <a:srgbClr val="D9A227"/>
          </a:solidFill>
          <a:ln w="12700">
            <a:solidFill>
              <a:srgbClr val="D9A227"/>
            </a:solidFill>
            <a:prstDash val="solid"/>
          </a:ln>
        </p:spPr>
        <p:txBody>
          <a:bodyPr/>
          <a:lstStyle/>
          <a:p>
            <a:endParaRPr lang="en-US"/>
          </a:p>
        </p:txBody>
      </p:sp>
      <p:sp>
        <p:nvSpPr>
          <p:cNvPr id="3" name="Text 1"/>
          <p:cNvSpPr txBox="1"/>
          <p:nvPr/>
        </p:nvSpPr>
        <p:spPr>
          <a:xfrm>
            <a:off x="804672" y="292608"/>
            <a:ext cx="10838383" cy="237744"/>
          </a:xfrm>
          <a:prstGeom prst="rect">
            <a:avLst/>
          </a:prstGeom>
          <a:noFill/>
          <a:ln/>
        </p:spPr>
        <p:txBody>
          <a:bodyPr wrap="square" lIns="0" tIns="0" rIns="0" bIns="0" rtlCol="0" anchor="t"/>
          <a:lstStyle/>
          <a:p>
            <a:pPr marL="0" indent="0">
              <a:buNone/>
            </a:pPr>
            <a:r>
              <a:rPr lang="en-US" sz="1050" b="1" kern="0" spc="120" dirty="0">
                <a:solidFill>
                  <a:srgbClr val="A5741A"/>
                </a:solidFill>
                <a:latin typeface="Calibri" pitchFamily="34" charset="0"/>
                <a:ea typeface="Calibri" pitchFamily="34" charset="-122"/>
                <a:cs typeface="Calibri" pitchFamily="34" charset="-120"/>
              </a:rPr>
              <a:t>CHƯƠNG 4 · 4.1.2 NHẬN DIỆN LÃNG PHÍ</a:t>
            </a:r>
            <a:endParaRPr lang="en-US" sz="1050" dirty="0"/>
          </a:p>
        </p:txBody>
      </p:sp>
      <p:sp>
        <p:nvSpPr>
          <p:cNvPr id="4" name="Text 2"/>
          <p:cNvSpPr txBox="1"/>
          <p:nvPr/>
        </p:nvSpPr>
        <p:spPr>
          <a:xfrm>
            <a:off x="548640" y="566928"/>
            <a:ext cx="11094415" cy="457200"/>
          </a:xfrm>
          <a:prstGeom prst="rect">
            <a:avLst/>
          </a:prstGeom>
          <a:noFill/>
          <a:ln/>
        </p:spPr>
        <p:txBody>
          <a:bodyPr wrap="square" lIns="0" tIns="0" rIns="0" bIns="0" rtlCol="0" anchor="t"/>
          <a:lstStyle/>
          <a:p>
            <a:pPr marL="0" indent="0">
              <a:buNone/>
            </a:pPr>
            <a:r>
              <a:rPr lang="en-US" sz="2500" b="1" dirty="0">
                <a:solidFill>
                  <a:srgbClr val="0B3B75"/>
                </a:solidFill>
                <a:latin typeface="Calibri" pitchFamily="34" charset="0"/>
                <a:ea typeface="Calibri" pitchFamily="34" charset="-122"/>
                <a:cs typeface="Calibri" pitchFamily="34" charset="-120"/>
              </a:rPr>
              <a:t>BA LOẠI LÃNG PHÍ MOVE – HOLD – OVERDO CỦA QUY TRÌNH PYC</a:t>
            </a:r>
            <a:endParaRPr lang="en-US" sz="2500" dirty="0"/>
          </a:p>
        </p:txBody>
      </p:sp>
      <p:sp>
        <p:nvSpPr>
          <p:cNvPr id="5" name="Text 3"/>
          <p:cNvSpPr txBox="1"/>
          <p:nvPr/>
        </p:nvSpPr>
        <p:spPr>
          <a:xfrm>
            <a:off x="548640" y="1024128"/>
            <a:ext cx="11094415" cy="274320"/>
          </a:xfrm>
          <a:prstGeom prst="rect">
            <a:avLst/>
          </a:prstGeom>
          <a:noFill/>
          <a:ln/>
        </p:spPr>
        <p:txBody>
          <a:bodyPr wrap="square" lIns="0" tIns="0" rIns="0" bIns="0" rtlCol="0" anchor="t"/>
          <a:lstStyle/>
          <a:p>
            <a:pPr marL="0" indent="0">
              <a:buNone/>
            </a:pPr>
            <a:r>
              <a:rPr lang="en-US" sz="1100" i="1" dirty="0">
                <a:solidFill>
                  <a:srgbClr val="6E7A88"/>
                </a:solidFill>
                <a:latin typeface="Calibri" pitchFamily="34" charset="0"/>
                <a:ea typeface="Calibri" pitchFamily="34" charset="-122"/>
                <a:cs typeface="Calibri" pitchFamily="34" charset="-120"/>
              </a:rPr>
              <a:t>Áp dụng tư duy tinh gọn (Lean Management) vào luồng nghiệp vụ AS-IS</a:t>
            </a:r>
            <a:endParaRPr lang="en-US" sz="1100" dirty="0"/>
          </a:p>
        </p:txBody>
      </p:sp>
      <p:sp>
        <p:nvSpPr>
          <p:cNvPr id="6" name="Text 4"/>
          <p:cNvSpPr txBox="1"/>
          <p:nvPr/>
        </p:nvSpPr>
        <p:spPr>
          <a:xfrm>
            <a:off x="548640" y="6419088"/>
            <a:ext cx="8778240" cy="237744"/>
          </a:xfrm>
          <a:prstGeom prst="rect">
            <a:avLst/>
          </a:prstGeom>
          <a:noFill/>
          <a:ln/>
        </p:spPr>
        <p:txBody>
          <a:bodyPr wrap="square" lIns="0" tIns="0" rIns="0" bIns="0" rtlCol="0" anchor="t"/>
          <a:lstStyle/>
          <a:p>
            <a:pPr marL="0" indent="0">
              <a:buNone/>
            </a:pPr>
            <a:r>
              <a:rPr lang="en-US" sz="850" dirty="0">
                <a:solidFill>
                  <a:srgbClr val="6E7A88"/>
                </a:solidFill>
                <a:latin typeface="Calibri" pitchFamily="34" charset="0"/>
                <a:ea typeface="Calibri" pitchFamily="34" charset="-122"/>
                <a:cs typeface="Calibri" pitchFamily="34" charset="-120"/>
              </a:rPr>
              <a:t>HỆ THỐNG QUẢN TRỊ QUY TRÌNH NGHIỆP VỤ  ·  SACOMBANK — QUY TRÌNH PYC</a:t>
            </a:r>
            <a:endParaRPr lang="en-US" sz="850" dirty="0"/>
          </a:p>
        </p:txBody>
      </p:sp>
      <p:sp>
        <p:nvSpPr>
          <p:cNvPr id="7" name="Text 5"/>
          <p:cNvSpPr txBox="1"/>
          <p:nvPr/>
        </p:nvSpPr>
        <p:spPr>
          <a:xfrm>
            <a:off x="11155680" y="6382512"/>
            <a:ext cx="484632" cy="274320"/>
          </a:xfrm>
          <a:prstGeom prst="rect">
            <a:avLst/>
          </a:prstGeom>
          <a:noFill/>
          <a:ln/>
        </p:spPr>
        <p:txBody>
          <a:bodyPr wrap="square" lIns="0" tIns="0" rIns="0" bIns="0" rtlCol="0" anchor="t"/>
          <a:lstStyle/>
          <a:p>
            <a:pPr marL="0" indent="0" algn="r">
              <a:buNone/>
            </a:pPr>
            <a:r>
              <a:rPr lang="en-US" sz="1100" b="1" dirty="0">
                <a:solidFill>
                  <a:srgbClr val="A5741A"/>
                </a:solidFill>
                <a:latin typeface="Calibri" pitchFamily="34" charset="0"/>
                <a:ea typeface="Calibri" pitchFamily="34" charset="-122"/>
                <a:cs typeface="Calibri" pitchFamily="34" charset="-120"/>
              </a:rPr>
              <a:t>35</a:t>
            </a:r>
          </a:p>
          <a:p>
            <a:pPr marL="0" indent="0" algn="r">
              <a:buNone/>
            </a:pPr>
            <a:endParaRPr lang="en-US" sz="1100" dirty="0"/>
          </a:p>
        </p:txBody>
      </p:sp>
      <p:sp>
        <p:nvSpPr>
          <p:cNvPr id="8" name="Shape 6"/>
          <p:cNvSpPr/>
          <p:nvPr/>
        </p:nvSpPr>
        <p:spPr>
          <a:xfrm>
            <a:off x="548640" y="1517904"/>
            <a:ext cx="3515258" cy="2615184"/>
          </a:xfrm>
          <a:prstGeom prst="roundRect">
            <a:avLst>
              <a:gd name="adj" fmla="val 2098"/>
            </a:avLst>
          </a:prstGeom>
          <a:solidFill>
            <a:srgbClr val="FFFFFF"/>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9" name="Shape 7"/>
          <p:cNvSpPr/>
          <p:nvPr/>
        </p:nvSpPr>
        <p:spPr>
          <a:xfrm>
            <a:off x="548640" y="1517904"/>
            <a:ext cx="3515258" cy="713232"/>
          </a:xfrm>
          <a:prstGeom prst="rect">
            <a:avLst/>
          </a:prstGeom>
          <a:solidFill>
            <a:srgbClr val="1660BF"/>
          </a:solidFill>
          <a:ln w="12700">
            <a:solidFill>
              <a:srgbClr val="1660BF"/>
            </a:solidFill>
            <a:prstDash val="solid"/>
          </a:ln>
        </p:spPr>
        <p:txBody>
          <a:bodyPr/>
          <a:lstStyle/>
          <a:p>
            <a:endParaRPr lang="en-US" dirty="0"/>
          </a:p>
        </p:txBody>
      </p:sp>
      <p:sp>
        <p:nvSpPr>
          <p:cNvPr id="10" name="Text 8"/>
          <p:cNvSpPr txBox="1"/>
          <p:nvPr/>
        </p:nvSpPr>
        <p:spPr>
          <a:xfrm>
            <a:off x="731520" y="1591056"/>
            <a:ext cx="3149498" cy="310896"/>
          </a:xfrm>
          <a:prstGeom prst="rect">
            <a:avLst/>
          </a:prstGeom>
          <a:noFill/>
          <a:ln/>
        </p:spPr>
        <p:txBody>
          <a:bodyPr wrap="square" lIns="0" tIns="0" rIns="0" bIns="0" rtlCol="0" anchor="t"/>
          <a:lstStyle/>
          <a:p>
            <a:pPr marL="0" indent="0">
              <a:buNone/>
            </a:pPr>
            <a:r>
              <a:rPr lang="en-US" sz="1700" b="1" dirty="0">
                <a:solidFill>
                  <a:srgbClr val="FFFFFF"/>
                </a:solidFill>
                <a:latin typeface="Calibri" pitchFamily="34" charset="0"/>
                <a:ea typeface="Calibri" pitchFamily="34" charset="-122"/>
                <a:cs typeface="Calibri" pitchFamily="34" charset="-120"/>
              </a:rPr>
              <a:t>MOVE</a:t>
            </a:r>
            <a:endParaRPr lang="en-US" sz="1700" dirty="0"/>
          </a:p>
        </p:txBody>
      </p:sp>
      <p:sp>
        <p:nvSpPr>
          <p:cNvPr id="11" name="Text 9"/>
          <p:cNvSpPr txBox="1"/>
          <p:nvPr/>
        </p:nvSpPr>
        <p:spPr>
          <a:xfrm>
            <a:off x="731520" y="1901952"/>
            <a:ext cx="3149498" cy="237744"/>
          </a:xfrm>
          <a:prstGeom prst="rect">
            <a:avLst/>
          </a:prstGeom>
          <a:noFill/>
          <a:ln/>
        </p:spPr>
        <p:txBody>
          <a:bodyPr wrap="square" lIns="0" tIns="0" rIns="0" bIns="0" rtlCol="0" anchor="t"/>
          <a:lstStyle/>
          <a:p>
            <a:pPr marL="0" indent="0">
              <a:buNone/>
            </a:pPr>
            <a:r>
              <a:rPr lang="en-US" sz="950" dirty="0">
                <a:solidFill>
                  <a:srgbClr val="FFFFFF"/>
                </a:solidFill>
                <a:latin typeface="Calibri" pitchFamily="34" charset="0"/>
                <a:ea typeface="Calibri" pitchFamily="34" charset="-122"/>
                <a:cs typeface="Calibri" pitchFamily="34" charset="-120"/>
              </a:rPr>
              <a:t>Di chuyển / Chuyển giao  ·  Handoff Waste</a:t>
            </a:r>
            <a:endParaRPr lang="en-US" sz="950" dirty="0"/>
          </a:p>
        </p:txBody>
      </p:sp>
      <p:sp>
        <p:nvSpPr>
          <p:cNvPr id="12" name="Text 10"/>
          <p:cNvSpPr txBox="1"/>
          <p:nvPr/>
        </p:nvSpPr>
        <p:spPr>
          <a:xfrm>
            <a:off x="731520" y="2377440"/>
            <a:ext cx="3149498" cy="1645920"/>
          </a:xfrm>
          <a:prstGeom prst="rect">
            <a:avLst/>
          </a:prstGeom>
          <a:noFill/>
          <a:ln/>
        </p:spPr>
        <p:txBody>
          <a:bodyPr wrap="square" lIns="0" tIns="0" rIns="0" bIns="0" rtlCol="0" anchor="t"/>
          <a:lstStyle/>
          <a:p>
            <a:pPr marL="342900" indent="-342900">
              <a:spcAft>
                <a:spcPts val="700"/>
              </a:spcAft>
              <a:buSzPct val="100000"/>
              <a:buChar char="•"/>
            </a:pPr>
            <a:r>
              <a:rPr lang="en-US" sz="1000" dirty="0">
                <a:solidFill>
                  <a:srgbClr val="2A3442"/>
                </a:solidFill>
                <a:latin typeface="Calibri" pitchFamily="34" charset="0"/>
                <a:ea typeface="Calibri" pitchFamily="34" charset="-122"/>
                <a:cs typeface="Calibri" pitchFamily="34" charset="-120"/>
              </a:rPr>
              <a:t>Biểu hiện: yêu cầu phải luân chuyển qua quá nhiều làn — Người dùng → Quản lý → Hệ thống ITSM → Service Desk L1.</a:t>
            </a:r>
            <a:endParaRPr lang="en-US" sz="1000" dirty="0"/>
          </a:p>
          <a:p>
            <a:pPr marL="342900" indent="-342900">
              <a:spcAft>
                <a:spcPts val="700"/>
              </a:spcAft>
              <a:buSzPct val="100000"/>
              <a:buChar char="•"/>
            </a:pPr>
            <a:r>
              <a:rPr lang="en-US" sz="1000" dirty="0">
                <a:solidFill>
                  <a:srgbClr val="2A3442"/>
                </a:solidFill>
                <a:latin typeface="Calibri" pitchFamily="34" charset="0"/>
                <a:ea typeface="Calibri" pitchFamily="34" charset="-122"/>
                <a:cs typeface="Calibri" pitchFamily="34" charset="-120"/>
              </a:rPr>
              <a:t>Hậu quả: mỗi lần chuyển giao là một lần phát sinh rủi ro trôi trượt thông tin.</a:t>
            </a:r>
            <a:endParaRPr lang="en-US" sz="1000" dirty="0"/>
          </a:p>
          <a:p>
            <a:pPr marL="342900" indent="-342900">
              <a:spcAft>
                <a:spcPts val="700"/>
              </a:spcAft>
              <a:buSzPct val="100000"/>
              <a:buChar char="•"/>
            </a:pPr>
            <a:r>
              <a:rPr lang="en-US" sz="1000" dirty="0">
                <a:solidFill>
                  <a:srgbClr val="2A3442"/>
                </a:solidFill>
                <a:latin typeface="Calibri" pitchFamily="34" charset="0"/>
                <a:ea typeface="Calibri" pitchFamily="34" charset="-122"/>
                <a:cs typeface="Calibri" pitchFamily="34" charset="-120"/>
              </a:rPr>
              <a:t>Đỉnh điểm: khi phiếu bị chuyển qua chuyển lại (ping-pong) giữa IT và người dùng để bổ sung thông tin.</a:t>
            </a:r>
            <a:endParaRPr lang="en-US" sz="1000" dirty="0"/>
          </a:p>
        </p:txBody>
      </p:sp>
      <p:sp>
        <p:nvSpPr>
          <p:cNvPr id="13" name="Shape 11"/>
          <p:cNvSpPr/>
          <p:nvPr/>
        </p:nvSpPr>
        <p:spPr>
          <a:xfrm>
            <a:off x="4338218" y="1517904"/>
            <a:ext cx="3515258" cy="2615184"/>
          </a:xfrm>
          <a:prstGeom prst="roundRect">
            <a:avLst>
              <a:gd name="adj" fmla="val 2098"/>
            </a:avLst>
          </a:prstGeom>
          <a:solidFill>
            <a:srgbClr val="FFFFFF"/>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14" name="Shape 12"/>
          <p:cNvSpPr/>
          <p:nvPr/>
        </p:nvSpPr>
        <p:spPr>
          <a:xfrm>
            <a:off x="4338218" y="1517904"/>
            <a:ext cx="3515258" cy="713232"/>
          </a:xfrm>
          <a:prstGeom prst="rect">
            <a:avLst/>
          </a:prstGeom>
          <a:solidFill>
            <a:srgbClr val="C0392B"/>
          </a:solidFill>
          <a:ln w="12700">
            <a:solidFill>
              <a:srgbClr val="C0392B"/>
            </a:solidFill>
            <a:prstDash val="solid"/>
          </a:ln>
        </p:spPr>
        <p:txBody>
          <a:bodyPr/>
          <a:lstStyle/>
          <a:p>
            <a:endParaRPr lang="en-US" dirty="0"/>
          </a:p>
        </p:txBody>
      </p:sp>
      <p:sp>
        <p:nvSpPr>
          <p:cNvPr id="15" name="Text 13"/>
          <p:cNvSpPr txBox="1"/>
          <p:nvPr/>
        </p:nvSpPr>
        <p:spPr>
          <a:xfrm>
            <a:off x="4521098" y="1591056"/>
            <a:ext cx="3149498" cy="310896"/>
          </a:xfrm>
          <a:prstGeom prst="rect">
            <a:avLst/>
          </a:prstGeom>
          <a:noFill/>
          <a:ln/>
        </p:spPr>
        <p:txBody>
          <a:bodyPr wrap="square" lIns="0" tIns="0" rIns="0" bIns="0" rtlCol="0" anchor="t"/>
          <a:lstStyle/>
          <a:p>
            <a:pPr marL="0" indent="0">
              <a:buNone/>
            </a:pPr>
            <a:r>
              <a:rPr lang="en-US" sz="1700" b="1" dirty="0">
                <a:solidFill>
                  <a:srgbClr val="FFFFFF"/>
                </a:solidFill>
                <a:latin typeface="Calibri" pitchFamily="34" charset="0"/>
                <a:ea typeface="Calibri" pitchFamily="34" charset="-122"/>
                <a:cs typeface="Calibri" pitchFamily="34" charset="-120"/>
              </a:rPr>
              <a:t>HOLD</a:t>
            </a:r>
            <a:endParaRPr lang="en-US" sz="1700" dirty="0"/>
          </a:p>
        </p:txBody>
      </p:sp>
      <p:sp>
        <p:nvSpPr>
          <p:cNvPr id="16" name="Text 14"/>
          <p:cNvSpPr txBox="1"/>
          <p:nvPr/>
        </p:nvSpPr>
        <p:spPr>
          <a:xfrm>
            <a:off x="4521098" y="1901952"/>
            <a:ext cx="3149498" cy="237744"/>
          </a:xfrm>
          <a:prstGeom prst="rect">
            <a:avLst/>
          </a:prstGeom>
          <a:noFill/>
          <a:ln/>
        </p:spPr>
        <p:txBody>
          <a:bodyPr wrap="square" lIns="0" tIns="0" rIns="0" bIns="0" rtlCol="0" anchor="t"/>
          <a:lstStyle/>
          <a:p>
            <a:pPr marL="0" indent="0">
              <a:buNone/>
            </a:pPr>
            <a:r>
              <a:rPr lang="en-US" sz="950" dirty="0">
                <a:solidFill>
                  <a:srgbClr val="FFFFFF"/>
                </a:solidFill>
                <a:latin typeface="Calibri" pitchFamily="34" charset="0"/>
                <a:ea typeface="Calibri" pitchFamily="34" charset="-122"/>
                <a:cs typeface="Calibri" pitchFamily="34" charset="-120"/>
              </a:rPr>
              <a:t>Chờ đợi  ·  Waiting Waste</a:t>
            </a:r>
            <a:endParaRPr lang="en-US" sz="950" dirty="0"/>
          </a:p>
        </p:txBody>
      </p:sp>
      <p:sp>
        <p:nvSpPr>
          <p:cNvPr id="17" name="Text 15"/>
          <p:cNvSpPr txBox="1"/>
          <p:nvPr/>
        </p:nvSpPr>
        <p:spPr>
          <a:xfrm>
            <a:off x="4521098" y="2377440"/>
            <a:ext cx="3149498" cy="1645920"/>
          </a:xfrm>
          <a:prstGeom prst="rect">
            <a:avLst/>
          </a:prstGeom>
          <a:noFill/>
          <a:ln/>
        </p:spPr>
        <p:txBody>
          <a:bodyPr wrap="square" lIns="0" tIns="0" rIns="0" bIns="0" rtlCol="0" anchor="t"/>
          <a:lstStyle/>
          <a:p>
            <a:pPr marL="342900" indent="-342900">
              <a:spcAft>
                <a:spcPts val="700"/>
              </a:spcAft>
              <a:buSzPct val="100000"/>
              <a:buChar char="•"/>
            </a:pPr>
            <a:r>
              <a:rPr lang="en-US" sz="1000" dirty="0">
                <a:solidFill>
                  <a:srgbClr val="2A3442"/>
                </a:solidFill>
                <a:latin typeface="Calibri" pitchFamily="34" charset="0"/>
                <a:ea typeface="Calibri" pitchFamily="34" charset="-122"/>
                <a:cs typeface="Calibri" pitchFamily="34" charset="-120"/>
              </a:rPr>
              <a:t>Tại làn Quản lý: “Xem xét phê duyệt” tạo nút thắt cổ chai — Trưởng đơn vị đi công tác hoặc bận họp thì PYC bị “ngâm” dù đội IT phía sau đang rảnh.</a:t>
            </a:r>
            <a:endParaRPr lang="en-US" sz="1000" dirty="0"/>
          </a:p>
          <a:p>
            <a:pPr marL="342900" indent="-342900">
              <a:spcAft>
                <a:spcPts val="700"/>
              </a:spcAft>
              <a:buSzPct val="100000"/>
              <a:buChar char="•"/>
            </a:pPr>
            <a:r>
              <a:rPr lang="en-US" sz="1000" dirty="0">
                <a:solidFill>
                  <a:srgbClr val="2A3442"/>
                </a:solidFill>
                <a:latin typeface="Calibri" pitchFamily="34" charset="0"/>
                <a:ea typeface="Calibri" pitchFamily="34" charset="-122"/>
                <a:cs typeface="Calibri" pitchFamily="34" charset="-120"/>
              </a:rPr>
              <a:t>Tại làn Service Desk: cổng gom luồng AND buộc phải đợi cả “Cấu hình cấp quyền” và “Ghi log bảo mật” hoàn tất mới đi tiếp.</a:t>
            </a:r>
            <a:endParaRPr lang="en-US" sz="1000" dirty="0"/>
          </a:p>
        </p:txBody>
      </p:sp>
      <p:sp>
        <p:nvSpPr>
          <p:cNvPr id="18" name="Shape 16"/>
          <p:cNvSpPr/>
          <p:nvPr/>
        </p:nvSpPr>
        <p:spPr>
          <a:xfrm>
            <a:off x="8127797" y="1517904"/>
            <a:ext cx="3515258" cy="2615184"/>
          </a:xfrm>
          <a:prstGeom prst="roundRect">
            <a:avLst>
              <a:gd name="adj" fmla="val 2098"/>
            </a:avLst>
          </a:prstGeom>
          <a:solidFill>
            <a:srgbClr val="FFFFFF"/>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19" name="Shape 17"/>
          <p:cNvSpPr/>
          <p:nvPr/>
        </p:nvSpPr>
        <p:spPr>
          <a:xfrm>
            <a:off x="8127797" y="1517904"/>
            <a:ext cx="3515258" cy="713232"/>
          </a:xfrm>
          <a:prstGeom prst="rect">
            <a:avLst/>
          </a:prstGeom>
          <a:solidFill>
            <a:srgbClr val="A5741A"/>
          </a:solidFill>
          <a:ln w="12700">
            <a:solidFill>
              <a:srgbClr val="A5741A"/>
            </a:solidFill>
            <a:prstDash val="solid"/>
          </a:ln>
        </p:spPr>
        <p:txBody>
          <a:bodyPr/>
          <a:lstStyle/>
          <a:p>
            <a:endParaRPr lang="en-US"/>
          </a:p>
        </p:txBody>
      </p:sp>
      <p:sp>
        <p:nvSpPr>
          <p:cNvPr id="20" name="Text 18"/>
          <p:cNvSpPr txBox="1"/>
          <p:nvPr/>
        </p:nvSpPr>
        <p:spPr>
          <a:xfrm>
            <a:off x="8310677" y="1591056"/>
            <a:ext cx="3149498" cy="310896"/>
          </a:xfrm>
          <a:prstGeom prst="rect">
            <a:avLst/>
          </a:prstGeom>
          <a:noFill/>
          <a:ln/>
        </p:spPr>
        <p:txBody>
          <a:bodyPr wrap="square" lIns="0" tIns="0" rIns="0" bIns="0" rtlCol="0" anchor="t"/>
          <a:lstStyle/>
          <a:p>
            <a:pPr marL="0" indent="0">
              <a:buNone/>
            </a:pPr>
            <a:r>
              <a:rPr lang="en-US" sz="1700" b="1" dirty="0">
                <a:solidFill>
                  <a:srgbClr val="FFFFFF"/>
                </a:solidFill>
                <a:latin typeface="Calibri" pitchFamily="34" charset="0"/>
                <a:ea typeface="Calibri" pitchFamily="34" charset="-122"/>
                <a:cs typeface="Calibri" pitchFamily="34" charset="-120"/>
              </a:rPr>
              <a:t>OVERDO</a:t>
            </a:r>
            <a:endParaRPr lang="en-US" sz="1700" dirty="0"/>
          </a:p>
        </p:txBody>
      </p:sp>
      <p:sp>
        <p:nvSpPr>
          <p:cNvPr id="21" name="Text 19"/>
          <p:cNvSpPr txBox="1"/>
          <p:nvPr/>
        </p:nvSpPr>
        <p:spPr>
          <a:xfrm>
            <a:off x="8310677" y="1901952"/>
            <a:ext cx="3149498" cy="237744"/>
          </a:xfrm>
          <a:prstGeom prst="rect">
            <a:avLst/>
          </a:prstGeom>
          <a:noFill/>
          <a:ln/>
        </p:spPr>
        <p:txBody>
          <a:bodyPr wrap="square" lIns="0" tIns="0" rIns="0" bIns="0" rtlCol="0" anchor="t"/>
          <a:lstStyle/>
          <a:p>
            <a:pPr marL="0" indent="0">
              <a:buNone/>
            </a:pPr>
            <a:r>
              <a:rPr lang="en-US" sz="950" dirty="0">
                <a:solidFill>
                  <a:srgbClr val="FFFFFF"/>
                </a:solidFill>
                <a:latin typeface="Calibri" pitchFamily="34" charset="0"/>
                <a:ea typeface="Calibri" pitchFamily="34" charset="-122"/>
                <a:cs typeface="Calibri" pitchFamily="34" charset="-120"/>
              </a:rPr>
              <a:t>Làm thừa / Xử lý quá mức  ·  Overprocessing Waste</a:t>
            </a:r>
            <a:endParaRPr lang="en-US" sz="950" dirty="0"/>
          </a:p>
        </p:txBody>
      </p:sp>
      <p:sp>
        <p:nvSpPr>
          <p:cNvPr id="22" name="Text 20"/>
          <p:cNvSpPr txBox="1"/>
          <p:nvPr/>
        </p:nvSpPr>
        <p:spPr>
          <a:xfrm>
            <a:off x="8310677" y="2377440"/>
            <a:ext cx="3149498" cy="1645920"/>
          </a:xfrm>
          <a:prstGeom prst="rect">
            <a:avLst/>
          </a:prstGeom>
          <a:noFill/>
          <a:ln/>
        </p:spPr>
        <p:txBody>
          <a:bodyPr wrap="square" lIns="0" tIns="0" rIns="0" bIns="0" rtlCol="0" anchor="t"/>
          <a:lstStyle/>
          <a:p>
            <a:pPr marL="342900" indent="-342900">
              <a:spcAft>
                <a:spcPts val="700"/>
              </a:spcAft>
              <a:buSzPct val="100000"/>
              <a:buChar char="•"/>
            </a:pPr>
            <a:r>
              <a:rPr lang="en-US" sz="1000" dirty="0">
                <a:solidFill>
                  <a:srgbClr val="2A3442"/>
                </a:solidFill>
                <a:latin typeface="Calibri" pitchFamily="34" charset="0"/>
                <a:ea typeface="Calibri" pitchFamily="34" charset="-122"/>
                <a:cs typeface="Calibri" pitchFamily="34" charset="-120"/>
              </a:rPr>
              <a:t>Biểu hiện: cổng điều kiện “Cần duyệt?” áp dụng cho mọi loại phiếu là dư thừa — quyền rủi ro thấp (folder chung, reset mật khẩu Wifi) không cần Quản lý duyệt.</a:t>
            </a:r>
            <a:endParaRPr lang="en-US" sz="1000" dirty="0"/>
          </a:p>
          <a:p>
            <a:pPr marL="342900" indent="-342900">
              <a:spcAft>
                <a:spcPts val="700"/>
              </a:spcAft>
              <a:buSzPct val="100000"/>
              <a:buChar char="•"/>
            </a:pPr>
            <a:r>
              <a:rPr lang="en-US" sz="1000" dirty="0">
                <a:solidFill>
                  <a:srgbClr val="2A3442"/>
                </a:solidFill>
                <a:latin typeface="Calibri" pitchFamily="34" charset="0"/>
                <a:ea typeface="Calibri" pitchFamily="34" charset="-122"/>
                <a:cs typeface="Calibri" pitchFamily="34" charset="-120"/>
              </a:rPr>
              <a:t>Hậu quả: lãng phí chất xám và thời gian của cấp quản lý, luồng quy trình cồng kềnh về thủ tục hành chính thay vì tập trung vào tốc độ phục vụ.</a:t>
            </a:r>
            <a:endParaRPr lang="en-US" sz="10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0">
            <a:extLst>
              <a:ext uri="{FF2B5EF4-FFF2-40B4-BE49-F238E27FC236}">
                <a16:creationId xmlns:a16="http://schemas.microsoft.com/office/drawing/2014/main" id="{BCEECE1E-A15E-0B4D-55D2-1F65609DB8DF}"/>
              </a:ext>
            </a:extLst>
          </p:cNvPr>
          <p:cNvSpPr/>
          <p:nvPr/>
        </p:nvSpPr>
        <p:spPr>
          <a:xfrm>
            <a:off x="548640" y="365760"/>
            <a:ext cx="123444" cy="123444"/>
          </a:xfrm>
          <a:prstGeom prst="ellipse">
            <a:avLst/>
          </a:prstGeom>
          <a:solidFill>
            <a:srgbClr val="D9A227"/>
          </a:solidFill>
          <a:ln w="12700">
            <a:solidFill>
              <a:srgbClr val="D9A227"/>
            </a:solidFill>
            <a:prstDash val="solid"/>
          </a:ln>
        </p:spPr>
        <p:txBody>
          <a:bodyPr/>
          <a:lstStyle/>
          <a:p>
            <a:endParaRPr lang="en-US"/>
          </a:p>
        </p:txBody>
      </p:sp>
      <p:sp>
        <p:nvSpPr>
          <p:cNvPr id="5" name="Text 1">
            <a:extLst>
              <a:ext uri="{FF2B5EF4-FFF2-40B4-BE49-F238E27FC236}">
                <a16:creationId xmlns:a16="http://schemas.microsoft.com/office/drawing/2014/main" id="{4DBD2C88-EB70-DEBF-0A66-CB9122F3EA19}"/>
              </a:ext>
            </a:extLst>
          </p:cNvPr>
          <p:cNvSpPr txBox="1"/>
          <p:nvPr/>
        </p:nvSpPr>
        <p:spPr>
          <a:xfrm>
            <a:off x="804672" y="292608"/>
            <a:ext cx="10838383" cy="237744"/>
          </a:xfrm>
          <a:prstGeom prst="rect">
            <a:avLst/>
          </a:prstGeom>
          <a:noFill/>
          <a:ln/>
        </p:spPr>
        <p:txBody>
          <a:bodyPr wrap="square" lIns="0" tIns="0" rIns="0" bIns="0" rtlCol="0" anchor="t"/>
          <a:lstStyle/>
          <a:p>
            <a:pPr marL="0" indent="0">
              <a:buNone/>
            </a:pPr>
            <a:r>
              <a:rPr lang="en-US" sz="1050" b="1" kern="0" spc="120" dirty="0">
                <a:solidFill>
                  <a:srgbClr val="A5741A"/>
                </a:solidFill>
                <a:latin typeface="Calibri" pitchFamily="34" charset="0"/>
                <a:ea typeface="Calibri" pitchFamily="34" charset="-122"/>
                <a:cs typeface="Calibri" pitchFamily="34" charset="-120"/>
              </a:rPr>
              <a:t>CHƯƠNG 4 · 4.1.2 NHẬN DIỆN LÃNG PHÍ</a:t>
            </a:r>
            <a:endParaRPr lang="en-US" sz="1050" dirty="0"/>
          </a:p>
        </p:txBody>
      </p:sp>
      <p:sp>
        <p:nvSpPr>
          <p:cNvPr id="7" name="Text 2">
            <a:extLst>
              <a:ext uri="{FF2B5EF4-FFF2-40B4-BE49-F238E27FC236}">
                <a16:creationId xmlns:a16="http://schemas.microsoft.com/office/drawing/2014/main" id="{DFBDD0F0-0005-D2DC-994A-1712B6C6E672}"/>
              </a:ext>
            </a:extLst>
          </p:cNvPr>
          <p:cNvSpPr txBox="1"/>
          <p:nvPr/>
        </p:nvSpPr>
        <p:spPr>
          <a:xfrm>
            <a:off x="548640" y="566928"/>
            <a:ext cx="11094415" cy="457200"/>
          </a:xfrm>
          <a:prstGeom prst="rect">
            <a:avLst/>
          </a:prstGeom>
          <a:noFill/>
          <a:ln/>
        </p:spPr>
        <p:txBody>
          <a:bodyPr wrap="square" lIns="0" tIns="0" rIns="0" bIns="0" rtlCol="0" anchor="t"/>
          <a:lstStyle/>
          <a:p>
            <a:pPr marL="0" indent="0">
              <a:buNone/>
            </a:pPr>
            <a:r>
              <a:rPr lang="en-US" sz="2500" b="1" dirty="0">
                <a:solidFill>
                  <a:srgbClr val="0B3B75"/>
                </a:solidFill>
                <a:latin typeface="Calibri" pitchFamily="34" charset="0"/>
                <a:ea typeface="Calibri" pitchFamily="34" charset="-122"/>
                <a:cs typeface="Calibri" pitchFamily="34" charset="-120"/>
              </a:rPr>
              <a:t>BA LOẠI LÃNG PHÍ MOVE – HOLD – OVERDO CỦA QUY TRÌNH PYC</a:t>
            </a:r>
            <a:endParaRPr lang="en-US" sz="2500" dirty="0"/>
          </a:p>
        </p:txBody>
      </p:sp>
      <p:pic>
        <p:nvPicPr>
          <p:cNvPr id="9" name="Picture 8">
            <a:extLst>
              <a:ext uri="{FF2B5EF4-FFF2-40B4-BE49-F238E27FC236}">
                <a16:creationId xmlns:a16="http://schemas.microsoft.com/office/drawing/2014/main" id="{177572F8-2CF0-BFCB-8C15-43BD482FC048}"/>
              </a:ext>
            </a:extLst>
          </p:cNvPr>
          <p:cNvPicPr>
            <a:picLocks noChangeAspect="1"/>
          </p:cNvPicPr>
          <p:nvPr/>
        </p:nvPicPr>
        <p:blipFill>
          <a:blip r:embed="rId2"/>
          <a:stretch>
            <a:fillRect/>
          </a:stretch>
        </p:blipFill>
        <p:spPr>
          <a:xfrm>
            <a:off x="2973553" y="1060704"/>
            <a:ext cx="8450427" cy="5629275"/>
          </a:xfrm>
          <a:prstGeom prst="rect">
            <a:avLst/>
          </a:prstGeom>
        </p:spPr>
      </p:pic>
      <p:sp>
        <p:nvSpPr>
          <p:cNvPr id="10" name="Shape 25">
            <a:extLst>
              <a:ext uri="{FF2B5EF4-FFF2-40B4-BE49-F238E27FC236}">
                <a16:creationId xmlns:a16="http://schemas.microsoft.com/office/drawing/2014/main" id="{DEEA9678-0A34-F83A-C47E-33365E2EE812}"/>
              </a:ext>
            </a:extLst>
          </p:cNvPr>
          <p:cNvSpPr/>
          <p:nvPr/>
        </p:nvSpPr>
        <p:spPr>
          <a:xfrm>
            <a:off x="320040" y="1627251"/>
            <a:ext cx="1823086" cy="1074040"/>
          </a:xfrm>
          <a:prstGeom prst="roundRect">
            <a:avLst>
              <a:gd name="adj" fmla="val 7500"/>
            </a:avLst>
          </a:prstGeom>
          <a:solidFill>
            <a:srgbClr val="FFFFFF"/>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12" name="Shape 18">
            <a:extLst>
              <a:ext uri="{FF2B5EF4-FFF2-40B4-BE49-F238E27FC236}">
                <a16:creationId xmlns:a16="http://schemas.microsoft.com/office/drawing/2014/main" id="{36CE2A83-2B5E-93D2-87EF-4AA487306E9C}"/>
              </a:ext>
            </a:extLst>
          </p:cNvPr>
          <p:cNvSpPr/>
          <p:nvPr/>
        </p:nvSpPr>
        <p:spPr>
          <a:xfrm>
            <a:off x="470507" y="1681924"/>
            <a:ext cx="237744" cy="237744"/>
          </a:xfrm>
          <a:prstGeom prst="ellipse">
            <a:avLst/>
          </a:prstGeom>
          <a:solidFill>
            <a:srgbClr val="1660BF"/>
          </a:solidFill>
          <a:ln w="12700">
            <a:solidFill>
              <a:srgbClr val="0E7A5F"/>
            </a:solidFill>
            <a:prstDash val="solid"/>
          </a:ln>
        </p:spPr>
        <p:txBody>
          <a:bodyPr/>
          <a:lstStyle/>
          <a:p>
            <a:endParaRPr lang="en-US" dirty="0"/>
          </a:p>
        </p:txBody>
      </p:sp>
      <p:sp>
        <p:nvSpPr>
          <p:cNvPr id="13" name="Text 19">
            <a:extLst>
              <a:ext uri="{FF2B5EF4-FFF2-40B4-BE49-F238E27FC236}">
                <a16:creationId xmlns:a16="http://schemas.microsoft.com/office/drawing/2014/main" id="{F2F2987F-6E37-5C57-9DBC-B95F8368657D}"/>
              </a:ext>
            </a:extLst>
          </p:cNvPr>
          <p:cNvSpPr txBox="1"/>
          <p:nvPr/>
        </p:nvSpPr>
        <p:spPr>
          <a:xfrm>
            <a:off x="773076" y="1718881"/>
            <a:ext cx="703299" cy="237744"/>
          </a:xfrm>
          <a:prstGeom prst="rect">
            <a:avLst/>
          </a:prstGeom>
          <a:noFill/>
          <a:ln/>
        </p:spPr>
        <p:txBody>
          <a:bodyPr wrap="square" lIns="0" tIns="0" rIns="0" bIns="0" rtlCol="0" anchor="t"/>
          <a:lstStyle/>
          <a:p>
            <a:pPr marL="0" indent="0">
              <a:buNone/>
            </a:pPr>
            <a:r>
              <a:rPr lang="en-US" sz="1150" b="1" dirty="0">
                <a:solidFill>
                  <a:srgbClr val="0B3B75"/>
                </a:solidFill>
                <a:latin typeface="Calibri" pitchFamily="34" charset="0"/>
                <a:ea typeface="Calibri" pitchFamily="34" charset="-122"/>
                <a:cs typeface="Calibri" pitchFamily="34" charset="-120"/>
              </a:rPr>
              <a:t>Move</a:t>
            </a:r>
            <a:endParaRPr lang="en-US" sz="1150" dirty="0"/>
          </a:p>
        </p:txBody>
      </p:sp>
      <p:sp>
        <p:nvSpPr>
          <p:cNvPr id="15" name="Shape 22">
            <a:extLst>
              <a:ext uri="{FF2B5EF4-FFF2-40B4-BE49-F238E27FC236}">
                <a16:creationId xmlns:a16="http://schemas.microsoft.com/office/drawing/2014/main" id="{9E61415D-A921-0944-88EE-49C1524F6A19}"/>
              </a:ext>
            </a:extLst>
          </p:cNvPr>
          <p:cNvSpPr/>
          <p:nvPr/>
        </p:nvSpPr>
        <p:spPr>
          <a:xfrm>
            <a:off x="470507" y="2048255"/>
            <a:ext cx="237744" cy="237744"/>
          </a:xfrm>
          <a:prstGeom prst="ellipse">
            <a:avLst/>
          </a:prstGeom>
          <a:solidFill>
            <a:srgbClr val="C0392B"/>
          </a:solidFill>
          <a:ln w="12700">
            <a:solidFill>
              <a:srgbClr val="C0392B"/>
            </a:solidFill>
            <a:prstDash val="solid"/>
          </a:ln>
        </p:spPr>
        <p:txBody>
          <a:bodyPr/>
          <a:lstStyle/>
          <a:p>
            <a:endParaRPr lang="en-US"/>
          </a:p>
        </p:txBody>
      </p:sp>
      <p:sp>
        <p:nvSpPr>
          <p:cNvPr id="16" name="Text 23">
            <a:extLst>
              <a:ext uri="{FF2B5EF4-FFF2-40B4-BE49-F238E27FC236}">
                <a16:creationId xmlns:a16="http://schemas.microsoft.com/office/drawing/2014/main" id="{5EEE6977-F427-8079-11C0-EB75BFA8B45C}"/>
              </a:ext>
            </a:extLst>
          </p:cNvPr>
          <p:cNvSpPr txBox="1"/>
          <p:nvPr/>
        </p:nvSpPr>
        <p:spPr>
          <a:xfrm>
            <a:off x="773076" y="2083688"/>
            <a:ext cx="302188" cy="237744"/>
          </a:xfrm>
          <a:prstGeom prst="rect">
            <a:avLst/>
          </a:prstGeom>
          <a:noFill/>
          <a:ln/>
        </p:spPr>
        <p:txBody>
          <a:bodyPr wrap="square" lIns="0" tIns="0" rIns="0" bIns="0" rtlCol="0" anchor="t"/>
          <a:lstStyle/>
          <a:p>
            <a:pPr marL="0" indent="0">
              <a:buNone/>
            </a:pPr>
            <a:r>
              <a:rPr lang="en-US" sz="1150" b="1" dirty="0">
                <a:solidFill>
                  <a:srgbClr val="0B3B75"/>
                </a:solidFill>
                <a:latin typeface="Calibri" pitchFamily="34" charset="0"/>
                <a:ea typeface="Calibri" pitchFamily="34" charset="-122"/>
                <a:cs typeface="Calibri" pitchFamily="34" charset="-120"/>
              </a:rPr>
              <a:t>Hold</a:t>
            </a:r>
            <a:endParaRPr lang="en-US" sz="1150" dirty="0"/>
          </a:p>
        </p:txBody>
      </p:sp>
      <p:sp>
        <p:nvSpPr>
          <p:cNvPr id="18" name="Shape 26">
            <a:extLst>
              <a:ext uri="{FF2B5EF4-FFF2-40B4-BE49-F238E27FC236}">
                <a16:creationId xmlns:a16="http://schemas.microsoft.com/office/drawing/2014/main" id="{7837FB42-99C6-F6ED-3C89-BE8CC1D855FC}"/>
              </a:ext>
            </a:extLst>
          </p:cNvPr>
          <p:cNvSpPr/>
          <p:nvPr/>
        </p:nvSpPr>
        <p:spPr>
          <a:xfrm>
            <a:off x="485366" y="2418588"/>
            <a:ext cx="237744" cy="237744"/>
          </a:xfrm>
          <a:prstGeom prst="ellipse">
            <a:avLst/>
          </a:prstGeom>
          <a:solidFill>
            <a:srgbClr val="A5741A"/>
          </a:solidFill>
          <a:ln w="12700">
            <a:solidFill>
              <a:srgbClr val="A5741A"/>
            </a:solidFill>
            <a:prstDash val="solid"/>
          </a:ln>
        </p:spPr>
        <p:txBody>
          <a:bodyPr/>
          <a:lstStyle/>
          <a:p>
            <a:endParaRPr lang="en-US"/>
          </a:p>
        </p:txBody>
      </p:sp>
      <p:sp>
        <p:nvSpPr>
          <p:cNvPr id="19" name="Text 27">
            <a:extLst>
              <a:ext uri="{FF2B5EF4-FFF2-40B4-BE49-F238E27FC236}">
                <a16:creationId xmlns:a16="http://schemas.microsoft.com/office/drawing/2014/main" id="{DEC11E17-BCBB-3081-6DC3-81CE33156032}"/>
              </a:ext>
            </a:extLst>
          </p:cNvPr>
          <p:cNvSpPr txBox="1"/>
          <p:nvPr/>
        </p:nvSpPr>
        <p:spPr>
          <a:xfrm>
            <a:off x="787934" y="2463546"/>
            <a:ext cx="703299" cy="237744"/>
          </a:xfrm>
          <a:prstGeom prst="rect">
            <a:avLst/>
          </a:prstGeom>
          <a:noFill/>
          <a:ln/>
        </p:spPr>
        <p:txBody>
          <a:bodyPr wrap="square" lIns="0" tIns="0" rIns="0" bIns="0" rtlCol="0" anchor="t"/>
          <a:lstStyle/>
          <a:p>
            <a:pPr marL="0" indent="0">
              <a:buNone/>
            </a:pPr>
            <a:r>
              <a:rPr lang="en-US" sz="1150" b="1" dirty="0">
                <a:solidFill>
                  <a:srgbClr val="0B3B75"/>
                </a:solidFill>
                <a:latin typeface="Calibri" pitchFamily="34" charset="0"/>
                <a:ea typeface="Calibri" pitchFamily="34" charset="-122"/>
                <a:cs typeface="Calibri" pitchFamily="34" charset="-120"/>
              </a:rPr>
              <a:t>Overdo</a:t>
            </a:r>
            <a:endParaRPr lang="en-US" sz="1150" dirty="0"/>
          </a:p>
        </p:txBody>
      </p:sp>
      <p:sp>
        <p:nvSpPr>
          <p:cNvPr id="21" name="Text 4">
            <a:extLst>
              <a:ext uri="{FF2B5EF4-FFF2-40B4-BE49-F238E27FC236}">
                <a16:creationId xmlns:a16="http://schemas.microsoft.com/office/drawing/2014/main" id="{36143FCC-0436-EA15-DAD1-18FFD02904C3}"/>
              </a:ext>
            </a:extLst>
          </p:cNvPr>
          <p:cNvSpPr txBox="1"/>
          <p:nvPr/>
        </p:nvSpPr>
        <p:spPr>
          <a:xfrm>
            <a:off x="11155680" y="6382512"/>
            <a:ext cx="484632" cy="274320"/>
          </a:xfrm>
          <a:prstGeom prst="rect">
            <a:avLst/>
          </a:prstGeom>
          <a:noFill/>
          <a:ln/>
        </p:spPr>
        <p:txBody>
          <a:bodyPr wrap="square" lIns="0" tIns="0" rIns="0" bIns="0" rtlCol="0" anchor="t"/>
          <a:lstStyle/>
          <a:p>
            <a:pPr marL="0" indent="0" algn="r">
              <a:buNone/>
            </a:pPr>
            <a:r>
              <a:rPr lang="en-US" sz="1100" b="1" dirty="0">
                <a:solidFill>
                  <a:srgbClr val="A5741A"/>
                </a:solidFill>
                <a:latin typeface="Calibri" pitchFamily="34" charset="0"/>
                <a:ea typeface="Calibri" pitchFamily="34" charset="-122"/>
                <a:cs typeface="Calibri" pitchFamily="34" charset="-120"/>
              </a:rPr>
              <a:t>36</a:t>
            </a:r>
            <a:endParaRPr lang="en-US" sz="1100" dirty="0"/>
          </a:p>
        </p:txBody>
      </p:sp>
    </p:spTree>
    <p:extLst>
      <p:ext uri="{BB962C8B-B14F-4D97-AF65-F5344CB8AC3E}">
        <p14:creationId xmlns:p14="http://schemas.microsoft.com/office/powerpoint/2010/main" val="218715930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65760"/>
            <a:ext cx="123444" cy="123444"/>
          </a:xfrm>
          <a:prstGeom prst="ellipse">
            <a:avLst/>
          </a:prstGeom>
          <a:solidFill>
            <a:srgbClr val="D9A227"/>
          </a:solidFill>
          <a:ln w="12700">
            <a:solidFill>
              <a:srgbClr val="D9A227"/>
            </a:solidFill>
            <a:prstDash val="solid"/>
          </a:ln>
        </p:spPr>
        <p:txBody>
          <a:bodyPr/>
          <a:lstStyle/>
          <a:p>
            <a:endParaRPr lang="en-US"/>
          </a:p>
        </p:txBody>
      </p:sp>
      <p:sp>
        <p:nvSpPr>
          <p:cNvPr id="3" name="Text 1"/>
          <p:cNvSpPr txBox="1"/>
          <p:nvPr/>
        </p:nvSpPr>
        <p:spPr>
          <a:xfrm>
            <a:off x="804672" y="292608"/>
            <a:ext cx="10838383" cy="237744"/>
          </a:xfrm>
          <a:prstGeom prst="rect">
            <a:avLst/>
          </a:prstGeom>
          <a:noFill/>
          <a:ln/>
        </p:spPr>
        <p:txBody>
          <a:bodyPr wrap="square" lIns="0" tIns="0" rIns="0" bIns="0" rtlCol="0" anchor="t"/>
          <a:lstStyle/>
          <a:p>
            <a:pPr marL="0" indent="0">
              <a:buNone/>
            </a:pPr>
            <a:r>
              <a:rPr lang="en-US" sz="1050" b="1" kern="0" spc="120" dirty="0">
                <a:solidFill>
                  <a:srgbClr val="A5741A"/>
                </a:solidFill>
                <a:latin typeface="Calibri" pitchFamily="34" charset="0"/>
                <a:ea typeface="Calibri" pitchFamily="34" charset="-122"/>
                <a:cs typeface="Calibri" pitchFamily="34" charset="-120"/>
              </a:rPr>
              <a:t>CHƯƠNG 4 · 4.1.2 NHẬN DIỆN LÃNG PHÍ</a:t>
            </a:r>
            <a:endParaRPr lang="en-US" sz="1050" dirty="0"/>
          </a:p>
        </p:txBody>
      </p:sp>
      <p:sp>
        <p:nvSpPr>
          <p:cNvPr id="4" name="Text 2"/>
          <p:cNvSpPr txBox="1"/>
          <p:nvPr/>
        </p:nvSpPr>
        <p:spPr>
          <a:xfrm>
            <a:off x="548640" y="566928"/>
            <a:ext cx="11094415" cy="457200"/>
          </a:xfrm>
          <a:prstGeom prst="rect">
            <a:avLst/>
          </a:prstGeom>
          <a:noFill/>
          <a:ln/>
        </p:spPr>
        <p:txBody>
          <a:bodyPr wrap="square" lIns="0" tIns="0" rIns="0" bIns="0" rtlCol="0" anchor="t"/>
          <a:lstStyle/>
          <a:p>
            <a:pPr marL="0" indent="0">
              <a:buNone/>
            </a:pPr>
            <a:r>
              <a:rPr lang="en-US" sz="2500" b="1" dirty="0">
                <a:solidFill>
                  <a:srgbClr val="0B3B75"/>
                </a:solidFill>
                <a:latin typeface="Calibri" pitchFamily="34" charset="0"/>
                <a:ea typeface="Calibri" pitchFamily="34" charset="-122"/>
                <a:cs typeface="Calibri" pitchFamily="34" charset="-120"/>
              </a:rPr>
              <a:t>DANH MỤC ĐIỂM PHÁT SINH LÃNG PHÍ CỦA QUY TRÌNH PYC</a:t>
            </a:r>
            <a:endParaRPr lang="en-US" sz="2500" dirty="0"/>
          </a:p>
        </p:txBody>
      </p:sp>
      <p:sp>
        <p:nvSpPr>
          <p:cNvPr id="5" name="Text 3"/>
          <p:cNvSpPr txBox="1"/>
          <p:nvPr/>
        </p:nvSpPr>
        <p:spPr>
          <a:xfrm>
            <a:off x="548640" y="1024128"/>
            <a:ext cx="11094415" cy="274320"/>
          </a:xfrm>
          <a:prstGeom prst="rect">
            <a:avLst/>
          </a:prstGeom>
          <a:noFill/>
          <a:ln/>
        </p:spPr>
        <p:txBody>
          <a:bodyPr wrap="square" lIns="0" tIns="0" rIns="0" bIns="0" rtlCol="0" anchor="t"/>
          <a:lstStyle/>
          <a:p>
            <a:pPr marL="0" indent="0">
              <a:buNone/>
            </a:pPr>
            <a:r>
              <a:rPr lang="en-US" sz="1100" i="1" dirty="0">
                <a:solidFill>
                  <a:srgbClr val="6E7A88"/>
                </a:solidFill>
                <a:latin typeface="Calibri" pitchFamily="34" charset="0"/>
                <a:ea typeface="Calibri" pitchFamily="34" charset="-122"/>
                <a:cs typeface="Calibri" pitchFamily="34" charset="-120"/>
              </a:rPr>
              <a:t>Bảng 4.2 — 14 điểm lãng phí nhận diện trên mô hình BPMN AS-IS  ·  Move 03  ·  Hold 06  ·  Overdo 05</a:t>
            </a:r>
            <a:endParaRPr lang="en-US" sz="1100" dirty="0"/>
          </a:p>
        </p:txBody>
      </p:sp>
      <p:sp>
        <p:nvSpPr>
          <p:cNvPr id="6" name="Text 4"/>
          <p:cNvSpPr txBox="1"/>
          <p:nvPr/>
        </p:nvSpPr>
        <p:spPr>
          <a:xfrm>
            <a:off x="548640" y="6419088"/>
            <a:ext cx="8778240" cy="237744"/>
          </a:xfrm>
          <a:prstGeom prst="rect">
            <a:avLst/>
          </a:prstGeom>
          <a:noFill/>
          <a:ln/>
        </p:spPr>
        <p:txBody>
          <a:bodyPr wrap="square" lIns="0" tIns="0" rIns="0" bIns="0" rtlCol="0" anchor="t"/>
          <a:lstStyle/>
          <a:p>
            <a:pPr marL="0" indent="0">
              <a:buNone/>
            </a:pPr>
            <a:r>
              <a:rPr lang="en-US" sz="850" dirty="0">
                <a:solidFill>
                  <a:srgbClr val="6E7A88"/>
                </a:solidFill>
                <a:latin typeface="Calibri" pitchFamily="34" charset="0"/>
                <a:ea typeface="Calibri" pitchFamily="34" charset="-122"/>
                <a:cs typeface="Calibri" pitchFamily="34" charset="-120"/>
              </a:rPr>
              <a:t>HỆ THỐNG QUẢN TRỊ QUY TRÌNH NGHIỆP VỤ  ·  SACOMBANK — QUY TRÌNH PYC</a:t>
            </a:r>
            <a:endParaRPr lang="en-US" sz="850" dirty="0"/>
          </a:p>
        </p:txBody>
      </p:sp>
      <p:sp>
        <p:nvSpPr>
          <p:cNvPr id="7" name="Text 5"/>
          <p:cNvSpPr txBox="1"/>
          <p:nvPr/>
        </p:nvSpPr>
        <p:spPr>
          <a:xfrm>
            <a:off x="11155680" y="6382512"/>
            <a:ext cx="484632" cy="274320"/>
          </a:xfrm>
          <a:prstGeom prst="rect">
            <a:avLst/>
          </a:prstGeom>
          <a:noFill/>
          <a:ln/>
        </p:spPr>
        <p:txBody>
          <a:bodyPr wrap="square" lIns="0" tIns="0" rIns="0" bIns="0" rtlCol="0" anchor="t"/>
          <a:lstStyle/>
          <a:p>
            <a:pPr marL="0" indent="0" algn="r">
              <a:buNone/>
            </a:pPr>
            <a:r>
              <a:rPr lang="en-US" sz="1100" b="1" dirty="0">
                <a:solidFill>
                  <a:srgbClr val="A5741A"/>
                </a:solidFill>
                <a:latin typeface="Calibri" pitchFamily="34" charset="0"/>
                <a:ea typeface="Calibri" pitchFamily="34" charset="-122"/>
                <a:cs typeface="Calibri" pitchFamily="34" charset="-120"/>
              </a:rPr>
              <a:t>37</a:t>
            </a:r>
          </a:p>
          <a:p>
            <a:pPr marL="0" indent="0" algn="r">
              <a:buNone/>
            </a:pPr>
            <a:endParaRPr lang="en-US" sz="1100" dirty="0"/>
          </a:p>
        </p:txBody>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548640" y="1517904"/>
          <a:ext cx="11091672" cy="3968496"/>
        </p:xfrm>
        <a:graphic>
          <a:graphicData uri="http://schemas.openxmlformats.org/drawingml/2006/table">
            <a:tbl>
              <a:tblPr/>
              <a:tblGrid>
                <a:gridCol w="548640">
                  <a:extLst>
                    <a:ext uri="{9D8B030D-6E8A-4147-A177-3AD203B41FA5}">
                      <a16:colId xmlns:a16="http://schemas.microsoft.com/office/drawing/2014/main" val="20000"/>
                    </a:ext>
                  </a:extLst>
                </a:gridCol>
                <a:gridCol w="329184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6153912">
                  <a:extLst>
                    <a:ext uri="{9D8B030D-6E8A-4147-A177-3AD203B41FA5}">
                      <a16:colId xmlns:a16="http://schemas.microsoft.com/office/drawing/2014/main" val="20003"/>
                    </a:ext>
                  </a:extLst>
                </a:gridCol>
              </a:tblGrid>
              <a:tr h="384048">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STT</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0B3B75"/>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HOẠT ĐỘNG / VỊ TRÍ PHÁT SINH</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0B3B75"/>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LOẠI</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0B3B75"/>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MÔ TẢ</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0B3B75"/>
                    </a:solidFill>
                  </a:tcPr>
                </a:tc>
                <a:extLst>
                  <a:ext uri="{0D108BD9-81ED-4DB2-BD59-A6C34878D82A}">
                    <a16:rowId xmlns:a16="http://schemas.microsoft.com/office/drawing/2014/main" val="10000"/>
                  </a:ext>
                </a:extLst>
              </a:tr>
              <a:tr h="256032">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1</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Gửi yêu cầu từ End User sang hệ thống ITSM</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lgn="ctr">
                        <a:buNone/>
                      </a:pPr>
                      <a:r>
                        <a:rPr lang="en-US" sz="850" b="1" dirty="0">
                          <a:solidFill>
                            <a:srgbClr val="1660BF"/>
                          </a:solidFill>
                          <a:latin typeface="Calibri" pitchFamily="34" charset="0"/>
                          <a:ea typeface="Calibri" pitchFamily="34" charset="-122"/>
                          <a:cs typeface="Calibri" pitchFamily="34" charset="-120"/>
                        </a:rPr>
                        <a:t>Move</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Yêu cầu đi qua ITSM rồi mới tới Service Desk — thêm một chặng trung gian trong luồng tiếp nhận.</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extLst>
                  <a:ext uri="{0D108BD9-81ED-4DB2-BD59-A6C34878D82A}">
                    <a16:rowId xmlns:a16="http://schemas.microsoft.com/office/drawing/2014/main" val="10001"/>
                  </a:ext>
                </a:extLst>
              </a:tr>
              <a:tr h="256032">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2</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Đính kèm đủ ba tệp qua cổng AND</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lgn="ctr">
                        <a:buNone/>
                      </a:pPr>
                      <a:r>
                        <a:rPr lang="en-US" sz="850" b="1" dirty="0">
                          <a:solidFill>
                            <a:srgbClr val="A5741A"/>
                          </a:solidFill>
                          <a:latin typeface="Calibri" pitchFamily="34" charset="0"/>
                          <a:ea typeface="Calibri" pitchFamily="34" charset="-122"/>
                          <a:cs typeface="Calibri" pitchFamily="34" charset="-120"/>
                        </a:rPr>
                        <a:t>Overdo</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Mọi PYC đều buộc có email duyệt, mã dự án và ảnh màn hình dù nhiều trường hợp không cần đủ ba.</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extLst>
                  <a:ext uri="{0D108BD9-81ED-4DB2-BD59-A6C34878D82A}">
                    <a16:rowId xmlns:a16="http://schemas.microsoft.com/office/drawing/2014/main" val="10002"/>
                  </a:ext>
                </a:extLst>
              </a:tr>
              <a:tr h="256032">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3</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Gửi thông báo đến quản lý trực tiếp</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lgn="ctr">
                        <a:buNone/>
                      </a:pPr>
                      <a:r>
                        <a:rPr lang="en-US" sz="850" b="1" dirty="0">
                          <a:solidFill>
                            <a:srgbClr val="1660BF"/>
                          </a:solidFill>
                          <a:latin typeface="Calibri" pitchFamily="34" charset="0"/>
                          <a:ea typeface="Calibri" pitchFamily="34" charset="-122"/>
                          <a:cs typeface="Calibri" pitchFamily="34" charset="-120"/>
                        </a:rPr>
                        <a:t>Move</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Phiếu rời ITSM sang kênh email/notification rồi mới quay lại hệ thống để đi tiếp.</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extLst>
                  <a:ext uri="{0D108BD9-81ED-4DB2-BD59-A6C34878D82A}">
                    <a16:rowId xmlns:a16="http://schemas.microsoft.com/office/drawing/2014/main" val="10003"/>
                  </a:ext>
                </a:extLst>
              </a:tr>
              <a:tr h="256032">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4</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Điểm chờ quản lý trực tiếp phê duyệt</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lgn="ctr">
                        <a:buNone/>
                      </a:pPr>
                      <a:r>
                        <a:rPr lang="en-US" sz="850" b="1" dirty="0">
                          <a:solidFill>
                            <a:srgbClr val="C0392B"/>
                          </a:solidFill>
                          <a:latin typeface="Calibri" pitchFamily="34" charset="0"/>
                          <a:ea typeface="Calibri" pitchFamily="34" charset="-122"/>
                          <a:cs typeface="Calibri" pitchFamily="34" charset="-120"/>
                        </a:rPr>
                        <a:t>Hold</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Chờ 2–8 giờ; với quyền T24 và khi quản lý đi công tác có thể kéo dài vài ngày đến một tuần.</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extLst>
                  <a:ext uri="{0D108BD9-81ED-4DB2-BD59-A6C34878D82A}">
                    <a16:rowId xmlns:a16="http://schemas.microsoft.com/office/drawing/2014/main" val="10004"/>
                  </a:ext>
                </a:extLst>
              </a:tr>
              <a:tr h="256032">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5</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Trả về yêu cầu bổ sung thông tin</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lgn="ctr">
                        <a:buNone/>
                      </a:pPr>
                      <a:r>
                        <a:rPr lang="en-US" sz="850" b="1" dirty="0">
                          <a:solidFill>
                            <a:srgbClr val="A5741A"/>
                          </a:solidFill>
                          <a:latin typeface="Calibri" pitchFamily="34" charset="0"/>
                          <a:ea typeface="Calibri" pitchFamily="34" charset="-122"/>
                          <a:cs typeface="Calibri" pitchFamily="34" charset="-120"/>
                        </a:rPr>
                        <a:t>Overdo</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20–50% PYC phải làm lại do chọn sai danh mục dịch vụ hoặc mô tả thiếu dữ liệu kỹ thuật.</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extLst>
                  <a:ext uri="{0D108BD9-81ED-4DB2-BD59-A6C34878D82A}">
                    <a16:rowId xmlns:a16="http://schemas.microsoft.com/office/drawing/2014/main" val="10005"/>
                  </a:ext>
                </a:extLst>
              </a:tr>
              <a:tr h="256032">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6</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Điểm chờ người dùng bổ sung thông tin</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lgn="ctr">
                        <a:buNone/>
                      </a:pPr>
                      <a:r>
                        <a:rPr lang="en-US" sz="850" b="1" dirty="0">
                          <a:solidFill>
                            <a:srgbClr val="C0392B"/>
                          </a:solidFill>
                          <a:latin typeface="Calibri" pitchFamily="34" charset="0"/>
                          <a:ea typeface="Calibri" pitchFamily="34" charset="-122"/>
                          <a:cs typeface="Calibri" pitchFamily="34" charset="-120"/>
                        </a:rPr>
                        <a:t>Hold</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Quy trình dừng hoàn toàn cho tới khi người dùng phản hồi và nộp lại phiếu.</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extLst>
                  <a:ext uri="{0D108BD9-81ED-4DB2-BD59-A6C34878D82A}">
                    <a16:rowId xmlns:a16="http://schemas.microsoft.com/office/drawing/2014/main" val="10006"/>
                  </a:ext>
                </a:extLst>
              </a:tr>
              <a:tr h="256032">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7</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Xác minh thông tin tại Service Desk L1</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lgn="ctr">
                        <a:buNone/>
                      </a:pPr>
                      <a:r>
                        <a:rPr lang="en-US" sz="850" b="1" dirty="0">
                          <a:solidFill>
                            <a:srgbClr val="A5741A"/>
                          </a:solidFill>
                          <a:latin typeface="Calibri" pitchFamily="34" charset="0"/>
                          <a:ea typeface="Calibri" pitchFamily="34" charset="-122"/>
                          <a:cs typeface="Calibri" pitchFamily="34" charset="-120"/>
                        </a:rPr>
                        <a:t>Overdo</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Kiểm tra lại dữ liệu lẽ ra đã được ràng buộc ngay từ biểu mẫu đầu vào trên Cổng dịch vụ.</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extLst>
                  <a:ext uri="{0D108BD9-81ED-4DB2-BD59-A6C34878D82A}">
                    <a16:rowId xmlns:a16="http://schemas.microsoft.com/office/drawing/2014/main" val="10007"/>
                  </a:ext>
                </a:extLst>
              </a:tr>
              <a:tr h="256032">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8</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Điểm chờ Work Order vào hàng đợi L1</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lgn="ctr">
                        <a:buNone/>
                      </a:pPr>
                      <a:r>
                        <a:rPr lang="en-US" sz="850" b="1" dirty="0">
                          <a:solidFill>
                            <a:srgbClr val="C0392B"/>
                          </a:solidFill>
                          <a:latin typeface="Calibri" pitchFamily="34" charset="0"/>
                          <a:ea typeface="Calibri" pitchFamily="34" charset="-122"/>
                          <a:cs typeface="Calibri" pitchFamily="34" charset="-120"/>
                        </a:rPr>
                        <a:t>Hold</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WO nằm trên dashboard tới khi Service Desk L1 tiếp nhận và phân loại.</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extLst>
                  <a:ext uri="{0D108BD9-81ED-4DB2-BD59-A6C34878D82A}">
                    <a16:rowId xmlns:a16="http://schemas.microsoft.com/office/drawing/2014/main" val="10008"/>
                  </a:ext>
                </a:extLst>
              </a:tr>
              <a:tr h="256032">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9</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Gửi WO đến Service Desk L2</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lgn="ctr">
                        <a:buNone/>
                      </a:pPr>
                      <a:r>
                        <a:rPr lang="en-US" sz="850" b="1" dirty="0">
                          <a:solidFill>
                            <a:srgbClr val="1660BF"/>
                          </a:solidFill>
                          <a:latin typeface="Calibri" pitchFamily="34" charset="0"/>
                          <a:ea typeface="Calibri" pitchFamily="34" charset="-122"/>
                          <a:cs typeface="Calibri" pitchFamily="34" charset="-120"/>
                        </a:rPr>
                        <a:t>Move</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Chuyển giao giữa hai tuyến xử lý, kèm rủi ro trôi trượt thông tin phân tích ban đầu.</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extLst>
                  <a:ext uri="{0D108BD9-81ED-4DB2-BD59-A6C34878D82A}">
                    <a16:rowId xmlns:a16="http://schemas.microsoft.com/office/drawing/2014/main" val="10009"/>
                  </a:ext>
                </a:extLst>
              </a:tr>
              <a:tr h="256032">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10</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Điểm chờ Level 2 tiếp nhận Work Order</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lgn="ctr">
                        <a:buNone/>
                      </a:pPr>
                      <a:r>
                        <a:rPr lang="en-US" sz="850" b="1" dirty="0">
                          <a:solidFill>
                            <a:srgbClr val="C0392B"/>
                          </a:solidFill>
                          <a:latin typeface="Calibri" pitchFamily="34" charset="0"/>
                          <a:ea typeface="Calibri" pitchFamily="34" charset="-122"/>
                          <a:cs typeface="Calibri" pitchFamily="34" charset="-120"/>
                        </a:rPr>
                        <a:t>Hold</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Yêu cầu vượt phạm vi L1 phải đợi chuyên viên L2 sắp xếp được thời gian xử lý.</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extLst>
                  <a:ext uri="{0D108BD9-81ED-4DB2-BD59-A6C34878D82A}">
                    <a16:rowId xmlns:a16="http://schemas.microsoft.com/office/drawing/2014/main" val="10010"/>
                  </a:ext>
                </a:extLst>
              </a:tr>
              <a:tr h="256032">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11</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Ghi log vào ITSM và ghi log vào SIEM</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lgn="ctr">
                        <a:buNone/>
                      </a:pPr>
                      <a:r>
                        <a:rPr lang="en-US" sz="850" b="1" dirty="0">
                          <a:solidFill>
                            <a:srgbClr val="A5741A"/>
                          </a:solidFill>
                          <a:latin typeface="Calibri" pitchFamily="34" charset="0"/>
                          <a:ea typeface="Calibri" pitchFamily="34" charset="-122"/>
                          <a:cs typeface="Calibri" pitchFamily="34" charset="-120"/>
                        </a:rPr>
                        <a:t>Overdo</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Cùng một nội dung log phải nhập thủ công hai lần trên hai hệ thống khác nhau.</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extLst>
                  <a:ext uri="{0D108BD9-81ED-4DB2-BD59-A6C34878D82A}">
                    <a16:rowId xmlns:a16="http://schemas.microsoft.com/office/drawing/2014/main" val="10011"/>
                  </a:ext>
                </a:extLst>
              </a:tr>
              <a:tr h="256032">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12</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Điểm chờ tại cổng gom luồng AND</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lgn="ctr">
                        <a:buNone/>
                      </a:pPr>
                      <a:r>
                        <a:rPr lang="en-US" sz="850" b="1" dirty="0">
                          <a:solidFill>
                            <a:srgbClr val="C0392B"/>
                          </a:solidFill>
                          <a:latin typeface="Calibri" pitchFamily="34" charset="0"/>
                          <a:ea typeface="Calibri" pitchFamily="34" charset="-122"/>
                          <a:cs typeface="Calibri" pitchFamily="34" charset="-120"/>
                        </a:rPr>
                        <a:t>Hold</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Cấu hình cấp quyền xong vẫn phải đợi thao tác ghi log thủ công hoàn tất mới đi tiếp.</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extLst>
                  <a:ext uri="{0D108BD9-81ED-4DB2-BD59-A6C34878D82A}">
                    <a16:rowId xmlns:a16="http://schemas.microsoft.com/office/drawing/2014/main" val="10012"/>
                  </a:ext>
                </a:extLst>
              </a:tr>
              <a:tr h="256032">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13</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Điểm chờ người dùng xác nhận kết quả</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lgn="ctr">
                        <a:buNone/>
                      </a:pPr>
                      <a:r>
                        <a:rPr lang="en-US" sz="850" b="1" dirty="0">
                          <a:solidFill>
                            <a:srgbClr val="C0392B"/>
                          </a:solidFill>
                          <a:latin typeface="Calibri" pitchFamily="34" charset="0"/>
                          <a:ea typeface="Calibri" pitchFamily="34" charset="-122"/>
                          <a:cs typeface="Calibri" pitchFamily="34" charset="-120"/>
                        </a:rPr>
                        <a:t>Hold</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Phiếu ở trạng thái Resolved chờ xác nhận, tối đa 48 giờ trước khi hệ thống Auto-close.</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extLst>
                  <a:ext uri="{0D108BD9-81ED-4DB2-BD59-A6C34878D82A}">
                    <a16:rowId xmlns:a16="http://schemas.microsoft.com/office/drawing/2014/main" val="10013"/>
                  </a:ext>
                </a:extLst>
              </a:tr>
              <a:tr h="256032">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14</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Reopen phiếu khi kết quả chưa đạt</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lgn="ctr">
                        <a:buNone/>
                      </a:pPr>
                      <a:r>
                        <a:rPr lang="en-US" sz="850" b="1" dirty="0">
                          <a:solidFill>
                            <a:srgbClr val="A5741A"/>
                          </a:solidFill>
                          <a:latin typeface="Calibri" pitchFamily="34" charset="0"/>
                          <a:ea typeface="Calibri" pitchFamily="34" charset="-122"/>
                          <a:cs typeface="Calibri" pitchFamily="34" charset="-120"/>
                        </a:rPr>
                        <a:t>Overdo</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Phải quay lại bước tiếp nhận hoặc xử lý kỹ thuật, lặp lại phần lớn chu trình.</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extLst>
                  <a:ext uri="{0D108BD9-81ED-4DB2-BD59-A6C34878D82A}">
                    <a16:rowId xmlns:a16="http://schemas.microsoft.com/office/drawing/2014/main" val="10014"/>
                  </a:ext>
                </a:extLst>
              </a:tr>
            </a:tbl>
          </a:graphicData>
        </a:graphic>
      </p:graphicFrame>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65760"/>
            <a:ext cx="123444" cy="123444"/>
          </a:xfrm>
          <a:prstGeom prst="ellipse">
            <a:avLst/>
          </a:prstGeom>
          <a:solidFill>
            <a:srgbClr val="D9A227"/>
          </a:solidFill>
          <a:ln w="12700">
            <a:solidFill>
              <a:srgbClr val="D9A227"/>
            </a:solidFill>
            <a:prstDash val="solid"/>
          </a:ln>
        </p:spPr>
        <p:txBody>
          <a:bodyPr/>
          <a:lstStyle/>
          <a:p>
            <a:endParaRPr lang="en-US"/>
          </a:p>
        </p:txBody>
      </p:sp>
      <p:sp>
        <p:nvSpPr>
          <p:cNvPr id="3" name="Text 1"/>
          <p:cNvSpPr txBox="1"/>
          <p:nvPr/>
        </p:nvSpPr>
        <p:spPr>
          <a:xfrm>
            <a:off x="804672" y="292608"/>
            <a:ext cx="10838383" cy="237744"/>
          </a:xfrm>
          <a:prstGeom prst="rect">
            <a:avLst/>
          </a:prstGeom>
          <a:noFill/>
          <a:ln/>
        </p:spPr>
        <p:txBody>
          <a:bodyPr wrap="square" lIns="0" tIns="0" rIns="0" bIns="0" rtlCol="0" anchor="t"/>
          <a:lstStyle/>
          <a:p>
            <a:pPr marL="0" indent="0">
              <a:buNone/>
            </a:pPr>
            <a:r>
              <a:rPr lang="en-US" sz="1050" b="1" kern="0" spc="120" dirty="0">
                <a:solidFill>
                  <a:srgbClr val="A5741A"/>
                </a:solidFill>
                <a:latin typeface="Calibri" pitchFamily="34" charset="0"/>
                <a:ea typeface="Calibri" pitchFamily="34" charset="-122"/>
                <a:cs typeface="Calibri" pitchFamily="34" charset="-120"/>
              </a:rPr>
              <a:t>CHƯƠNG 4 · 4.1.3 NGUYÊN NHÂN GỐC RỄ</a:t>
            </a:r>
            <a:endParaRPr lang="en-US" sz="1050" dirty="0"/>
          </a:p>
        </p:txBody>
      </p:sp>
      <p:sp>
        <p:nvSpPr>
          <p:cNvPr id="4" name="Text 2"/>
          <p:cNvSpPr txBox="1"/>
          <p:nvPr/>
        </p:nvSpPr>
        <p:spPr>
          <a:xfrm>
            <a:off x="548640" y="566928"/>
            <a:ext cx="11094415" cy="457200"/>
          </a:xfrm>
          <a:prstGeom prst="rect">
            <a:avLst/>
          </a:prstGeom>
          <a:noFill/>
          <a:ln/>
        </p:spPr>
        <p:txBody>
          <a:bodyPr wrap="square" lIns="0" tIns="0" rIns="0" bIns="0" rtlCol="0" anchor="t"/>
          <a:lstStyle/>
          <a:p>
            <a:pPr marL="0" indent="0">
              <a:buNone/>
            </a:pPr>
            <a:r>
              <a:rPr lang="en-US" sz="2500" b="1" dirty="0">
                <a:solidFill>
                  <a:srgbClr val="0B3B75"/>
                </a:solidFill>
                <a:latin typeface="Calibri" pitchFamily="34" charset="0"/>
                <a:ea typeface="Calibri" pitchFamily="34" charset="-122"/>
                <a:cs typeface="Calibri" pitchFamily="34" charset="-120"/>
              </a:rPr>
              <a:t>BỐN NHÓM NGUYÊN NHÂN GỐC RỄ THEO SƠ ĐỒ XƯƠNG CÁ</a:t>
            </a:r>
            <a:endParaRPr lang="en-US" sz="2500" dirty="0"/>
          </a:p>
        </p:txBody>
      </p:sp>
      <p:sp>
        <p:nvSpPr>
          <p:cNvPr id="5" name="Text 3"/>
          <p:cNvSpPr txBox="1"/>
          <p:nvPr/>
        </p:nvSpPr>
        <p:spPr>
          <a:xfrm>
            <a:off x="548640" y="1024128"/>
            <a:ext cx="11094415" cy="274320"/>
          </a:xfrm>
          <a:prstGeom prst="rect">
            <a:avLst/>
          </a:prstGeom>
          <a:noFill/>
          <a:ln/>
        </p:spPr>
        <p:txBody>
          <a:bodyPr wrap="square" lIns="0" tIns="0" rIns="0" bIns="0" rtlCol="0" anchor="t"/>
          <a:lstStyle/>
          <a:p>
            <a:pPr marL="0" indent="0">
              <a:buNone/>
            </a:pPr>
            <a:r>
              <a:rPr lang="en-US" sz="1100" i="1" dirty="0">
                <a:solidFill>
                  <a:srgbClr val="6E7A88"/>
                </a:solidFill>
                <a:latin typeface="Calibri" pitchFamily="34" charset="0"/>
                <a:ea typeface="Calibri" pitchFamily="34" charset="-122"/>
                <a:cs typeface="Calibri" pitchFamily="34" charset="-120"/>
              </a:rPr>
              <a:t>Bảng 15 — Vấn đề trung tâm: “Quy trình PYC bị chậm trễ và phát sinh rework”</a:t>
            </a:r>
            <a:endParaRPr lang="en-US" sz="1100" dirty="0"/>
          </a:p>
        </p:txBody>
      </p:sp>
      <p:sp>
        <p:nvSpPr>
          <p:cNvPr id="6" name="Text 4"/>
          <p:cNvSpPr txBox="1"/>
          <p:nvPr/>
        </p:nvSpPr>
        <p:spPr>
          <a:xfrm>
            <a:off x="548640" y="6419088"/>
            <a:ext cx="8778240" cy="237744"/>
          </a:xfrm>
          <a:prstGeom prst="rect">
            <a:avLst/>
          </a:prstGeom>
          <a:noFill/>
          <a:ln/>
        </p:spPr>
        <p:txBody>
          <a:bodyPr wrap="square" lIns="0" tIns="0" rIns="0" bIns="0" rtlCol="0" anchor="t"/>
          <a:lstStyle/>
          <a:p>
            <a:pPr marL="0" indent="0">
              <a:buNone/>
            </a:pPr>
            <a:r>
              <a:rPr lang="en-US" sz="850" dirty="0">
                <a:solidFill>
                  <a:srgbClr val="6E7A88"/>
                </a:solidFill>
                <a:latin typeface="Calibri" pitchFamily="34" charset="0"/>
                <a:ea typeface="Calibri" pitchFamily="34" charset="-122"/>
                <a:cs typeface="Calibri" pitchFamily="34" charset="-120"/>
              </a:rPr>
              <a:t>HỆ THỐNG QUẢN TRỊ QUY TRÌNH NGHIỆP VỤ  ·  SACOMBANK — QUY TRÌNH PYC</a:t>
            </a:r>
            <a:endParaRPr lang="en-US" sz="850" dirty="0"/>
          </a:p>
        </p:txBody>
      </p:sp>
      <p:sp>
        <p:nvSpPr>
          <p:cNvPr id="7" name="Text 5"/>
          <p:cNvSpPr txBox="1"/>
          <p:nvPr/>
        </p:nvSpPr>
        <p:spPr>
          <a:xfrm>
            <a:off x="11155680" y="6382512"/>
            <a:ext cx="484632" cy="274320"/>
          </a:xfrm>
          <a:prstGeom prst="rect">
            <a:avLst/>
          </a:prstGeom>
          <a:noFill/>
          <a:ln/>
        </p:spPr>
        <p:txBody>
          <a:bodyPr wrap="square" lIns="0" tIns="0" rIns="0" bIns="0" rtlCol="0" anchor="t"/>
          <a:lstStyle/>
          <a:p>
            <a:pPr marL="0" indent="0" algn="r">
              <a:buNone/>
            </a:pPr>
            <a:r>
              <a:rPr lang="en-US" sz="1100" b="1" dirty="0">
                <a:solidFill>
                  <a:srgbClr val="A5741A"/>
                </a:solidFill>
                <a:latin typeface="Calibri" pitchFamily="34" charset="0"/>
                <a:ea typeface="Calibri" pitchFamily="34" charset="-122"/>
                <a:cs typeface="Calibri" pitchFamily="34" charset="-120"/>
              </a:rPr>
              <a:t>38</a:t>
            </a:r>
            <a:endParaRPr lang="en-US" sz="1100" dirty="0"/>
          </a:p>
        </p:txBody>
      </p:sp>
      <p:sp>
        <p:nvSpPr>
          <p:cNvPr id="8" name="Shape 6"/>
          <p:cNvSpPr/>
          <p:nvPr/>
        </p:nvSpPr>
        <p:spPr>
          <a:xfrm>
            <a:off x="548640" y="1517904"/>
            <a:ext cx="2567864" cy="2103120"/>
          </a:xfrm>
          <a:prstGeom prst="roundRect">
            <a:avLst>
              <a:gd name="adj" fmla="val 2609"/>
            </a:avLst>
          </a:prstGeom>
          <a:solidFill>
            <a:srgbClr val="EFF4FB"/>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9" name="Text 7"/>
          <p:cNvSpPr txBox="1"/>
          <p:nvPr/>
        </p:nvSpPr>
        <p:spPr>
          <a:xfrm>
            <a:off x="731520" y="1664208"/>
            <a:ext cx="2202104" cy="274320"/>
          </a:xfrm>
          <a:prstGeom prst="rect">
            <a:avLst/>
          </a:prstGeom>
          <a:noFill/>
          <a:ln/>
        </p:spPr>
        <p:txBody>
          <a:bodyPr wrap="square" lIns="0" tIns="0" rIns="0" bIns="0" rtlCol="0" anchor="t"/>
          <a:lstStyle/>
          <a:p>
            <a:pPr marL="0" indent="0">
              <a:buNone/>
            </a:pPr>
            <a:r>
              <a:rPr lang="en-US" sz="1300" b="1" dirty="0">
                <a:solidFill>
                  <a:srgbClr val="0B3B75"/>
                </a:solidFill>
                <a:latin typeface="Calibri" pitchFamily="34" charset="0"/>
                <a:ea typeface="Calibri" pitchFamily="34" charset="-122"/>
                <a:cs typeface="Calibri" pitchFamily="34" charset="-120"/>
              </a:rPr>
              <a:t>CON NGƯỜI</a:t>
            </a:r>
            <a:endParaRPr lang="en-US" sz="1300" dirty="0"/>
          </a:p>
        </p:txBody>
      </p:sp>
      <p:sp>
        <p:nvSpPr>
          <p:cNvPr id="10" name="Text 8"/>
          <p:cNvSpPr txBox="1"/>
          <p:nvPr/>
        </p:nvSpPr>
        <p:spPr>
          <a:xfrm>
            <a:off x="731520" y="1938528"/>
            <a:ext cx="2202104" cy="219456"/>
          </a:xfrm>
          <a:prstGeom prst="rect">
            <a:avLst/>
          </a:prstGeom>
          <a:noFill/>
          <a:ln/>
        </p:spPr>
        <p:txBody>
          <a:bodyPr wrap="square" lIns="0" tIns="0" rIns="0" bIns="0" rtlCol="0" anchor="t"/>
          <a:lstStyle/>
          <a:p>
            <a:pPr marL="0" indent="0">
              <a:buNone/>
            </a:pPr>
            <a:r>
              <a:rPr lang="en-US" sz="950" b="1" i="1" dirty="0">
                <a:solidFill>
                  <a:srgbClr val="1660BF"/>
                </a:solidFill>
                <a:latin typeface="Calibri" pitchFamily="34" charset="0"/>
                <a:ea typeface="Calibri" pitchFamily="34" charset="-122"/>
                <a:cs typeface="Calibri" pitchFamily="34" charset="-120"/>
              </a:rPr>
              <a:t>Man</a:t>
            </a:r>
            <a:endParaRPr lang="en-US" sz="950" dirty="0"/>
          </a:p>
        </p:txBody>
      </p:sp>
      <p:sp>
        <p:nvSpPr>
          <p:cNvPr id="11" name="Text 9"/>
          <p:cNvSpPr txBox="1"/>
          <p:nvPr/>
        </p:nvSpPr>
        <p:spPr>
          <a:xfrm>
            <a:off x="731520" y="2249424"/>
            <a:ext cx="2202104" cy="1280160"/>
          </a:xfrm>
          <a:prstGeom prst="rect">
            <a:avLst/>
          </a:prstGeom>
          <a:noFill/>
          <a:ln/>
        </p:spPr>
        <p:txBody>
          <a:bodyPr wrap="square" lIns="0" tIns="0" rIns="0" bIns="0" rtlCol="0" anchor="t"/>
          <a:lstStyle/>
          <a:p>
            <a:pPr marL="342900" indent="-342900">
              <a:spcAft>
                <a:spcPts val="500"/>
              </a:spcAft>
              <a:buSzPct val="100000"/>
              <a:buChar char="•"/>
            </a:pPr>
            <a:r>
              <a:rPr lang="en-US" sz="950" dirty="0">
                <a:solidFill>
                  <a:srgbClr val="2A3442"/>
                </a:solidFill>
                <a:latin typeface="Calibri" pitchFamily="34" charset="0"/>
                <a:ea typeface="Calibri" pitchFamily="34" charset="-122"/>
                <a:cs typeface="Calibri" pitchFamily="34" charset="-120"/>
              </a:rPr>
              <a:t>Cấp quản lý bận họp hoặc đi công tác nên chậm thao tác phê duyệt.</a:t>
            </a:r>
            <a:endParaRPr lang="en-US" sz="950" dirty="0"/>
          </a:p>
          <a:p>
            <a:pPr marL="342900" indent="-342900">
              <a:spcAft>
                <a:spcPts val="500"/>
              </a:spcAft>
              <a:buSzPct val="100000"/>
              <a:buChar char="•"/>
            </a:pPr>
            <a:r>
              <a:rPr lang="en-US" sz="950" dirty="0">
                <a:solidFill>
                  <a:srgbClr val="2A3442"/>
                </a:solidFill>
                <a:latin typeface="Calibri" pitchFamily="34" charset="0"/>
                <a:ea typeface="Calibri" pitchFamily="34" charset="-122"/>
                <a:cs typeface="Calibri" pitchFamily="34" charset="-120"/>
              </a:rPr>
              <a:t>Người dùng chưa quen thao tác trên Cổng dịch vụ.</a:t>
            </a:r>
            <a:endParaRPr lang="en-US" sz="950" dirty="0"/>
          </a:p>
        </p:txBody>
      </p:sp>
      <p:sp>
        <p:nvSpPr>
          <p:cNvPr id="12" name="Shape 10"/>
          <p:cNvSpPr/>
          <p:nvPr/>
        </p:nvSpPr>
        <p:spPr>
          <a:xfrm>
            <a:off x="3390824" y="1517904"/>
            <a:ext cx="2567864" cy="2103120"/>
          </a:xfrm>
          <a:prstGeom prst="roundRect">
            <a:avLst>
              <a:gd name="adj" fmla="val 2609"/>
            </a:avLst>
          </a:prstGeom>
          <a:solidFill>
            <a:srgbClr val="EFF4FB"/>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13" name="Text 11"/>
          <p:cNvSpPr txBox="1"/>
          <p:nvPr/>
        </p:nvSpPr>
        <p:spPr>
          <a:xfrm>
            <a:off x="3573704" y="1664208"/>
            <a:ext cx="2202104" cy="274320"/>
          </a:xfrm>
          <a:prstGeom prst="rect">
            <a:avLst/>
          </a:prstGeom>
          <a:noFill/>
          <a:ln/>
        </p:spPr>
        <p:txBody>
          <a:bodyPr wrap="square" lIns="0" tIns="0" rIns="0" bIns="0" rtlCol="0" anchor="t"/>
          <a:lstStyle/>
          <a:p>
            <a:pPr marL="0" indent="0">
              <a:buNone/>
            </a:pPr>
            <a:r>
              <a:rPr lang="en-US" sz="1300" b="1" dirty="0">
                <a:solidFill>
                  <a:srgbClr val="0B3B75"/>
                </a:solidFill>
                <a:latin typeface="Calibri" pitchFamily="34" charset="0"/>
                <a:ea typeface="Calibri" pitchFamily="34" charset="-122"/>
                <a:cs typeface="Calibri" pitchFamily="34" charset="-120"/>
              </a:rPr>
              <a:t>QUY TRÌNH</a:t>
            </a:r>
            <a:endParaRPr lang="en-US" sz="1300" dirty="0"/>
          </a:p>
        </p:txBody>
      </p:sp>
      <p:sp>
        <p:nvSpPr>
          <p:cNvPr id="14" name="Text 12"/>
          <p:cNvSpPr txBox="1"/>
          <p:nvPr/>
        </p:nvSpPr>
        <p:spPr>
          <a:xfrm>
            <a:off x="3573704" y="1938528"/>
            <a:ext cx="2202104" cy="219456"/>
          </a:xfrm>
          <a:prstGeom prst="rect">
            <a:avLst/>
          </a:prstGeom>
          <a:noFill/>
          <a:ln/>
        </p:spPr>
        <p:txBody>
          <a:bodyPr wrap="square" lIns="0" tIns="0" rIns="0" bIns="0" rtlCol="0" anchor="t"/>
          <a:lstStyle/>
          <a:p>
            <a:pPr marL="0" indent="0">
              <a:buNone/>
            </a:pPr>
            <a:r>
              <a:rPr lang="en-US" sz="950" b="1" i="1" dirty="0">
                <a:solidFill>
                  <a:srgbClr val="C0392B"/>
                </a:solidFill>
                <a:latin typeface="Calibri" pitchFamily="34" charset="0"/>
                <a:ea typeface="Calibri" pitchFamily="34" charset="-122"/>
                <a:cs typeface="Calibri" pitchFamily="34" charset="-120"/>
              </a:rPr>
              <a:t>Method</a:t>
            </a:r>
            <a:endParaRPr lang="en-US" sz="950" dirty="0"/>
          </a:p>
        </p:txBody>
      </p:sp>
      <p:sp>
        <p:nvSpPr>
          <p:cNvPr id="15" name="Text 13"/>
          <p:cNvSpPr txBox="1"/>
          <p:nvPr/>
        </p:nvSpPr>
        <p:spPr>
          <a:xfrm>
            <a:off x="3573704" y="2249424"/>
            <a:ext cx="2202104" cy="1280160"/>
          </a:xfrm>
          <a:prstGeom prst="rect">
            <a:avLst/>
          </a:prstGeom>
          <a:noFill/>
          <a:ln/>
        </p:spPr>
        <p:txBody>
          <a:bodyPr wrap="square" lIns="0" tIns="0" rIns="0" bIns="0" rtlCol="0" anchor="t"/>
          <a:lstStyle/>
          <a:p>
            <a:pPr marL="342900" indent="-342900">
              <a:spcAft>
                <a:spcPts val="500"/>
              </a:spcAft>
              <a:buSzPct val="100000"/>
              <a:buChar char="•"/>
            </a:pPr>
            <a:r>
              <a:rPr lang="en-US" sz="950" dirty="0">
                <a:solidFill>
                  <a:srgbClr val="2A3442"/>
                </a:solidFill>
                <a:latin typeface="Calibri" pitchFamily="34" charset="0"/>
                <a:ea typeface="Calibri" pitchFamily="34" charset="-122"/>
                <a:cs typeface="Calibri" pitchFamily="34" charset="-120"/>
              </a:rPr>
              <a:t>Mọi PYC — kể cả quyền rủi ro thấp — đều bắt buộc qua bước phê duyệt thủ công (Overdo).</a:t>
            </a:r>
            <a:endParaRPr lang="en-US" sz="950" dirty="0"/>
          </a:p>
          <a:p>
            <a:pPr marL="342900" indent="-342900">
              <a:spcAft>
                <a:spcPts val="500"/>
              </a:spcAft>
              <a:buSzPct val="100000"/>
              <a:buChar char="•"/>
            </a:pPr>
            <a:r>
              <a:rPr lang="en-US" sz="950" dirty="0">
                <a:solidFill>
                  <a:srgbClr val="2A3442"/>
                </a:solidFill>
                <a:latin typeface="Calibri" pitchFamily="34" charset="0"/>
                <a:ea typeface="Calibri" pitchFamily="34" charset="-122"/>
                <a:cs typeface="Calibri" pitchFamily="34" charset="-120"/>
              </a:rPr>
              <a:t>Thiếu cơ chế phân loại rủi ro tự động.</a:t>
            </a:r>
            <a:endParaRPr lang="en-US" sz="950" dirty="0"/>
          </a:p>
        </p:txBody>
      </p:sp>
      <p:sp>
        <p:nvSpPr>
          <p:cNvPr id="16" name="Shape 14"/>
          <p:cNvSpPr/>
          <p:nvPr/>
        </p:nvSpPr>
        <p:spPr>
          <a:xfrm>
            <a:off x="6233008" y="1517904"/>
            <a:ext cx="2567864" cy="2103120"/>
          </a:xfrm>
          <a:prstGeom prst="roundRect">
            <a:avLst>
              <a:gd name="adj" fmla="val 2609"/>
            </a:avLst>
          </a:prstGeom>
          <a:solidFill>
            <a:srgbClr val="EFF4FB"/>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17" name="Text 15"/>
          <p:cNvSpPr txBox="1"/>
          <p:nvPr/>
        </p:nvSpPr>
        <p:spPr>
          <a:xfrm>
            <a:off x="6415888" y="1664208"/>
            <a:ext cx="2202104" cy="274320"/>
          </a:xfrm>
          <a:prstGeom prst="rect">
            <a:avLst/>
          </a:prstGeom>
          <a:noFill/>
          <a:ln/>
        </p:spPr>
        <p:txBody>
          <a:bodyPr wrap="square" lIns="0" tIns="0" rIns="0" bIns="0" rtlCol="0" anchor="t"/>
          <a:lstStyle/>
          <a:p>
            <a:pPr marL="0" indent="0">
              <a:buNone/>
            </a:pPr>
            <a:r>
              <a:rPr lang="en-US" sz="1300" b="1" dirty="0">
                <a:solidFill>
                  <a:srgbClr val="0B3B75"/>
                </a:solidFill>
                <a:latin typeface="Calibri" pitchFamily="34" charset="0"/>
                <a:ea typeface="Calibri" pitchFamily="34" charset="-122"/>
                <a:cs typeface="Calibri" pitchFamily="34" charset="-120"/>
              </a:rPr>
              <a:t>HỆ THỐNG</a:t>
            </a:r>
            <a:endParaRPr lang="en-US" sz="1300" dirty="0"/>
          </a:p>
        </p:txBody>
      </p:sp>
      <p:sp>
        <p:nvSpPr>
          <p:cNvPr id="18" name="Text 16"/>
          <p:cNvSpPr txBox="1"/>
          <p:nvPr/>
        </p:nvSpPr>
        <p:spPr>
          <a:xfrm>
            <a:off x="6415888" y="1938528"/>
            <a:ext cx="2202104" cy="219456"/>
          </a:xfrm>
          <a:prstGeom prst="rect">
            <a:avLst/>
          </a:prstGeom>
          <a:noFill/>
          <a:ln/>
        </p:spPr>
        <p:txBody>
          <a:bodyPr wrap="square" lIns="0" tIns="0" rIns="0" bIns="0" rtlCol="0" anchor="t"/>
          <a:lstStyle/>
          <a:p>
            <a:pPr marL="0" indent="0">
              <a:buNone/>
            </a:pPr>
            <a:r>
              <a:rPr lang="en-US" sz="950" b="1" i="1" dirty="0">
                <a:solidFill>
                  <a:srgbClr val="C0392B"/>
                </a:solidFill>
                <a:latin typeface="Calibri" pitchFamily="34" charset="0"/>
                <a:ea typeface="Calibri" pitchFamily="34" charset="-122"/>
                <a:cs typeface="Calibri" pitchFamily="34" charset="-120"/>
              </a:rPr>
              <a:t>Machine</a:t>
            </a:r>
            <a:endParaRPr lang="en-US" sz="950" dirty="0"/>
          </a:p>
        </p:txBody>
      </p:sp>
      <p:sp>
        <p:nvSpPr>
          <p:cNvPr id="19" name="Text 17"/>
          <p:cNvSpPr txBox="1"/>
          <p:nvPr/>
        </p:nvSpPr>
        <p:spPr>
          <a:xfrm>
            <a:off x="6415888" y="2249424"/>
            <a:ext cx="2202104" cy="1280160"/>
          </a:xfrm>
          <a:prstGeom prst="rect">
            <a:avLst/>
          </a:prstGeom>
          <a:noFill/>
          <a:ln/>
        </p:spPr>
        <p:txBody>
          <a:bodyPr wrap="square" lIns="0" tIns="0" rIns="0" bIns="0" rtlCol="0" anchor="t"/>
          <a:lstStyle/>
          <a:p>
            <a:pPr marL="342900" indent="-342900">
              <a:spcAft>
                <a:spcPts val="500"/>
              </a:spcAft>
              <a:buSzPct val="100000"/>
              <a:buChar char="•"/>
            </a:pPr>
            <a:r>
              <a:rPr lang="en-US" sz="950" dirty="0">
                <a:solidFill>
                  <a:srgbClr val="2A3442"/>
                </a:solidFill>
                <a:latin typeface="Calibri" pitchFamily="34" charset="0"/>
                <a:ea typeface="Calibri" pitchFamily="34" charset="-122"/>
                <a:cs typeface="Calibri" pitchFamily="34" charset="-120"/>
              </a:rPr>
              <a:t>Biểu mẫu PYC cho phép nhập văn bản tự do (free-text), không có validation bắt buộc.</a:t>
            </a:r>
            <a:endParaRPr lang="en-US" sz="950" dirty="0"/>
          </a:p>
          <a:p>
            <a:pPr marL="342900" indent="-342900">
              <a:spcAft>
                <a:spcPts val="500"/>
              </a:spcAft>
              <a:buSzPct val="100000"/>
              <a:buChar char="•"/>
            </a:pPr>
            <a:r>
              <a:rPr lang="en-US" sz="950" dirty="0">
                <a:solidFill>
                  <a:srgbClr val="2A3442"/>
                </a:solidFill>
                <a:latin typeface="Calibri" pitchFamily="34" charset="0"/>
                <a:ea typeface="Calibri" pitchFamily="34" charset="-122"/>
                <a:cs typeface="Calibri" pitchFamily="34" charset="-120"/>
              </a:rPr>
              <a:t>Dẫn đến thiếu hoặc sai thông tin ngay từ đầu vào.</a:t>
            </a:r>
            <a:endParaRPr lang="en-US" sz="950" dirty="0"/>
          </a:p>
        </p:txBody>
      </p:sp>
      <p:sp>
        <p:nvSpPr>
          <p:cNvPr id="20" name="Shape 18"/>
          <p:cNvSpPr/>
          <p:nvPr/>
        </p:nvSpPr>
        <p:spPr>
          <a:xfrm>
            <a:off x="9075191" y="1517904"/>
            <a:ext cx="2567864" cy="2103120"/>
          </a:xfrm>
          <a:prstGeom prst="roundRect">
            <a:avLst>
              <a:gd name="adj" fmla="val 2609"/>
            </a:avLst>
          </a:prstGeom>
          <a:solidFill>
            <a:srgbClr val="EFF4FB"/>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21" name="Text 19"/>
          <p:cNvSpPr txBox="1"/>
          <p:nvPr/>
        </p:nvSpPr>
        <p:spPr>
          <a:xfrm>
            <a:off x="9258071" y="1664208"/>
            <a:ext cx="2202104" cy="274320"/>
          </a:xfrm>
          <a:prstGeom prst="rect">
            <a:avLst/>
          </a:prstGeom>
          <a:noFill/>
          <a:ln/>
        </p:spPr>
        <p:txBody>
          <a:bodyPr wrap="square" lIns="0" tIns="0" rIns="0" bIns="0" rtlCol="0" anchor="t"/>
          <a:lstStyle/>
          <a:p>
            <a:pPr marL="0" indent="0">
              <a:buNone/>
            </a:pPr>
            <a:r>
              <a:rPr lang="en-US" sz="1300" b="1" dirty="0">
                <a:solidFill>
                  <a:srgbClr val="0B3B75"/>
                </a:solidFill>
                <a:latin typeface="Calibri" pitchFamily="34" charset="0"/>
                <a:ea typeface="Calibri" pitchFamily="34" charset="-122"/>
                <a:cs typeface="Calibri" pitchFamily="34" charset="-120"/>
              </a:rPr>
              <a:t>ĐO LƯỜNG</a:t>
            </a:r>
            <a:endParaRPr lang="en-US" sz="1300" dirty="0"/>
          </a:p>
        </p:txBody>
      </p:sp>
      <p:sp>
        <p:nvSpPr>
          <p:cNvPr id="22" name="Text 20"/>
          <p:cNvSpPr txBox="1"/>
          <p:nvPr/>
        </p:nvSpPr>
        <p:spPr>
          <a:xfrm>
            <a:off x="9258071" y="1938528"/>
            <a:ext cx="2202104" cy="219456"/>
          </a:xfrm>
          <a:prstGeom prst="rect">
            <a:avLst/>
          </a:prstGeom>
          <a:noFill/>
          <a:ln/>
        </p:spPr>
        <p:txBody>
          <a:bodyPr wrap="square" lIns="0" tIns="0" rIns="0" bIns="0" rtlCol="0" anchor="t"/>
          <a:lstStyle/>
          <a:p>
            <a:pPr marL="0" indent="0">
              <a:buNone/>
            </a:pPr>
            <a:r>
              <a:rPr lang="en-US" sz="950" b="1" i="1" dirty="0">
                <a:solidFill>
                  <a:srgbClr val="A5741A"/>
                </a:solidFill>
                <a:latin typeface="Calibri" pitchFamily="34" charset="0"/>
                <a:ea typeface="Calibri" pitchFamily="34" charset="-122"/>
                <a:cs typeface="Calibri" pitchFamily="34" charset="-120"/>
              </a:rPr>
              <a:t>Measurement</a:t>
            </a:r>
            <a:endParaRPr lang="en-US" sz="950" dirty="0"/>
          </a:p>
        </p:txBody>
      </p:sp>
      <p:sp>
        <p:nvSpPr>
          <p:cNvPr id="23" name="Text 21"/>
          <p:cNvSpPr txBox="1"/>
          <p:nvPr/>
        </p:nvSpPr>
        <p:spPr>
          <a:xfrm>
            <a:off x="9258071" y="2249424"/>
            <a:ext cx="2202104" cy="1280160"/>
          </a:xfrm>
          <a:prstGeom prst="rect">
            <a:avLst/>
          </a:prstGeom>
          <a:noFill/>
          <a:ln/>
        </p:spPr>
        <p:txBody>
          <a:bodyPr wrap="square" lIns="0" tIns="0" rIns="0" bIns="0" rtlCol="0" anchor="t"/>
          <a:lstStyle/>
          <a:p>
            <a:pPr marL="342900" indent="-342900">
              <a:spcAft>
                <a:spcPts val="500"/>
              </a:spcAft>
              <a:buSzPct val="100000"/>
              <a:buChar char="•"/>
            </a:pPr>
            <a:r>
              <a:rPr lang="en-US" sz="950" dirty="0">
                <a:solidFill>
                  <a:srgbClr val="2A3442"/>
                </a:solidFill>
                <a:latin typeface="Calibri" pitchFamily="34" charset="0"/>
                <a:ea typeface="Calibri" pitchFamily="34" charset="-122"/>
                <a:cs typeface="Calibri" pitchFamily="34" charset="-120"/>
              </a:rPr>
              <a:t>Chưa có cơ chế cảnh báo SLA theo thời gian thực cho cấp quản lý.</a:t>
            </a:r>
            <a:endParaRPr lang="en-US" sz="950" dirty="0"/>
          </a:p>
          <a:p>
            <a:pPr marL="342900" indent="-342900">
              <a:spcAft>
                <a:spcPts val="500"/>
              </a:spcAft>
              <a:buSzPct val="100000"/>
              <a:buChar char="•"/>
            </a:pPr>
            <a:r>
              <a:rPr lang="en-US" sz="950" dirty="0">
                <a:solidFill>
                  <a:srgbClr val="2A3442"/>
                </a:solidFill>
                <a:latin typeface="Calibri" pitchFamily="34" charset="0"/>
                <a:ea typeface="Calibri" pitchFamily="34" charset="-122"/>
                <a:cs typeface="Calibri" pitchFamily="34" charset="-120"/>
              </a:rPr>
              <a:t>Việc ghi log bảo mật còn thao tác thủ công, thiếu đồng bộ.</a:t>
            </a:r>
            <a:endParaRPr lang="en-US" sz="950" dirty="0"/>
          </a:p>
        </p:txBody>
      </p:sp>
      <p:sp>
        <p:nvSpPr>
          <p:cNvPr id="24" name="Shape 22"/>
          <p:cNvSpPr/>
          <p:nvPr/>
        </p:nvSpPr>
        <p:spPr>
          <a:xfrm>
            <a:off x="548640" y="3803904"/>
            <a:ext cx="6035040" cy="1243584"/>
          </a:xfrm>
          <a:prstGeom prst="roundRect">
            <a:avLst>
              <a:gd name="adj" fmla="val 4412"/>
            </a:avLst>
          </a:prstGeom>
          <a:solidFill>
            <a:srgbClr val="FFFFFF"/>
          </a:solidFill>
          <a:ln w="9525">
            <a:solidFill>
              <a:srgbClr val="1660BF"/>
            </a:solidFill>
            <a:prstDash val="solid"/>
          </a:ln>
          <a:effectLst>
            <a:outerShdw blurRad="101600" dist="19050" dir="5400000" algn="bl" rotWithShape="0">
              <a:srgbClr val="9AAFC6">
                <a:alpha val="16000"/>
              </a:srgbClr>
            </a:outerShdw>
          </a:effectLst>
        </p:spPr>
        <p:txBody>
          <a:bodyPr/>
          <a:lstStyle/>
          <a:p>
            <a:endParaRPr lang="en-US"/>
          </a:p>
        </p:txBody>
      </p:sp>
      <p:sp>
        <p:nvSpPr>
          <p:cNvPr id="25" name="Text 23"/>
          <p:cNvSpPr txBox="1"/>
          <p:nvPr/>
        </p:nvSpPr>
        <p:spPr>
          <a:xfrm>
            <a:off x="768096" y="3950208"/>
            <a:ext cx="5486400" cy="237744"/>
          </a:xfrm>
          <a:prstGeom prst="rect">
            <a:avLst/>
          </a:prstGeom>
          <a:noFill/>
          <a:ln/>
        </p:spPr>
        <p:txBody>
          <a:bodyPr wrap="square" lIns="0" tIns="0" rIns="0" bIns="0" rtlCol="0" anchor="t"/>
          <a:lstStyle/>
          <a:p>
            <a:pPr marL="0" indent="0">
              <a:buNone/>
            </a:pPr>
            <a:r>
              <a:rPr lang="en-US" sz="1000" b="1" kern="0" spc="80" dirty="0">
                <a:solidFill>
                  <a:srgbClr val="1660BF"/>
                </a:solidFill>
                <a:latin typeface="Calibri" pitchFamily="34" charset="0"/>
                <a:ea typeface="Calibri" pitchFamily="34" charset="-122"/>
                <a:cs typeface="Calibri" pitchFamily="34" charset="-120"/>
              </a:rPr>
              <a:t>KẾT LUẬN THEO NGUYÊN LÝ PARETO (80/20)</a:t>
            </a:r>
            <a:endParaRPr lang="en-US" sz="1000" dirty="0"/>
          </a:p>
        </p:txBody>
      </p:sp>
      <p:sp>
        <p:nvSpPr>
          <p:cNvPr id="26" name="Text 24"/>
          <p:cNvSpPr txBox="1"/>
          <p:nvPr/>
        </p:nvSpPr>
        <p:spPr>
          <a:xfrm>
            <a:off x="768096" y="4206240"/>
            <a:ext cx="5623560" cy="768096"/>
          </a:xfrm>
          <a:prstGeom prst="rect">
            <a:avLst/>
          </a:prstGeom>
          <a:noFill/>
          <a:ln/>
        </p:spPr>
        <p:txBody>
          <a:bodyPr wrap="square" lIns="0" tIns="0" rIns="0" bIns="0" rtlCol="0" anchor="t"/>
          <a:lstStyle/>
          <a:p>
            <a:pPr marL="0" indent="0">
              <a:buNone/>
            </a:pPr>
            <a:r>
              <a:rPr lang="en-US" sz="1050" dirty="0">
                <a:solidFill>
                  <a:srgbClr val="2A3442"/>
                </a:solidFill>
                <a:latin typeface="Calibri" pitchFamily="34" charset="0"/>
                <a:ea typeface="Calibri" pitchFamily="34" charset="-122"/>
                <a:cs typeface="Calibri" pitchFamily="34" charset="-120"/>
              </a:rPr>
              <a:t>Nhóm “Quy trình” (cổng phê duyệt áp dụng đồng loạt) và nhóm “Hệ thống” (biểu mẫu thiếu ràng buộc dữ liệu) có tần suất xuất hiện cao nhất. Chỉ cần khắc phục hai nhóm này đã giải quyết phần lớn lãng phí Hold và Move đã nhận diện — đây là cơ sở cho ba giải pháp ở Chương 5.</a:t>
            </a:r>
            <a:endParaRPr lang="en-US" sz="1050" dirty="0"/>
          </a:p>
        </p:txBody>
      </p:sp>
      <p:sp>
        <p:nvSpPr>
          <p:cNvPr id="27" name="Shape 25"/>
          <p:cNvSpPr/>
          <p:nvPr/>
        </p:nvSpPr>
        <p:spPr>
          <a:xfrm>
            <a:off x="6812280" y="3803904"/>
            <a:ext cx="4830775" cy="1243584"/>
          </a:xfrm>
          <a:prstGeom prst="roundRect">
            <a:avLst>
              <a:gd name="adj" fmla="val 4412"/>
            </a:avLst>
          </a:prstGeom>
          <a:solidFill>
            <a:srgbClr val="FCF7EA"/>
          </a:solidFill>
          <a:ln w="15875">
            <a:solidFill>
              <a:srgbClr val="D9A227"/>
            </a:solidFill>
            <a:prstDash val="dash"/>
          </a:ln>
        </p:spPr>
        <p:txBody>
          <a:bodyPr/>
          <a:lstStyle/>
          <a:p>
            <a:endParaRPr lang="en-US"/>
          </a:p>
        </p:txBody>
      </p:sp>
      <p:sp>
        <p:nvSpPr>
          <p:cNvPr id="28" name="Text 26"/>
          <p:cNvSpPr txBox="1"/>
          <p:nvPr/>
        </p:nvSpPr>
        <p:spPr>
          <a:xfrm>
            <a:off x="6995160" y="4270248"/>
            <a:ext cx="4465015" cy="310896"/>
          </a:xfrm>
          <a:prstGeom prst="rect">
            <a:avLst/>
          </a:prstGeom>
          <a:noFill/>
          <a:ln/>
        </p:spPr>
        <p:txBody>
          <a:bodyPr wrap="square" lIns="0" tIns="0" rIns="0" bIns="0" rtlCol="0" anchor="ctr"/>
          <a:lstStyle/>
          <a:p>
            <a:pPr marL="0" indent="0" algn="ctr">
              <a:buNone/>
            </a:pPr>
            <a:r>
              <a:rPr lang="en-US" sz="1300" b="1" dirty="0">
                <a:solidFill>
                  <a:srgbClr val="0B3B75"/>
                </a:solidFill>
                <a:latin typeface="Calibri" pitchFamily="34" charset="0"/>
                <a:ea typeface="Calibri" pitchFamily="34" charset="-122"/>
                <a:cs typeface="Calibri" pitchFamily="34" charset="-120"/>
              </a:rPr>
              <a:t>[ CHÈN HÌNH — SƠ ĐỒ XƯƠNG CÁ &amp; BIỂU ĐỒ PARETO ]</a:t>
            </a:r>
            <a:endParaRPr lang="en-US" sz="1300" dirty="0"/>
          </a:p>
        </p:txBody>
      </p:sp>
      <p:sp>
        <p:nvSpPr>
          <p:cNvPr id="32" name="Shape 0">
            <a:extLst>
              <a:ext uri="{FF2B5EF4-FFF2-40B4-BE49-F238E27FC236}">
                <a16:creationId xmlns:a16="http://schemas.microsoft.com/office/drawing/2014/main" id="{D3DD2995-51CF-012D-E25C-6DDE164EDAEB}"/>
              </a:ext>
            </a:extLst>
          </p:cNvPr>
          <p:cNvSpPr/>
          <p:nvPr/>
        </p:nvSpPr>
        <p:spPr>
          <a:xfrm>
            <a:off x="548640" y="365760"/>
            <a:ext cx="123444" cy="123444"/>
          </a:xfrm>
          <a:prstGeom prst="ellipse">
            <a:avLst/>
          </a:prstGeom>
          <a:solidFill>
            <a:srgbClr val="D9A227"/>
          </a:solidFill>
          <a:ln w="12700">
            <a:solidFill>
              <a:srgbClr val="D9A227"/>
            </a:solidFill>
            <a:prstDash val="solid"/>
          </a:ln>
        </p:spPr>
        <p:txBody>
          <a:bodyPr/>
          <a:lstStyle/>
          <a:p>
            <a:endParaRPr lang="en-US"/>
          </a:p>
        </p:txBody>
      </p:sp>
      <p:sp>
        <p:nvSpPr>
          <p:cNvPr id="34" name="Text 1">
            <a:extLst>
              <a:ext uri="{FF2B5EF4-FFF2-40B4-BE49-F238E27FC236}">
                <a16:creationId xmlns:a16="http://schemas.microsoft.com/office/drawing/2014/main" id="{F4867E38-8E0A-2063-B882-05356D6C1211}"/>
              </a:ext>
            </a:extLst>
          </p:cNvPr>
          <p:cNvSpPr txBox="1"/>
          <p:nvPr/>
        </p:nvSpPr>
        <p:spPr>
          <a:xfrm>
            <a:off x="804672" y="292608"/>
            <a:ext cx="10838383" cy="237744"/>
          </a:xfrm>
          <a:prstGeom prst="rect">
            <a:avLst/>
          </a:prstGeom>
          <a:noFill/>
          <a:ln/>
        </p:spPr>
        <p:txBody>
          <a:bodyPr wrap="square" lIns="0" tIns="0" rIns="0" bIns="0" rtlCol="0" anchor="t"/>
          <a:lstStyle/>
          <a:p>
            <a:pPr marL="0" indent="0">
              <a:buNone/>
            </a:pPr>
            <a:r>
              <a:rPr lang="en-US" sz="1050" b="1" kern="0" spc="120" dirty="0">
                <a:solidFill>
                  <a:srgbClr val="A5741A"/>
                </a:solidFill>
                <a:latin typeface="Calibri" pitchFamily="34" charset="0"/>
                <a:ea typeface="Calibri" pitchFamily="34" charset="-122"/>
                <a:cs typeface="Calibri" pitchFamily="34" charset="-120"/>
              </a:rPr>
              <a:t>CHƯƠNG 4 · 4.1.3 NGUYÊN NHÂN GỐC RỄ</a:t>
            </a:r>
            <a:endParaRPr lang="en-US" sz="1050" dirty="0"/>
          </a:p>
        </p:txBody>
      </p:sp>
      <p:sp>
        <p:nvSpPr>
          <p:cNvPr id="36" name="Text 2">
            <a:extLst>
              <a:ext uri="{FF2B5EF4-FFF2-40B4-BE49-F238E27FC236}">
                <a16:creationId xmlns:a16="http://schemas.microsoft.com/office/drawing/2014/main" id="{6B1057BF-E67F-259B-4720-F4EBCC3A870F}"/>
              </a:ext>
            </a:extLst>
          </p:cNvPr>
          <p:cNvSpPr txBox="1"/>
          <p:nvPr/>
        </p:nvSpPr>
        <p:spPr>
          <a:xfrm>
            <a:off x="548640" y="566928"/>
            <a:ext cx="11094415" cy="457200"/>
          </a:xfrm>
          <a:prstGeom prst="rect">
            <a:avLst/>
          </a:prstGeom>
          <a:noFill/>
          <a:ln/>
        </p:spPr>
        <p:txBody>
          <a:bodyPr wrap="square" lIns="0" tIns="0" rIns="0" bIns="0" rtlCol="0" anchor="t"/>
          <a:lstStyle/>
          <a:p>
            <a:pPr marL="0" indent="0">
              <a:buNone/>
            </a:pPr>
            <a:r>
              <a:rPr lang="en-US" sz="2500" b="1" dirty="0">
                <a:solidFill>
                  <a:srgbClr val="0B3B75"/>
                </a:solidFill>
                <a:latin typeface="Calibri" pitchFamily="34" charset="0"/>
                <a:ea typeface="Calibri" pitchFamily="34" charset="-122"/>
                <a:cs typeface="Calibri" pitchFamily="34" charset="-120"/>
              </a:rPr>
              <a:t>BỐN NHÓM NGUYÊN NHÂN GỐC RỄ THEO SƠ ĐỒ XƯƠNG CÁ</a:t>
            </a:r>
            <a:endParaRPr lang="en-US" sz="2500" dirty="0"/>
          </a:p>
        </p:txBody>
      </p:sp>
      <p:sp>
        <p:nvSpPr>
          <p:cNvPr id="38" name="Text 3">
            <a:extLst>
              <a:ext uri="{FF2B5EF4-FFF2-40B4-BE49-F238E27FC236}">
                <a16:creationId xmlns:a16="http://schemas.microsoft.com/office/drawing/2014/main" id="{BAE308DE-5E94-B9B6-3892-7D2541929379}"/>
              </a:ext>
            </a:extLst>
          </p:cNvPr>
          <p:cNvSpPr txBox="1"/>
          <p:nvPr/>
        </p:nvSpPr>
        <p:spPr>
          <a:xfrm>
            <a:off x="548640" y="1024128"/>
            <a:ext cx="11094415" cy="274320"/>
          </a:xfrm>
          <a:prstGeom prst="rect">
            <a:avLst/>
          </a:prstGeom>
          <a:noFill/>
          <a:ln/>
        </p:spPr>
        <p:txBody>
          <a:bodyPr wrap="square" lIns="0" tIns="0" rIns="0" bIns="0" rtlCol="0" anchor="t"/>
          <a:lstStyle/>
          <a:p>
            <a:pPr marL="0" indent="0">
              <a:buNone/>
            </a:pPr>
            <a:r>
              <a:rPr lang="en-US" sz="1100" i="1" dirty="0">
                <a:solidFill>
                  <a:srgbClr val="6E7A88"/>
                </a:solidFill>
                <a:latin typeface="Calibri" pitchFamily="34" charset="0"/>
                <a:ea typeface="Calibri" pitchFamily="34" charset="-122"/>
                <a:cs typeface="Calibri" pitchFamily="34" charset="-120"/>
              </a:rPr>
              <a:t>Bảng 15 — Vấn đề trung tâm: “Quy trình PYC bị chậm trễ và phát sinh rework”</a:t>
            </a:r>
            <a:endParaRPr lang="en-US" sz="1100" dirty="0"/>
          </a:p>
        </p:txBody>
      </p:sp>
      <p:sp>
        <p:nvSpPr>
          <p:cNvPr id="40" name="Shape 6">
            <a:extLst>
              <a:ext uri="{FF2B5EF4-FFF2-40B4-BE49-F238E27FC236}">
                <a16:creationId xmlns:a16="http://schemas.microsoft.com/office/drawing/2014/main" id="{A624B058-89EA-8956-3931-8FA9CEB837CE}"/>
              </a:ext>
            </a:extLst>
          </p:cNvPr>
          <p:cNvSpPr/>
          <p:nvPr/>
        </p:nvSpPr>
        <p:spPr>
          <a:xfrm>
            <a:off x="548640" y="1517904"/>
            <a:ext cx="2567864" cy="2103120"/>
          </a:xfrm>
          <a:prstGeom prst="roundRect">
            <a:avLst>
              <a:gd name="adj" fmla="val 2609"/>
            </a:avLst>
          </a:prstGeom>
          <a:solidFill>
            <a:srgbClr val="EFF4FB"/>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42" name="Text 7">
            <a:extLst>
              <a:ext uri="{FF2B5EF4-FFF2-40B4-BE49-F238E27FC236}">
                <a16:creationId xmlns:a16="http://schemas.microsoft.com/office/drawing/2014/main" id="{BDF7F8F7-231A-34D6-E229-6D801B9236C9}"/>
              </a:ext>
            </a:extLst>
          </p:cNvPr>
          <p:cNvSpPr txBox="1"/>
          <p:nvPr/>
        </p:nvSpPr>
        <p:spPr>
          <a:xfrm>
            <a:off x="731520" y="1664208"/>
            <a:ext cx="2202104" cy="274320"/>
          </a:xfrm>
          <a:prstGeom prst="rect">
            <a:avLst/>
          </a:prstGeom>
          <a:noFill/>
          <a:ln/>
        </p:spPr>
        <p:txBody>
          <a:bodyPr wrap="square" lIns="0" tIns="0" rIns="0" bIns="0" rtlCol="0" anchor="t"/>
          <a:lstStyle/>
          <a:p>
            <a:pPr marL="0" indent="0">
              <a:buNone/>
            </a:pPr>
            <a:r>
              <a:rPr lang="en-US" sz="1300" b="1" dirty="0">
                <a:solidFill>
                  <a:srgbClr val="0B3B75"/>
                </a:solidFill>
                <a:latin typeface="Calibri" pitchFamily="34" charset="0"/>
                <a:ea typeface="Calibri" pitchFamily="34" charset="-122"/>
                <a:cs typeface="Calibri" pitchFamily="34" charset="-120"/>
              </a:rPr>
              <a:t>CON NGƯỜI</a:t>
            </a:r>
            <a:endParaRPr lang="en-US" sz="1300" dirty="0"/>
          </a:p>
        </p:txBody>
      </p:sp>
      <p:sp>
        <p:nvSpPr>
          <p:cNvPr id="44" name="Text 8">
            <a:extLst>
              <a:ext uri="{FF2B5EF4-FFF2-40B4-BE49-F238E27FC236}">
                <a16:creationId xmlns:a16="http://schemas.microsoft.com/office/drawing/2014/main" id="{9EF6C8B5-A89F-1C07-606F-04F82E7C7EB9}"/>
              </a:ext>
            </a:extLst>
          </p:cNvPr>
          <p:cNvSpPr txBox="1"/>
          <p:nvPr/>
        </p:nvSpPr>
        <p:spPr>
          <a:xfrm>
            <a:off x="731520" y="1938528"/>
            <a:ext cx="2202104" cy="219456"/>
          </a:xfrm>
          <a:prstGeom prst="rect">
            <a:avLst/>
          </a:prstGeom>
          <a:noFill/>
          <a:ln/>
        </p:spPr>
        <p:txBody>
          <a:bodyPr wrap="square" lIns="0" tIns="0" rIns="0" bIns="0" rtlCol="0" anchor="t"/>
          <a:lstStyle/>
          <a:p>
            <a:pPr marL="0" indent="0">
              <a:buNone/>
            </a:pPr>
            <a:r>
              <a:rPr lang="en-US" sz="950" b="1" i="1" dirty="0">
                <a:solidFill>
                  <a:srgbClr val="1660BF"/>
                </a:solidFill>
                <a:latin typeface="Calibri" pitchFamily="34" charset="0"/>
                <a:ea typeface="Calibri" pitchFamily="34" charset="-122"/>
                <a:cs typeface="Calibri" pitchFamily="34" charset="-120"/>
              </a:rPr>
              <a:t>Man</a:t>
            </a:r>
            <a:endParaRPr lang="en-US" sz="950" dirty="0"/>
          </a:p>
        </p:txBody>
      </p:sp>
      <p:sp>
        <p:nvSpPr>
          <p:cNvPr id="46" name="Text 9">
            <a:extLst>
              <a:ext uri="{FF2B5EF4-FFF2-40B4-BE49-F238E27FC236}">
                <a16:creationId xmlns:a16="http://schemas.microsoft.com/office/drawing/2014/main" id="{1EF9B45B-167C-1C36-EA63-E70488FF8E9E}"/>
              </a:ext>
            </a:extLst>
          </p:cNvPr>
          <p:cNvSpPr txBox="1"/>
          <p:nvPr/>
        </p:nvSpPr>
        <p:spPr>
          <a:xfrm>
            <a:off x="731520" y="2249424"/>
            <a:ext cx="2202104" cy="1280160"/>
          </a:xfrm>
          <a:prstGeom prst="rect">
            <a:avLst/>
          </a:prstGeom>
          <a:noFill/>
          <a:ln/>
        </p:spPr>
        <p:txBody>
          <a:bodyPr wrap="square" lIns="0" tIns="0" rIns="0" bIns="0" rtlCol="0" anchor="t"/>
          <a:lstStyle/>
          <a:p>
            <a:pPr marL="342900" indent="-342900">
              <a:spcAft>
                <a:spcPts val="500"/>
              </a:spcAft>
              <a:buSzPct val="100000"/>
              <a:buChar char="•"/>
            </a:pPr>
            <a:r>
              <a:rPr lang="en-US" sz="950" dirty="0">
                <a:solidFill>
                  <a:srgbClr val="2A3442"/>
                </a:solidFill>
                <a:latin typeface="Calibri" pitchFamily="34" charset="0"/>
                <a:ea typeface="Calibri" pitchFamily="34" charset="-122"/>
                <a:cs typeface="Calibri" pitchFamily="34" charset="-120"/>
              </a:rPr>
              <a:t>Cấp quản lý bận họp hoặc đi công tác nên chậm thao tác phê duyệt.</a:t>
            </a:r>
            <a:endParaRPr lang="en-US" sz="950" dirty="0"/>
          </a:p>
          <a:p>
            <a:pPr marL="342900" indent="-342900">
              <a:spcAft>
                <a:spcPts val="500"/>
              </a:spcAft>
              <a:buSzPct val="100000"/>
              <a:buChar char="•"/>
            </a:pPr>
            <a:r>
              <a:rPr lang="en-US" sz="950" dirty="0">
                <a:solidFill>
                  <a:srgbClr val="2A3442"/>
                </a:solidFill>
                <a:latin typeface="Calibri" pitchFamily="34" charset="0"/>
                <a:ea typeface="Calibri" pitchFamily="34" charset="-122"/>
                <a:cs typeface="Calibri" pitchFamily="34" charset="-120"/>
              </a:rPr>
              <a:t>Người dùng chưa quen thao tác trên Cổng dịch vụ.</a:t>
            </a:r>
            <a:endParaRPr lang="en-US" sz="950" dirty="0"/>
          </a:p>
        </p:txBody>
      </p:sp>
      <p:sp>
        <p:nvSpPr>
          <p:cNvPr id="48" name="Shape 10">
            <a:extLst>
              <a:ext uri="{FF2B5EF4-FFF2-40B4-BE49-F238E27FC236}">
                <a16:creationId xmlns:a16="http://schemas.microsoft.com/office/drawing/2014/main" id="{D14E1848-563B-6C5A-948F-305DA391CB5A}"/>
              </a:ext>
            </a:extLst>
          </p:cNvPr>
          <p:cNvSpPr/>
          <p:nvPr/>
        </p:nvSpPr>
        <p:spPr>
          <a:xfrm>
            <a:off x="3390824" y="1517904"/>
            <a:ext cx="2567864" cy="2103120"/>
          </a:xfrm>
          <a:prstGeom prst="roundRect">
            <a:avLst>
              <a:gd name="adj" fmla="val 2609"/>
            </a:avLst>
          </a:prstGeom>
          <a:solidFill>
            <a:srgbClr val="EFF4FB"/>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50" name="Text 11">
            <a:extLst>
              <a:ext uri="{FF2B5EF4-FFF2-40B4-BE49-F238E27FC236}">
                <a16:creationId xmlns:a16="http://schemas.microsoft.com/office/drawing/2014/main" id="{8DD49A9A-861C-DB72-3B7E-C480C8E23C73}"/>
              </a:ext>
            </a:extLst>
          </p:cNvPr>
          <p:cNvSpPr txBox="1"/>
          <p:nvPr/>
        </p:nvSpPr>
        <p:spPr>
          <a:xfrm>
            <a:off x="3573704" y="1664208"/>
            <a:ext cx="2202104" cy="274320"/>
          </a:xfrm>
          <a:prstGeom prst="rect">
            <a:avLst/>
          </a:prstGeom>
          <a:noFill/>
          <a:ln/>
        </p:spPr>
        <p:txBody>
          <a:bodyPr wrap="square" lIns="0" tIns="0" rIns="0" bIns="0" rtlCol="0" anchor="t"/>
          <a:lstStyle/>
          <a:p>
            <a:pPr marL="0" indent="0">
              <a:buNone/>
            </a:pPr>
            <a:r>
              <a:rPr lang="en-US" sz="1300" b="1" dirty="0">
                <a:solidFill>
                  <a:srgbClr val="0B3B75"/>
                </a:solidFill>
                <a:latin typeface="Calibri" pitchFamily="34" charset="0"/>
                <a:ea typeface="Calibri" pitchFamily="34" charset="-122"/>
                <a:cs typeface="Calibri" pitchFamily="34" charset="-120"/>
              </a:rPr>
              <a:t>QUY TRÌNH</a:t>
            </a:r>
            <a:endParaRPr lang="en-US" sz="1300" dirty="0"/>
          </a:p>
        </p:txBody>
      </p:sp>
      <p:sp>
        <p:nvSpPr>
          <p:cNvPr id="52" name="Text 12">
            <a:extLst>
              <a:ext uri="{FF2B5EF4-FFF2-40B4-BE49-F238E27FC236}">
                <a16:creationId xmlns:a16="http://schemas.microsoft.com/office/drawing/2014/main" id="{95808258-822D-6935-1A9D-70562622B138}"/>
              </a:ext>
            </a:extLst>
          </p:cNvPr>
          <p:cNvSpPr txBox="1"/>
          <p:nvPr/>
        </p:nvSpPr>
        <p:spPr>
          <a:xfrm>
            <a:off x="3573704" y="1938528"/>
            <a:ext cx="2202104" cy="219456"/>
          </a:xfrm>
          <a:prstGeom prst="rect">
            <a:avLst/>
          </a:prstGeom>
          <a:noFill/>
          <a:ln/>
        </p:spPr>
        <p:txBody>
          <a:bodyPr wrap="square" lIns="0" tIns="0" rIns="0" bIns="0" rtlCol="0" anchor="t"/>
          <a:lstStyle/>
          <a:p>
            <a:pPr marL="0" indent="0">
              <a:buNone/>
            </a:pPr>
            <a:r>
              <a:rPr lang="en-US" sz="950" b="1" i="1" dirty="0">
                <a:solidFill>
                  <a:srgbClr val="C0392B"/>
                </a:solidFill>
                <a:latin typeface="Calibri" pitchFamily="34" charset="0"/>
                <a:ea typeface="Calibri" pitchFamily="34" charset="-122"/>
                <a:cs typeface="Calibri" pitchFamily="34" charset="-120"/>
              </a:rPr>
              <a:t>Method</a:t>
            </a:r>
            <a:endParaRPr lang="en-US" sz="950" dirty="0"/>
          </a:p>
        </p:txBody>
      </p:sp>
      <p:sp>
        <p:nvSpPr>
          <p:cNvPr id="54" name="Text 13">
            <a:extLst>
              <a:ext uri="{FF2B5EF4-FFF2-40B4-BE49-F238E27FC236}">
                <a16:creationId xmlns:a16="http://schemas.microsoft.com/office/drawing/2014/main" id="{794AD4BF-E781-FD74-D671-5DA840929B5B}"/>
              </a:ext>
            </a:extLst>
          </p:cNvPr>
          <p:cNvSpPr txBox="1"/>
          <p:nvPr/>
        </p:nvSpPr>
        <p:spPr>
          <a:xfrm>
            <a:off x="3573704" y="2249424"/>
            <a:ext cx="2202104" cy="1280160"/>
          </a:xfrm>
          <a:prstGeom prst="rect">
            <a:avLst/>
          </a:prstGeom>
          <a:noFill/>
          <a:ln/>
        </p:spPr>
        <p:txBody>
          <a:bodyPr wrap="square" lIns="0" tIns="0" rIns="0" bIns="0" rtlCol="0" anchor="t"/>
          <a:lstStyle/>
          <a:p>
            <a:pPr marL="342900" indent="-342900">
              <a:spcAft>
                <a:spcPts val="500"/>
              </a:spcAft>
              <a:buSzPct val="100000"/>
              <a:buChar char="•"/>
            </a:pPr>
            <a:r>
              <a:rPr lang="en-US" sz="950" dirty="0">
                <a:solidFill>
                  <a:srgbClr val="2A3442"/>
                </a:solidFill>
                <a:latin typeface="Calibri" pitchFamily="34" charset="0"/>
                <a:ea typeface="Calibri" pitchFamily="34" charset="-122"/>
                <a:cs typeface="Calibri" pitchFamily="34" charset="-120"/>
              </a:rPr>
              <a:t>Mọi PYC — kể cả quyền rủi ro thấp — đều bắt buộc qua bước phê duyệt thủ công (Overdo).</a:t>
            </a:r>
            <a:endParaRPr lang="en-US" sz="950" dirty="0"/>
          </a:p>
          <a:p>
            <a:pPr marL="342900" indent="-342900">
              <a:spcAft>
                <a:spcPts val="500"/>
              </a:spcAft>
              <a:buSzPct val="100000"/>
              <a:buChar char="•"/>
            </a:pPr>
            <a:r>
              <a:rPr lang="en-US" sz="950" dirty="0">
                <a:solidFill>
                  <a:srgbClr val="2A3442"/>
                </a:solidFill>
                <a:latin typeface="Calibri" pitchFamily="34" charset="0"/>
                <a:ea typeface="Calibri" pitchFamily="34" charset="-122"/>
                <a:cs typeface="Calibri" pitchFamily="34" charset="-120"/>
              </a:rPr>
              <a:t>Thiếu cơ chế phân loại rủi ro tự động.</a:t>
            </a:r>
            <a:endParaRPr lang="en-US" sz="950" dirty="0"/>
          </a:p>
        </p:txBody>
      </p:sp>
      <p:sp>
        <p:nvSpPr>
          <p:cNvPr id="56" name="Shape 14">
            <a:extLst>
              <a:ext uri="{FF2B5EF4-FFF2-40B4-BE49-F238E27FC236}">
                <a16:creationId xmlns:a16="http://schemas.microsoft.com/office/drawing/2014/main" id="{B4DC1F35-4171-817E-C3CE-8FD018A530DC}"/>
              </a:ext>
            </a:extLst>
          </p:cNvPr>
          <p:cNvSpPr/>
          <p:nvPr/>
        </p:nvSpPr>
        <p:spPr>
          <a:xfrm>
            <a:off x="6233008" y="1517904"/>
            <a:ext cx="2567864" cy="2103120"/>
          </a:xfrm>
          <a:prstGeom prst="roundRect">
            <a:avLst>
              <a:gd name="adj" fmla="val 2609"/>
            </a:avLst>
          </a:prstGeom>
          <a:solidFill>
            <a:srgbClr val="EFF4FB"/>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58" name="Text 15">
            <a:extLst>
              <a:ext uri="{FF2B5EF4-FFF2-40B4-BE49-F238E27FC236}">
                <a16:creationId xmlns:a16="http://schemas.microsoft.com/office/drawing/2014/main" id="{D5AF06D0-EC3A-4DEB-2250-DF82ECE036DA}"/>
              </a:ext>
            </a:extLst>
          </p:cNvPr>
          <p:cNvSpPr txBox="1"/>
          <p:nvPr/>
        </p:nvSpPr>
        <p:spPr>
          <a:xfrm>
            <a:off x="6415888" y="1664208"/>
            <a:ext cx="2202104" cy="274320"/>
          </a:xfrm>
          <a:prstGeom prst="rect">
            <a:avLst/>
          </a:prstGeom>
          <a:noFill/>
          <a:ln/>
        </p:spPr>
        <p:txBody>
          <a:bodyPr wrap="square" lIns="0" tIns="0" rIns="0" bIns="0" rtlCol="0" anchor="t"/>
          <a:lstStyle/>
          <a:p>
            <a:pPr marL="0" indent="0">
              <a:buNone/>
            </a:pPr>
            <a:r>
              <a:rPr lang="en-US" sz="1300" b="1" dirty="0">
                <a:solidFill>
                  <a:srgbClr val="0B3B75"/>
                </a:solidFill>
                <a:latin typeface="Calibri" pitchFamily="34" charset="0"/>
                <a:ea typeface="Calibri" pitchFamily="34" charset="-122"/>
                <a:cs typeface="Calibri" pitchFamily="34" charset="-120"/>
              </a:rPr>
              <a:t>HỆ THỐNG</a:t>
            </a:r>
            <a:endParaRPr lang="en-US" sz="1300" dirty="0"/>
          </a:p>
        </p:txBody>
      </p:sp>
      <p:sp>
        <p:nvSpPr>
          <p:cNvPr id="60" name="Text 16">
            <a:extLst>
              <a:ext uri="{FF2B5EF4-FFF2-40B4-BE49-F238E27FC236}">
                <a16:creationId xmlns:a16="http://schemas.microsoft.com/office/drawing/2014/main" id="{72372444-484F-7468-72A9-F82CF1EF7D32}"/>
              </a:ext>
            </a:extLst>
          </p:cNvPr>
          <p:cNvSpPr txBox="1"/>
          <p:nvPr/>
        </p:nvSpPr>
        <p:spPr>
          <a:xfrm>
            <a:off x="6415888" y="1938528"/>
            <a:ext cx="2202104" cy="219456"/>
          </a:xfrm>
          <a:prstGeom prst="rect">
            <a:avLst/>
          </a:prstGeom>
          <a:noFill/>
          <a:ln/>
        </p:spPr>
        <p:txBody>
          <a:bodyPr wrap="square" lIns="0" tIns="0" rIns="0" bIns="0" rtlCol="0" anchor="t"/>
          <a:lstStyle/>
          <a:p>
            <a:pPr marL="0" indent="0">
              <a:buNone/>
            </a:pPr>
            <a:r>
              <a:rPr lang="en-US" sz="950" b="1" i="1" dirty="0">
                <a:solidFill>
                  <a:srgbClr val="C0392B"/>
                </a:solidFill>
                <a:latin typeface="Calibri" pitchFamily="34" charset="0"/>
                <a:ea typeface="Calibri" pitchFamily="34" charset="-122"/>
                <a:cs typeface="Calibri" pitchFamily="34" charset="-120"/>
              </a:rPr>
              <a:t>Machine</a:t>
            </a:r>
            <a:endParaRPr lang="en-US" sz="950" dirty="0"/>
          </a:p>
        </p:txBody>
      </p:sp>
      <p:sp>
        <p:nvSpPr>
          <p:cNvPr id="62" name="Text 17">
            <a:extLst>
              <a:ext uri="{FF2B5EF4-FFF2-40B4-BE49-F238E27FC236}">
                <a16:creationId xmlns:a16="http://schemas.microsoft.com/office/drawing/2014/main" id="{6EE50F3B-C9D6-89DE-BFB8-BA72DCA07382}"/>
              </a:ext>
            </a:extLst>
          </p:cNvPr>
          <p:cNvSpPr txBox="1"/>
          <p:nvPr/>
        </p:nvSpPr>
        <p:spPr>
          <a:xfrm>
            <a:off x="6415888" y="2249424"/>
            <a:ext cx="2202104" cy="1280160"/>
          </a:xfrm>
          <a:prstGeom prst="rect">
            <a:avLst/>
          </a:prstGeom>
          <a:noFill/>
          <a:ln/>
        </p:spPr>
        <p:txBody>
          <a:bodyPr wrap="square" lIns="0" tIns="0" rIns="0" bIns="0" rtlCol="0" anchor="t"/>
          <a:lstStyle/>
          <a:p>
            <a:pPr marL="342900" indent="-342900">
              <a:spcAft>
                <a:spcPts val="500"/>
              </a:spcAft>
              <a:buSzPct val="100000"/>
              <a:buChar char="•"/>
            </a:pPr>
            <a:r>
              <a:rPr lang="en-US" sz="950" dirty="0">
                <a:solidFill>
                  <a:srgbClr val="2A3442"/>
                </a:solidFill>
                <a:latin typeface="Calibri" pitchFamily="34" charset="0"/>
                <a:ea typeface="Calibri" pitchFamily="34" charset="-122"/>
                <a:cs typeface="Calibri" pitchFamily="34" charset="-120"/>
              </a:rPr>
              <a:t>Biểu mẫu PYC cho phép nhập văn bản tự do (free-text), không có validation bắt buộc.</a:t>
            </a:r>
            <a:endParaRPr lang="en-US" sz="950" dirty="0"/>
          </a:p>
          <a:p>
            <a:pPr marL="342900" indent="-342900">
              <a:spcAft>
                <a:spcPts val="500"/>
              </a:spcAft>
              <a:buSzPct val="100000"/>
              <a:buChar char="•"/>
            </a:pPr>
            <a:r>
              <a:rPr lang="en-US" sz="950" dirty="0">
                <a:solidFill>
                  <a:srgbClr val="2A3442"/>
                </a:solidFill>
                <a:latin typeface="Calibri" pitchFamily="34" charset="0"/>
                <a:ea typeface="Calibri" pitchFamily="34" charset="-122"/>
                <a:cs typeface="Calibri" pitchFamily="34" charset="-120"/>
              </a:rPr>
              <a:t>Dẫn đến thiếu hoặc sai thông tin ngay từ đầu vào.</a:t>
            </a:r>
            <a:endParaRPr lang="en-US" sz="950" dirty="0"/>
          </a:p>
        </p:txBody>
      </p:sp>
      <p:sp>
        <p:nvSpPr>
          <p:cNvPr id="64" name="Shape 18">
            <a:extLst>
              <a:ext uri="{FF2B5EF4-FFF2-40B4-BE49-F238E27FC236}">
                <a16:creationId xmlns:a16="http://schemas.microsoft.com/office/drawing/2014/main" id="{F5106611-3548-E625-25EF-40F1B4E0E941}"/>
              </a:ext>
            </a:extLst>
          </p:cNvPr>
          <p:cNvSpPr/>
          <p:nvPr/>
        </p:nvSpPr>
        <p:spPr>
          <a:xfrm>
            <a:off x="9075191" y="1517904"/>
            <a:ext cx="2567864" cy="2103120"/>
          </a:xfrm>
          <a:prstGeom prst="roundRect">
            <a:avLst>
              <a:gd name="adj" fmla="val 2609"/>
            </a:avLst>
          </a:prstGeom>
          <a:solidFill>
            <a:srgbClr val="EFF4FB"/>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66" name="Text 19">
            <a:extLst>
              <a:ext uri="{FF2B5EF4-FFF2-40B4-BE49-F238E27FC236}">
                <a16:creationId xmlns:a16="http://schemas.microsoft.com/office/drawing/2014/main" id="{2AA280B9-94CF-7183-6B40-33086B247925}"/>
              </a:ext>
            </a:extLst>
          </p:cNvPr>
          <p:cNvSpPr txBox="1"/>
          <p:nvPr/>
        </p:nvSpPr>
        <p:spPr>
          <a:xfrm>
            <a:off x="9258071" y="1664208"/>
            <a:ext cx="2202104" cy="274320"/>
          </a:xfrm>
          <a:prstGeom prst="rect">
            <a:avLst/>
          </a:prstGeom>
          <a:noFill/>
          <a:ln/>
        </p:spPr>
        <p:txBody>
          <a:bodyPr wrap="square" lIns="0" tIns="0" rIns="0" bIns="0" rtlCol="0" anchor="t"/>
          <a:lstStyle/>
          <a:p>
            <a:pPr marL="0" indent="0">
              <a:buNone/>
            </a:pPr>
            <a:r>
              <a:rPr lang="en-US" sz="1300" b="1" dirty="0">
                <a:solidFill>
                  <a:srgbClr val="0B3B75"/>
                </a:solidFill>
                <a:latin typeface="Calibri" pitchFamily="34" charset="0"/>
                <a:ea typeface="Calibri" pitchFamily="34" charset="-122"/>
                <a:cs typeface="Calibri" pitchFamily="34" charset="-120"/>
              </a:rPr>
              <a:t>ĐO LƯỜNG</a:t>
            </a:r>
            <a:endParaRPr lang="en-US" sz="1300" dirty="0"/>
          </a:p>
        </p:txBody>
      </p:sp>
      <p:sp>
        <p:nvSpPr>
          <p:cNvPr id="68" name="Text 20">
            <a:extLst>
              <a:ext uri="{FF2B5EF4-FFF2-40B4-BE49-F238E27FC236}">
                <a16:creationId xmlns:a16="http://schemas.microsoft.com/office/drawing/2014/main" id="{529306EC-BDB5-5944-335D-0084AFE7A7CB}"/>
              </a:ext>
            </a:extLst>
          </p:cNvPr>
          <p:cNvSpPr txBox="1"/>
          <p:nvPr/>
        </p:nvSpPr>
        <p:spPr>
          <a:xfrm>
            <a:off x="9258071" y="1938528"/>
            <a:ext cx="2202104" cy="219456"/>
          </a:xfrm>
          <a:prstGeom prst="rect">
            <a:avLst/>
          </a:prstGeom>
          <a:noFill/>
          <a:ln/>
        </p:spPr>
        <p:txBody>
          <a:bodyPr wrap="square" lIns="0" tIns="0" rIns="0" bIns="0" rtlCol="0" anchor="t"/>
          <a:lstStyle/>
          <a:p>
            <a:pPr marL="0" indent="0">
              <a:buNone/>
            </a:pPr>
            <a:r>
              <a:rPr lang="en-US" sz="950" b="1" i="1" dirty="0">
                <a:solidFill>
                  <a:srgbClr val="A5741A"/>
                </a:solidFill>
                <a:latin typeface="Calibri" pitchFamily="34" charset="0"/>
                <a:ea typeface="Calibri" pitchFamily="34" charset="-122"/>
                <a:cs typeface="Calibri" pitchFamily="34" charset="-120"/>
              </a:rPr>
              <a:t>Measurement</a:t>
            </a:r>
            <a:endParaRPr lang="en-US" sz="950" dirty="0"/>
          </a:p>
        </p:txBody>
      </p:sp>
      <p:sp>
        <p:nvSpPr>
          <p:cNvPr id="70" name="Text 21">
            <a:extLst>
              <a:ext uri="{FF2B5EF4-FFF2-40B4-BE49-F238E27FC236}">
                <a16:creationId xmlns:a16="http://schemas.microsoft.com/office/drawing/2014/main" id="{946095D4-63FC-4EBE-0481-E9598C829BFC}"/>
              </a:ext>
            </a:extLst>
          </p:cNvPr>
          <p:cNvSpPr txBox="1"/>
          <p:nvPr/>
        </p:nvSpPr>
        <p:spPr>
          <a:xfrm>
            <a:off x="9258071" y="2249424"/>
            <a:ext cx="2202104" cy="1280160"/>
          </a:xfrm>
          <a:prstGeom prst="rect">
            <a:avLst/>
          </a:prstGeom>
          <a:noFill/>
          <a:ln/>
        </p:spPr>
        <p:txBody>
          <a:bodyPr wrap="square" lIns="0" tIns="0" rIns="0" bIns="0" rtlCol="0" anchor="t"/>
          <a:lstStyle/>
          <a:p>
            <a:pPr marL="342900" indent="-342900">
              <a:spcAft>
                <a:spcPts val="500"/>
              </a:spcAft>
              <a:buSzPct val="100000"/>
              <a:buChar char="•"/>
            </a:pPr>
            <a:r>
              <a:rPr lang="en-US" sz="950" dirty="0">
                <a:solidFill>
                  <a:srgbClr val="2A3442"/>
                </a:solidFill>
                <a:latin typeface="Calibri" pitchFamily="34" charset="0"/>
                <a:ea typeface="Calibri" pitchFamily="34" charset="-122"/>
                <a:cs typeface="Calibri" pitchFamily="34" charset="-120"/>
              </a:rPr>
              <a:t>Chưa có cơ chế cảnh báo SLA theo thời gian thực cho cấp quản lý.</a:t>
            </a:r>
            <a:endParaRPr lang="en-US" sz="950" dirty="0"/>
          </a:p>
          <a:p>
            <a:pPr marL="342900" indent="-342900">
              <a:spcAft>
                <a:spcPts val="500"/>
              </a:spcAft>
              <a:buSzPct val="100000"/>
              <a:buChar char="•"/>
            </a:pPr>
            <a:r>
              <a:rPr lang="en-US" sz="950" dirty="0">
                <a:solidFill>
                  <a:srgbClr val="2A3442"/>
                </a:solidFill>
                <a:latin typeface="Calibri" pitchFamily="34" charset="0"/>
                <a:ea typeface="Calibri" pitchFamily="34" charset="-122"/>
                <a:cs typeface="Calibri" pitchFamily="34" charset="-120"/>
              </a:rPr>
              <a:t>Việc ghi log bảo mật còn thao tác thủ công, thiếu đồng bộ.</a:t>
            </a:r>
            <a:endParaRPr lang="en-US" sz="950" dirty="0"/>
          </a:p>
        </p:txBody>
      </p:sp>
      <p:sp>
        <p:nvSpPr>
          <p:cNvPr id="72" name="Shape 22">
            <a:extLst>
              <a:ext uri="{FF2B5EF4-FFF2-40B4-BE49-F238E27FC236}">
                <a16:creationId xmlns:a16="http://schemas.microsoft.com/office/drawing/2014/main" id="{0BB7CB2D-22EB-A83B-D006-0F77A9D22D21}"/>
              </a:ext>
            </a:extLst>
          </p:cNvPr>
          <p:cNvSpPr/>
          <p:nvPr/>
        </p:nvSpPr>
        <p:spPr>
          <a:xfrm>
            <a:off x="548640" y="3803904"/>
            <a:ext cx="11091672" cy="1243584"/>
          </a:xfrm>
          <a:prstGeom prst="roundRect">
            <a:avLst>
              <a:gd name="adj" fmla="val 4412"/>
            </a:avLst>
          </a:prstGeom>
          <a:solidFill>
            <a:srgbClr val="FFFFFF"/>
          </a:solidFill>
          <a:ln w="9525">
            <a:solidFill>
              <a:srgbClr val="1660BF"/>
            </a:solidFill>
            <a:prstDash val="solid"/>
          </a:ln>
          <a:effectLst>
            <a:outerShdw blurRad="101600" dist="19050" dir="5400000" algn="bl" rotWithShape="0">
              <a:srgbClr val="9AAFC6">
                <a:alpha val="16000"/>
              </a:srgbClr>
            </a:outerShdw>
          </a:effectLst>
        </p:spPr>
        <p:txBody>
          <a:bodyPr/>
          <a:lstStyle/>
          <a:p>
            <a:endParaRPr lang="en-US"/>
          </a:p>
        </p:txBody>
      </p:sp>
      <p:sp>
        <p:nvSpPr>
          <p:cNvPr id="74" name="Text 23">
            <a:extLst>
              <a:ext uri="{FF2B5EF4-FFF2-40B4-BE49-F238E27FC236}">
                <a16:creationId xmlns:a16="http://schemas.microsoft.com/office/drawing/2014/main" id="{3E100C06-4441-EC4B-85B8-EF3C1AA84A06}"/>
              </a:ext>
            </a:extLst>
          </p:cNvPr>
          <p:cNvSpPr txBox="1"/>
          <p:nvPr/>
        </p:nvSpPr>
        <p:spPr>
          <a:xfrm>
            <a:off x="768096" y="3950208"/>
            <a:ext cx="5486400" cy="237744"/>
          </a:xfrm>
          <a:prstGeom prst="rect">
            <a:avLst/>
          </a:prstGeom>
          <a:noFill/>
          <a:ln/>
        </p:spPr>
        <p:txBody>
          <a:bodyPr wrap="square" lIns="0" tIns="0" rIns="0" bIns="0" rtlCol="0" anchor="t"/>
          <a:lstStyle/>
          <a:p>
            <a:pPr marL="0" indent="0">
              <a:buNone/>
            </a:pPr>
            <a:r>
              <a:rPr lang="en-US" sz="1000" b="1" kern="0" spc="80" dirty="0">
                <a:solidFill>
                  <a:srgbClr val="1660BF"/>
                </a:solidFill>
                <a:latin typeface="Calibri" pitchFamily="34" charset="0"/>
                <a:ea typeface="Calibri" pitchFamily="34" charset="-122"/>
                <a:cs typeface="Calibri" pitchFamily="34" charset="-120"/>
              </a:rPr>
              <a:t>KẾT LUẬN</a:t>
            </a:r>
            <a:endParaRPr lang="en-US" sz="1000" dirty="0"/>
          </a:p>
        </p:txBody>
      </p:sp>
      <p:sp>
        <p:nvSpPr>
          <p:cNvPr id="76" name="Text 24">
            <a:extLst>
              <a:ext uri="{FF2B5EF4-FFF2-40B4-BE49-F238E27FC236}">
                <a16:creationId xmlns:a16="http://schemas.microsoft.com/office/drawing/2014/main" id="{09A4AD10-4247-CEB9-91A8-B1497567BA61}"/>
              </a:ext>
            </a:extLst>
          </p:cNvPr>
          <p:cNvSpPr txBox="1"/>
          <p:nvPr/>
        </p:nvSpPr>
        <p:spPr>
          <a:xfrm>
            <a:off x="768096" y="4206240"/>
            <a:ext cx="10618772" cy="768096"/>
          </a:xfrm>
          <a:prstGeom prst="rect">
            <a:avLst/>
          </a:prstGeom>
          <a:noFill/>
          <a:ln/>
        </p:spPr>
        <p:txBody>
          <a:bodyPr wrap="square" lIns="0" tIns="0" rIns="0" bIns="0" rtlCol="0" anchor="t"/>
          <a:lstStyle/>
          <a:p>
            <a:pPr marL="0" indent="0">
              <a:buNone/>
            </a:pPr>
            <a:r>
              <a:rPr lang="en-US" sz="1050" dirty="0">
                <a:solidFill>
                  <a:srgbClr val="2A3442"/>
                </a:solidFill>
                <a:latin typeface="Calibri" pitchFamily="34" charset="0"/>
                <a:ea typeface="Calibri" pitchFamily="34" charset="-122"/>
                <a:cs typeface="Calibri" pitchFamily="34" charset="-120"/>
              </a:rPr>
              <a:t>Nhóm “Quy trình” (cổng phê duyệt áp dụng đồng loạt) và nhóm “Hệ thống” (biểu mẫu thiếu ràng buộc dữ liệu) có tần suất xuất hiện cao nhất. Chỉ cần khắc phục hai nhóm này đã giải quyết phần lớn lãng phí Hold và Move đã nhận diện — đây là cơ sở cho ba giải pháp ở Chương 5.</a:t>
            </a:r>
            <a:endParaRPr lang="en-US" sz="10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0">
            <a:extLst>
              <a:ext uri="{FF2B5EF4-FFF2-40B4-BE49-F238E27FC236}">
                <a16:creationId xmlns:a16="http://schemas.microsoft.com/office/drawing/2014/main" id="{F2D81AFE-EAE8-DA06-E907-C9405CA27F56}"/>
              </a:ext>
            </a:extLst>
          </p:cNvPr>
          <p:cNvSpPr/>
          <p:nvPr/>
        </p:nvSpPr>
        <p:spPr>
          <a:xfrm>
            <a:off x="548640" y="365760"/>
            <a:ext cx="123444" cy="123444"/>
          </a:xfrm>
          <a:prstGeom prst="ellipse">
            <a:avLst/>
          </a:prstGeom>
          <a:solidFill>
            <a:srgbClr val="D9A227"/>
          </a:solidFill>
          <a:ln w="12700">
            <a:solidFill>
              <a:srgbClr val="D9A227"/>
            </a:solidFill>
            <a:prstDash val="solid"/>
          </a:ln>
        </p:spPr>
        <p:txBody>
          <a:bodyPr/>
          <a:lstStyle/>
          <a:p>
            <a:endParaRPr lang="en-US"/>
          </a:p>
        </p:txBody>
      </p:sp>
      <p:sp>
        <p:nvSpPr>
          <p:cNvPr id="5" name="Text 1">
            <a:extLst>
              <a:ext uri="{FF2B5EF4-FFF2-40B4-BE49-F238E27FC236}">
                <a16:creationId xmlns:a16="http://schemas.microsoft.com/office/drawing/2014/main" id="{FD9FB521-EA2C-B011-4A6A-2439F1B2C61E}"/>
              </a:ext>
            </a:extLst>
          </p:cNvPr>
          <p:cNvSpPr txBox="1"/>
          <p:nvPr/>
        </p:nvSpPr>
        <p:spPr>
          <a:xfrm>
            <a:off x="804672" y="292608"/>
            <a:ext cx="10838383" cy="237744"/>
          </a:xfrm>
          <a:prstGeom prst="rect">
            <a:avLst/>
          </a:prstGeom>
          <a:noFill/>
          <a:ln/>
        </p:spPr>
        <p:txBody>
          <a:bodyPr wrap="square" lIns="0" tIns="0" rIns="0" bIns="0" rtlCol="0" anchor="t"/>
          <a:lstStyle/>
          <a:p>
            <a:pPr marL="0" indent="0">
              <a:buNone/>
            </a:pPr>
            <a:r>
              <a:rPr lang="en-US" sz="1050" b="1" kern="0" spc="120" dirty="0">
                <a:solidFill>
                  <a:srgbClr val="A5741A"/>
                </a:solidFill>
                <a:latin typeface="Calibri" pitchFamily="34" charset="0"/>
                <a:ea typeface="Calibri" pitchFamily="34" charset="-122"/>
                <a:cs typeface="Calibri" pitchFamily="34" charset="-120"/>
              </a:rPr>
              <a:t>CHƯƠNG 4 · 4.1.3 NGUYÊN NHÂN GỐC RỄ</a:t>
            </a:r>
            <a:endParaRPr lang="en-US" sz="1050" dirty="0"/>
          </a:p>
        </p:txBody>
      </p:sp>
      <p:sp>
        <p:nvSpPr>
          <p:cNvPr id="7" name="Text 2">
            <a:extLst>
              <a:ext uri="{FF2B5EF4-FFF2-40B4-BE49-F238E27FC236}">
                <a16:creationId xmlns:a16="http://schemas.microsoft.com/office/drawing/2014/main" id="{EC643EB2-288D-1C45-5D70-878C7332BA52}"/>
              </a:ext>
            </a:extLst>
          </p:cNvPr>
          <p:cNvSpPr txBox="1"/>
          <p:nvPr/>
        </p:nvSpPr>
        <p:spPr>
          <a:xfrm>
            <a:off x="548640" y="566928"/>
            <a:ext cx="11094415" cy="457200"/>
          </a:xfrm>
          <a:prstGeom prst="rect">
            <a:avLst/>
          </a:prstGeom>
          <a:noFill/>
          <a:ln/>
        </p:spPr>
        <p:txBody>
          <a:bodyPr wrap="square" lIns="0" tIns="0" rIns="0" bIns="0" rtlCol="0" anchor="t"/>
          <a:lstStyle/>
          <a:p>
            <a:pPr marL="0" indent="0">
              <a:buNone/>
            </a:pPr>
            <a:r>
              <a:rPr lang="en-US" sz="2500" b="1" dirty="0">
                <a:solidFill>
                  <a:srgbClr val="0B3B75"/>
                </a:solidFill>
                <a:latin typeface="Calibri" pitchFamily="34" charset="0"/>
                <a:ea typeface="Calibri" pitchFamily="34" charset="-122"/>
                <a:cs typeface="Calibri" pitchFamily="34" charset="-120"/>
              </a:rPr>
              <a:t>BỐN NHÓM NGUYÊN NHÂN GỐC RỄ THEO SƠ ĐỒ XƯƠNG CÁ</a:t>
            </a:r>
            <a:endParaRPr lang="en-US" sz="2500" dirty="0"/>
          </a:p>
        </p:txBody>
      </p:sp>
      <p:sp>
        <p:nvSpPr>
          <p:cNvPr id="11" name="Text 4">
            <a:extLst>
              <a:ext uri="{FF2B5EF4-FFF2-40B4-BE49-F238E27FC236}">
                <a16:creationId xmlns:a16="http://schemas.microsoft.com/office/drawing/2014/main" id="{CD6DD41C-05C6-5AAE-3929-1428855FAB91}"/>
              </a:ext>
            </a:extLst>
          </p:cNvPr>
          <p:cNvSpPr txBox="1"/>
          <p:nvPr/>
        </p:nvSpPr>
        <p:spPr>
          <a:xfrm>
            <a:off x="11155680" y="6382512"/>
            <a:ext cx="484632" cy="274320"/>
          </a:xfrm>
          <a:prstGeom prst="rect">
            <a:avLst/>
          </a:prstGeom>
          <a:noFill/>
          <a:ln/>
        </p:spPr>
        <p:txBody>
          <a:bodyPr wrap="square" lIns="0" tIns="0" rIns="0" bIns="0" rtlCol="0" anchor="t"/>
          <a:lstStyle/>
          <a:p>
            <a:pPr marL="0" indent="0" algn="r">
              <a:buNone/>
            </a:pPr>
            <a:r>
              <a:rPr lang="en-US" sz="1100" b="1" dirty="0">
                <a:solidFill>
                  <a:srgbClr val="A5741A"/>
                </a:solidFill>
                <a:latin typeface="Calibri" pitchFamily="34" charset="0"/>
                <a:ea typeface="Calibri" pitchFamily="34" charset="-122"/>
                <a:cs typeface="Calibri" pitchFamily="34" charset="-120"/>
              </a:rPr>
              <a:t>39</a:t>
            </a:r>
            <a:endParaRPr lang="en-US" sz="1100" dirty="0"/>
          </a:p>
        </p:txBody>
      </p:sp>
      <p:pic>
        <p:nvPicPr>
          <p:cNvPr id="4" name="Picture 3">
            <a:extLst>
              <a:ext uri="{FF2B5EF4-FFF2-40B4-BE49-F238E27FC236}">
                <a16:creationId xmlns:a16="http://schemas.microsoft.com/office/drawing/2014/main" id="{880DD489-AB4F-370D-FD9D-EB3D34CAC9D4}"/>
              </a:ext>
            </a:extLst>
          </p:cNvPr>
          <p:cNvPicPr>
            <a:picLocks noChangeAspect="1"/>
          </p:cNvPicPr>
          <p:nvPr/>
        </p:nvPicPr>
        <p:blipFill>
          <a:blip r:embed="rId2"/>
          <a:srcRect t="27891" b="20027"/>
          <a:stretch>
            <a:fillRect/>
          </a:stretch>
        </p:blipFill>
        <p:spPr>
          <a:xfrm>
            <a:off x="-178154" y="1096094"/>
            <a:ext cx="12886649" cy="5033773"/>
          </a:xfrm>
          <a:prstGeom prst="rect">
            <a:avLst/>
          </a:prstGeom>
        </p:spPr>
      </p:pic>
    </p:spTree>
    <p:extLst>
      <p:ext uri="{BB962C8B-B14F-4D97-AF65-F5344CB8AC3E}">
        <p14:creationId xmlns:p14="http://schemas.microsoft.com/office/powerpoint/2010/main" val="252455230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65760"/>
            <a:ext cx="123444" cy="123444"/>
          </a:xfrm>
          <a:prstGeom prst="ellipse">
            <a:avLst/>
          </a:prstGeom>
          <a:solidFill>
            <a:srgbClr val="D9A227"/>
          </a:solidFill>
          <a:ln w="12700">
            <a:solidFill>
              <a:srgbClr val="D9A227"/>
            </a:solidFill>
            <a:prstDash val="solid"/>
          </a:ln>
        </p:spPr>
        <p:txBody>
          <a:bodyPr/>
          <a:lstStyle/>
          <a:p>
            <a:endParaRPr lang="en-US"/>
          </a:p>
        </p:txBody>
      </p:sp>
      <p:sp>
        <p:nvSpPr>
          <p:cNvPr id="3" name="Text 1"/>
          <p:cNvSpPr txBox="1"/>
          <p:nvPr/>
        </p:nvSpPr>
        <p:spPr>
          <a:xfrm>
            <a:off x="804672" y="292608"/>
            <a:ext cx="10838383" cy="237744"/>
          </a:xfrm>
          <a:prstGeom prst="rect">
            <a:avLst/>
          </a:prstGeom>
          <a:noFill/>
          <a:ln/>
        </p:spPr>
        <p:txBody>
          <a:bodyPr wrap="square" lIns="0" tIns="0" rIns="0" bIns="0" rtlCol="0" anchor="t"/>
          <a:lstStyle/>
          <a:p>
            <a:pPr marL="0" indent="0">
              <a:buNone/>
            </a:pPr>
            <a:r>
              <a:rPr lang="en-US" sz="1050" b="1" kern="0" spc="120" dirty="0">
                <a:solidFill>
                  <a:srgbClr val="A5741A"/>
                </a:solidFill>
                <a:latin typeface="Calibri" pitchFamily="34" charset="0"/>
                <a:ea typeface="Calibri" pitchFamily="34" charset="-122"/>
                <a:cs typeface="Calibri" pitchFamily="34" charset="-120"/>
              </a:rPr>
              <a:t>CHƯƠNG 4 · 4.1.3 NGUYÊN NHÂN GỐC RỄ</a:t>
            </a:r>
            <a:endParaRPr lang="en-US" sz="1050" dirty="0"/>
          </a:p>
        </p:txBody>
      </p:sp>
      <p:sp>
        <p:nvSpPr>
          <p:cNvPr id="4" name="Text 2"/>
          <p:cNvSpPr txBox="1"/>
          <p:nvPr/>
        </p:nvSpPr>
        <p:spPr>
          <a:xfrm>
            <a:off x="548640" y="566928"/>
            <a:ext cx="11094415" cy="457200"/>
          </a:xfrm>
          <a:prstGeom prst="rect">
            <a:avLst/>
          </a:prstGeom>
          <a:noFill/>
          <a:ln/>
        </p:spPr>
        <p:txBody>
          <a:bodyPr wrap="square" lIns="0" tIns="0" rIns="0" bIns="0" rtlCol="0" anchor="t"/>
          <a:lstStyle/>
          <a:p>
            <a:pPr marL="0" indent="0">
              <a:buNone/>
            </a:pPr>
            <a:r>
              <a:rPr lang="en-US" sz="2500" b="1" dirty="0">
                <a:solidFill>
                  <a:srgbClr val="0B3B75"/>
                </a:solidFill>
                <a:latin typeface="Calibri" pitchFamily="34" charset="0"/>
                <a:ea typeface="Calibri" pitchFamily="34" charset="-122"/>
                <a:cs typeface="Calibri" pitchFamily="34" charset="-120"/>
              </a:rPr>
              <a:t>TẦN SUẤT NGUYÊN NHÂN GỐC RỄ — CƠ SỞ ĐỊNH LƯỢNG CHO PARETO</a:t>
            </a:r>
            <a:endParaRPr lang="en-US" sz="2500" dirty="0"/>
          </a:p>
        </p:txBody>
      </p:sp>
      <p:sp>
        <p:nvSpPr>
          <p:cNvPr id="5" name="Text 3"/>
          <p:cNvSpPr txBox="1"/>
          <p:nvPr/>
        </p:nvSpPr>
        <p:spPr>
          <a:xfrm>
            <a:off x="548640" y="1024128"/>
            <a:ext cx="11094415" cy="274320"/>
          </a:xfrm>
          <a:prstGeom prst="rect">
            <a:avLst/>
          </a:prstGeom>
          <a:noFill/>
          <a:ln/>
        </p:spPr>
        <p:txBody>
          <a:bodyPr wrap="square" lIns="0" tIns="0" rIns="0" bIns="0" rtlCol="0" anchor="t"/>
          <a:lstStyle/>
          <a:p>
            <a:pPr marL="0" indent="0">
              <a:buNone/>
            </a:pPr>
            <a:r>
              <a:rPr lang="en-US" sz="1100" i="1" dirty="0">
                <a:solidFill>
                  <a:srgbClr val="6E7A88"/>
                </a:solidFill>
                <a:latin typeface="Calibri" pitchFamily="34" charset="0"/>
                <a:ea typeface="Calibri" pitchFamily="34" charset="-122"/>
                <a:cs typeface="Calibri" pitchFamily="34" charset="-120"/>
              </a:rPr>
              <a:t>Bảng 4.3 — Quy 14 điểm lãng phí về bốn nhóm nhân tố của sơ đồ Xương cá</a:t>
            </a:r>
            <a:endParaRPr lang="en-US" sz="1100" dirty="0"/>
          </a:p>
        </p:txBody>
      </p:sp>
      <p:sp>
        <p:nvSpPr>
          <p:cNvPr id="6" name="Text 4"/>
          <p:cNvSpPr txBox="1"/>
          <p:nvPr/>
        </p:nvSpPr>
        <p:spPr>
          <a:xfrm>
            <a:off x="548640" y="6419088"/>
            <a:ext cx="8778240" cy="237744"/>
          </a:xfrm>
          <a:prstGeom prst="rect">
            <a:avLst/>
          </a:prstGeom>
          <a:noFill/>
          <a:ln/>
        </p:spPr>
        <p:txBody>
          <a:bodyPr wrap="square" lIns="0" tIns="0" rIns="0" bIns="0" rtlCol="0" anchor="t"/>
          <a:lstStyle/>
          <a:p>
            <a:pPr marL="0" indent="0">
              <a:buNone/>
            </a:pPr>
            <a:r>
              <a:rPr lang="en-US" sz="850" dirty="0">
                <a:solidFill>
                  <a:srgbClr val="6E7A88"/>
                </a:solidFill>
                <a:latin typeface="Calibri" pitchFamily="34" charset="0"/>
                <a:ea typeface="Calibri" pitchFamily="34" charset="-122"/>
                <a:cs typeface="Calibri" pitchFamily="34" charset="-120"/>
              </a:rPr>
              <a:t>HỆ THỐNG QUẢN TRỊ QUY TRÌNH NGHIỆP VỤ  ·  SACOMBANK — QUY TRÌNH PYC</a:t>
            </a:r>
            <a:endParaRPr lang="en-US" sz="850" dirty="0"/>
          </a:p>
        </p:txBody>
      </p:sp>
      <p:sp>
        <p:nvSpPr>
          <p:cNvPr id="7" name="Text 5"/>
          <p:cNvSpPr txBox="1"/>
          <p:nvPr/>
        </p:nvSpPr>
        <p:spPr>
          <a:xfrm>
            <a:off x="11155680" y="6382512"/>
            <a:ext cx="484632" cy="274320"/>
          </a:xfrm>
          <a:prstGeom prst="rect">
            <a:avLst/>
          </a:prstGeom>
          <a:noFill/>
          <a:ln/>
        </p:spPr>
        <p:txBody>
          <a:bodyPr wrap="square" lIns="0" tIns="0" rIns="0" bIns="0" rtlCol="0" anchor="t"/>
          <a:lstStyle/>
          <a:p>
            <a:pPr marL="0" indent="0" algn="r">
              <a:buNone/>
            </a:pPr>
            <a:r>
              <a:rPr lang="en-US" sz="1100" b="1" dirty="0">
                <a:solidFill>
                  <a:srgbClr val="A5741A"/>
                </a:solidFill>
                <a:latin typeface="Calibri" pitchFamily="34" charset="0"/>
                <a:ea typeface="Calibri" pitchFamily="34" charset="-122"/>
                <a:cs typeface="Calibri" pitchFamily="34" charset="-120"/>
              </a:rPr>
              <a:t>40</a:t>
            </a:r>
            <a:endParaRPr lang="en-US" sz="1100" dirty="0"/>
          </a:p>
        </p:txBody>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548640" y="1517904"/>
          <a:ext cx="11091672" cy="2487168"/>
        </p:xfrm>
        <a:graphic>
          <a:graphicData uri="http://schemas.openxmlformats.org/drawingml/2006/table">
            <a:tbl>
              <a:tblPr/>
              <a:tblGrid>
                <a:gridCol w="2377440">
                  <a:extLst>
                    <a:ext uri="{9D8B030D-6E8A-4147-A177-3AD203B41FA5}">
                      <a16:colId xmlns:a16="http://schemas.microsoft.com/office/drawing/2014/main" val="20000"/>
                    </a:ext>
                  </a:extLst>
                </a:gridCol>
                <a:gridCol w="4690872">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gridCol w="1463040">
                  <a:extLst>
                    <a:ext uri="{9D8B030D-6E8A-4147-A177-3AD203B41FA5}">
                      <a16:colId xmlns:a16="http://schemas.microsoft.com/office/drawing/2014/main" val="20004"/>
                    </a:ext>
                  </a:extLst>
                </a:gridCol>
              </a:tblGrid>
              <a:tr h="384048">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NHÓM NHÂN TỐ</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0B3B75"/>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CÁC ĐIỂM LÃNG PHÍ LIÊN QUAN (theo Bảng 4.2)</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0B3B75"/>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SỐ ĐIỂM</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0B3B75"/>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TỶ LỆ</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0B3B75"/>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TÍCH LŨY</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0B3B75"/>
                    </a:solidFill>
                  </a:tcPr>
                </a:tc>
                <a:extLst>
                  <a:ext uri="{0D108BD9-81ED-4DB2-BD59-A6C34878D82A}">
                    <a16:rowId xmlns:a16="http://schemas.microsoft.com/office/drawing/2014/main" val="10000"/>
                  </a:ext>
                </a:extLst>
              </a:tr>
              <a:tr h="420624">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Quy trình (Method)</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Điểm 2, 3, 4, 8, 10, 12 — cổng duyệt áp dụng đồng loạt, chuyển giao nhiều chặng, chờ hàng đợi</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lgn="ctr">
                        <a:buNone/>
                      </a:pPr>
                      <a:r>
                        <a:rPr lang="en-US" sz="850" b="1" dirty="0">
                          <a:solidFill>
                            <a:srgbClr val="2A3442"/>
                          </a:solidFill>
                          <a:latin typeface="Calibri" pitchFamily="34" charset="0"/>
                          <a:ea typeface="Calibri" pitchFamily="34" charset="-122"/>
                          <a:cs typeface="Calibri" pitchFamily="34" charset="-120"/>
                        </a:rPr>
                        <a:t>06</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lgn="ctr">
                        <a:buNone/>
                      </a:pPr>
                      <a:r>
                        <a:rPr lang="en-US" sz="850" b="1" dirty="0">
                          <a:solidFill>
                            <a:srgbClr val="2A3442"/>
                          </a:solidFill>
                          <a:latin typeface="Calibri" pitchFamily="34" charset="0"/>
                          <a:ea typeface="Calibri" pitchFamily="34" charset="-122"/>
                          <a:cs typeface="Calibri" pitchFamily="34" charset="-120"/>
                        </a:rPr>
                        <a:t>42,9%</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lgn="ctr">
                        <a:buNone/>
                      </a:pPr>
                      <a:r>
                        <a:rPr lang="en-US" sz="850" b="1" dirty="0">
                          <a:solidFill>
                            <a:srgbClr val="2A3442"/>
                          </a:solidFill>
                          <a:latin typeface="Calibri" pitchFamily="34" charset="0"/>
                          <a:ea typeface="Calibri" pitchFamily="34" charset="-122"/>
                          <a:cs typeface="Calibri" pitchFamily="34" charset="-120"/>
                        </a:rPr>
                        <a:t>42,9%</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extLst>
                  <a:ext uri="{0D108BD9-81ED-4DB2-BD59-A6C34878D82A}">
                    <a16:rowId xmlns:a16="http://schemas.microsoft.com/office/drawing/2014/main" val="10001"/>
                  </a:ext>
                </a:extLst>
              </a:tr>
              <a:tr h="420624">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Hệ thống (Machine)</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Điểm 5, 7, 11, 14 — biểu mẫu free-text thiếu ràng buộc, ghi log thủ công hai lần</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lgn="ctr">
                        <a:buNone/>
                      </a:pPr>
                      <a:r>
                        <a:rPr lang="en-US" sz="850" b="1" dirty="0">
                          <a:solidFill>
                            <a:srgbClr val="2A3442"/>
                          </a:solidFill>
                          <a:latin typeface="Calibri" pitchFamily="34" charset="0"/>
                          <a:ea typeface="Calibri" pitchFamily="34" charset="-122"/>
                          <a:cs typeface="Calibri" pitchFamily="34" charset="-120"/>
                        </a:rPr>
                        <a:t>04</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lgn="ctr">
                        <a:buNone/>
                      </a:pPr>
                      <a:r>
                        <a:rPr lang="en-US" sz="850" b="1" dirty="0">
                          <a:solidFill>
                            <a:srgbClr val="2A3442"/>
                          </a:solidFill>
                          <a:latin typeface="Calibri" pitchFamily="34" charset="0"/>
                          <a:ea typeface="Calibri" pitchFamily="34" charset="-122"/>
                          <a:cs typeface="Calibri" pitchFamily="34" charset="-120"/>
                        </a:rPr>
                        <a:t>28,6%</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lgn="ctr">
                        <a:buNone/>
                      </a:pPr>
                      <a:r>
                        <a:rPr lang="en-US" sz="850" b="1" dirty="0">
                          <a:solidFill>
                            <a:srgbClr val="2A3442"/>
                          </a:solidFill>
                          <a:latin typeface="Calibri" pitchFamily="34" charset="0"/>
                          <a:ea typeface="Calibri" pitchFamily="34" charset="-122"/>
                          <a:cs typeface="Calibri" pitchFamily="34" charset="-120"/>
                        </a:rPr>
                        <a:t>71,5%</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extLst>
                  <a:ext uri="{0D108BD9-81ED-4DB2-BD59-A6C34878D82A}">
                    <a16:rowId xmlns:a16="http://schemas.microsoft.com/office/drawing/2014/main" val="10002"/>
                  </a:ext>
                </a:extLst>
              </a:tr>
              <a:tr h="420624">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Con người (Man)</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Điểm 6, 13 — phụ thuộc thời gian phản hồi của người dùng và cấp quản lý</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lgn="ctr">
                        <a:buNone/>
                      </a:pPr>
                      <a:r>
                        <a:rPr lang="en-US" sz="850" b="1" dirty="0">
                          <a:solidFill>
                            <a:srgbClr val="2A3442"/>
                          </a:solidFill>
                          <a:latin typeface="Calibri" pitchFamily="34" charset="0"/>
                          <a:ea typeface="Calibri" pitchFamily="34" charset="-122"/>
                          <a:cs typeface="Calibri" pitchFamily="34" charset="-120"/>
                        </a:rPr>
                        <a:t>02</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lgn="ctr">
                        <a:buNone/>
                      </a:pPr>
                      <a:r>
                        <a:rPr lang="en-US" sz="850" b="1" dirty="0">
                          <a:solidFill>
                            <a:srgbClr val="2A3442"/>
                          </a:solidFill>
                          <a:latin typeface="Calibri" pitchFamily="34" charset="0"/>
                          <a:ea typeface="Calibri" pitchFamily="34" charset="-122"/>
                          <a:cs typeface="Calibri" pitchFamily="34" charset="-120"/>
                        </a:rPr>
                        <a:t>14,3%</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lgn="ctr">
                        <a:buNone/>
                      </a:pPr>
                      <a:r>
                        <a:rPr lang="en-US" sz="850" b="1" dirty="0">
                          <a:solidFill>
                            <a:srgbClr val="2A3442"/>
                          </a:solidFill>
                          <a:latin typeface="Calibri" pitchFamily="34" charset="0"/>
                          <a:ea typeface="Calibri" pitchFamily="34" charset="-122"/>
                          <a:cs typeface="Calibri" pitchFamily="34" charset="-120"/>
                        </a:rPr>
                        <a:t>85,8%</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extLst>
                  <a:ext uri="{0D108BD9-81ED-4DB2-BD59-A6C34878D82A}">
                    <a16:rowId xmlns:a16="http://schemas.microsoft.com/office/drawing/2014/main" val="10003"/>
                  </a:ext>
                </a:extLst>
              </a:tr>
              <a:tr h="420624">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Đo lường (Measurement)</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Điểm 1, 9 — thiếu cảnh báo SLA thời gian thực nên chuyển giao không được theo dõi</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lgn="ctr">
                        <a:buNone/>
                      </a:pPr>
                      <a:r>
                        <a:rPr lang="en-US" sz="850" b="1" dirty="0">
                          <a:solidFill>
                            <a:srgbClr val="2A3442"/>
                          </a:solidFill>
                          <a:latin typeface="Calibri" pitchFamily="34" charset="0"/>
                          <a:ea typeface="Calibri" pitchFamily="34" charset="-122"/>
                          <a:cs typeface="Calibri" pitchFamily="34" charset="-120"/>
                        </a:rPr>
                        <a:t>02</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lgn="ctr">
                        <a:buNone/>
                      </a:pPr>
                      <a:r>
                        <a:rPr lang="en-US" sz="850" b="1" dirty="0">
                          <a:solidFill>
                            <a:srgbClr val="2A3442"/>
                          </a:solidFill>
                          <a:latin typeface="Calibri" pitchFamily="34" charset="0"/>
                          <a:ea typeface="Calibri" pitchFamily="34" charset="-122"/>
                          <a:cs typeface="Calibri" pitchFamily="34" charset="-120"/>
                        </a:rPr>
                        <a:t>14,3%</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lgn="ctr">
                        <a:buNone/>
                      </a:pPr>
                      <a:r>
                        <a:rPr lang="en-US" sz="850" b="1" dirty="0">
                          <a:solidFill>
                            <a:srgbClr val="2A3442"/>
                          </a:solidFill>
                          <a:latin typeface="Calibri" pitchFamily="34" charset="0"/>
                          <a:ea typeface="Calibri" pitchFamily="34" charset="-122"/>
                          <a:cs typeface="Calibri" pitchFamily="34" charset="-120"/>
                        </a:rPr>
                        <a:t>100%</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extLst>
                  <a:ext uri="{0D108BD9-81ED-4DB2-BD59-A6C34878D82A}">
                    <a16:rowId xmlns:a16="http://schemas.microsoft.com/office/drawing/2014/main" val="10004"/>
                  </a:ext>
                </a:extLst>
              </a:tr>
              <a:tr h="420624">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TỔNG CỘNG</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14 điểm lãng phí đã nhận diện tại Bảng 4.2</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lgn="ctr">
                        <a:buNone/>
                      </a:pPr>
                      <a:r>
                        <a:rPr lang="en-US" sz="850" b="1" dirty="0">
                          <a:solidFill>
                            <a:srgbClr val="2A3442"/>
                          </a:solidFill>
                          <a:latin typeface="Calibri" pitchFamily="34" charset="0"/>
                          <a:ea typeface="Calibri" pitchFamily="34" charset="-122"/>
                          <a:cs typeface="Calibri" pitchFamily="34" charset="-120"/>
                        </a:rPr>
                        <a:t>14</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lgn="ctr">
                        <a:buNone/>
                      </a:pPr>
                      <a:r>
                        <a:rPr lang="en-US" sz="850" b="1" dirty="0">
                          <a:solidFill>
                            <a:srgbClr val="2A3442"/>
                          </a:solidFill>
                          <a:latin typeface="Calibri" pitchFamily="34" charset="0"/>
                          <a:ea typeface="Calibri" pitchFamily="34" charset="-122"/>
                          <a:cs typeface="Calibri" pitchFamily="34" charset="-120"/>
                        </a:rPr>
                        <a:t>100%</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lgn="ctr">
                        <a:buNone/>
                      </a:pPr>
                      <a:r>
                        <a:rPr lang="en-US" sz="850" b="1" dirty="0">
                          <a:solidFill>
                            <a:srgbClr val="2A3442"/>
                          </a:solidFill>
                          <a:latin typeface="Calibri" pitchFamily="34" charset="0"/>
                          <a:ea typeface="Calibri" pitchFamily="34" charset="-122"/>
                          <a:cs typeface="Calibri" pitchFamily="34" charset="-120"/>
                        </a:rPr>
                        <a:t>—</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9" name="Shape 6"/>
          <p:cNvSpPr/>
          <p:nvPr/>
        </p:nvSpPr>
        <p:spPr>
          <a:xfrm>
            <a:off x="548640" y="4169664"/>
            <a:ext cx="11094415" cy="621792"/>
          </a:xfrm>
          <a:prstGeom prst="roundRect">
            <a:avLst>
              <a:gd name="adj" fmla="val 10000"/>
            </a:avLst>
          </a:prstGeom>
          <a:solidFill>
            <a:srgbClr val="FFF3E0"/>
          </a:solidFill>
          <a:ln w="9525">
            <a:solidFill>
              <a:srgbClr val="B5730A"/>
            </a:solidFill>
            <a:prstDash val="solid"/>
          </a:ln>
        </p:spPr>
        <p:txBody>
          <a:bodyPr/>
          <a:lstStyle/>
          <a:p>
            <a:endParaRPr lang="en-US"/>
          </a:p>
        </p:txBody>
      </p:sp>
      <p:sp>
        <p:nvSpPr>
          <p:cNvPr id="10" name="Text 7"/>
          <p:cNvSpPr txBox="1"/>
          <p:nvPr/>
        </p:nvSpPr>
        <p:spPr>
          <a:xfrm>
            <a:off x="676656" y="4224528"/>
            <a:ext cx="10838383" cy="512064"/>
          </a:xfrm>
          <a:prstGeom prst="rect">
            <a:avLst/>
          </a:prstGeom>
          <a:noFill/>
          <a:ln/>
        </p:spPr>
        <p:txBody>
          <a:bodyPr wrap="square" lIns="0" tIns="0" rIns="0" bIns="0" rtlCol="0" anchor="t"/>
          <a:lstStyle/>
          <a:p>
            <a:pPr marL="0" indent="0">
              <a:buNone/>
            </a:pPr>
            <a:r>
              <a:rPr lang="en-US" sz="950" b="1" dirty="0">
                <a:solidFill>
                  <a:srgbClr val="B5730A"/>
                </a:solidFill>
                <a:latin typeface="Calibri" pitchFamily="34" charset="0"/>
                <a:ea typeface="Calibri" pitchFamily="34" charset="-122"/>
                <a:cs typeface="Calibri" pitchFamily="34" charset="-120"/>
              </a:rPr>
              <a:t>CÁC CON SỐ TỪ ĐÂU  </a:t>
            </a:r>
            <a:r>
              <a:rPr lang="en-US" sz="950" dirty="0">
                <a:solidFill>
                  <a:srgbClr val="2A3442"/>
                </a:solidFill>
                <a:latin typeface="Calibri" pitchFamily="34" charset="0"/>
                <a:ea typeface="Calibri" pitchFamily="34" charset="-122"/>
                <a:cs typeface="Calibri" pitchFamily="34" charset="-120"/>
              </a:rPr>
              <a:t>Mỗi điểm lãng phí ở Bảng 4.2 được quy về nhóm nhân tố gây ra nó, rồi đếm tần suất. Hai nhóm Quy trình và Hệ thống chiếm 71,5% tổng số điểm — khắc phục hai nhóm này xử lý được phần lớn lãng phí, đúng tinh thần nguyên lý Pareto.</a:t>
            </a:r>
            <a:endParaRPr lang="en-US" sz="9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65760"/>
            <a:ext cx="123444" cy="123444"/>
          </a:xfrm>
          <a:prstGeom prst="ellipse">
            <a:avLst/>
          </a:prstGeom>
          <a:solidFill>
            <a:srgbClr val="D9A227"/>
          </a:solidFill>
          <a:ln w="12700">
            <a:solidFill>
              <a:srgbClr val="D9A227"/>
            </a:solidFill>
            <a:prstDash val="solid"/>
          </a:ln>
        </p:spPr>
        <p:txBody>
          <a:bodyPr/>
          <a:lstStyle/>
          <a:p>
            <a:endParaRPr lang="en-US"/>
          </a:p>
        </p:txBody>
      </p:sp>
      <p:sp>
        <p:nvSpPr>
          <p:cNvPr id="3" name="Text 1"/>
          <p:cNvSpPr txBox="1"/>
          <p:nvPr/>
        </p:nvSpPr>
        <p:spPr>
          <a:xfrm>
            <a:off x="804672" y="292608"/>
            <a:ext cx="10838383" cy="237744"/>
          </a:xfrm>
          <a:prstGeom prst="rect">
            <a:avLst/>
          </a:prstGeom>
          <a:noFill/>
          <a:ln/>
        </p:spPr>
        <p:txBody>
          <a:bodyPr wrap="square" lIns="0" tIns="0" rIns="0" bIns="0" rtlCol="0" anchor="t"/>
          <a:lstStyle/>
          <a:p>
            <a:pPr marL="0" indent="0">
              <a:buNone/>
            </a:pPr>
            <a:r>
              <a:rPr lang="en-US" sz="1050" b="1" kern="0" spc="120" dirty="0">
                <a:solidFill>
                  <a:srgbClr val="A5741A"/>
                </a:solidFill>
                <a:latin typeface="Calibri" pitchFamily="34" charset="0"/>
                <a:ea typeface="Calibri" pitchFamily="34" charset="-122"/>
                <a:cs typeface="Calibri" pitchFamily="34" charset="-120"/>
              </a:rPr>
              <a:t>CHƯƠNG 4 · 4.3.1 PHÂN TÍCH ĐỊNH LƯỢNG</a:t>
            </a:r>
            <a:endParaRPr lang="en-US" sz="1050" dirty="0"/>
          </a:p>
        </p:txBody>
      </p:sp>
      <p:sp>
        <p:nvSpPr>
          <p:cNvPr id="4" name="Text 2"/>
          <p:cNvSpPr txBox="1"/>
          <p:nvPr/>
        </p:nvSpPr>
        <p:spPr>
          <a:xfrm>
            <a:off x="548640" y="566928"/>
            <a:ext cx="11094415" cy="457200"/>
          </a:xfrm>
          <a:prstGeom prst="rect">
            <a:avLst/>
          </a:prstGeom>
          <a:noFill/>
          <a:ln/>
        </p:spPr>
        <p:txBody>
          <a:bodyPr wrap="square" lIns="0" tIns="0" rIns="0" bIns="0" rtlCol="0" anchor="t"/>
          <a:lstStyle/>
          <a:p>
            <a:pPr marL="0" indent="0">
              <a:buNone/>
            </a:pPr>
            <a:r>
              <a:rPr lang="en-US" sz="2500" b="1" dirty="0">
                <a:solidFill>
                  <a:srgbClr val="0B3B75"/>
                </a:solidFill>
                <a:latin typeface="Calibri" pitchFamily="34" charset="0"/>
                <a:ea typeface="Calibri" pitchFamily="34" charset="-122"/>
                <a:cs typeface="Calibri" pitchFamily="34" charset="-120"/>
              </a:rPr>
              <a:t>CÁC ĐIỂM CHI PHỐI THỜI GIAN CỦA QUY TRÌNH PYC</a:t>
            </a:r>
            <a:endParaRPr lang="en-US" sz="2500" dirty="0"/>
          </a:p>
        </p:txBody>
      </p:sp>
      <p:sp>
        <p:nvSpPr>
          <p:cNvPr id="5" name="Text 3"/>
          <p:cNvSpPr txBox="1"/>
          <p:nvPr/>
        </p:nvSpPr>
        <p:spPr>
          <a:xfrm>
            <a:off x="548640" y="6419088"/>
            <a:ext cx="8778240" cy="237744"/>
          </a:xfrm>
          <a:prstGeom prst="rect">
            <a:avLst/>
          </a:prstGeom>
          <a:noFill/>
          <a:ln/>
        </p:spPr>
        <p:txBody>
          <a:bodyPr wrap="square" lIns="0" tIns="0" rIns="0" bIns="0" rtlCol="0" anchor="t"/>
          <a:lstStyle/>
          <a:p>
            <a:pPr marL="0" indent="0">
              <a:buNone/>
            </a:pPr>
            <a:r>
              <a:rPr lang="en-US" sz="850" dirty="0">
                <a:solidFill>
                  <a:srgbClr val="6E7A88"/>
                </a:solidFill>
                <a:latin typeface="Calibri" pitchFamily="34" charset="0"/>
                <a:ea typeface="Calibri" pitchFamily="34" charset="-122"/>
                <a:cs typeface="Calibri" pitchFamily="34" charset="-120"/>
              </a:rPr>
              <a:t>HỆ THỐNG QUẢN TRỊ QUY TRÌNH NGHIỆP VỤ  ·  SACOMBANK — QUY TRÌNH PYC</a:t>
            </a:r>
            <a:endParaRPr lang="en-US" sz="850" dirty="0"/>
          </a:p>
        </p:txBody>
      </p:sp>
      <p:sp>
        <p:nvSpPr>
          <p:cNvPr id="6" name="Text 4"/>
          <p:cNvSpPr txBox="1"/>
          <p:nvPr/>
        </p:nvSpPr>
        <p:spPr>
          <a:xfrm>
            <a:off x="11155680" y="6382512"/>
            <a:ext cx="484632" cy="274320"/>
          </a:xfrm>
          <a:prstGeom prst="rect">
            <a:avLst/>
          </a:prstGeom>
          <a:noFill/>
          <a:ln/>
        </p:spPr>
        <p:txBody>
          <a:bodyPr wrap="square" lIns="0" tIns="0" rIns="0" bIns="0" rtlCol="0" anchor="t"/>
          <a:lstStyle/>
          <a:p>
            <a:pPr marL="0" indent="0" algn="r">
              <a:buNone/>
            </a:pPr>
            <a:r>
              <a:rPr lang="en-US" sz="1100" b="1" dirty="0">
                <a:solidFill>
                  <a:srgbClr val="A5741A"/>
                </a:solidFill>
                <a:latin typeface="Calibri" pitchFamily="34" charset="0"/>
                <a:ea typeface="Calibri" pitchFamily="34" charset="-122"/>
                <a:cs typeface="Calibri" pitchFamily="34" charset="-120"/>
              </a:rPr>
              <a:t>41</a:t>
            </a:r>
            <a:endParaRPr lang="en-US" sz="1100" dirty="0"/>
          </a:p>
        </p:txBody>
      </p:sp>
      <p:sp>
        <p:nvSpPr>
          <p:cNvPr id="7" name="Shape 5"/>
          <p:cNvSpPr/>
          <p:nvPr/>
        </p:nvSpPr>
        <p:spPr>
          <a:xfrm>
            <a:off x="548640" y="1426464"/>
            <a:ext cx="5410048" cy="1828800"/>
          </a:xfrm>
          <a:prstGeom prst="roundRect">
            <a:avLst>
              <a:gd name="adj" fmla="val 3000"/>
            </a:avLst>
          </a:prstGeom>
          <a:solidFill>
            <a:srgbClr val="EFF4FB"/>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8" name="Text 6"/>
          <p:cNvSpPr txBox="1"/>
          <p:nvPr/>
        </p:nvSpPr>
        <p:spPr>
          <a:xfrm>
            <a:off x="768096" y="1591056"/>
            <a:ext cx="4971136" cy="256032"/>
          </a:xfrm>
          <a:prstGeom prst="rect">
            <a:avLst/>
          </a:prstGeom>
          <a:noFill/>
          <a:ln/>
        </p:spPr>
        <p:txBody>
          <a:bodyPr wrap="square" lIns="0" tIns="0" rIns="0" bIns="0" rtlCol="0" anchor="t"/>
          <a:lstStyle/>
          <a:p>
            <a:pPr marL="0" indent="0">
              <a:buNone/>
            </a:pPr>
            <a:r>
              <a:rPr lang="en-US" sz="1100" b="1" kern="0" spc="80" dirty="0">
                <a:solidFill>
                  <a:srgbClr val="1660BF"/>
                </a:solidFill>
                <a:latin typeface="Calibri" pitchFamily="34" charset="0"/>
                <a:ea typeface="Calibri" pitchFamily="34" charset="-122"/>
                <a:cs typeface="Calibri" pitchFamily="34" charset="-120"/>
              </a:rPr>
              <a:t>THỜI GIAN CHỜ PHÊ DUYỆT</a:t>
            </a:r>
            <a:endParaRPr lang="en-US" sz="1100" dirty="0"/>
          </a:p>
        </p:txBody>
      </p:sp>
      <p:sp>
        <p:nvSpPr>
          <p:cNvPr id="9" name="Text 7"/>
          <p:cNvSpPr txBox="1"/>
          <p:nvPr/>
        </p:nvSpPr>
        <p:spPr>
          <a:xfrm>
            <a:off x="768096" y="1865376"/>
            <a:ext cx="4971136" cy="420624"/>
          </a:xfrm>
          <a:prstGeom prst="rect">
            <a:avLst/>
          </a:prstGeom>
          <a:noFill/>
          <a:ln/>
        </p:spPr>
        <p:txBody>
          <a:bodyPr wrap="square" lIns="0" tIns="0" rIns="0" bIns="0" rtlCol="0" anchor="t"/>
          <a:lstStyle/>
          <a:p>
            <a:pPr marL="0" indent="0">
              <a:buNone/>
            </a:pPr>
            <a:r>
              <a:rPr lang="en-US" sz="2800" b="1" dirty="0">
                <a:solidFill>
                  <a:srgbClr val="0B3B75"/>
                </a:solidFill>
                <a:latin typeface="Calibri" pitchFamily="34" charset="0"/>
                <a:ea typeface="Calibri" pitchFamily="34" charset="-122"/>
                <a:cs typeface="Calibri" pitchFamily="34" charset="-120"/>
              </a:rPr>
              <a:t>2 – 8 giờ</a:t>
            </a:r>
            <a:endParaRPr lang="en-US" sz="2800" dirty="0"/>
          </a:p>
        </p:txBody>
      </p:sp>
      <p:sp>
        <p:nvSpPr>
          <p:cNvPr id="10" name="Text 8"/>
          <p:cNvSpPr txBox="1"/>
          <p:nvPr/>
        </p:nvSpPr>
        <p:spPr>
          <a:xfrm>
            <a:off x="768096" y="2340864"/>
            <a:ext cx="4971136" cy="786384"/>
          </a:xfrm>
          <a:prstGeom prst="rect">
            <a:avLst/>
          </a:prstGeom>
          <a:noFill/>
          <a:ln/>
        </p:spPr>
        <p:txBody>
          <a:bodyPr wrap="square" lIns="0" tIns="0" rIns="0" bIns="0" rtlCol="0" anchor="t"/>
          <a:lstStyle/>
          <a:p>
            <a:pPr marL="0" indent="0">
              <a:buNone/>
            </a:pPr>
            <a:r>
              <a:rPr lang="en-US" sz="1000" dirty="0">
                <a:solidFill>
                  <a:srgbClr val="6E7A88"/>
                </a:solidFill>
                <a:latin typeface="Calibri" pitchFamily="34" charset="0"/>
                <a:ea typeface="Calibri" pitchFamily="34" charset="-122"/>
                <a:cs typeface="Calibri" pitchFamily="34" charset="-120"/>
              </a:rPr>
              <a:t>Thời gian trung bình để quản lý cấp 1 thao tác phê duyệt yêu cầu cấp quyền thông thường, đặc biệt khi bận họp hoặc đi công tác. Tạo nút thắt cổ chai khiến thời gian chờ chiếm tới 40% tổng Lead Time trước khi đội kỹ thuật chạm tay vào phiếu.</a:t>
            </a:r>
            <a:endParaRPr lang="en-US" sz="1000" dirty="0"/>
          </a:p>
        </p:txBody>
      </p:sp>
      <p:sp>
        <p:nvSpPr>
          <p:cNvPr id="11" name="Shape 9"/>
          <p:cNvSpPr/>
          <p:nvPr/>
        </p:nvSpPr>
        <p:spPr>
          <a:xfrm>
            <a:off x="6233008" y="1426464"/>
            <a:ext cx="5410048" cy="1828800"/>
          </a:xfrm>
          <a:prstGeom prst="roundRect">
            <a:avLst>
              <a:gd name="adj" fmla="val 3000"/>
            </a:avLst>
          </a:prstGeom>
          <a:solidFill>
            <a:srgbClr val="EFF4FB"/>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12" name="Text 10"/>
          <p:cNvSpPr txBox="1"/>
          <p:nvPr/>
        </p:nvSpPr>
        <p:spPr>
          <a:xfrm>
            <a:off x="6452464" y="1591056"/>
            <a:ext cx="4971136" cy="256032"/>
          </a:xfrm>
          <a:prstGeom prst="rect">
            <a:avLst/>
          </a:prstGeom>
          <a:noFill/>
          <a:ln/>
        </p:spPr>
        <p:txBody>
          <a:bodyPr wrap="square" lIns="0" tIns="0" rIns="0" bIns="0" rtlCol="0" anchor="t"/>
          <a:lstStyle/>
          <a:p>
            <a:pPr marL="0" indent="0">
              <a:buNone/>
            </a:pPr>
            <a:r>
              <a:rPr lang="en-US" sz="1100" b="1" kern="0" spc="80" dirty="0">
                <a:solidFill>
                  <a:srgbClr val="1660BF"/>
                </a:solidFill>
                <a:latin typeface="Calibri" pitchFamily="34" charset="0"/>
                <a:ea typeface="Calibri" pitchFamily="34" charset="-122"/>
                <a:cs typeface="Calibri" pitchFamily="34" charset="-120"/>
              </a:rPr>
              <a:t>YÊU CẦU ĐẶC THÙ — CORE T24</a:t>
            </a:r>
            <a:endParaRPr lang="en-US" sz="1100" dirty="0"/>
          </a:p>
        </p:txBody>
      </p:sp>
      <p:sp>
        <p:nvSpPr>
          <p:cNvPr id="13" name="Text 11"/>
          <p:cNvSpPr txBox="1"/>
          <p:nvPr/>
        </p:nvSpPr>
        <p:spPr>
          <a:xfrm>
            <a:off x="6452464" y="1865376"/>
            <a:ext cx="4971136" cy="420624"/>
          </a:xfrm>
          <a:prstGeom prst="rect">
            <a:avLst/>
          </a:prstGeom>
          <a:noFill/>
          <a:ln/>
        </p:spPr>
        <p:txBody>
          <a:bodyPr wrap="square" lIns="0" tIns="0" rIns="0" bIns="0" rtlCol="0" anchor="t"/>
          <a:lstStyle/>
          <a:p>
            <a:pPr marL="0" indent="0">
              <a:buNone/>
            </a:pPr>
            <a:r>
              <a:rPr lang="en-US" sz="2800" b="1" dirty="0">
                <a:solidFill>
                  <a:srgbClr val="0B3B75"/>
                </a:solidFill>
                <a:latin typeface="Calibri" pitchFamily="34" charset="0"/>
                <a:ea typeface="Calibri" pitchFamily="34" charset="-122"/>
                <a:cs typeface="Calibri" pitchFamily="34" charset="-120"/>
              </a:rPr>
              <a:t>vài ngày – 1 tuần</a:t>
            </a:r>
            <a:endParaRPr lang="en-US" sz="2800" dirty="0"/>
          </a:p>
        </p:txBody>
      </p:sp>
      <p:sp>
        <p:nvSpPr>
          <p:cNvPr id="14" name="Text 12"/>
          <p:cNvSpPr txBox="1"/>
          <p:nvPr/>
        </p:nvSpPr>
        <p:spPr>
          <a:xfrm>
            <a:off x="6452464" y="2340864"/>
            <a:ext cx="4971136" cy="786384"/>
          </a:xfrm>
          <a:prstGeom prst="rect">
            <a:avLst/>
          </a:prstGeom>
          <a:noFill/>
          <a:ln/>
        </p:spPr>
        <p:txBody>
          <a:bodyPr wrap="square" lIns="0" tIns="0" rIns="0" bIns="0" rtlCol="0" anchor="t"/>
          <a:lstStyle/>
          <a:p>
            <a:pPr marL="0" indent="0">
              <a:buNone/>
            </a:pPr>
            <a:r>
              <a:rPr lang="en-US" sz="1000" dirty="0">
                <a:solidFill>
                  <a:srgbClr val="6E7A88"/>
                </a:solidFill>
                <a:latin typeface="Calibri" pitchFamily="34" charset="0"/>
                <a:ea typeface="Calibri" pitchFamily="34" charset="-122"/>
                <a:cs typeface="Calibri" pitchFamily="34" charset="-120"/>
              </a:rPr>
              <a:t>Với các PYC phức tạp liên quan hệ thống lõi Corebanking T24, thời gian chờ xử lý tối đa kéo dài do phải tuân thủ nhiều tầng kiểm soát trung gian.</a:t>
            </a:r>
            <a:endParaRPr lang="en-US" sz="1000" dirty="0"/>
          </a:p>
        </p:txBody>
      </p:sp>
      <p:sp>
        <p:nvSpPr>
          <p:cNvPr id="15" name="Text 13"/>
          <p:cNvSpPr txBox="1"/>
          <p:nvPr/>
        </p:nvSpPr>
        <p:spPr>
          <a:xfrm>
            <a:off x="548640" y="3438144"/>
            <a:ext cx="11094415" cy="274320"/>
          </a:xfrm>
          <a:prstGeom prst="rect">
            <a:avLst/>
          </a:prstGeom>
          <a:noFill/>
          <a:ln/>
        </p:spPr>
        <p:txBody>
          <a:bodyPr wrap="square" lIns="0" tIns="0" rIns="0" bIns="0" rtlCol="0" anchor="t"/>
          <a:lstStyle/>
          <a:p>
            <a:pPr marL="0" indent="0">
              <a:buNone/>
            </a:pPr>
            <a:r>
              <a:rPr lang="en-US" sz="1300" b="1" dirty="0">
                <a:solidFill>
                  <a:srgbClr val="0B3B75"/>
                </a:solidFill>
                <a:latin typeface="Calibri" pitchFamily="34" charset="0"/>
                <a:ea typeface="Calibri" pitchFamily="34" charset="-122"/>
                <a:cs typeface="Calibri" pitchFamily="34" charset="-120"/>
              </a:rPr>
              <a:t>CHỈ SỐ CHẤT LƯỢNG VÀ CHI PHÍ LÃNG PHÍ</a:t>
            </a:r>
            <a:endParaRPr lang="en-US" sz="1300" dirty="0"/>
          </a:p>
        </p:txBody>
      </p:sp>
      <p:graphicFrame>
        <p:nvGraphicFramePr>
          <p:cNvPr id="38" name="Table 0"/>
          <p:cNvGraphicFramePr>
            <a:graphicFrameLocks noGrp="1"/>
          </p:cNvGraphicFramePr>
          <p:nvPr>
            <p:extLst>
              <p:ext uri="{D42A27DB-BD31-4B8C-83A1-F6EECF244321}">
                <p14:modId xmlns:p14="http://schemas.microsoft.com/office/powerpoint/2010/main" val="1579011935"/>
              </p:ext>
            </p:extLst>
          </p:nvPr>
        </p:nvGraphicFramePr>
        <p:xfrm>
          <a:off x="548640" y="3785616"/>
          <a:ext cx="11091672" cy="1901952"/>
        </p:xfrm>
        <a:graphic>
          <a:graphicData uri="http://schemas.openxmlformats.org/drawingml/2006/table">
            <a:tbl>
              <a:tblPr/>
              <a:tblGrid>
                <a:gridCol w="3017520">
                  <a:extLst>
                    <a:ext uri="{9D8B030D-6E8A-4147-A177-3AD203B41FA5}">
                      <a16:colId xmlns:a16="http://schemas.microsoft.com/office/drawing/2014/main" val="20000"/>
                    </a:ext>
                  </a:extLst>
                </a:gridCol>
                <a:gridCol w="2194560">
                  <a:extLst>
                    <a:ext uri="{9D8B030D-6E8A-4147-A177-3AD203B41FA5}">
                      <a16:colId xmlns:a16="http://schemas.microsoft.com/office/drawing/2014/main" val="20001"/>
                    </a:ext>
                  </a:extLst>
                </a:gridCol>
                <a:gridCol w="5879592">
                  <a:extLst>
                    <a:ext uri="{9D8B030D-6E8A-4147-A177-3AD203B41FA5}">
                      <a16:colId xmlns:a16="http://schemas.microsoft.com/office/drawing/2014/main" val="20002"/>
                    </a:ext>
                  </a:extLst>
                </a:gridCol>
              </a:tblGrid>
              <a:tr h="475488">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CHỈ SỐ</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0B3B75"/>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GIÁ TRỊ KHẢO SÁT</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0B3B75"/>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NGUYÊN NHÂN ĐỊNH LƯỢNG</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0B3B75"/>
                    </a:solidFill>
                  </a:tcPr>
                </a:tc>
                <a:extLst>
                  <a:ext uri="{0D108BD9-81ED-4DB2-BD59-A6C34878D82A}">
                    <a16:rowId xmlns:a16="http://schemas.microsoft.com/office/drawing/2014/main" val="10000"/>
                  </a:ext>
                </a:extLst>
              </a:tr>
              <a:tr h="475488">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Tỷ lệ PYC quá hạn SLA</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5% – trên 10%</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Tăng vào mùa cao điểm triển khai dự án hoặc quyết toán hệ thống. Phần lớn không do năng lực xử lý của L1/L2 mà do trôi trượt (ping-pong) khi luân chuyển và chờ quản lý phê duyệt.</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extLst>
                  <a:ext uri="{0D108BD9-81ED-4DB2-BD59-A6C34878D82A}">
                    <a16:rowId xmlns:a16="http://schemas.microsoft.com/office/drawing/2014/main" val="10001"/>
                  </a:ext>
                </a:extLst>
              </a:tr>
              <a:tr h="475488">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Tỷ lệ PYC bị trả về bổ sung (rework)</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20% – 50%</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Người dùng chọn sai danh mục dịch vụ trên cổng thông tin hoặc mô tả không đủ dữ liệu kỹ thuật.</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extLst>
                  <a:ext uri="{0D108BD9-81ED-4DB2-BD59-A6C34878D82A}">
                    <a16:rowId xmlns:a16="http://schemas.microsoft.com/office/drawing/2014/main" val="10002"/>
                  </a:ext>
                </a:extLst>
              </a:tr>
              <a:tr h="475488">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Lãng phí nguồn lực Helpdesk</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hàng chục giờ / tuần</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Thời gian NVA dành cho gọi điện, trao đổi email để xác minh lại thông tin bị thiếu từ phía người dùng nội bộ.</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65760"/>
            <a:ext cx="123444" cy="123444"/>
          </a:xfrm>
          <a:prstGeom prst="ellipse">
            <a:avLst/>
          </a:prstGeom>
          <a:solidFill>
            <a:srgbClr val="D9A227"/>
          </a:solidFill>
          <a:ln w="12700">
            <a:solidFill>
              <a:srgbClr val="D9A227"/>
            </a:solidFill>
            <a:prstDash val="solid"/>
          </a:ln>
        </p:spPr>
        <p:txBody>
          <a:bodyPr/>
          <a:lstStyle/>
          <a:p>
            <a:endParaRPr lang="en-US"/>
          </a:p>
        </p:txBody>
      </p:sp>
      <p:sp>
        <p:nvSpPr>
          <p:cNvPr id="3" name="Text 1"/>
          <p:cNvSpPr txBox="1"/>
          <p:nvPr/>
        </p:nvSpPr>
        <p:spPr>
          <a:xfrm>
            <a:off x="804672" y="292608"/>
            <a:ext cx="10838383" cy="237744"/>
          </a:xfrm>
          <a:prstGeom prst="rect">
            <a:avLst/>
          </a:prstGeom>
          <a:noFill/>
          <a:ln/>
        </p:spPr>
        <p:txBody>
          <a:bodyPr wrap="square" lIns="0" tIns="0" rIns="0" bIns="0" rtlCol="0" anchor="t"/>
          <a:lstStyle/>
          <a:p>
            <a:pPr marL="0" indent="0">
              <a:buNone/>
            </a:pPr>
            <a:r>
              <a:rPr lang="en-US" sz="1050" b="1" kern="0" spc="120" dirty="0">
                <a:solidFill>
                  <a:srgbClr val="A5741A"/>
                </a:solidFill>
                <a:latin typeface="Calibri" pitchFamily="34" charset="0"/>
                <a:ea typeface="Calibri" pitchFamily="34" charset="-122"/>
                <a:cs typeface="Calibri" pitchFamily="34" charset="-120"/>
              </a:rPr>
              <a:t>CHƯƠNG 4 · 4.3.1 PHÂN TÍCH ĐỊNH LƯỢNG</a:t>
            </a:r>
            <a:endParaRPr lang="en-US" sz="1050" dirty="0"/>
          </a:p>
        </p:txBody>
      </p:sp>
      <p:sp>
        <p:nvSpPr>
          <p:cNvPr id="4" name="Text 2"/>
          <p:cNvSpPr txBox="1"/>
          <p:nvPr/>
        </p:nvSpPr>
        <p:spPr>
          <a:xfrm>
            <a:off x="548640" y="566928"/>
            <a:ext cx="11094415" cy="457200"/>
          </a:xfrm>
          <a:prstGeom prst="rect">
            <a:avLst/>
          </a:prstGeom>
          <a:noFill/>
          <a:ln/>
        </p:spPr>
        <p:txBody>
          <a:bodyPr wrap="square" lIns="0" tIns="0" rIns="0" bIns="0" rtlCol="0" anchor="t"/>
          <a:lstStyle/>
          <a:p>
            <a:pPr marL="0" indent="0">
              <a:buNone/>
            </a:pPr>
            <a:r>
              <a:rPr lang="en-US" sz="2500" b="1" dirty="0">
                <a:solidFill>
                  <a:srgbClr val="0B3B75"/>
                </a:solidFill>
                <a:latin typeface="Calibri" pitchFamily="34" charset="0"/>
                <a:ea typeface="Calibri" pitchFamily="34" charset="-122"/>
                <a:cs typeface="Calibri" pitchFamily="34" charset="-120"/>
              </a:rPr>
              <a:t>BẢNG THỜI GIAN XỬ LÝ VÀ THỜI GIAN CHỜ THEO TỪNG KHỐI</a:t>
            </a:r>
            <a:endParaRPr lang="en-US" sz="2500" dirty="0"/>
          </a:p>
        </p:txBody>
      </p:sp>
      <p:sp>
        <p:nvSpPr>
          <p:cNvPr id="5" name="Text 3"/>
          <p:cNvSpPr txBox="1"/>
          <p:nvPr/>
        </p:nvSpPr>
        <p:spPr>
          <a:xfrm>
            <a:off x="548640" y="1024128"/>
            <a:ext cx="11094415" cy="274320"/>
          </a:xfrm>
          <a:prstGeom prst="rect">
            <a:avLst/>
          </a:prstGeom>
          <a:noFill/>
          <a:ln/>
        </p:spPr>
        <p:txBody>
          <a:bodyPr wrap="square" lIns="0" tIns="0" rIns="0" bIns="0" rtlCol="0" anchor="t"/>
          <a:lstStyle/>
          <a:p>
            <a:pPr marL="0" indent="0">
              <a:buNone/>
            </a:pPr>
            <a:r>
              <a:rPr lang="en-US" sz="1100" i="1" dirty="0">
                <a:solidFill>
                  <a:srgbClr val="6E7A88"/>
                </a:solidFill>
                <a:latin typeface="Calibri" pitchFamily="34" charset="0"/>
                <a:ea typeface="Calibri" pitchFamily="34" charset="-122"/>
                <a:cs typeface="Calibri" pitchFamily="34" charset="-120"/>
              </a:rPr>
              <a:t>Bảng 4.4 — Processing Time và Waiting Time của quy trình PYC (AS-IS)</a:t>
            </a:r>
            <a:endParaRPr lang="en-US" sz="1100" dirty="0"/>
          </a:p>
        </p:txBody>
      </p:sp>
      <p:sp>
        <p:nvSpPr>
          <p:cNvPr id="6" name="Text 4"/>
          <p:cNvSpPr txBox="1"/>
          <p:nvPr/>
        </p:nvSpPr>
        <p:spPr>
          <a:xfrm>
            <a:off x="548640" y="6419088"/>
            <a:ext cx="8778240" cy="237744"/>
          </a:xfrm>
          <a:prstGeom prst="rect">
            <a:avLst/>
          </a:prstGeom>
          <a:noFill/>
          <a:ln/>
        </p:spPr>
        <p:txBody>
          <a:bodyPr wrap="square" lIns="0" tIns="0" rIns="0" bIns="0" rtlCol="0" anchor="t"/>
          <a:lstStyle/>
          <a:p>
            <a:pPr marL="0" indent="0">
              <a:buNone/>
            </a:pPr>
            <a:r>
              <a:rPr lang="en-US" sz="850" dirty="0">
                <a:solidFill>
                  <a:srgbClr val="6E7A88"/>
                </a:solidFill>
                <a:latin typeface="Calibri" pitchFamily="34" charset="0"/>
                <a:ea typeface="Calibri" pitchFamily="34" charset="-122"/>
                <a:cs typeface="Calibri" pitchFamily="34" charset="-120"/>
              </a:rPr>
              <a:t>HỆ THỐNG QUẢN TRỊ QUY TRÌNH NGHIỆP VỤ  ·  SACOMBANK — QUY TRÌNH PYC</a:t>
            </a:r>
            <a:endParaRPr lang="en-US" sz="850" dirty="0"/>
          </a:p>
        </p:txBody>
      </p:sp>
      <p:sp>
        <p:nvSpPr>
          <p:cNvPr id="7" name="Text 5"/>
          <p:cNvSpPr txBox="1"/>
          <p:nvPr/>
        </p:nvSpPr>
        <p:spPr>
          <a:xfrm>
            <a:off x="11155680" y="6382512"/>
            <a:ext cx="484632" cy="274320"/>
          </a:xfrm>
          <a:prstGeom prst="rect">
            <a:avLst/>
          </a:prstGeom>
          <a:noFill/>
          <a:ln/>
        </p:spPr>
        <p:txBody>
          <a:bodyPr wrap="square" lIns="0" tIns="0" rIns="0" bIns="0" rtlCol="0" anchor="t"/>
          <a:lstStyle/>
          <a:p>
            <a:pPr marL="0" indent="0" algn="r">
              <a:buNone/>
            </a:pPr>
            <a:r>
              <a:rPr lang="en-US" sz="1100" b="1" dirty="0">
                <a:solidFill>
                  <a:srgbClr val="A5741A"/>
                </a:solidFill>
                <a:latin typeface="Calibri" pitchFamily="34" charset="0"/>
                <a:ea typeface="Calibri" pitchFamily="34" charset="-122"/>
                <a:cs typeface="Calibri" pitchFamily="34" charset="-120"/>
              </a:rPr>
              <a:t>42</a:t>
            </a:r>
            <a:endParaRPr lang="en-US" sz="1100" dirty="0"/>
          </a:p>
        </p:txBody>
      </p:sp>
      <p:graphicFrame>
        <p:nvGraphicFramePr>
          <p:cNvPr id="34" name="Table 0"/>
          <p:cNvGraphicFramePr>
            <a:graphicFrameLocks noGrp="1"/>
          </p:cNvGraphicFramePr>
          <p:nvPr>
            <p:extLst>
              <p:ext uri="{D42A27DB-BD31-4B8C-83A1-F6EECF244321}">
                <p14:modId xmlns:p14="http://schemas.microsoft.com/office/powerpoint/2010/main" val="2600436834"/>
              </p:ext>
            </p:extLst>
          </p:nvPr>
        </p:nvGraphicFramePr>
        <p:xfrm>
          <a:off x="548640" y="1517904"/>
          <a:ext cx="11091672" cy="3346704"/>
        </p:xfrm>
        <a:graphic>
          <a:graphicData uri="http://schemas.openxmlformats.org/drawingml/2006/table">
            <a:tbl>
              <a:tblPr/>
              <a:tblGrid>
                <a:gridCol w="1554480">
                  <a:extLst>
                    <a:ext uri="{9D8B030D-6E8A-4147-A177-3AD203B41FA5}">
                      <a16:colId xmlns:a16="http://schemas.microsoft.com/office/drawing/2014/main" val="20000"/>
                    </a:ext>
                  </a:extLst>
                </a:gridCol>
                <a:gridCol w="4480560">
                  <a:extLst>
                    <a:ext uri="{9D8B030D-6E8A-4147-A177-3AD203B41FA5}">
                      <a16:colId xmlns:a16="http://schemas.microsoft.com/office/drawing/2014/main" val="20001"/>
                    </a:ext>
                  </a:extLst>
                </a:gridCol>
                <a:gridCol w="2130552">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gridCol w="1463040">
                  <a:extLst>
                    <a:ext uri="{9D8B030D-6E8A-4147-A177-3AD203B41FA5}">
                      <a16:colId xmlns:a16="http://schemas.microsoft.com/office/drawing/2014/main" val="20004"/>
                    </a:ext>
                  </a:extLst>
                </a:gridCol>
              </a:tblGrid>
              <a:tr h="384048">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KHỐI CÔNG VIỆC</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0B3B75"/>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HOẠT ĐỘNG / ĐIỂM CHỜ</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0B3B75"/>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ĐỐI TƯỢNG</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0B3B75"/>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PT (giờ)</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0B3B75"/>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WT (giờ)</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0B3B75"/>
                    </a:solidFill>
                  </a:tcPr>
                </a:tc>
                <a:extLst>
                  <a:ext uri="{0D108BD9-81ED-4DB2-BD59-A6C34878D82A}">
                    <a16:rowId xmlns:a16="http://schemas.microsoft.com/office/drawing/2014/main" val="10000"/>
                  </a:ext>
                </a:extLst>
              </a:tr>
              <a:tr h="329184">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Khối 1 · Khởi tạo</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Đăng nhập, chọn dịch vụ, điền biểu mẫu và đính kèm tài liệu</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End-user</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lgn="ctr">
                        <a:buNone/>
                      </a:pPr>
                      <a:r>
                        <a:rPr lang="en-US" sz="850" b="1" dirty="0">
                          <a:solidFill>
                            <a:srgbClr val="2A3442"/>
                          </a:solidFill>
                          <a:latin typeface="Calibri" pitchFamily="34" charset="0"/>
                          <a:ea typeface="Calibri" pitchFamily="34" charset="-122"/>
                          <a:cs typeface="Calibri" pitchFamily="34" charset="-120"/>
                        </a:rPr>
                        <a:t>0,50</a:t>
                      </a:r>
                      <a:endParaRPr lang="en-US" sz="850" b="1"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lgn="ctr">
                        <a:buNone/>
                      </a:pPr>
                      <a:r>
                        <a:rPr lang="en-US" sz="850" b="1" dirty="0">
                          <a:solidFill>
                            <a:srgbClr val="2A3442"/>
                          </a:solidFill>
                          <a:latin typeface="Calibri" pitchFamily="34" charset="0"/>
                          <a:ea typeface="Calibri" pitchFamily="34" charset="-122"/>
                          <a:cs typeface="Calibri" pitchFamily="34" charset="-120"/>
                        </a:rPr>
                        <a:t>–</a:t>
                      </a:r>
                      <a:endParaRPr lang="en-US" sz="850" b="1"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extLst>
                  <a:ext uri="{0D108BD9-81ED-4DB2-BD59-A6C34878D82A}">
                    <a16:rowId xmlns:a16="http://schemas.microsoft.com/office/drawing/2014/main" val="10001"/>
                  </a:ext>
                </a:extLst>
              </a:tr>
              <a:tr h="329184">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Khối 1 · Phê duyệt</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Xem xét và phê duyệt PYC thuộc nhóm quyền rủi ro cao</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Quản lý trực tiếp</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lgn="ctr">
                        <a:buNone/>
                      </a:pPr>
                      <a:r>
                        <a:rPr lang="en-US" sz="850" b="1" dirty="0">
                          <a:solidFill>
                            <a:srgbClr val="2A3442"/>
                          </a:solidFill>
                          <a:latin typeface="Calibri" pitchFamily="34" charset="0"/>
                          <a:ea typeface="Calibri" pitchFamily="34" charset="-122"/>
                          <a:cs typeface="Calibri" pitchFamily="34" charset="-120"/>
                        </a:rPr>
                        <a:t>2,00</a:t>
                      </a:r>
                      <a:endParaRPr lang="en-US" sz="850" b="1"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lgn="ctr">
                        <a:buNone/>
                      </a:pPr>
                      <a:r>
                        <a:rPr lang="en-US" sz="850" b="1" dirty="0">
                          <a:solidFill>
                            <a:srgbClr val="2A3442"/>
                          </a:solidFill>
                          <a:latin typeface="Calibri" pitchFamily="34" charset="0"/>
                          <a:ea typeface="Calibri" pitchFamily="34" charset="-122"/>
                          <a:cs typeface="Calibri" pitchFamily="34" charset="-120"/>
                        </a:rPr>
                        <a:t>5,00</a:t>
                      </a:r>
                      <a:endParaRPr lang="en-US" sz="850" b="1"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extLst>
                  <a:ext uri="{0D108BD9-81ED-4DB2-BD59-A6C34878D82A}">
                    <a16:rowId xmlns:a16="http://schemas.microsoft.com/office/drawing/2014/main" val="10002"/>
                  </a:ext>
                </a:extLst>
              </a:tr>
              <a:tr h="329184">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Khối 2</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noFill/>
                  </a:tcPr>
                </a:tc>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Sinh Work Order và gán nhóm xử lý theo Category</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noFill/>
                  </a:tcPr>
                </a:tc>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Hệ thống ITSM</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noFill/>
                  </a:tcPr>
                </a:tc>
                <a:tc>
                  <a:txBody>
                    <a:bodyPr/>
                    <a:lstStyle/>
                    <a:p>
                      <a:pPr marL="0" indent="0" algn="ctr">
                        <a:buNone/>
                      </a:pPr>
                      <a:r>
                        <a:rPr lang="en-US" sz="850" b="1" dirty="0">
                          <a:solidFill>
                            <a:srgbClr val="2A3442"/>
                          </a:solidFill>
                          <a:latin typeface="Calibri" pitchFamily="34" charset="0"/>
                          <a:ea typeface="Calibri" pitchFamily="34" charset="-122"/>
                          <a:cs typeface="Calibri" pitchFamily="34" charset="-120"/>
                        </a:rPr>
                        <a:t>0,00</a:t>
                      </a:r>
                      <a:endParaRPr lang="en-US" sz="850" b="1"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noFill/>
                  </a:tcPr>
                </a:tc>
                <a:tc>
                  <a:txBody>
                    <a:bodyPr/>
                    <a:lstStyle/>
                    <a:p>
                      <a:pPr marL="0" indent="0" algn="ctr">
                        <a:buNone/>
                      </a:pPr>
                      <a:r>
                        <a:rPr lang="en-US" sz="850" b="1" dirty="0">
                          <a:solidFill>
                            <a:srgbClr val="2A3442"/>
                          </a:solidFill>
                          <a:latin typeface="Calibri" pitchFamily="34" charset="0"/>
                          <a:ea typeface="Calibri" pitchFamily="34" charset="-122"/>
                          <a:cs typeface="Calibri" pitchFamily="34" charset="-120"/>
                        </a:rPr>
                        <a:t>0,50</a:t>
                      </a:r>
                      <a:endParaRPr lang="en-US" sz="850" b="1"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noFill/>
                  </a:tcPr>
                </a:tc>
                <a:extLst>
                  <a:ext uri="{0D108BD9-81ED-4DB2-BD59-A6C34878D82A}">
                    <a16:rowId xmlns:a16="http://schemas.microsoft.com/office/drawing/2014/main" val="10004"/>
                  </a:ext>
                </a:extLst>
              </a:tr>
              <a:tr h="329184">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Khối 2</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Tiếp nhận, xác minh và phân loại Work Order</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Service Desk L1</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lgn="ctr">
                        <a:buNone/>
                      </a:pPr>
                      <a:r>
                        <a:rPr lang="en-US" sz="850" b="1" dirty="0">
                          <a:solidFill>
                            <a:srgbClr val="2A3442"/>
                          </a:solidFill>
                          <a:latin typeface="Calibri" pitchFamily="34" charset="0"/>
                          <a:ea typeface="Calibri" pitchFamily="34" charset="-122"/>
                          <a:cs typeface="Calibri" pitchFamily="34" charset="-120"/>
                        </a:rPr>
                        <a:t>0,50</a:t>
                      </a:r>
                      <a:endParaRPr lang="en-US" sz="850" b="1"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lgn="ctr">
                        <a:buNone/>
                      </a:pPr>
                      <a:r>
                        <a:rPr lang="en-US" sz="850" b="1" dirty="0">
                          <a:solidFill>
                            <a:srgbClr val="2A3442"/>
                          </a:solidFill>
                          <a:latin typeface="Calibri" pitchFamily="34" charset="0"/>
                          <a:ea typeface="Calibri" pitchFamily="34" charset="-122"/>
                          <a:cs typeface="Calibri" pitchFamily="34" charset="-120"/>
                        </a:rPr>
                        <a:t>–</a:t>
                      </a:r>
                      <a:endParaRPr lang="en-US" sz="850" b="1"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extLst>
                  <a:ext uri="{0D108BD9-81ED-4DB2-BD59-A6C34878D82A}">
                    <a16:rowId xmlns:a16="http://schemas.microsoft.com/office/drawing/2014/main" val="10005"/>
                  </a:ext>
                </a:extLst>
              </a:tr>
              <a:tr h="32918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50" kern="1200" dirty="0" err="1">
                          <a:solidFill>
                            <a:srgbClr val="2A3442"/>
                          </a:solidFill>
                          <a:latin typeface="Calibri" pitchFamily="34" charset="0"/>
                          <a:ea typeface="Calibri" pitchFamily="34" charset="-122"/>
                          <a:cs typeface="Calibri" pitchFamily="34" charset="-120"/>
                        </a:rPr>
                        <a:t>Khối</a:t>
                      </a:r>
                      <a:r>
                        <a:rPr lang="en-US" sz="850" kern="1200" dirty="0">
                          <a:solidFill>
                            <a:srgbClr val="2A3442"/>
                          </a:solidFill>
                          <a:latin typeface="Calibri" pitchFamily="34" charset="0"/>
                          <a:ea typeface="Calibri" pitchFamily="34" charset="-122"/>
                          <a:cs typeface="Calibri" pitchFamily="34" charset="-120"/>
                        </a:rPr>
                        <a:t> 2</a:t>
                      </a: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lgn="l" defTabSz="914400" rtl="0" eaLnBrk="1" fontAlgn="t" latinLnBrk="0" hangingPunct="1">
                        <a:lnSpc>
                          <a:spcPct val="119048"/>
                        </a:lnSpc>
                        <a:buNone/>
                      </a:pPr>
                      <a:r>
                        <a:rPr lang="en-US" sz="850" kern="1200" dirty="0" err="1">
                          <a:solidFill>
                            <a:srgbClr val="2A3442"/>
                          </a:solidFill>
                          <a:latin typeface="Calibri" pitchFamily="34" charset="0"/>
                          <a:ea typeface="Calibri" pitchFamily="34" charset="-122"/>
                          <a:cs typeface="Calibri" pitchFamily="34" charset="-120"/>
                        </a:rPr>
                        <a:t>Gán</a:t>
                      </a:r>
                      <a:r>
                        <a:rPr lang="en-US" sz="850" kern="1200" dirty="0">
                          <a:solidFill>
                            <a:srgbClr val="2A3442"/>
                          </a:solidFill>
                          <a:latin typeface="Calibri" pitchFamily="34" charset="0"/>
                          <a:ea typeface="Calibri" pitchFamily="34" charset="-122"/>
                          <a:cs typeface="Calibri" pitchFamily="34" charset="-120"/>
                        </a:rPr>
                        <a:t> Work Order </a:t>
                      </a:r>
                      <a:r>
                        <a:rPr lang="en-US" sz="850" kern="1200" dirty="0" err="1">
                          <a:solidFill>
                            <a:srgbClr val="2A3442"/>
                          </a:solidFill>
                          <a:latin typeface="Calibri" pitchFamily="34" charset="0"/>
                          <a:ea typeface="Calibri" pitchFamily="34" charset="-122"/>
                          <a:cs typeface="Calibri" pitchFamily="34" charset="-120"/>
                        </a:rPr>
                        <a:t>cho</a:t>
                      </a:r>
                      <a:r>
                        <a:rPr lang="en-US" sz="850" kern="1200" dirty="0">
                          <a:solidFill>
                            <a:srgbClr val="2A3442"/>
                          </a:solidFill>
                          <a:latin typeface="Calibri" pitchFamily="34" charset="0"/>
                          <a:ea typeface="Calibri" pitchFamily="34" charset="-122"/>
                          <a:cs typeface="Calibri" pitchFamily="34" charset="-120"/>
                        </a:rPr>
                        <a:t> </a:t>
                      </a:r>
                      <a:r>
                        <a:rPr lang="en-US" sz="850" kern="1200" dirty="0" err="1">
                          <a:solidFill>
                            <a:srgbClr val="2A3442"/>
                          </a:solidFill>
                          <a:latin typeface="Calibri" pitchFamily="34" charset="0"/>
                          <a:ea typeface="Calibri" pitchFamily="34" charset="-122"/>
                          <a:cs typeface="Calibri" pitchFamily="34" charset="-120"/>
                        </a:rPr>
                        <a:t>nhóm</a:t>
                      </a:r>
                      <a:r>
                        <a:rPr lang="en-US" sz="850" kern="1200" dirty="0">
                          <a:solidFill>
                            <a:srgbClr val="2A3442"/>
                          </a:solidFill>
                          <a:latin typeface="Calibri" pitchFamily="34" charset="0"/>
                          <a:ea typeface="Calibri" pitchFamily="34" charset="-122"/>
                          <a:cs typeface="Calibri" pitchFamily="34" charset="-120"/>
                        </a:rPr>
                        <a:t> </a:t>
                      </a:r>
                      <a:r>
                        <a:rPr lang="en-US" sz="850" kern="1200" dirty="0" err="1">
                          <a:solidFill>
                            <a:srgbClr val="2A3442"/>
                          </a:solidFill>
                          <a:latin typeface="Calibri" pitchFamily="34" charset="0"/>
                          <a:ea typeface="Calibri" pitchFamily="34" charset="-122"/>
                          <a:cs typeface="Calibri" pitchFamily="34" charset="-120"/>
                        </a:rPr>
                        <a:t>xử</a:t>
                      </a:r>
                      <a:r>
                        <a:rPr lang="en-US" sz="850" kern="1200" dirty="0">
                          <a:solidFill>
                            <a:srgbClr val="2A3442"/>
                          </a:solidFill>
                          <a:latin typeface="Calibri" pitchFamily="34" charset="0"/>
                          <a:ea typeface="Calibri" pitchFamily="34" charset="-122"/>
                          <a:cs typeface="Calibri" pitchFamily="34" charset="-120"/>
                        </a:rPr>
                        <a:t> </a:t>
                      </a:r>
                      <a:r>
                        <a:rPr lang="en-US" sz="850" kern="1200" dirty="0" err="1">
                          <a:solidFill>
                            <a:srgbClr val="2A3442"/>
                          </a:solidFill>
                          <a:latin typeface="Calibri" pitchFamily="34" charset="0"/>
                          <a:ea typeface="Calibri" pitchFamily="34" charset="-122"/>
                          <a:cs typeface="Calibri" pitchFamily="34" charset="-120"/>
                        </a:rPr>
                        <a:t>lý</a:t>
                      </a:r>
                      <a:r>
                        <a:rPr lang="en-US" sz="850" kern="1200" dirty="0">
                          <a:solidFill>
                            <a:srgbClr val="2A3442"/>
                          </a:solidFill>
                          <a:latin typeface="Calibri" pitchFamily="34" charset="0"/>
                          <a:ea typeface="Calibri" pitchFamily="34" charset="-122"/>
                          <a:cs typeface="Calibri" pitchFamily="34" charset="-120"/>
                        </a:rPr>
                        <a:t> </a:t>
                      </a:r>
                      <a:r>
                        <a:rPr lang="en-US" sz="850" kern="1200" dirty="0" err="1">
                          <a:solidFill>
                            <a:srgbClr val="2A3442"/>
                          </a:solidFill>
                          <a:latin typeface="Calibri" pitchFamily="34" charset="0"/>
                          <a:ea typeface="Calibri" pitchFamily="34" charset="-122"/>
                          <a:cs typeface="Calibri" pitchFamily="34" charset="-120"/>
                        </a:rPr>
                        <a:t>phù</a:t>
                      </a:r>
                      <a:r>
                        <a:rPr lang="en-US" sz="850" kern="1200" dirty="0">
                          <a:solidFill>
                            <a:srgbClr val="2A3442"/>
                          </a:solidFill>
                          <a:latin typeface="Calibri" pitchFamily="34" charset="0"/>
                          <a:ea typeface="Calibri" pitchFamily="34" charset="-122"/>
                          <a:cs typeface="Calibri" pitchFamily="34" charset="-120"/>
                        </a:rPr>
                        <a:t> </a:t>
                      </a:r>
                      <a:r>
                        <a:rPr lang="en-US" sz="850" kern="1200" dirty="0" err="1">
                          <a:solidFill>
                            <a:srgbClr val="2A3442"/>
                          </a:solidFill>
                          <a:latin typeface="Calibri" pitchFamily="34" charset="0"/>
                          <a:ea typeface="Calibri" pitchFamily="34" charset="-122"/>
                          <a:cs typeface="Calibri" pitchFamily="34" charset="-120"/>
                        </a:rPr>
                        <a:t>hợp</a:t>
                      </a:r>
                      <a:endParaRPr lang="en-US" sz="850" kern="1200" dirty="0">
                        <a:solidFill>
                          <a:srgbClr val="2A3442"/>
                        </a:solidFill>
                        <a:latin typeface="Calibri" pitchFamily="34" charset="0"/>
                        <a:ea typeface="Calibri" pitchFamily="34" charset="-122"/>
                        <a:cs typeface="Calibri" pitchFamily="34" charset="-12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50" dirty="0">
                          <a:solidFill>
                            <a:srgbClr val="2A3442"/>
                          </a:solidFill>
                          <a:latin typeface="Calibri" pitchFamily="34" charset="0"/>
                          <a:ea typeface="Calibri" pitchFamily="34" charset="-122"/>
                          <a:cs typeface="Calibri" pitchFamily="34" charset="-120"/>
                        </a:rPr>
                        <a:t>Service Desk L1</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lgn="ctr">
                        <a:buNone/>
                      </a:pPr>
                      <a:r>
                        <a:rPr lang="en-US" sz="850" b="1" dirty="0">
                          <a:latin typeface="Calibri" charset="0"/>
                          <a:ea typeface="Calibri" charset="0"/>
                          <a:cs typeface="Calibri" charset="0"/>
                        </a:rPr>
                        <a:t>0.08</a:t>
                      </a: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lgn="ctr">
                        <a:buNone/>
                      </a:pPr>
                      <a:r>
                        <a:rPr lang="en-US" sz="850" b="1" dirty="0">
                          <a:latin typeface="Calibri" charset="0"/>
                          <a:ea typeface="Calibri" charset="0"/>
                          <a:cs typeface="Calibri" charset="0"/>
                        </a:rPr>
                        <a:t>0.5</a:t>
                      </a: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extLst>
                  <a:ext uri="{0D108BD9-81ED-4DB2-BD59-A6C34878D82A}">
                    <a16:rowId xmlns:a16="http://schemas.microsoft.com/office/drawing/2014/main" val="397898783"/>
                  </a:ext>
                </a:extLst>
              </a:tr>
              <a:tr h="329184">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Khối 3</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850" dirty="0" err="1">
                          <a:solidFill>
                            <a:srgbClr val="2A3442"/>
                          </a:solidFill>
                          <a:latin typeface="Calibri" pitchFamily="34" charset="0"/>
                          <a:ea typeface="Calibri" pitchFamily="34" charset="-122"/>
                          <a:cs typeface="Calibri" pitchFamily="34" charset="-120"/>
                        </a:rPr>
                        <a:t>Xử</a:t>
                      </a:r>
                      <a:r>
                        <a:rPr lang="en-US" sz="850" dirty="0">
                          <a:solidFill>
                            <a:srgbClr val="2A3442"/>
                          </a:solidFill>
                          <a:latin typeface="Calibri" pitchFamily="34" charset="0"/>
                          <a:ea typeface="Calibri" pitchFamily="34" charset="-122"/>
                          <a:cs typeface="Calibri" pitchFamily="34" charset="-120"/>
                        </a:rPr>
                        <a:t> </a:t>
                      </a:r>
                      <a:r>
                        <a:rPr lang="en-US" sz="850" dirty="0" err="1">
                          <a:solidFill>
                            <a:srgbClr val="2A3442"/>
                          </a:solidFill>
                          <a:latin typeface="Calibri" pitchFamily="34" charset="0"/>
                          <a:ea typeface="Calibri" pitchFamily="34" charset="-122"/>
                          <a:cs typeface="Calibri" pitchFamily="34" charset="-120"/>
                        </a:rPr>
                        <a:t>lý</a:t>
                      </a:r>
                      <a:r>
                        <a:rPr lang="en-US" sz="850" dirty="0">
                          <a:solidFill>
                            <a:srgbClr val="2A3442"/>
                          </a:solidFill>
                          <a:latin typeface="Calibri" pitchFamily="34" charset="0"/>
                          <a:ea typeface="Calibri" pitchFamily="34" charset="-122"/>
                          <a:cs typeface="Calibri" pitchFamily="34" charset="-120"/>
                        </a:rPr>
                        <a:t> </a:t>
                      </a:r>
                      <a:r>
                        <a:rPr lang="en-US" sz="850" dirty="0" err="1">
                          <a:solidFill>
                            <a:srgbClr val="2A3442"/>
                          </a:solidFill>
                          <a:latin typeface="Calibri" pitchFamily="34" charset="0"/>
                          <a:ea typeface="Calibri" pitchFamily="34" charset="-122"/>
                          <a:cs typeface="Calibri" pitchFamily="34" charset="-120"/>
                        </a:rPr>
                        <a:t>trực</a:t>
                      </a:r>
                      <a:r>
                        <a:rPr lang="en-US" sz="850" dirty="0">
                          <a:solidFill>
                            <a:srgbClr val="2A3442"/>
                          </a:solidFill>
                          <a:latin typeface="Calibri" pitchFamily="34" charset="0"/>
                          <a:ea typeface="Calibri" pitchFamily="34" charset="-122"/>
                          <a:cs typeface="Calibri" pitchFamily="34" charset="-120"/>
                        </a:rPr>
                        <a:t> </a:t>
                      </a:r>
                      <a:r>
                        <a:rPr lang="en-US" sz="850" dirty="0" err="1">
                          <a:solidFill>
                            <a:srgbClr val="2A3442"/>
                          </a:solidFill>
                          <a:latin typeface="Calibri" pitchFamily="34" charset="0"/>
                          <a:ea typeface="Calibri" pitchFamily="34" charset="-122"/>
                          <a:cs typeface="Calibri" pitchFamily="34" charset="-120"/>
                        </a:rPr>
                        <a:t>tiếp</a:t>
                      </a:r>
                      <a:r>
                        <a:rPr lang="en-US" sz="850" dirty="0">
                          <a:solidFill>
                            <a:srgbClr val="2A3442"/>
                          </a:solidFill>
                          <a:latin typeface="Calibri" pitchFamily="34" charset="0"/>
                          <a:ea typeface="Calibri" pitchFamily="34" charset="-122"/>
                          <a:cs typeface="Calibri" pitchFamily="34" charset="-120"/>
                        </a:rPr>
                        <a:t> (</a:t>
                      </a:r>
                      <a:r>
                        <a:rPr lang="en-US" sz="850" dirty="0" err="1">
                          <a:solidFill>
                            <a:srgbClr val="2A3442"/>
                          </a:solidFill>
                          <a:latin typeface="Calibri" pitchFamily="34" charset="0"/>
                          <a:ea typeface="Calibri" pitchFamily="34" charset="-122"/>
                          <a:cs typeface="Calibri" pitchFamily="34" charset="-120"/>
                        </a:rPr>
                        <a:t>trong</a:t>
                      </a:r>
                      <a:r>
                        <a:rPr lang="en-US" sz="850" dirty="0">
                          <a:solidFill>
                            <a:srgbClr val="2A3442"/>
                          </a:solidFill>
                          <a:latin typeface="Calibri" pitchFamily="34" charset="0"/>
                          <a:ea typeface="Calibri" pitchFamily="34" charset="-122"/>
                          <a:cs typeface="Calibri" pitchFamily="34" charset="-120"/>
                        </a:rPr>
                        <a:t> </a:t>
                      </a:r>
                      <a:r>
                        <a:rPr lang="en-US" sz="850" dirty="0" err="1">
                          <a:solidFill>
                            <a:srgbClr val="2A3442"/>
                          </a:solidFill>
                          <a:latin typeface="Calibri" pitchFamily="34" charset="0"/>
                          <a:ea typeface="Calibri" pitchFamily="34" charset="-122"/>
                          <a:cs typeface="Calibri" pitchFamily="34" charset="-120"/>
                        </a:rPr>
                        <a:t>phạm</a:t>
                      </a:r>
                      <a:r>
                        <a:rPr lang="en-US" sz="850" dirty="0">
                          <a:solidFill>
                            <a:srgbClr val="2A3442"/>
                          </a:solidFill>
                          <a:latin typeface="Calibri" pitchFamily="34" charset="0"/>
                          <a:ea typeface="Calibri" pitchFamily="34" charset="-122"/>
                          <a:cs typeface="Calibri" pitchFamily="34" charset="-120"/>
                        </a:rPr>
                        <a:t> vi </a:t>
                      </a:r>
                      <a:r>
                        <a:rPr lang="en-US" sz="850" dirty="0" err="1">
                          <a:solidFill>
                            <a:srgbClr val="2A3442"/>
                          </a:solidFill>
                          <a:latin typeface="Calibri" pitchFamily="34" charset="0"/>
                          <a:ea typeface="Calibri" pitchFamily="34" charset="-122"/>
                          <a:cs typeface="Calibri" pitchFamily="34" charset="-120"/>
                        </a:rPr>
                        <a:t>của</a:t>
                      </a:r>
                      <a:r>
                        <a:rPr lang="en-US" sz="850" dirty="0">
                          <a:solidFill>
                            <a:srgbClr val="2A3442"/>
                          </a:solidFill>
                          <a:latin typeface="Calibri" pitchFamily="34" charset="0"/>
                          <a:ea typeface="Calibri" pitchFamily="34" charset="-122"/>
                          <a:cs typeface="Calibri" pitchFamily="34" charset="-120"/>
                        </a:rPr>
                        <a:t> L1)</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Service Desk L1</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lgn="ctr">
                        <a:buNone/>
                      </a:pPr>
                      <a:r>
                        <a:rPr lang="en-US" sz="850" b="1" dirty="0">
                          <a:solidFill>
                            <a:srgbClr val="2A3442"/>
                          </a:solidFill>
                          <a:latin typeface="Calibri" pitchFamily="34" charset="0"/>
                          <a:ea typeface="Calibri" pitchFamily="34" charset="-122"/>
                          <a:cs typeface="Calibri" pitchFamily="34" charset="-120"/>
                        </a:rPr>
                        <a:t>0.5</a:t>
                      </a:r>
                      <a:endParaRPr lang="en-US" sz="850" b="1"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lgn="ctr">
                        <a:buNone/>
                      </a:pPr>
                      <a:r>
                        <a:rPr lang="en-US" sz="850" b="1" dirty="0">
                          <a:solidFill>
                            <a:srgbClr val="2A3442"/>
                          </a:solidFill>
                          <a:latin typeface="Calibri" pitchFamily="34" charset="0"/>
                          <a:ea typeface="Calibri" pitchFamily="34" charset="-122"/>
                          <a:cs typeface="Calibri" pitchFamily="34" charset="-120"/>
                        </a:rPr>
                        <a:t>1,00</a:t>
                      </a:r>
                      <a:endParaRPr lang="en-US" sz="850" b="1"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extLst>
                  <a:ext uri="{0D108BD9-81ED-4DB2-BD59-A6C34878D82A}">
                    <a16:rowId xmlns:a16="http://schemas.microsoft.com/office/drawing/2014/main" val="480889355"/>
                  </a:ext>
                </a:extLst>
              </a:tr>
              <a:tr h="329184">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Khối 3</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noFill/>
                  </a:tcPr>
                </a:tc>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Service L2 </a:t>
                      </a:r>
                      <a:r>
                        <a:rPr lang="en-US" sz="850" dirty="0" err="1">
                          <a:solidFill>
                            <a:srgbClr val="2A3442"/>
                          </a:solidFill>
                          <a:latin typeface="Calibri" pitchFamily="34" charset="0"/>
                          <a:ea typeface="Calibri" pitchFamily="34" charset="-122"/>
                          <a:cs typeface="Calibri" pitchFamily="34" charset="-120"/>
                        </a:rPr>
                        <a:t>xử</a:t>
                      </a:r>
                      <a:r>
                        <a:rPr lang="en-US" sz="850" dirty="0">
                          <a:solidFill>
                            <a:srgbClr val="2A3442"/>
                          </a:solidFill>
                          <a:latin typeface="Calibri" pitchFamily="34" charset="0"/>
                          <a:ea typeface="Calibri" pitchFamily="34" charset="-122"/>
                          <a:cs typeface="Calibri" pitchFamily="34" charset="-120"/>
                        </a:rPr>
                        <a:t> </a:t>
                      </a:r>
                      <a:r>
                        <a:rPr lang="en-US" sz="850" dirty="0" err="1">
                          <a:solidFill>
                            <a:srgbClr val="2A3442"/>
                          </a:solidFill>
                          <a:latin typeface="Calibri" pitchFamily="34" charset="0"/>
                          <a:ea typeface="Calibri" pitchFamily="34" charset="-122"/>
                          <a:cs typeface="Calibri" pitchFamily="34" charset="-120"/>
                        </a:rPr>
                        <a:t>lý</a:t>
                      </a:r>
                      <a:r>
                        <a:rPr lang="en-US" sz="850" dirty="0">
                          <a:solidFill>
                            <a:srgbClr val="2A3442"/>
                          </a:solidFill>
                          <a:latin typeface="Calibri" pitchFamily="34" charset="0"/>
                          <a:ea typeface="Calibri" pitchFamily="34" charset="-122"/>
                          <a:cs typeface="Calibri" pitchFamily="34" charset="-120"/>
                        </a:rPr>
                        <a:t> </a:t>
                      </a:r>
                      <a:r>
                        <a:rPr lang="en-US" sz="850" dirty="0" err="1">
                          <a:solidFill>
                            <a:srgbClr val="2A3442"/>
                          </a:solidFill>
                          <a:latin typeface="Calibri" pitchFamily="34" charset="0"/>
                          <a:ea typeface="Calibri" pitchFamily="34" charset="-122"/>
                          <a:cs typeface="Calibri" pitchFamily="34" charset="-120"/>
                        </a:rPr>
                        <a:t>kĩ</a:t>
                      </a:r>
                      <a:r>
                        <a:rPr lang="en-US" sz="850" dirty="0">
                          <a:solidFill>
                            <a:srgbClr val="2A3442"/>
                          </a:solidFill>
                          <a:latin typeface="Calibri" pitchFamily="34" charset="0"/>
                          <a:ea typeface="Calibri" pitchFamily="34" charset="-122"/>
                          <a:cs typeface="Calibri" pitchFamily="34" charset="-120"/>
                        </a:rPr>
                        <a:t> </a:t>
                      </a:r>
                      <a:r>
                        <a:rPr lang="en-US" sz="850" dirty="0" err="1">
                          <a:solidFill>
                            <a:srgbClr val="2A3442"/>
                          </a:solidFill>
                          <a:latin typeface="Calibri" pitchFamily="34" charset="0"/>
                          <a:ea typeface="Calibri" pitchFamily="34" charset="-122"/>
                          <a:cs typeface="Calibri" pitchFamily="34" charset="-120"/>
                        </a:rPr>
                        <a:t>thuật</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noFill/>
                  </a:tcPr>
                </a:tc>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Service Desk L2</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noFill/>
                  </a:tcPr>
                </a:tc>
                <a:tc>
                  <a:txBody>
                    <a:bodyPr/>
                    <a:lstStyle/>
                    <a:p>
                      <a:pPr marL="0" indent="0" algn="ctr">
                        <a:buNone/>
                      </a:pPr>
                      <a:r>
                        <a:rPr lang="en-US" sz="850" b="1" dirty="0">
                          <a:solidFill>
                            <a:srgbClr val="2A3442"/>
                          </a:solidFill>
                          <a:latin typeface="Calibri" pitchFamily="34" charset="0"/>
                          <a:ea typeface="Calibri" pitchFamily="34" charset="-122"/>
                          <a:cs typeface="Calibri" pitchFamily="34" charset="-120"/>
                        </a:rPr>
                        <a:t>1,50</a:t>
                      </a:r>
                      <a:endParaRPr lang="en-US" sz="850" b="1"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noFill/>
                  </a:tcPr>
                </a:tc>
                <a:tc>
                  <a:txBody>
                    <a:bodyPr/>
                    <a:lstStyle/>
                    <a:p>
                      <a:pPr marL="0" indent="0" algn="ctr">
                        <a:buNone/>
                      </a:pPr>
                      <a:r>
                        <a:rPr lang="en-US" sz="850" b="1" dirty="0">
                          <a:solidFill>
                            <a:srgbClr val="2A3442"/>
                          </a:solidFill>
                          <a:latin typeface="Calibri" pitchFamily="34" charset="0"/>
                          <a:ea typeface="Calibri" pitchFamily="34" charset="-122"/>
                          <a:cs typeface="Calibri" pitchFamily="34" charset="-120"/>
                        </a:rPr>
                        <a:t>1,00</a:t>
                      </a:r>
                      <a:endParaRPr lang="en-US" sz="850" b="1"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noFill/>
                  </a:tcPr>
                </a:tc>
                <a:extLst>
                  <a:ext uri="{0D108BD9-81ED-4DB2-BD59-A6C34878D82A}">
                    <a16:rowId xmlns:a16="http://schemas.microsoft.com/office/drawing/2014/main" val="10006"/>
                  </a:ext>
                </a:extLst>
              </a:tr>
              <a:tr h="329184">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Khối 3</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Ghi log bảo mật vào ITSM và SIEM (nhánh song song)</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Service Desk L1</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lgn="ctr">
                        <a:buNone/>
                      </a:pPr>
                      <a:r>
                        <a:rPr lang="en-US" sz="850" b="1" dirty="0">
                          <a:solidFill>
                            <a:srgbClr val="2A3442"/>
                          </a:solidFill>
                          <a:latin typeface="Calibri" pitchFamily="34" charset="0"/>
                          <a:ea typeface="Calibri" pitchFamily="34" charset="-122"/>
                          <a:cs typeface="Calibri" pitchFamily="34" charset="-120"/>
                        </a:rPr>
                        <a:t>0,50</a:t>
                      </a:r>
                      <a:endParaRPr lang="en-US" sz="850" b="1"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lgn="ctr">
                        <a:buNone/>
                      </a:pPr>
                      <a:r>
                        <a:rPr lang="en-US" sz="850" b="1" dirty="0">
                          <a:solidFill>
                            <a:srgbClr val="2A3442"/>
                          </a:solidFill>
                          <a:latin typeface="Calibri" pitchFamily="34" charset="0"/>
                          <a:ea typeface="Calibri" pitchFamily="34" charset="-122"/>
                          <a:cs typeface="Calibri" pitchFamily="34" charset="-120"/>
                        </a:rPr>
                        <a:t>–</a:t>
                      </a:r>
                      <a:endParaRPr lang="en-US" sz="850" b="1"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extLst>
                  <a:ext uri="{0D108BD9-81ED-4DB2-BD59-A6C34878D82A}">
                    <a16:rowId xmlns:a16="http://schemas.microsoft.com/office/drawing/2014/main" val="10007"/>
                  </a:ext>
                </a:extLst>
              </a:tr>
              <a:tr h="329184">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Khối 4</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noFill/>
                  </a:tcPr>
                </a:tc>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Cập nhật “Resolved” và chờ người dùng xác nhận</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noFill/>
                  </a:tcPr>
                </a:tc>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L1 / End-user</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noFill/>
                  </a:tcPr>
                </a:tc>
                <a:tc>
                  <a:txBody>
                    <a:bodyPr/>
                    <a:lstStyle/>
                    <a:p>
                      <a:pPr marL="0" indent="0" algn="ctr">
                        <a:buNone/>
                      </a:pPr>
                      <a:r>
                        <a:rPr lang="en-US" sz="850" b="1" dirty="0">
                          <a:solidFill>
                            <a:srgbClr val="2A3442"/>
                          </a:solidFill>
                          <a:latin typeface="Calibri" pitchFamily="34" charset="0"/>
                          <a:ea typeface="Calibri" pitchFamily="34" charset="-122"/>
                          <a:cs typeface="Calibri" pitchFamily="34" charset="-120"/>
                        </a:rPr>
                        <a:t>0.08</a:t>
                      </a:r>
                      <a:endParaRPr lang="en-US" sz="850" b="1"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noFill/>
                  </a:tcPr>
                </a:tc>
                <a:tc>
                  <a:txBody>
                    <a:bodyPr/>
                    <a:lstStyle/>
                    <a:p>
                      <a:pPr marL="0" indent="0" algn="ctr">
                        <a:buNone/>
                      </a:pPr>
                      <a:r>
                        <a:rPr lang="en-US" sz="850" b="1" dirty="0">
                          <a:solidFill>
                            <a:srgbClr val="2A3442"/>
                          </a:solidFill>
                          <a:latin typeface="Calibri" pitchFamily="34" charset="0"/>
                          <a:ea typeface="Calibri" pitchFamily="34" charset="-122"/>
                          <a:cs typeface="Calibri" pitchFamily="34" charset="-120"/>
                        </a:rPr>
                        <a:t>2,00</a:t>
                      </a:r>
                      <a:endParaRPr lang="en-US" sz="850" b="1"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no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5914D6CA-A60D-6274-2F85-ED5319145D58}"/>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0936853F-A510-6BE4-5012-7600851C1058}"/>
              </a:ext>
            </a:extLst>
          </p:cNvPr>
          <p:cNvSpPr/>
          <p:nvPr/>
        </p:nvSpPr>
        <p:spPr>
          <a:xfrm>
            <a:off x="548640" y="365760"/>
            <a:ext cx="123444" cy="123444"/>
          </a:xfrm>
          <a:prstGeom prst="ellipse">
            <a:avLst/>
          </a:prstGeom>
          <a:solidFill>
            <a:srgbClr val="D9A227"/>
          </a:solidFill>
          <a:ln w="12700">
            <a:solidFill>
              <a:srgbClr val="D9A227"/>
            </a:solidFill>
            <a:prstDash val="solid"/>
          </a:ln>
        </p:spPr>
        <p:txBody>
          <a:bodyPr/>
          <a:lstStyle/>
          <a:p>
            <a:endParaRPr lang="en-US"/>
          </a:p>
        </p:txBody>
      </p:sp>
      <p:sp>
        <p:nvSpPr>
          <p:cNvPr id="3" name="Text 1">
            <a:extLst>
              <a:ext uri="{FF2B5EF4-FFF2-40B4-BE49-F238E27FC236}">
                <a16:creationId xmlns:a16="http://schemas.microsoft.com/office/drawing/2014/main" id="{2CA47247-8030-ED05-34A0-24267B26978F}"/>
              </a:ext>
            </a:extLst>
          </p:cNvPr>
          <p:cNvSpPr txBox="1"/>
          <p:nvPr/>
        </p:nvSpPr>
        <p:spPr>
          <a:xfrm>
            <a:off x="804672" y="292608"/>
            <a:ext cx="10838383" cy="237744"/>
          </a:xfrm>
          <a:prstGeom prst="rect">
            <a:avLst/>
          </a:prstGeom>
          <a:noFill/>
          <a:ln/>
        </p:spPr>
        <p:txBody>
          <a:bodyPr wrap="square" lIns="0" tIns="0" rIns="0" bIns="0" rtlCol="0" anchor="t"/>
          <a:lstStyle/>
          <a:p>
            <a:pPr marL="0" indent="0">
              <a:buNone/>
            </a:pPr>
            <a:r>
              <a:rPr lang="en-US" sz="1050" b="1" kern="0" spc="120" dirty="0">
                <a:solidFill>
                  <a:srgbClr val="A5741A"/>
                </a:solidFill>
                <a:latin typeface="Calibri" pitchFamily="34" charset="0"/>
                <a:ea typeface="Calibri" pitchFamily="34" charset="-122"/>
                <a:cs typeface="Calibri" pitchFamily="34" charset="-120"/>
              </a:rPr>
              <a:t>CHƯƠNG 4 · 4.3.1 PHÂN TÍCH ĐỊNH LƯỢNG</a:t>
            </a:r>
            <a:endParaRPr lang="en-US" sz="1050" dirty="0"/>
          </a:p>
        </p:txBody>
      </p:sp>
      <p:sp>
        <p:nvSpPr>
          <p:cNvPr id="4" name="Text 2">
            <a:extLst>
              <a:ext uri="{FF2B5EF4-FFF2-40B4-BE49-F238E27FC236}">
                <a16:creationId xmlns:a16="http://schemas.microsoft.com/office/drawing/2014/main" id="{10C94173-F6B6-1077-3CD9-147B9C3C21F6}"/>
              </a:ext>
            </a:extLst>
          </p:cNvPr>
          <p:cNvSpPr txBox="1"/>
          <p:nvPr/>
        </p:nvSpPr>
        <p:spPr>
          <a:xfrm>
            <a:off x="548640" y="566928"/>
            <a:ext cx="11094415" cy="457200"/>
          </a:xfrm>
          <a:prstGeom prst="rect">
            <a:avLst/>
          </a:prstGeom>
          <a:noFill/>
          <a:ln/>
        </p:spPr>
        <p:txBody>
          <a:bodyPr wrap="square" lIns="0" tIns="0" rIns="0" bIns="0" rtlCol="0" anchor="t"/>
          <a:lstStyle/>
          <a:p>
            <a:pPr marL="0" indent="0">
              <a:buNone/>
            </a:pPr>
            <a:r>
              <a:rPr lang="en-US" sz="2500" b="1" dirty="0">
                <a:solidFill>
                  <a:srgbClr val="0B3B75"/>
                </a:solidFill>
                <a:latin typeface="Calibri" pitchFamily="34" charset="0"/>
                <a:ea typeface="Calibri" pitchFamily="34" charset="-122"/>
                <a:cs typeface="Calibri" pitchFamily="34" charset="-120"/>
              </a:rPr>
              <a:t>BẢNG THỜI GIAN XỬ LÝ VÀ THỜI GIAN CHỜ THEO TỪNG KHỐI</a:t>
            </a:r>
            <a:endParaRPr lang="en-US" sz="2500" dirty="0"/>
          </a:p>
        </p:txBody>
      </p:sp>
      <p:sp>
        <p:nvSpPr>
          <p:cNvPr id="6" name="Text 4">
            <a:extLst>
              <a:ext uri="{FF2B5EF4-FFF2-40B4-BE49-F238E27FC236}">
                <a16:creationId xmlns:a16="http://schemas.microsoft.com/office/drawing/2014/main" id="{0D5D0253-8EF7-9C0B-4E03-9F6406EF9342}"/>
              </a:ext>
            </a:extLst>
          </p:cNvPr>
          <p:cNvSpPr txBox="1"/>
          <p:nvPr/>
        </p:nvSpPr>
        <p:spPr>
          <a:xfrm>
            <a:off x="548640" y="6419088"/>
            <a:ext cx="8778240" cy="237744"/>
          </a:xfrm>
          <a:prstGeom prst="rect">
            <a:avLst/>
          </a:prstGeom>
          <a:noFill/>
          <a:ln/>
        </p:spPr>
        <p:txBody>
          <a:bodyPr wrap="square" lIns="0" tIns="0" rIns="0" bIns="0" rtlCol="0" anchor="t"/>
          <a:lstStyle/>
          <a:p>
            <a:pPr marL="0" indent="0">
              <a:buNone/>
            </a:pPr>
            <a:r>
              <a:rPr lang="en-US" sz="850" dirty="0">
                <a:solidFill>
                  <a:srgbClr val="6E7A88"/>
                </a:solidFill>
                <a:latin typeface="Calibri" pitchFamily="34" charset="0"/>
                <a:ea typeface="Calibri" pitchFamily="34" charset="-122"/>
                <a:cs typeface="Calibri" pitchFamily="34" charset="-120"/>
              </a:rPr>
              <a:t>HỆ THỐNG QUẢN TRỊ QUY TRÌNH NGHIỆP VỤ  ·  SACOMBANK — QUY TRÌNH PYC</a:t>
            </a:r>
            <a:endParaRPr lang="en-US" sz="850" dirty="0"/>
          </a:p>
        </p:txBody>
      </p:sp>
      <p:sp>
        <p:nvSpPr>
          <p:cNvPr id="7" name="Text 5">
            <a:extLst>
              <a:ext uri="{FF2B5EF4-FFF2-40B4-BE49-F238E27FC236}">
                <a16:creationId xmlns:a16="http://schemas.microsoft.com/office/drawing/2014/main" id="{64AD46FC-A574-EBA1-A169-B5CE9E330338}"/>
              </a:ext>
            </a:extLst>
          </p:cNvPr>
          <p:cNvSpPr txBox="1"/>
          <p:nvPr/>
        </p:nvSpPr>
        <p:spPr>
          <a:xfrm>
            <a:off x="11155680" y="6382512"/>
            <a:ext cx="484632" cy="274320"/>
          </a:xfrm>
          <a:prstGeom prst="rect">
            <a:avLst/>
          </a:prstGeom>
          <a:noFill/>
          <a:ln/>
        </p:spPr>
        <p:txBody>
          <a:bodyPr wrap="square" lIns="0" tIns="0" rIns="0" bIns="0" rtlCol="0" anchor="t"/>
          <a:lstStyle/>
          <a:p>
            <a:pPr marL="0" indent="0" algn="r">
              <a:buNone/>
            </a:pPr>
            <a:r>
              <a:rPr lang="en-US" sz="1100" b="1" dirty="0">
                <a:solidFill>
                  <a:srgbClr val="A5741A"/>
                </a:solidFill>
                <a:latin typeface="Calibri" pitchFamily="34" charset="0"/>
                <a:ea typeface="Calibri" pitchFamily="34" charset="-122"/>
                <a:cs typeface="Calibri" pitchFamily="34" charset="-120"/>
              </a:rPr>
              <a:t>42</a:t>
            </a:r>
            <a:endParaRPr lang="en-US" sz="1100" dirty="0"/>
          </a:p>
        </p:txBody>
      </p:sp>
      <p:pic>
        <p:nvPicPr>
          <p:cNvPr id="11" name="Picture 10">
            <a:extLst>
              <a:ext uri="{FF2B5EF4-FFF2-40B4-BE49-F238E27FC236}">
                <a16:creationId xmlns:a16="http://schemas.microsoft.com/office/drawing/2014/main" id="{53544116-E179-8196-71E7-B22C2ADA2A87}"/>
              </a:ext>
            </a:extLst>
          </p:cNvPr>
          <p:cNvPicPr>
            <a:picLocks noChangeAspect="1"/>
          </p:cNvPicPr>
          <p:nvPr/>
        </p:nvPicPr>
        <p:blipFill>
          <a:blip r:embed="rId2"/>
          <a:stretch>
            <a:fillRect/>
          </a:stretch>
        </p:blipFill>
        <p:spPr>
          <a:xfrm>
            <a:off x="1037754" y="952203"/>
            <a:ext cx="8204858" cy="5430309"/>
          </a:xfrm>
          <a:prstGeom prst="rect">
            <a:avLst/>
          </a:prstGeom>
        </p:spPr>
      </p:pic>
      <p:sp>
        <p:nvSpPr>
          <p:cNvPr id="12" name="TextBox 11">
            <a:extLst>
              <a:ext uri="{FF2B5EF4-FFF2-40B4-BE49-F238E27FC236}">
                <a16:creationId xmlns:a16="http://schemas.microsoft.com/office/drawing/2014/main" id="{2AA81433-6E78-DAF5-961A-AA04CB8D6BB3}"/>
              </a:ext>
            </a:extLst>
          </p:cNvPr>
          <p:cNvSpPr txBox="1"/>
          <p:nvPr/>
        </p:nvSpPr>
        <p:spPr>
          <a:xfrm>
            <a:off x="3251200" y="1402670"/>
            <a:ext cx="591671" cy="230832"/>
          </a:xfrm>
          <a:prstGeom prst="rect">
            <a:avLst/>
          </a:prstGeom>
          <a:noFill/>
        </p:spPr>
        <p:txBody>
          <a:bodyPr wrap="square" rtlCol="0">
            <a:spAutoFit/>
          </a:bodyPr>
          <a:lstStyle/>
          <a:p>
            <a:r>
              <a:rPr lang="en-US" sz="900" b="1" dirty="0">
                <a:solidFill>
                  <a:srgbClr val="00B050"/>
                </a:solidFill>
              </a:rPr>
              <a:t>PT = 0.5</a:t>
            </a:r>
          </a:p>
        </p:txBody>
      </p:sp>
      <p:sp>
        <p:nvSpPr>
          <p:cNvPr id="14" name="TextBox 13">
            <a:extLst>
              <a:ext uri="{FF2B5EF4-FFF2-40B4-BE49-F238E27FC236}">
                <a16:creationId xmlns:a16="http://schemas.microsoft.com/office/drawing/2014/main" id="{FCDFB4CF-E7D2-1352-5F84-97106C808D1C}"/>
              </a:ext>
            </a:extLst>
          </p:cNvPr>
          <p:cNvSpPr txBox="1"/>
          <p:nvPr/>
        </p:nvSpPr>
        <p:spPr>
          <a:xfrm>
            <a:off x="2890744" y="2838658"/>
            <a:ext cx="861061" cy="230832"/>
          </a:xfrm>
          <a:prstGeom prst="rect">
            <a:avLst/>
          </a:prstGeom>
          <a:noFill/>
        </p:spPr>
        <p:txBody>
          <a:bodyPr wrap="square" rtlCol="0">
            <a:spAutoFit/>
          </a:bodyPr>
          <a:lstStyle/>
          <a:p>
            <a:r>
              <a:rPr lang="en-US" sz="900" b="1" dirty="0">
                <a:solidFill>
                  <a:srgbClr val="00B050"/>
                </a:solidFill>
              </a:rPr>
              <a:t>PT = 0.08</a:t>
            </a:r>
          </a:p>
        </p:txBody>
      </p:sp>
      <p:sp>
        <p:nvSpPr>
          <p:cNvPr id="16" name="TextBox 15">
            <a:extLst>
              <a:ext uri="{FF2B5EF4-FFF2-40B4-BE49-F238E27FC236}">
                <a16:creationId xmlns:a16="http://schemas.microsoft.com/office/drawing/2014/main" id="{9827A9AC-4E55-1D9F-B57C-BF79A0BD0A81}"/>
              </a:ext>
            </a:extLst>
          </p:cNvPr>
          <p:cNvSpPr txBox="1"/>
          <p:nvPr/>
        </p:nvSpPr>
        <p:spPr>
          <a:xfrm>
            <a:off x="4733215" y="3818800"/>
            <a:ext cx="791285" cy="507831"/>
          </a:xfrm>
          <a:prstGeom prst="rect">
            <a:avLst/>
          </a:prstGeom>
          <a:noFill/>
        </p:spPr>
        <p:txBody>
          <a:bodyPr wrap="square" rtlCol="0">
            <a:spAutoFit/>
          </a:bodyPr>
          <a:lstStyle/>
          <a:p>
            <a:r>
              <a:rPr lang="en-US" sz="900" b="1" dirty="0">
                <a:solidFill>
                  <a:srgbClr val="00B050"/>
                </a:solidFill>
              </a:rPr>
              <a:t>PT = 0.08</a:t>
            </a:r>
          </a:p>
          <a:p>
            <a:r>
              <a:rPr lang="en-US" sz="900" b="1" dirty="0">
                <a:solidFill>
                  <a:srgbClr val="00B050"/>
                </a:solidFill>
              </a:rPr>
              <a:t>WT  = 0.5</a:t>
            </a:r>
          </a:p>
          <a:p>
            <a:endParaRPr lang="en-US" sz="900" b="1" dirty="0">
              <a:solidFill>
                <a:srgbClr val="00B050"/>
              </a:solidFill>
            </a:endParaRPr>
          </a:p>
        </p:txBody>
      </p:sp>
      <p:sp>
        <p:nvSpPr>
          <p:cNvPr id="18" name="TextBox 17">
            <a:extLst>
              <a:ext uri="{FF2B5EF4-FFF2-40B4-BE49-F238E27FC236}">
                <a16:creationId xmlns:a16="http://schemas.microsoft.com/office/drawing/2014/main" id="{8E383A67-4684-698B-AE83-F8221F7FFAB8}"/>
              </a:ext>
            </a:extLst>
          </p:cNvPr>
          <p:cNvSpPr txBox="1"/>
          <p:nvPr/>
        </p:nvSpPr>
        <p:spPr>
          <a:xfrm>
            <a:off x="1799515" y="4696216"/>
            <a:ext cx="791285" cy="230832"/>
          </a:xfrm>
          <a:prstGeom prst="rect">
            <a:avLst/>
          </a:prstGeom>
          <a:noFill/>
        </p:spPr>
        <p:txBody>
          <a:bodyPr wrap="square" rtlCol="0">
            <a:spAutoFit/>
          </a:bodyPr>
          <a:lstStyle/>
          <a:p>
            <a:r>
              <a:rPr lang="en-US" sz="900" b="1" dirty="0">
                <a:solidFill>
                  <a:srgbClr val="00B050"/>
                </a:solidFill>
              </a:rPr>
              <a:t>PT = 0.5</a:t>
            </a:r>
          </a:p>
        </p:txBody>
      </p:sp>
      <p:sp>
        <p:nvSpPr>
          <p:cNvPr id="20" name="TextBox 19">
            <a:extLst>
              <a:ext uri="{FF2B5EF4-FFF2-40B4-BE49-F238E27FC236}">
                <a16:creationId xmlns:a16="http://schemas.microsoft.com/office/drawing/2014/main" id="{D09A22A0-F581-75AA-940B-80883ED3ABC4}"/>
              </a:ext>
            </a:extLst>
          </p:cNvPr>
          <p:cNvSpPr txBox="1"/>
          <p:nvPr/>
        </p:nvSpPr>
        <p:spPr>
          <a:xfrm>
            <a:off x="4733214" y="5433901"/>
            <a:ext cx="791285" cy="507831"/>
          </a:xfrm>
          <a:prstGeom prst="rect">
            <a:avLst/>
          </a:prstGeom>
          <a:noFill/>
        </p:spPr>
        <p:txBody>
          <a:bodyPr wrap="square" rtlCol="0">
            <a:spAutoFit/>
          </a:bodyPr>
          <a:lstStyle/>
          <a:p>
            <a:r>
              <a:rPr lang="en-US" sz="900" b="1" dirty="0">
                <a:solidFill>
                  <a:srgbClr val="00B050"/>
                </a:solidFill>
              </a:rPr>
              <a:t>PT = 1.5</a:t>
            </a:r>
          </a:p>
          <a:p>
            <a:r>
              <a:rPr lang="en-US" sz="900" b="1" dirty="0">
                <a:solidFill>
                  <a:srgbClr val="00B050"/>
                </a:solidFill>
              </a:rPr>
              <a:t>WT  = 8</a:t>
            </a:r>
          </a:p>
          <a:p>
            <a:endParaRPr lang="en-US" sz="900" b="1" dirty="0">
              <a:solidFill>
                <a:srgbClr val="00B050"/>
              </a:solidFill>
            </a:endParaRPr>
          </a:p>
        </p:txBody>
      </p:sp>
      <p:sp>
        <p:nvSpPr>
          <p:cNvPr id="22" name="TextBox 21">
            <a:extLst>
              <a:ext uri="{FF2B5EF4-FFF2-40B4-BE49-F238E27FC236}">
                <a16:creationId xmlns:a16="http://schemas.microsoft.com/office/drawing/2014/main" id="{FEAA40F0-1DB7-7CDA-5951-919460BB7EBA}"/>
              </a:ext>
            </a:extLst>
          </p:cNvPr>
          <p:cNvSpPr txBox="1"/>
          <p:nvPr/>
        </p:nvSpPr>
        <p:spPr>
          <a:xfrm>
            <a:off x="3088266" y="4972236"/>
            <a:ext cx="646506" cy="369332"/>
          </a:xfrm>
          <a:prstGeom prst="rect">
            <a:avLst/>
          </a:prstGeom>
          <a:noFill/>
        </p:spPr>
        <p:txBody>
          <a:bodyPr wrap="square" rtlCol="0">
            <a:spAutoFit/>
          </a:bodyPr>
          <a:lstStyle/>
          <a:p>
            <a:r>
              <a:rPr lang="en-US" sz="900" b="1" dirty="0">
                <a:solidFill>
                  <a:srgbClr val="00B050"/>
                </a:solidFill>
              </a:rPr>
              <a:t>PT = 0.1</a:t>
            </a:r>
          </a:p>
          <a:p>
            <a:r>
              <a:rPr lang="en-US" sz="900" b="1" dirty="0">
                <a:solidFill>
                  <a:srgbClr val="00B050"/>
                </a:solidFill>
              </a:rPr>
              <a:t>WT = 2</a:t>
            </a:r>
          </a:p>
        </p:txBody>
      </p:sp>
      <p:sp>
        <p:nvSpPr>
          <p:cNvPr id="26" name="TextBox 25">
            <a:extLst>
              <a:ext uri="{FF2B5EF4-FFF2-40B4-BE49-F238E27FC236}">
                <a16:creationId xmlns:a16="http://schemas.microsoft.com/office/drawing/2014/main" id="{0A18B036-5034-5805-4F65-4220B795C2B5}"/>
              </a:ext>
            </a:extLst>
          </p:cNvPr>
          <p:cNvSpPr txBox="1"/>
          <p:nvPr/>
        </p:nvSpPr>
        <p:spPr>
          <a:xfrm>
            <a:off x="5997687" y="4952204"/>
            <a:ext cx="791285" cy="230832"/>
          </a:xfrm>
          <a:prstGeom prst="rect">
            <a:avLst/>
          </a:prstGeom>
          <a:noFill/>
        </p:spPr>
        <p:txBody>
          <a:bodyPr wrap="square" rtlCol="0">
            <a:spAutoFit/>
          </a:bodyPr>
          <a:lstStyle/>
          <a:p>
            <a:r>
              <a:rPr lang="en-US" sz="900" b="1" dirty="0">
                <a:solidFill>
                  <a:srgbClr val="00B050"/>
                </a:solidFill>
              </a:rPr>
              <a:t>PT = 0.5</a:t>
            </a:r>
          </a:p>
        </p:txBody>
      </p:sp>
      <p:sp>
        <p:nvSpPr>
          <p:cNvPr id="28" name="TextBox 27">
            <a:extLst>
              <a:ext uri="{FF2B5EF4-FFF2-40B4-BE49-F238E27FC236}">
                <a16:creationId xmlns:a16="http://schemas.microsoft.com/office/drawing/2014/main" id="{2BE83C6D-E4E3-0C97-497C-7479638B9CB2}"/>
              </a:ext>
            </a:extLst>
          </p:cNvPr>
          <p:cNvSpPr txBox="1"/>
          <p:nvPr/>
        </p:nvSpPr>
        <p:spPr>
          <a:xfrm>
            <a:off x="1741697" y="3239090"/>
            <a:ext cx="734803" cy="369332"/>
          </a:xfrm>
          <a:prstGeom prst="rect">
            <a:avLst/>
          </a:prstGeom>
          <a:noFill/>
        </p:spPr>
        <p:txBody>
          <a:bodyPr wrap="square" rtlCol="0">
            <a:spAutoFit/>
          </a:bodyPr>
          <a:lstStyle/>
          <a:p>
            <a:r>
              <a:rPr lang="en-US" sz="900" b="1" dirty="0">
                <a:solidFill>
                  <a:srgbClr val="00B050"/>
                </a:solidFill>
              </a:rPr>
              <a:t>PT = 0.25</a:t>
            </a:r>
          </a:p>
          <a:p>
            <a:endParaRPr lang="en-US" sz="900" b="1" dirty="0">
              <a:solidFill>
                <a:srgbClr val="00B050"/>
              </a:solidFill>
            </a:endParaRPr>
          </a:p>
        </p:txBody>
      </p:sp>
      <p:sp>
        <p:nvSpPr>
          <p:cNvPr id="30" name="TextBox 29">
            <a:extLst>
              <a:ext uri="{FF2B5EF4-FFF2-40B4-BE49-F238E27FC236}">
                <a16:creationId xmlns:a16="http://schemas.microsoft.com/office/drawing/2014/main" id="{1E95C773-83E7-8DAB-087D-F84F805BE1DA}"/>
              </a:ext>
            </a:extLst>
          </p:cNvPr>
          <p:cNvSpPr txBox="1"/>
          <p:nvPr/>
        </p:nvSpPr>
        <p:spPr>
          <a:xfrm>
            <a:off x="4733214" y="3310969"/>
            <a:ext cx="745492" cy="369332"/>
          </a:xfrm>
          <a:prstGeom prst="rect">
            <a:avLst/>
          </a:prstGeom>
          <a:noFill/>
        </p:spPr>
        <p:txBody>
          <a:bodyPr wrap="square" rtlCol="0">
            <a:spAutoFit/>
          </a:bodyPr>
          <a:lstStyle/>
          <a:p>
            <a:r>
              <a:rPr lang="en-US" sz="900" b="1" dirty="0">
                <a:solidFill>
                  <a:srgbClr val="00B050"/>
                </a:solidFill>
              </a:rPr>
              <a:t>PT = 0.08</a:t>
            </a:r>
          </a:p>
          <a:p>
            <a:r>
              <a:rPr lang="en-US" sz="900" b="1" dirty="0">
                <a:solidFill>
                  <a:srgbClr val="00B050"/>
                </a:solidFill>
              </a:rPr>
              <a:t>WT  = 5</a:t>
            </a:r>
          </a:p>
        </p:txBody>
      </p:sp>
      <p:sp>
        <p:nvSpPr>
          <p:cNvPr id="32" name="TextBox 31">
            <a:extLst>
              <a:ext uri="{FF2B5EF4-FFF2-40B4-BE49-F238E27FC236}">
                <a16:creationId xmlns:a16="http://schemas.microsoft.com/office/drawing/2014/main" id="{9D8C7121-7ED6-1C9B-08AA-27C74A2B083D}"/>
              </a:ext>
            </a:extLst>
          </p:cNvPr>
          <p:cNvSpPr txBox="1"/>
          <p:nvPr/>
        </p:nvSpPr>
        <p:spPr>
          <a:xfrm>
            <a:off x="4687343" y="2504344"/>
            <a:ext cx="591671" cy="507831"/>
          </a:xfrm>
          <a:prstGeom prst="rect">
            <a:avLst/>
          </a:prstGeom>
          <a:noFill/>
        </p:spPr>
        <p:txBody>
          <a:bodyPr wrap="square" rtlCol="0">
            <a:spAutoFit/>
          </a:bodyPr>
          <a:lstStyle/>
          <a:p>
            <a:r>
              <a:rPr lang="en-US" sz="900" b="1" dirty="0">
                <a:solidFill>
                  <a:srgbClr val="00B050"/>
                </a:solidFill>
              </a:rPr>
              <a:t>PT = 1</a:t>
            </a:r>
          </a:p>
          <a:p>
            <a:r>
              <a:rPr lang="en-US" sz="900" b="1" dirty="0">
                <a:solidFill>
                  <a:srgbClr val="00B050"/>
                </a:solidFill>
              </a:rPr>
              <a:t>WT  = 5</a:t>
            </a:r>
          </a:p>
          <a:p>
            <a:endParaRPr lang="en-US" sz="900" b="1" dirty="0">
              <a:solidFill>
                <a:srgbClr val="00B050"/>
              </a:solidFill>
            </a:endParaRPr>
          </a:p>
        </p:txBody>
      </p:sp>
      <p:sp>
        <p:nvSpPr>
          <p:cNvPr id="33" name="TextBox 32">
            <a:extLst>
              <a:ext uri="{FF2B5EF4-FFF2-40B4-BE49-F238E27FC236}">
                <a16:creationId xmlns:a16="http://schemas.microsoft.com/office/drawing/2014/main" id="{F0C113B6-2776-9222-20E3-2B7E4E2DCB60}"/>
              </a:ext>
            </a:extLst>
          </p:cNvPr>
          <p:cNvSpPr txBox="1"/>
          <p:nvPr/>
        </p:nvSpPr>
        <p:spPr>
          <a:xfrm>
            <a:off x="2890744" y="4109510"/>
            <a:ext cx="720912" cy="230832"/>
          </a:xfrm>
          <a:prstGeom prst="rect">
            <a:avLst/>
          </a:prstGeom>
          <a:noFill/>
        </p:spPr>
        <p:txBody>
          <a:bodyPr wrap="square" rtlCol="0">
            <a:spAutoFit/>
          </a:bodyPr>
          <a:lstStyle/>
          <a:p>
            <a:r>
              <a:rPr lang="en-US" sz="900" b="1" dirty="0">
                <a:solidFill>
                  <a:srgbClr val="00B050"/>
                </a:solidFill>
              </a:rPr>
              <a:t>PT = 0.08</a:t>
            </a:r>
          </a:p>
        </p:txBody>
      </p:sp>
      <p:sp>
        <p:nvSpPr>
          <p:cNvPr id="36" name="TextBox 35">
            <a:extLst>
              <a:ext uri="{FF2B5EF4-FFF2-40B4-BE49-F238E27FC236}">
                <a16:creationId xmlns:a16="http://schemas.microsoft.com/office/drawing/2014/main" id="{DB1CEF6A-2E08-3795-4628-3A6BC0B61D0A}"/>
              </a:ext>
            </a:extLst>
          </p:cNvPr>
          <p:cNvSpPr txBox="1"/>
          <p:nvPr/>
        </p:nvSpPr>
        <p:spPr>
          <a:xfrm>
            <a:off x="7910755" y="4958295"/>
            <a:ext cx="791285" cy="230832"/>
          </a:xfrm>
          <a:prstGeom prst="rect">
            <a:avLst/>
          </a:prstGeom>
          <a:noFill/>
        </p:spPr>
        <p:txBody>
          <a:bodyPr wrap="square" rtlCol="0">
            <a:spAutoFit/>
          </a:bodyPr>
          <a:lstStyle/>
          <a:p>
            <a:r>
              <a:rPr lang="en-US" sz="900" b="1" dirty="0">
                <a:solidFill>
                  <a:srgbClr val="00B050"/>
                </a:solidFill>
              </a:rPr>
              <a:t>PT = 0.5</a:t>
            </a:r>
          </a:p>
        </p:txBody>
      </p:sp>
      <p:sp>
        <p:nvSpPr>
          <p:cNvPr id="38" name="TextBox 37">
            <a:extLst>
              <a:ext uri="{FF2B5EF4-FFF2-40B4-BE49-F238E27FC236}">
                <a16:creationId xmlns:a16="http://schemas.microsoft.com/office/drawing/2014/main" id="{7250010D-12F3-15B1-AC9D-46F533992F81}"/>
              </a:ext>
            </a:extLst>
          </p:cNvPr>
          <p:cNvSpPr txBox="1"/>
          <p:nvPr/>
        </p:nvSpPr>
        <p:spPr>
          <a:xfrm>
            <a:off x="4147670" y="4926070"/>
            <a:ext cx="646506" cy="230832"/>
          </a:xfrm>
          <a:prstGeom prst="rect">
            <a:avLst/>
          </a:prstGeom>
          <a:noFill/>
        </p:spPr>
        <p:txBody>
          <a:bodyPr wrap="square" rtlCol="0">
            <a:spAutoFit/>
          </a:bodyPr>
          <a:lstStyle/>
          <a:p>
            <a:r>
              <a:rPr lang="en-US" sz="900" b="1" dirty="0">
                <a:solidFill>
                  <a:srgbClr val="00B050"/>
                </a:solidFill>
              </a:rPr>
              <a:t>PT = 0.1</a:t>
            </a:r>
          </a:p>
        </p:txBody>
      </p:sp>
      <p:sp>
        <p:nvSpPr>
          <p:cNvPr id="40" name="TextBox 39">
            <a:extLst>
              <a:ext uri="{FF2B5EF4-FFF2-40B4-BE49-F238E27FC236}">
                <a16:creationId xmlns:a16="http://schemas.microsoft.com/office/drawing/2014/main" id="{D03B9C90-6379-361C-B25D-22C4E74DC354}"/>
              </a:ext>
            </a:extLst>
          </p:cNvPr>
          <p:cNvSpPr txBox="1"/>
          <p:nvPr/>
        </p:nvSpPr>
        <p:spPr>
          <a:xfrm>
            <a:off x="5278865" y="4427535"/>
            <a:ext cx="646506" cy="230832"/>
          </a:xfrm>
          <a:prstGeom prst="rect">
            <a:avLst/>
          </a:prstGeom>
          <a:noFill/>
        </p:spPr>
        <p:txBody>
          <a:bodyPr wrap="square" rtlCol="0">
            <a:spAutoFit/>
          </a:bodyPr>
          <a:lstStyle/>
          <a:p>
            <a:r>
              <a:rPr lang="en-US" sz="900" b="1" dirty="0">
                <a:solidFill>
                  <a:srgbClr val="00B050"/>
                </a:solidFill>
              </a:rPr>
              <a:t>PT = 0.08</a:t>
            </a:r>
          </a:p>
        </p:txBody>
      </p:sp>
      <p:sp>
        <p:nvSpPr>
          <p:cNvPr id="42" name="TextBox 41">
            <a:extLst>
              <a:ext uri="{FF2B5EF4-FFF2-40B4-BE49-F238E27FC236}">
                <a16:creationId xmlns:a16="http://schemas.microsoft.com/office/drawing/2014/main" id="{C1E0C540-26F5-F67B-7AF9-6C669CB50E66}"/>
              </a:ext>
            </a:extLst>
          </p:cNvPr>
          <p:cNvSpPr txBox="1"/>
          <p:nvPr/>
        </p:nvSpPr>
        <p:spPr>
          <a:xfrm>
            <a:off x="3751805" y="2959127"/>
            <a:ext cx="591671" cy="230832"/>
          </a:xfrm>
          <a:prstGeom prst="rect">
            <a:avLst/>
          </a:prstGeom>
          <a:noFill/>
        </p:spPr>
        <p:txBody>
          <a:bodyPr wrap="square" rtlCol="0">
            <a:spAutoFit/>
          </a:bodyPr>
          <a:lstStyle/>
          <a:p>
            <a:r>
              <a:rPr lang="en-US" sz="900" b="1" dirty="0">
                <a:solidFill>
                  <a:schemeClr val="accent2">
                    <a:lumMod val="75000"/>
                  </a:schemeClr>
                </a:solidFill>
              </a:rPr>
              <a:t>10%</a:t>
            </a:r>
          </a:p>
        </p:txBody>
      </p:sp>
      <p:sp>
        <p:nvSpPr>
          <p:cNvPr id="44" name="TextBox 43">
            <a:extLst>
              <a:ext uri="{FF2B5EF4-FFF2-40B4-BE49-F238E27FC236}">
                <a16:creationId xmlns:a16="http://schemas.microsoft.com/office/drawing/2014/main" id="{57EBDEC8-5CB3-DC36-A36A-74518E595A3E}"/>
              </a:ext>
            </a:extLst>
          </p:cNvPr>
          <p:cNvSpPr txBox="1"/>
          <p:nvPr/>
        </p:nvSpPr>
        <p:spPr>
          <a:xfrm>
            <a:off x="3765476" y="3292349"/>
            <a:ext cx="591671" cy="230832"/>
          </a:xfrm>
          <a:prstGeom prst="rect">
            <a:avLst/>
          </a:prstGeom>
          <a:noFill/>
        </p:spPr>
        <p:txBody>
          <a:bodyPr wrap="square" rtlCol="0">
            <a:spAutoFit/>
          </a:bodyPr>
          <a:lstStyle/>
          <a:p>
            <a:r>
              <a:rPr lang="en-US" sz="900" b="1" dirty="0">
                <a:solidFill>
                  <a:schemeClr val="accent2">
                    <a:lumMod val="75000"/>
                  </a:schemeClr>
                </a:solidFill>
              </a:rPr>
              <a:t>90%</a:t>
            </a:r>
          </a:p>
        </p:txBody>
      </p:sp>
      <p:sp>
        <p:nvSpPr>
          <p:cNvPr id="46" name="TextBox 45">
            <a:extLst>
              <a:ext uri="{FF2B5EF4-FFF2-40B4-BE49-F238E27FC236}">
                <a16:creationId xmlns:a16="http://schemas.microsoft.com/office/drawing/2014/main" id="{73156E3F-C3A6-3B46-CBA5-5DCF0F7B8820}"/>
              </a:ext>
            </a:extLst>
          </p:cNvPr>
          <p:cNvSpPr txBox="1"/>
          <p:nvPr/>
        </p:nvSpPr>
        <p:spPr>
          <a:xfrm>
            <a:off x="2653552" y="5726843"/>
            <a:ext cx="591671" cy="230832"/>
          </a:xfrm>
          <a:prstGeom prst="rect">
            <a:avLst/>
          </a:prstGeom>
          <a:noFill/>
        </p:spPr>
        <p:txBody>
          <a:bodyPr wrap="square" rtlCol="0">
            <a:spAutoFit/>
          </a:bodyPr>
          <a:lstStyle/>
          <a:p>
            <a:r>
              <a:rPr lang="en-US" sz="900" b="1" dirty="0">
                <a:solidFill>
                  <a:schemeClr val="accent2">
                    <a:lumMod val="75000"/>
                  </a:schemeClr>
                </a:solidFill>
              </a:rPr>
              <a:t>30%</a:t>
            </a:r>
          </a:p>
        </p:txBody>
      </p:sp>
      <p:sp>
        <p:nvSpPr>
          <p:cNvPr id="48" name="TextBox 47">
            <a:extLst>
              <a:ext uri="{FF2B5EF4-FFF2-40B4-BE49-F238E27FC236}">
                <a16:creationId xmlns:a16="http://schemas.microsoft.com/office/drawing/2014/main" id="{353E5385-2661-A26E-30CD-C7963469E275}"/>
              </a:ext>
            </a:extLst>
          </p:cNvPr>
          <p:cNvSpPr txBox="1"/>
          <p:nvPr/>
        </p:nvSpPr>
        <p:spPr>
          <a:xfrm>
            <a:off x="2637677" y="4586961"/>
            <a:ext cx="591671" cy="230832"/>
          </a:xfrm>
          <a:prstGeom prst="rect">
            <a:avLst/>
          </a:prstGeom>
          <a:noFill/>
        </p:spPr>
        <p:txBody>
          <a:bodyPr wrap="square" rtlCol="0">
            <a:spAutoFit/>
          </a:bodyPr>
          <a:lstStyle/>
          <a:p>
            <a:r>
              <a:rPr lang="en-US" sz="900" b="1" dirty="0">
                <a:solidFill>
                  <a:schemeClr val="accent2">
                    <a:lumMod val="75000"/>
                  </a:schemeClr>
                </a:solidFill>
              </a:rPr>
              <a:t>70%</a:t>
            </a:r>
          </a:p>
        </p:txBody>
      </p:sp>
      <p:sp>
        <p:nvSpPr>
          <p:cNvPr id="50" name="TextBox 49">
            <a:extLst>
              <a:ext uri="{FF2B5EF4-FFF2-40B4-BE49-F238E27FC236}">
                <a16:creationId xmlns:a16="http://schemas.microsoft.com/office/drawing/2014/main" id="{7ECE6D5C-8655-8EDF-0B81-A16D91E50550}"/>
              </a:ext>
            </a:extLst>
          </p:cNvPr>
          <p:cNvSpPr txBox="1"/>
          <p:nvPr/>
        </p:nvSpPr>
        <p:spPr>
          <a:xfrm>
            <a:off x="3088266" y="5541343"/>
            <a:ext cx="791285" cy="230832"/>
          </a:xfrm>
          <a:prstGeom prst="rect">
            <a:avLst/>
          </a:prstGeom>
          <a:noFill/>
        </p:spPr>
        <p:txBody>
          <a:bodyPr wrap="square" rtlCol="0">
            <a:spAutoFit/>
          </a:bodyPr>
          <a:lstStyle/>
          <a:p>
            <a:r>
              <a:rPr lang="en-US" sz="900" b="1" dirty="0">
                <a:solidFill>
                  <a:srgbClr val="00B050"/>
                </a:solidFill>
              </a:rPr>
              <a:t>PT = 0.08</a:t>
            </a:r>
          </a:p>
        </p:txBody>
      </p:sp>
      <p:sp>
        <p:nvSpPr>
          <p:cNvPr id="52" name="TextBox 51">
            <a:extLst>
              <a:ext uri="{FF2B5EF4-FFF2-40B4-BE49-F238E27FC236}">
                <a16:creationId xmlns:a16="http://schemas.microsoft.com/office/drawing/2014/main" id="{E7C86BE3-7C3C-23F0-7DA6-DA370BF6571E}"/>
              </a:ext>
            </a:extLst>
          </p:cNvPr>
          <p:cNvSpPr txBox="1"/>
          <p:nvPr/>
        </p:nvSpPr>
        <p:spPr>
          <a:xfrm>
            <a:off x="3842871" y="5438869"/>
            <a:ext cx="791285" cy="369332"/>
          </a:xfrm>
          <a:prstGeom prst="rect">
            <a:avLst/>
          </a:prstGeom>
          <a:noFill/>
        </p:spPr>
        <p:txBody>
          <a:bodyPr wrap="square" rtlCol="0">
            <a:spAutoFit/>
          </a:bodyPr>
          <a:lstStyle/>
          <a:p>
            <a:r>
              <a:rPr lang="en-US" sz="900" b="1" dirty="0">
                <a:solidFill>
                  <a:srgbClr val="00B050"/>
                </a:solidFill>
              </a:rPr>
              <a:t>PT = 0.08</a:t>
            </a:r>
          </a:p>
          <a:p>
            <a:r>
              <a:rPr lang="en-US" sz="900" b="1" dirty="0">
                <a:solidFill>
                  <a:srgbClr val="00B050"/>
                </a:solidFill>
              </a:rPr>
              <a:t>WT = 5</a:t>
            </a:r>
          </a:p>
        </p:txBody>
      </p:sp>
      <p:sp>
        <p:nvSpPr>
          <p:cNvPr id="54" name="TextBox 53">
            <a:extLst>
              <a:ext uri="{FF2B5EF4-FFF2-40B4-BE49-F238E27FC236}">
                <a16:creationId xmlns:a16="http://schemas.microsoft.com/office/drawing/2014/main" id="{FB8534FA-D1CF-3DCA-86DE-E3900C70F4FA}"/>
              </a:ext>
            </a:extLst>
          </p:cNvPr>
          <p:cNvSpPr txBox="1"/>
          <p:nvPr/>
        </p:nvSpPr>
        <p:spPr>
          <a:xfrm>
            <a:off x="6987913" y="5433901"/>
            <a:ext cx="791285" cy="230832"/>
          </a:xfrm>
          <a:prstGeom prst="rect">
            <a:avLst/>
          </a:prstGeom>
          <a:noFill/>
        </p:spPr>
        <p:txBody>
          <a:bodyPr wrap="square" rtlCol="0">
            <a:spAutoFit/>
          </a:bodyPr>
          <a:lstStyle/>
          <a:p>
            <a:r>
              <a:rPr lang="en-US" sz="900" b="1" dirty="0">
                <a:solidFill>
                  <a:srgbClr val="00B050"/>
                </a:solidFill>
              </a:rPr>
              <a:t>WT = 8</a:t>
            </a:r>
          </a:p>
        </p:txBody>
      </p:sp>
      <p:sp>
        <p:nvSpPr>
          <p:cNvPr id="56" name="TextBox 55">
            <a:extLst>
              <a:ext uri="{FF2B5EF4-FFF2-40B4-BE49-F238E27FC236}">
                <a16:creationId xmlns:a16="http://schemas.microsoft.com/office/drawing/2014/main" id="{8BBCF774-F55C-A521-A3E8-4931D2B171C7}"/>
              </a:ext>
            </a:extLst>
          </p:cNvPr>
          <p:cNvSpPr txBox="1"/>
          <p:nvPr/>
        </p:nvSpPr>
        <p:spPr>
          <a:xfrm>
            <a:off x="6987912" y="4465384"/>
            <a:ext cx="791285" cy="230832"/>
          </a:xfrm>
          <a:prstGeom prst="rect">
            <a:avLst/>
          </a:prstGeom>
          <a:noFill/>
        </p:spPr>
        <p:txBody>
          <a:bodyPr wrap="square" rtlCol="0">
            <a:spAutoFit/>
          </a:bodyPr>
          <a:lstStyle/>
          <a:p>
            <a:r>
              <a:rPr lang="en-US" sz="900" b="1" dirty="0">
                <a:solidFill>
                  <a:srgbClr val="00B050"/>
                </a:solidFill>
              </a:rPr>
              <a:t>PT = 0.08</a:t>
            </a:r>
          </a:p>
        </p:txBody>
      </p:sp>
      <p:sp>
        <p:nvSpPr>
          <p:cNvPr id="58" name="TextBox 57">
            <a:extLst>
              <a:ext uri="{FF2B5EF4-FFF2-40B4-BE49-F238E27FC236}">
                <a16:creationId xmlns:a16="http://schemas.microsoft.com/office/drawing/2014/main" id="{EE405BF2-0629-93B4-A7B9-F0F5CCC1D5F5}"/>
              </a:ext>
            </a:extLst>
          </p:cNvPr>
          <p:cNvSpPr txBox="1"/>
          <p:nvPr/>
        </p:nvSpPr>
        <p:spPr>
          <a:xfrm>
            <a:off x="6778512" y="5104196"/>
            <a:ext cx="591671" cy="230832"/>
          </a:xfrm>
          <a:prstGeom prst="rect">
            <a:avLst/>
          </a:prstGeom>
          <a:noFill/>
        </p:spPr>
        <p:txBody>
          <a:bodyPr wrap="square" rtlCol="0">
            <a:spAutoFit/>
          </a:bodyPr>
          <a:lstStyle/>
          <a:p>
            <a:r>
              <a:rPr lang="en-US" sz="900" b="1" dirty="0">
                <a:solidFill>
                  <a:schemeClr val="accent2">
                    <a:lumMod val="75000"/>
                  </a:schemeClr>
                </a:solidFill>
              </a:rPr>
              <a:t>25%</a:t>
            </a:r>
          </a:p>
        </p:txBody>
      </p:sp>
      <p:sp>
        <p:nvSpPr>
          <p:cNvPr id="60" name="TextBox 59">
            <a:extLst>
              <a:ext uri="{FF2B5EF4-FFF2-40B4-BE49-F238E27FC236}">
                <a16:creationId xmlns:a16="http://schemas.microsoft.com/office/drawing/2014/main" id="{213CDD3D-4235-E39B-21C6-2F546F73C5CE}"/>
              </a:ext>
            </a:extLst>
          </p:cNvPr>
          <p:cNvSpPr txBox="1"/>
          <p:nvPr/>
        </p:nvSpPr>
        <p:spPr>
          <a:xfrm>
            <a:off x="6833158" y="4732792"/>
            <a:ext cx="591671" cy="230832"/>
          </a:xfrm>
          <a:prstGeom prst="rect">
            <a:avLst/>
          </a:prstGeom>
          <a:noFill/>
        </p:spPr>
        <p:txBody>
          <a:bodyPr wrap="square" rtlCol="0">
            <a:spAutoFit/>
          </a:bodyPr>
          <a:lstStyle/>
          <a:p>
            <a:r>
              <a:rPr lang="en-US" sz="900" b="1" dirty="0">
                <a:solidFill>
                  <a:schemeClr val="accent2">
                    <a:lumMod val="75000"/>
                  </a:schemeClr>
                </a:solidFill>
              </a:rPr>
              <a:t>75%</a:t>
            </a:r>
          </a:p>
        </p:txBody>
      </p:sp>
    </p:spTree>
    <p:extLst>
      <p:ext uri="{BB962C8B-B14F-4D97-AF65-F5344CB8AC3E}">
        <p14:creationId xmlns:p14="http://schemas.microsoft.com/office/powerpoint/2010/main" val="116171800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65760"/>
            <a:ext cx="123444" cy="123444"/>
          </a:xfrm>
          <a:prstGeom prst="ellipse">
            <a:avLst/>
          </a:prstGeom>
          <a:solidFill>
            <a:srgbClr val="D9A227"/>
          </a:solidFill>
          <a:ln w="12700">
            <a:solidFill>
              <a:srgbClr val="D9A227"/>
            </a:solidFill>
            <a:prstDash val="solid"/>
          </a:ln>
        </p:spPr>
        <p:txBody>
          <a:bodyPr/>
          <a:lstStyle/>
          <a:p>
            <a:endParaRPr lang="en-US"/>
          </a:p>
        </p:txBody>
      </p:sp>
      <p:sp>
        <p:nvSpPr>
          <p:cNvPr id="3" name="Text 1"/>
          <p:cNvSpPr txBox="1"/>
          <p:nvPr/>
        </p:nvSpPr>
        <p:spPr>
          <a:xfrm>
            <a:off x="804672" y="292608"/>
            <a:ext cx="10838383" cy="237744"/>
          </a:xfrm>
          <a:prstGeom prst="rect">
            <a:avLst/>
          </a:prstGeom>
          <a:noFill/>
          <a:ln/>
        </p:spPr>
        <p:txBody>
          <a:bodyPr wrap="square" lIns="0" tIns="0" rIns="0" bIns="0" rtlCol="0" anchor="t"/>
          <a:lstStyle/>
          <a:p>
            <a:pPr marL="0" indent="0">
              <a:buNone/>
            </a:pPr>
            <a:r>
              <a:rPr lang="en-US" sz="1050" b="1" kern="0" spc="120" dirty="0">
                <a:solidFill>
                  <a:srgbClr val="A5741A"/>
                </a:solidFill>
                <a:latin typeface="Calibri" pitchFamily="34" charset="0"/>
                <a:ea typeface="Calibri" pitchFamily="34" charset="-122"/>
                <a:cs typeface="Calibri" pitchFamily="34" charset="-120"/>
              </a:rPr>
              <a:t>CHƯƠNG 4 · 4.3 TÍNH TOÁN THỜI GIAN</a:t>
            </a:r>
            <a:endParaRPr lang="en-US" sz="1050" dirty="0"/>
          </a:p>
        </p:txBody>
      </p:sp>
      <p:sp>
        <p:nvSpPr>
          <p:cNvPr id="4" name="Text 2"/>
          <p:cNvSpPr txBox="1"/>
          <p:nvPr/>
        </p:nvSpPr>
        <p:spPr>
          <a:xfrm>
            <a:off x="548640" y="566928"/>
            <a:ext cx="11094415" cy="457200"/>
          </a:xfrm>
          <a:prstGeom prst="rect">
            <a:avLst/>
          </a:prstGeom>
          <a:noFill/>
          <a:ln/>
        </p:spPr>
        <p:txBody>
          <a:bodyPr wrap="square" lIns="0" tIns="0" rIns="0" bIns="0" rtlCol="0" anchor="t"/>
          <a:lstStyle/>
          <a:p>
            <a:pPr marL="0" indent="0">
              <a:buNone/>
            </a:pPr>
            <a:r>
              <a:rPr lang="en-US" sz="2500" b="1" dirty="0">
                <a:solidFill>
                  <a:srgbClr val="0B3B75"/>
                </a:solidFill>
                <a:latin typeface="Calibri" pitchFamily="34" charset="0"/>
                <a:ea typeface="Calibri" pitchFamily="34" charset="-122"/>
                <a:cs typeface="Calibri" pitchFamily="34" charset="-120"/>
              </a:rPr>
              <a:t>THỜI GIAN XỬ LÝ KỲ VỌNG CỦA QUY TRÌNH PYC (AS-IS)</a:t>
            </a:r>
            <a:endParaRPr lang="en-US" sz="2500" dirty="0"/>
          </a:p>
        </p:txBody>
      </p:sp>
      <p:sp>
        <p:nvSpPr>
          <p:cNvPr id="5" name="Text 3"/>
          <p:cNvSpPr txBox="1"/>
          <p:nvPr/>
        </p:nvSpPr>
        <p:spPr>
          <a:xfrm>
            <a:off x="548640" y="1024128"/>
            <a:ext cx="11094415" cy="274320"/>
          </a:xfrm>
          <a:prstGeom prst="rect">
            <a:avLst/>
          </a:prstGeom>
          <a:noFill/>
          <a:ln/>
        </p:spPr>
        <p:txBody>
          <a:bodyPr wrap="square" lIns="0" tIns="0" rIns="0" bIns="0" rtlCol="0" anchor="t"/>
          <a:lstStyle/>
          <a:p>
            <a:pPr marL="0" indent="0">
              <a:buNone/>
            </a:pPr>
            <a:r>
              <a:rPr lang="en-US" sz="1100" i="1" dirty="0">
                <a:solidFill>
                  <a:srgbClr val="6E7A88"/>
                </a:solidFill>
                <a:latin typeface="Calibri" pitchFamily="34" charset="0"/>
                <a:ea typeface="Calibri" pitchFamily="34" charset="-122"/>
                <a:cs typeface="Calibri" pitchFamily="34" charset="-120"/>
              </a:rPr>
              <a:t>Áp dụng công thức tính thời gian qua các cổng (Gateway) cho từng khối công việc</a:t>
            </a:r>
            <a:endParaRPr lang="en-US" sz="1100" dirty="0"/>
          </a:p>
        </p:txBody>
      </p:sp>
      <p:sp>
        <p:nvSpPr>
          <p:cNvPr id="6" name="Text 4"/>
          <p:cNvSpPr txBox="1"/>
          <p:nvPr/>
        </p:nvSpPr>
        <p:spPr>
          <a:xfrm>
            <a:off x="548640" y="6419088"/>
            <a:ext cx="8778240" cy="237744"/>
          </a:xfrm>
          <a:prstGeom prst="rect">
            <a:avLst/>
          </a:prstGeom>
          <a:noFill/>
          <a:ln/>
        </p:spPr>
        <p:txBody>
          <a:bodyPr wrap="square" lIns="0" tIns="0" rIns="0" bIns="0" rtlCol="0" anchor="t"/>
          <a:lstStyle/>
          <a:p>
            <a:pPr marL="0" indent="0">
              <a:buNone/>
            </a:pPr>
            <a:r>
              <a:rPr lang="en-US" sz="850" dirty="0">
                <a:solidFill>
                  <a:srgbClr val="6E7A88"/>
                </a:solidFill>
                <a:latin typeface="Calibri" pitchFamily="34" charset="0"/>
                <a:ea typeface="Calibri" pitchFamily="34" charset="-122"/>
                <a:cs typeface="Calibri" pitchFamily="34" charset="-120"/>
              </a:rPr>
              <a:t>HỆ THỐNG QUẢN TRỊ QUY TRÌNH NGHIỆP VỤ  ·  SACOMBANK — QUY TRÌNH PYC</a:t>
            </a:r>
            <a:endParaRPr lang="en-US" sz="850" dirty="0"/>
          </a:p>
        </p:txBody>
      </p:sp>
      <p:sp>
        <p:nvSpPr>
          <p:cNvPr id="7" name="Text 5"/>
          <p:cNvSpPr txBox="1"/>
          <p:nvPr/>
        </p:nvSpPr>
        <p:spPr>
          <a:xfrm>
            <a:off x="11155680" y="6382512"/>
            <a:ext cx="484632" cy="274320"/>
          </a:xfrm>
          <a:prstGeom prst="rect">
            <a:avLst/>
          </a:prstGeom>
          <a:noFill/>
          <a:ln/>
        </p:spPr>
        <p:txBody>
          <a:bodyPr wrap="square" lIns="0" tIns="0" rIns="0" bIns="0" rtlCol="0" anchor="t"/>
          <a:lstStyle/>
          <a:p>
            <a:pPr marL="0" indent="0" algn="r">
              <a:buNone/>
            </a:pPr>
            <a:r>
              <a:rPr lang="en-US" sz="1100" b="1" dirty="0">
                <a:solidFill>
                  <a:srgbClr val="A5741A"/>
                </a:solidFill>
                <a:latin typeface="Calibri" pitchFamily="34" charset="0"/>
                <a:ea typeface="Calibri" pitchFamily="34" charset="-122"/>
                <a:cs typeface="Calibri" pitchFamily="34" charset="-120"/>
              </a:rPr>
              <a:t>43</a:t>
            </a:r>
            <a:endParaRPr lang="en-US" sz="1100" dirty="0"/>
          </a:p>
        </p:txBody>
      </p:sp>
      <p:sp>
        <p:nvSpPr>
          <p:cNvPr id="8" name="Shape 6"/>
          <p:cNvSpPr/>
          <p:nvPr/>
        </p:nvSpPr>
        <p:spPr>
          <a:xfrm>
            <a:off x="548640" y="1517904"/>
            <a:ext cx="8595360" cy="731520"/>
          </a:xfrm>
          <a:prstGeom prst="roundRect">
            <a:avLst>
              <a:gd name="adj" fmla="val 7500"/>
            </a:avLst>
          </a:prstGeom>
          <a:solidFill>
            <a:srgbClr val="EFF4FB"/>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9" name="Text 7"/>
          <p:cNvSpPr txBox="1"/>
          <p:nvPr/>
        </p:nvSpPr>
        <p:spPr>
          <a:xfrm>
            <a:off x="731520" y="1591056"/>
            <a:ext cx="786384" cy="237744"/>
          </a:xfrm>
          <a:prstGeom prst="rect">
            <a:avLst/>
          </a:prstGeom>
          <a:noFill/>
          <a:ln/>
        </p:spPr>
        <p:txBody>
          <a:bodyPr wrap="square" lIns="0" tIns="0" rIns="0" bIns="0" rtlCol="0" anchor="t"/>
          <a:lstStyle/>
          <a:p>
            <a:pPr marL="0" indent="0">
              <a:buNone/>
            </a:pPr>
            <a:r>
              <a:rPr lang="en-US" sz="1100" b="1" dirty="0">
                <a:solidFill>
                  <a:srgbClr val="1660BF"/>
                </a:solidFill>
                <a:latin typeface="Calibri" pitchFamily="34" charset="0"/>
                <a:ea typeface="Calibri" pitchFamily="34" charset="-122"/>
                <a:cs typeface="Calibri" pitchFamily="34" charset="-120"/>
              </a:rPr>
              <a:t>KHỐI 1</a:t>
            </a:r>
            <a:endParaRPr lang="en-US" sz="1100" dirty="0"/>
          </a:p>
        </p:txBody>
      </p:sp>
      <p:sp>
        <p:nvSpPr>
          <p:cNvPr id="10" name="Text 8"/>
          <p:cNvSpPr txBox="1"/>
          <p:nvPr/>
        </p:nvSpPr>
        <p:spPr>
          <a:xfrm>
            <a:off x="1554480" y="1572768"/>
            <a:ext cx="2743200" cy="274320"/>
          </a:xfrm>
          <a:prstGeom prst="rect">
            <a:avLst/>
          </a:prstGeom>
          <a:noFill/>
          <a:ln/>
        </p:spPr>
        <p:txBody>
          <a:bodyPr wrap="square" lIns="0" tIns="0" rIns="0" bIns="0" rtlCol="0" anchor="t"/>
          <a:lstStyle/>
          <a:p>
            <a:pPr marL="0" indent="0">
              <a:buNone/>
            </a:pPr>
            <a:r>
              <a:rPr lang="en-US" sz="1200" b="1" dirty="0">
                <a:solidFill>
                  <a:srgbClr val="0B3B75"/>
                </a:solidFill>
                <a:latin typeface="Calibri" pitchFamily="34" charset="0"/>
                <a:ea typeface="Calibri" pitchFamily="34" charset="-122"/>
                <a:cs typeface="Calibri" pitchFamily="34" charset="-120"/>
              </a:rPr>
              <a:t>Khởi tạo và Phê duyệt</a:t>
            </a:r>
            <a:endParaRPr lang="en-US" sz="1200" dirty="0"/>
          </a:p>
        </p:txBody>
      </p:sp>
      <p:sp>
        <p:nvSpPr>
          <p:cNvPr id="11" name="Text 9"/>
          <p:cNvSpPr txBox="1"/>
          <p:nvPr/>
        </p:nvSpPr>
        <p:spPr>
          <a:xfrm>
            <a:off x="1554480" y="1865376"/>
            <a:ext cx="2743200" cy="256032"/>
          </a:xfrm>
          <a:prstGeom prst="rect">
            <a:avLst/>
          </a:prstGeom>
          <a:noFill/>
          <a:ln/>
        </p:spPr>
        <p:txBody>
          <a:bodyPr wrap="square" lIns="0" tIns="0" rIns="0" bIns="0" rtlCol="0" anchor="t"/>
          <a:lstStyle/>
          <a:p>
            <a:pPr marL="0" indent="0">
              <a:buNone/>
            </a:pPr>
            <a:endParaRPr lang="en-US" sz="900" dirty="0"/>
          </a:p>
        </p:txBody>
      </p:sp>
      <p:sp>
        <p:nvSpPr>
          <p:cNvPr id="12" name="Text 10"/>
          <p:cNvSpPr txBox="1"/>
          <p:nvPr/>
        </p:nvSpPr>
        <p:spPr>
          <a:xfrm>
            <a:off x="4434840" y="1609344"/>
            <a:ext cx="2743200" cy="548640"/>
          </a:xfrm>
          <a:prstGeom prst="rect">
            <a:avLst/>
          </a:prstGeom>
          <a:noFill/>
          <a:ln/>
        </p:spPr>
        <p:txBody>
          <a:bodyPr wrap="square" lIns="0" tIns="0" rIns="0" bIns="0" rtlCol="0" anchor="t"/>
          <a:lstStyle/>
          <a:p>
            <a:pPr marL="0" indent="0">
              <a:buNone/>
            </a:pPr>
            <a:r>
              <a:rPr lang="en-US" sz="950" dirty="0" err="1">
                <a:solidFill>
                  <a:srgbClr val="2A3442"/>
                </a:solidFill>
                <a:latin typeface="Calibri" pitchFamily="34" charset="0"/>
                <a:ea typeface="Calibri" pitchFamily="34" charset="-122"/>
                <a:cs typeface="Calibri" pitchFamily="34" charset="-120"/>
              </a:rPr>
              <a:t>Thời</a:t>
            </a:r>
            <a:r>
              <a:rPr lang="en-US" sz="950" dirty="0">
                <a:solidFill>
                  <a:srgbClr val="2A3442"/>
                </a:solidFill>
                <a:latin typeface="Calibri" pitchFamily="34" charset="0"/>
                <a:ea typeface="Calibri" pitchFamily="34" charset="-122"/>
                <a:cs typeface="Calibri" pitchFamily="34" charset="-120"/>
              </a:rPr>
              <a:t> </a:t>
            </a:r>
            <a:r>
              <a:rPr lang="en-US" sz="950" dirty="0" err="1">
                <a:solidFill>
                  <a:srgbClr val="2A3442"/>
                </a:solidFill>
                <a:latin typeface="Calibri" pitchFamily="34" charset="0"/>
                <a:ea typeface="Calibri" pitchFamily="34" charset="-122"/>
                <a:cs typeface="Calibri" pitchFamily="34" charset="-120"/>
              </a:rPr>
              <a:t>gian</a:t>
            </a:r>
            <a:r>
              <a:rPr lang="en-US" sz="950" dirty="0">
                <a:solidFill>
                  <a:srgbClr val="2A3442"/>
                </a:solidFill>
                <a:latin typeface="Calibri" pitchFamily="34" charset="0"/>
                <a:ea typeface="Calibri" pitchFamily="34" charset="-122"/>
                <a:cs typeface="Calibri" pitchFamily="34" charset="-120"/>
              </a:rPr>
              <a:t> </a:t>
            </a:r>
            <a:r>
              <a:rPr lang="en-US" sz="950" dirty="0" err="1">
                <a:solidFill>
                  <a:srgbClr val="2A3442"/>
                </a:solidFill>
                <a:latin typeface="Calibri" pitchFamily="34" charset="0"/>
                <a:ea typeface="Calibri" pitchFamily="34" charset="-122"/>
                <a:cs typeface="Calibri" pitchFamily="34" charset="-120"/>
              </a:rPr>
              <a:t>khởi</a:t>
            </a:r>
            <a:r>
              <a:rPr lang="en-US" sz="950" dirty="0">
                <a:solidFill>
                  <a:srgbClr val="2A3442"/>
                </a:solidFill>
                <a:latin typeface="Calibri" pitchFamily="34" charset="0"/>
                <a:ea typeface="Calibri" pitchFamily="34" charset="-122"/>
                <a:cs typeface="Calibri" pitchFamily="34" charset="-120"/>
              </a:rPr>
              <a:t> </a:t>
            </a:r>
            <a:r>
              <a:rPr lang="en-US" sz="950" dirty="0" err="1">
                <a:solidFill>
                  <a:srgbClr val="2A3442"/>
                </a:solidFill>
                <a:latin typeface="Calibri" pitchFamily="34" charset="0"/>
                <a:ea typeface="Calibri" pitchFamily="34" charset="-122"/>
                <a:cs typeface="Calibri" pitchFamily="34" charset="-120"/>
              </a:rPr>
              <a:t>tạo</a:t>
            </a:r>
            <a:r>
              <a:rPr lang="en-US" sz="950" dirty="0">
                <a:solidFill>
                  <a:srgbClr val="2A3442"/>
                </a:solidFill>
                <a:latin typeface="Calibri" pitchFamily="34" charset="0"/>
                <a:ea typeface="Calibri" pitchFamily="34" charset="-122"/>
                <a:cs typeface="Calibri" pitchFamily="34" charset="-120"/>
              </a:rPr>
              <a:t> 2,5 </a:t>
            </a:r>
            <a:r>
              <a:rPr lang="en-US" sz="950" dirty="0" err="1">
                <a:solidFill>
                  <a:srgbClr val="2A3442"/>
                </a:solidFill>
                <a:latin typeface="Calibri" pitchFamily="34" charset="0"/>
                <a:ea typeface="Calibri" pitchFamily="34" charset="-122"/>
                <a:cs typeface="Calibri" pitchFamily="34" charset="-120"/>
              </a:rPr>
              <a:t>giờ</a:t>
            </a:r>
            <a:endParaRPr lang="en-US" sz="950" dirty="0">
              <a:solidFill>
                <a:srgbClr val="2A3442"/>
              </a:solidFill>
              <a:latin typeface="Calibri" pitchFamily="34" charset="0"/>
              <a:ea typeface="Calibri" pitchFamily="34" charset="-122"/>
              <a:cs typeface="Calibri" pitchFamily="34" charset="-120"/>
            </a:endParaRPr>
          </a:p>
          <a:p>
            <a:pPr marL="0" indent="0">
              <a:buNone/>
            </a:pPr>
            <a:r>
              <a:rPr lang="en-US" sz="950" dirty="0" err="1"/>
              <a:t>Phân</a:t>
            </a:r>
            <a:r>
              <a:rPr lang="en-US" sz="950" dirty="0"/>
              <a:t> </a:t>
            </a:r>
            <a:r>
              <a:rPr lang="en-US" sz="950" dirty="0" err="1"/>
              <a:t>loại</a:t>
            </a:r>
            <a:r>
              <a:rPr lang="en-US" sz="950" dirty="0"/>
              <a:t> </a:t>
            </a:r>
            <a:r>
              <a:rPr lang="en-US" sz="950" dirty="0" err="1"/>
              <a:t>rủi</a:t>
            </a:r>
            <a:r>
              <a:rPr lang="en-US" sz="950" dirty="0"/>
              <a:t> </a:t>
            </a:r>
            <a:r>
              <a:rPr lang="en-US" sz="950" dirty="0" err="1"/>
              <a:t>ro</a:t>
            </a:r>
            <a:r>
              <a:rPr lang="en-US" sz="950" dirty="0"/>
              <a:t> 0.25</a:t>
            </a:r>
          </a:p>
          <a:p>
            <a:pPr marL="0" indent="0">
              <a:buNone/>
            </a:pPr>
            <a:r>
              <a:rPr lang="en-US" sz="950" dirty="0"/>
              <a:t>Quản </a:t>
            </a:r>
            <a:r>
              <a:rPr lang="en-US" sz="950" dirty="0" err="1"/>
              <a:t>lý</a:t>
            </a:r>
            <a:r>
              <a:rPr lang="en-US" sz="950" dirty="0"/>
              <a:t> </a:t>
            </a:r>
            <a:r>
              <a:rPr lang="en-US" sz="950" dirty="0" err="1"/>
              <a:t>phê</a:t>
            </a:r>
            <a:r>
              <a:rPr lang="en-US" sz="950" dirty="0"/>
              <a:t> </a:t>
            </a:r>
            <a:r>
              <a:rPr lang="en-US" sz="950" dirty="0" err="1"/>
              <a:t>duyệt</a:t>
            </a:r>
            <a:r>
              <a:rPr lang="en-US" sz="950" dirty="0"/>
              <a:t>: 0.08 + 0.9*5.08 + 0.1*6 = 5.25</a:t>
            </a:r>
          </a:p>
        </p:txBody>
      </p:sp>
      <p:sp>
        <p:nvSpPr>
          <p:cNvPr id="13" name="Text 11"/>
          <p:cNvSpPr txBox="1"/>
          <p:nvPr/>
        </p:nvSpPr>
        <p:spPr>
          <a:xfrm>
            <a:off x="7269480" y="1700784"/>
            <a:ext cx="1737360" cy="365760"/>
          </a:xfrm>
          <a:prstGeom prst="rect">
            <a:avLst/>
          </a:prstGeom>
          <a:noFill/>
          <a:ln/>
        </p:spPr>
        <p:txBody>
          <a:bodyPr wrap="square" lIns="0" tIns="0" rIns="0" bIns="0" rtlCol="0" anchor="t"/>
          <a:lstStyle/>
          <a:p>
            <a:pPr marL="0" indent="0" algn="r">
              <a:buNone/>
            </a:pPr>
            <a:r>
              <a:rPr lang="en-US" sz="1000" b="1" dirty="0">
                <a:solidFill>
                  <a:srgbClr val="0B3B75"/>
                </a:solidFill>
                <a:latin typeface="Calibri" pitchFamily="34" charset="0"/>
                <a:ea typeface="Calibri" pitchFamily="34" charset="-122"/>
                <a:cs typeface="Calibri" pitchFamily="34" charset="-120"/>
              </a:rPr>
              <a:t>T₁ = 8 </a:t>
            </a:r>
            <a:r>
              <a:rPr lang="en-US" sz="1000" b="1" dirty="0" err="1">
                <a:solidFill>
                  <a:srgbClr val="0B3B75"/>
                </a:solidFill>
                <a:latin typeface="Calibri" pitchFamily="34" charset="0"/>
                <a:ea typeface="Calibri" pitchFamily="34" charset="-122"/>
                <a:cs typeface="Calibri" pitchFamily="34" charset="-120"/>
              </a:rPr>
              <a:t>giờ</a:t>
            </a:r>
            <a:endParaRPr lang="en-US" sz="1000" dirty="0"/>
          </a:p>
        </p:txBody>
      </p:sp>
      <p:sp>
        <p:nvSpPr>
          <p:cNvPr id="14" name="Shape 12"/>
          <p:cNvSpPr/>
          <p:nvPr/>
        </p:nvSpPr>
        <p:spPr>
          <a:xfrm>
            <a:off x="548640" y="2377440"/>
            <a:ext cx="8595360" cy="731520"/>
          </a:xfrm>
          <a:prstGeom prst="roundRect">
            <a:avLst>
              <a:gd name="adj" fmla="val 7500"/>
            </a:avLst>
          </a:prstGeom>
          <a:solidFill>
            <a:srgbClr val="FFFFFF"/>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15" name="Text 13"/>
          <p:cNvSpPr txBox="1"/>
          <p:nvPr/>
        </p:nvSpPr>
        <p:spPr>
          <a:xfrm>
            <a:off x="731520" y="2450592"/>
            <a:ext cx="786384" cy="237744"/>
          </a:xfrm>
          <a:prstGeom prst="rect">
            <a:avLst/>
          </a:prstGeom>
          <a:noFill/>
          <a:ln/>
        </p:spPr>
        <p:txBody>
          <a:bodyPr wrap="square" lIns="0" tIns="0" rIns="0" bIns="0" rtlCol="0" anchor="t"/>
          <a:lstStyle/>
          <a:p>
            <a:pPr marL="0" indent="0">
              <a:buNone/>
            </a:pPr>
            <a:r>
              <a:rPr lang="en-US" sz="1100" b="1" dirty="0">
                <a:solidFill>
                  <a:srgbClr val="1660BF"/>
                </a:solidFill>
                <a:latin typeface="Calibri" pitchFamily="34" charset="0"/>
                <a:ea typeface="Calibri" pitchFamily="34" charset="-122"/>
                <a:cs typeface="Calibri" pitchFamily="34" charset="-120"/>
              </a:rPr>
              <a:t>KHỐI 2</a:t>
            </a:r>
            <a:endParaRPr lang="en-US" sz="1100" dirty="0"/>
          </a:p>
        </p:txBody>
      </p:sp>
      <p:sp>
        <p:nvSpPr>
          <p:cNvPr id="16" name="Text 14"/>
          <p:cNvSpPr txBox="1"/>
          <p:nvPr/>
        </p:nvSpPr>
        <p:spPr>
          <a:xfrm>
            <a:off x="1554480" y="2432304"/>
            <a:ext cx="2743200" cy="274320"/>
          </a:xfrm>
          <a:prstGeom prst="rect">
            <a:avLst/>
          </a:prstGeom>
          <a:noFill/>
          <a:ln/>
        </p:spPr>
        <p:txBody>
          <a:bodyPr wrap="square" lIns="0" tIns="0" rIns="0" bIns="0" rtlCol="0" anchor="t"/>
          <a:lstStyle/>
          <a:p>
            <a:pPr marL="0" indent="0">
              <a:buNone/>
            </a:pPr>
            <a:r>
              <a:rPr lang="en-US" sz="1200" b="1" dirty="0">
                <a:solidFill>
                  <a:srgbClr val="0B3B75"/>
                </a:solidFill>
                <a:latin typeface="Calibri" pitchFamily="34" charset="0"/>
                <a:ea typeface="Calibri" pitchFamily="34" charset="-122"/>
                <a:cs typeface="Calibri" pitchFamily="34" charset="-120"/>
              </a:rPr>
              <a:t>Tự động sinh WO &amp; IT phân loại</a:t>
            </a:r>
            <a:endParaRPr lang="en-US" sz="1200" dirty="0"/>
          </a:p>
        </p:txBody>
      </p:sp>
      <p:sp>
        <p:nvSpPr>
          <p:cNvPr id="17" name="Text 15"/>
          <p:cNvSpPr txBox="1"/>
          <p:nvPr/>
        </p:nvSpPr>
        <p:spPr>
          <a:xfrm>
            <a:off x="1554480" y="2724912"/>
            <a:ext cx="2743200" cy="256032"/>
          </a:xfrm>
          <a:prstGeom prst="rect">
            <a:avLst/>
          </a:prstGeom>
          <a:noFill/>
          <a:ln/>
        </p:spPr>
        <p:txBody>
          <a:bodyPr wrap="square" lIns="0" tIns="0" rIns="0" bIns="0" rtlCol="0" anchor="t"/>
          <a:lstStyle/>
          <a:p>
            <a:pPr marL="0" indent="0">
              <a:buNone/>
            </a:pPr>
            <a:endParaRPr lang="en-US" sz="900" dirty="0"/>
          </a:p>
        </p:txBody>
      </p:sp>
      <p:sp>
        <p:nvSpPr>
          <p:cNvPr id="18" name="Text 16"/>
          <p:cNvSpPr txBox="1"/>
          <p:nvPr/>
        </p:nvSpPr>
        <p:spPr>
          <a:xfrm>
            <a:off x="4434840" y="2468880"/>
            <a:ext cx="2743200" cy="548640"/>
          </a:xfrm>
          <a:prstGeom prst="rect">
            <a:avLst/>
          </a:prstGeom>
          <a:noFill/>
          <a:ln/>
        </p:spPr>
        <p:txBody>
          <a:bodyPr wrap="square" lIns="0" tIns="0" rIns="0" bIns="0" rtlCol="0" anchor="t"/>
          <a:lstStyle/>
          <a:p>
            <a:pPr marL="0" indent="0">
              <a:buNone/>
            </a:pPr>
            <a:r>
              <a:rPr lang="en-US" sz="950" dirty="0" err="1">
                <a:solidFill>
                  <a:srgbClr val="2A3442"/>
                </a:solidFill>
                <a:latin typeface="Calibri" pitchFamily="34" charset="0"/>
                <a:ea typeface="Calibri" pitchFamily="34" charset="-122"/>
                <a:cs typeface="Calibri" pitchFamily="34" charset="-120"/>
              </a:rPr>
              <a:t>Tự</a:t>
            </a:r>
            <a:r>
              <a:rPr lang="en-US" sz="950" dirty="0">
                <a:solidFill>
                  <a:srgbClr val="2A3442"/>
                </a:solidFill>
                <a:latin typeface="Calibri" pitchFamily="34" charset="0"/>
                <a:ea typeface="Calibri" pitchFamily="34" charset="-122"/>
                <a:cs typeface="Calibri" pitchFamily="34" charset="-120"/>
              </a:rPr>
              <a:t> </a:t>
            </a:r>
            <a:r>
              <a:rPr lang="en-US" sz="950" dirty="0" err="1">
                <a:solidFill>
                  <a:srgbClr val="2A3442"/>
                </a:solidFill>
                <a:latin typeface="Calibri" pitchFamily="34" charset="0"/>
                <a:ea typeface="Calibri" pitchFamily="34" charset="-122"/>
                <a:cs typeface="Calibri" pitchFamily="34" charset="-120"/>
              </a:rPr>
              <a:t>động</a:t>
            </a:r>
            <a:r>
              <a:rPr lang="en-US" sz="950" dirty="0">
                <a:solidFill>
                  <a:srgbClr val="2A3442"/>
                </a:solidFill>
                <a:latin typeface="Calibri" pitchFamily="34" charset="0"/>
                <a:ea typeface="Calibri" pitchFamily="34" charset="-122"/>
                <a:cs typeface="Calibri" pitchFamily="34" charset="-120"/>
              </a:rPr>
              <a:t> </a:t>
            </a:r>
            <a:r>
              <a:rPr lang="en-US" sz="950" dirty="0" err="1">
                <a:solidFill>
                  <a:srgbClr val="2A3442"/>
                </a:solidFill>
                <a:latin typeface="Calibri" pitchFamily="34" charset="0"/>
                <a:ea typeface="Calibri" pitchFamily="34" charset="-122"/>
                <a:cs typeface="Calibri" pitchFamily="34" charset="-120"/>
              </a:rPr>
              <a:t>gán</a:t>
            </a:r>
            <a:r>
              <a:rPr lang="en-US" sz="950" dirty="0">
                <a:solidFill>
                  <a:srgbClr val="2A3442"/>
                </a:solidFill>
                <a:latin typeface="Calibri" pitchFamily="34" charset="0"/>
                <a:ea typeface="Calibri" pitchFamily="34" charset="-122"/>
                <a:cs typeface="Calibri" pitchFamily="34" charset="-120"/>
              </a:rPr>
              <a:t> WO </a:t>
            </a:r>
            <a:r>
              <a:rPr lang="en-US" sz="950" dirty="0" err="1">
                <a:solidFill>
                  <a:srgbClr val="2A3442"/>
                </a:solidFill>
                <a:latin typeface="Calibri" pitchFamily="34" charset="0"/>
                <a:ea typeface="Calibri" pitchFamily="34" charset="-122"/>
                <a:cs typeface="Calibri" pitchFamily="34" charset="-120"/>
              </a:rPr>
              <a:t>và</a:t>
            </a:r>
            <a:r>
              <a:rPr lang="en-US" sz="950" dirty="0">
                <a:solidFill>
                  <a:srgbClr val="2A3442"/>
                </a:solidFill>
                <a:latin typeface="Calibri" pitchFamily="34" charset="0"/>
                <a:ea typeface="Calibri" pitchFamily="34" charset="-122"/>
                <a:cs typeface="Calibri" pitchFamily="34" charset="-120"/>
              </a:rPr>
              <a:t> </a:t>
            </a:r>
            <a:r>
              <a:rPr lang="en-US" sz="950" dirty="0" err="1">
                <a:solidFill>
                  <a:srgbClr val="2A3442"/>
                </a:solidFill>
                <a:latin typeface="Calibri" pitchFamily="34" charset="0"/>
                <a:ea typeface="Calibri" pitchFamily="34" charset="-122"/>
                <a:cs typeface="Calibri" pitchFamily="34" charset="-120"/>
              </a:rPr>
              <a:t>phân</a:t>
            </a:r>
            <a:r>
              <a:rPr lang="en-US" sz="950" dirty="0">
                <a:solidFill>
                  <a:srgbClr val="2A3442"/>
                </a:solidFill>
                <a:latin typeface="Calibri" pitchFamily="34" charset="0"/>
                <a:ea typeface="Calibri" pitchFamily="34" charset="-122"/>
                <a:cs typeface="Calibri" pitchFamily="34" charset="-120"/>
              </a:rPr>
              <a:t> </a:t>
            </a:r>
            <a:r>
              <a:rPr lang="en-US" sz="950" dirty="0" err="1">
                <a:solidFill>
                  <a:srgbClr val="2A3442"/>
                </a:solidFill>
                <a:latin typeface="Calibri" pitchFamily="34" charset="0"/>
                <a:ea typeface="Calibri" pitchFamily="34" charset="-122"/>
                <a:cs typeface="Calibri" pitchFamily="34" charset="-120"/>
              </a:rPr>
              <a:t>loại</a:t>
            </a:r>
            <a:r>
              <a:rPr lang="en-US" sz="950" dirty="0">
                <a:solidFill>
                  <a:srgbClr val="2A3442"/>
                </a:solidFill>
                <a:latin typeface="Calibri" pitchFamily="34" charset="0"/>
                <a:ea typeface="Calibri" pitchFamily="34" charset="-122"/>
                <a:cs typeface="Calibri" pitchFamily="34" charset="-120"/>
              </a:rPr>
              <a:t>: 0.66</a:t>
            </a:r>
          </a:p>
          <a:p>
            <a:pPr marL="0" indent="0">
              <a:buNone/>
            </a:pPr>
            <a:r>
              <a:rPr lang="en-US" sz="950" dirty="0">
                <a:solidFill>
                  <a:srgbClr val="2A3442"/>
                </a:solidFill>
                <a:latin typeface="Calibri" pitchFamily="34" charset="0"/>
                <a:ea typeface="Calibri" pitchFamily="34" charset="-122"/>
                <a:cs typeface="Calibri" pitchFamily="34" charset="-120"/>
              </a:rPr>
              <a:t>L1 </a:t>
            </a:r>
            <a:r>
              <a:rPr lang="en-US" sz="950" dirty="0" err="1">
                <a:solidFill>
                  <a:srgbClr val="2A3442"/>
                </a:solidFill>
                <a:latin typeface="Calibri" pitchFamily="34" charset="0"/>
                <a:ea typeface="Calibri" pitchFamily="34" charset="-122"/>
                <a:cs typeface="Calibri" pitchFamily="34" charset="-120"/>
              </a:rPr>
              <a:t>xác</a:t>
            </a:r>
            <a:r>
              <a:rPr lang="en-US" sz="950" dirty="0">
                <a:solidFill>
                  <a:srgbClr val="2A3442"/>
                </a:solidFill>
                <a:latin typeface="Calibri" pitchFamily="34" charset="0"/>
                <a:ea typeface="Calibri" pitchFamily="34" charset="-122"/>
                <a:cs typeface="Calibri" pitchFamily="34" charset="-120"/>
              </a:rPr>
              <a:t> </a:t>
            </a:r>
            <a:r>
              <a:rPr lang="en-US" sz="950" dirty="0" err="1">
                <a:solidFill>
                  <a:srgbClr val="2A3442"/>
                </a:solidFill>
                <a:latin typeface="Calibri" pitchFamily="34" charset="0"/>
                <a:ea typeface="Calibri" pitchFamily="34" charset="-122"/>
                <a:cs typeface="Calibri" pitchFamily="34" charset="-120"/>
              </a:rPr>
              <a:t>minh</a:t>
            </a:r>
            <a:r>
              <a:rPr lang="en-US" sz="950" dirty="0">
                <a:solidFill>
                  <a:srgbClr val="2A3442"/>
                </a:solidFill>
                <a:latin typeface="Calibri" pitchFamily="34" charset="0"/>
                <a:ea typeface="Calibri" pitchFamily="34" charset="-122"/>
                <a:cs typeface="Calibri" pitchFamily="34" charset="-120"/>
              </a:rPr>
              <a:t> </a:t>
            </a:r>
            <a:r>
              <a:rPr lang="en-US" sz="950" dirty="0" err="1">
                <a:solidFill>
                  <a:srgbClr val="2A3442"/>
                </a:solidFill>
                <a:latin typeface="Calibri" pitchFamily="34" charset="0"/>
                <a:ea typeface="Calibri" pitchFamily="34" charset="-122"/>
                <a:cs typeface="Calibri" pitchFamily="34" charset="-120"/>
              </a:rPr>
              <a:t>thông</a:t>
            </a:r>
            <a:r>
              <a:rPr lang="en-US" sz="950" dirty="0">
                <a:solidFill>
                  <a:srgbClr val="2A3442"/>
                </a:solidFill>
                <a:latin typeface="Calibri" pitchFamily="34" charset="0"/>
                <a:ea typeface="Calibri" pitchFamily="34" charset="-122"/>
                <a:cs typeface="Calibri" pitchFamily="34" charset="-120"/>
              </a:rPr>
              <a:t> tin: 0.5  </a:t>
            </a:r>
            <a:endParaRPr lang="en-US" sz="950" dirty="0"/>
          </a:p>
        </p:txBody>
      </p:sp>
      <p:sp>
        <p:nvSpPr>
          <p:cNvPr id="19" name="Text 17"/>
          <p:cNvSpPr txBox="1"/>
          <p:nvPr/>
        </p:nvSpPr>
        <p:spPr>
          <a:xfrm>
            <a:off x="7269480" y="2560320"/>
            <a:ext cx="1737360" cy="365760"/>
          </a:xfrm>
          <a:prstGeom prst="rect">
            <a:avLst/>
          </a:prstGeom>
          <a:noFill/>
          <a:ln/>
        </p:spPr>
        <p:txBody>
          <a:bodyPr wrap="square" lIns="0" tIns="0" rIns="0" bIns="0" rtlCol="0" anchor="t"/>
          <a:lstStyle/>
          <a:p>
            <a:pPr marL="0" indent="0" algn="r">
              <a:buNone/>
            </a:pPr>
            <a:r>
              <a:rPr lang="en-US" sz="1000" b="1" dirty="0">
                <a:solidFill>
                  <a:srgbClr val="0B3B75"/>
                </a:solidFill>
                <a:latin typeface="Calibri" pitchFamily="34" charset="0"/>
                <a:ea typeface="Calibri" pitchFamily="34" charset="-122"/>
                <a:cs typeface="Calibri" pitchFamily="34" charset="-120"/>
              </a:rPr>
              <a:t>T₂ = 0.66 + 0.5 = 1.16 </a:t>
            </a:r>
            <a:r>
              <a:rPr lang="en-US" sz="1000" b="1" dirty="0" err="1">
                <a:solidFill>
                  <a:srgbClr val="0B3B75"/>
                </a:solidFill>
                <a:latin typeface="Calibri" pitchFamily="34" charset="0"/>
                <a:ea typeface="Calibri" pitchFamily="34" charset="-122"/>
                <a:cs typeface="Calibri" pitchFamily="34" charset="-120"/>
              </a:rPr>
              <a:t>giờ</a:t>
            </a:r>
            <a:endParaRPr lang="en-US" sz="1000" dirty="0"/>
          </a:p>
        </p:txBody>
      </p:sp>
      <p:sp>
        <p:nvSpPr>
          <p:cNvPr id="20" name="Shape 18"/>
          <p:cNvSpPr/>
          <p:nvPr/>
        </p:nvSpPr>
        <p:spPr>
          <a:xfrm>
            <a:off x="548640" y="3236976"/>
            <a:ext cx="8595360" cy="731520"/>
          </a:xfrm>
          <a:prstGeom prst="roundRect">
            <a:avLst>
              <a:gd name="adj" fmla="val 7500"/>
            </a:avLst>
          </a:prstGeom>
          <a:solidFill>
            <a:srgbClr val="EFF4FB"/>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21" name="Text 19"/>
          <p:cNvSpPr txBox="1"/>
          <p:nvPr/>
        </p:nvSpPr>
        <p:spPr>
          <a:xfrm>
            <a:off x="731520" y="3310128"/>
            <a:ext cx="786384" cy="237744"/>
          </a:xfrm>
          <a:prstGeom prst="rect">
            <a:avLst/>
          </a:prstGeom>
          <a:noFill/>
          <a:ln/>
        </p:spPr>
        <p:txBody>
          <a:bodyPr wrap="square" lIns="0" tIns="0" rIns="0" bIns="0" rtlCol="0" anchor="t"/>
          <a:lstStyle/>
          <a:p>
            <a:pPr marL="0" indent="0">
              <a:buNone/>
            </a:pPr>
            <a:r>
              <a:rPr lang="en-US" sz="1100" b="1" dirty="0">
                <a:solidFill>
                  <a:srgbClr val="1660BF"/>
                </a:solidFill>
                <a:latin typeface="Calibri" pitchFamily="34" charset="0"/>
                <a:ea typeface="Calibri" pitchFamily="34" charset="-122"/>
                <a:cs typeface="Calibri" pitchFamily="34" charset="-120"/>
              </a:rPr>
              <a:t>KHỐI 3</a:t>
            </a:r>
            <a:endParaRPr lang="en-US" sz="1100" dirty="0"/>
          </a:p>
        </p:txBody>
      </p:sp>
      <p:sp>
        <p:nvSpPr>
          <p:cNvPr id="22" name="Text 20"/>
          <p:cNvSpPr txBox="1"/>
          <p:nvPr/>
        </p:nvSpPr>
        <p:spPr>
          <a:xfrm>
            <a:off x="1554480" y="3291840"/>
            <a:ext cx="2743200" cy="274320"/>
          </a:xfrm>
          <a:prstGeom prst="rect">
            <a:avLst/>
          </a:prstGeom>
          <a:noFill/>
          <a:ln/>
        </p:spPr>
        <p:txBody>
          <a:bodyPr wrap="square" lIns="0" tIns="0" rIns="0" bIns="0" rtlCol="0" anchor="t"/>
          <a:lstStyle/>
          <a:p>
            <a:pPr marL="0" indent="0">
              <a:buNone/>
            </a:pPr>
            <a:r>
              <a:rPr lang="en-US" sz="1200" b="1" dirty="0">
                <a:solidFill>
                  <a:srgbClr val="0B3B75"/>
                </a:solidFill>
                <a:latin typeface="Calibri" pitchFamily="34" charset="0"/>
                <a:ea typeface="Calibri" pitchFamily="34" charset="-122"/>
                <a:cs typeface="Calibri" pitchFamily="34" charset="-120"/>
              </a:rPr>
              <a:t>Xử </a:t>
            </a:r>
            <a:r>
              <a:rPr lang="en-US" sz="1200" b="1" dirty="0" err="1">
                <a:solidFill>
                  <a:srgbClr val="0B3B75"/>
                </a:solidFill>
                <a:latin typeface="Calibri" pitchFamily="34" charset="0"/>
                <a:ea typeface="Calibri" pitchFamily="34" charset="-122"/>
                <a:cs typeface="Calibri" pitchFamily="34" charset="-120"/>
              </a:rPr>
              <a:t>lý</a:t>
            </a:r>
            <a:r>
              <a:rPr lang="en-US" sz="1200" b="1" dirty="0">
                <a:solidFill>
                  <a:srgbClr val="0B3B75"/>
                </a:solidFill>
                <a:latin typeface="Calibri" pitchFamily="34" charset="0"/>
                <a:ea typeface="Calibri" pitchFamily="34" charset="-122"/>
                <a:cs typeface="Calibri" pitchFamily="34" charset="-120"/>
              </a:rPr>
              <a:t> WO</a:t>
            </a:r>
            <a:endParaRPr lang="en-US" sz="1200" dirty="0"/>
          </a:p>
        </p:txBody>
      </p:sp>
      <p:sp>
        <p:nvSpPr>
          <p:cNvPr id="23" name="Text 21"/>
          <p:cNvSpPr txBox="1"/>
          <p:nvPr/>
        </p:nvSpPr>
        <p:spPr>
          <a:xfrm>
            <a:off x="1554480" y="3584448"/>
            <a:ext cx="2743200" cy="256032"/>
          </a:xfrm>
          <a:prstGeom prst="rect">
            <a:avLst/>
          </a:prstGeom>
          <a:noFill/>
          <a:ln/>
        </p:spPr>
        <p:txBody>
          <a:bodyPr wrap="square" lIns="0" tIns="0" rIns="0" bIns="0" rtlCol="0" anchor="t"/>
          <a:lstStyle/>
          <a:p>
            <a:pPr marL="0" indent="0">
              <a:buNone/>
            </a:pPr>
            <a:endParaRPr lang="en-US" sz="900" dirty="0"/>
          </a:p>
        </p:txBody>
      </p:sp>
      <p:sp>
        <p:nvSpPr>
          <p:cNvPr id="24" name="Text 22"/>
          <p:cNvSpPr txBox="1"/>
          <p:nvPr/>
        </p:nvSpPr>
        <p:spPr>
          <a:xfrm>
            <a:off x="4434840" y="3328416"/>
            <a:ext cx="2743200" cy="548640"/>
          </a:xfrm>
          <a:prstGeom prst="rect">
            <a:avLst/>
          </a:prstGeom>
          <a:noFill/>
          <a:ln/>
        </p:spPr>
        <p:txBody>
          <a:bodyPr wrap="square" lIns="0" tIns="0" rIns="0" bIns="0" rtlCol="0" anchor="t"/>
          <a:lstStyle/>
          <a:p>
            <a:pPr marL="0" indent="0">
              <a:buNone/>
            </a:pPr>
            <a:r>
              <a:rPr lang="en-US" sz="950" dirty="0" err="1">
                <a:solidFill>
                  <a:srgbClr val="2A3442"/>
                </a:solidFill>
                <a:latin typeface="Calibri" pitchFamily="34" charset="0"/>
                <a:ea typeface="Calibri" pitchFamily="34" charset="-122"/>
                <a:cs typeface="Calibri" pitchFamily="34" charset="-120"/>
              </a:rPr>
              <a:t>Xử</a:t>
            </a:r>
            <a:r>
              <a:rPr lang="en-US" sz="950" dirty="0">
                <a:solidFill>
                  <a:srgbClr val="2A3442"/>
                </a:solidFill>
                <a:latin typeface="Calibri" pitchFamily="34" charset="0"/>
                <a:ea typeface="Calibri" pitchFamily="34" charset="-122"/>
                <a:cs typeface="Calibri" pitchFamily="34" charset="-120"/>
              </a:rPr>
              <a:t> </a:t>
            </a:r>
            <a:r>
              <a:rPr lang="en-US" sz="950" dirty="0" err="1">
                <a:solidFill>
                  <a:srgbClr val="2A3442"/>
                </a:solidFill>
                <a:latin typeface="Calibri" pitchFamily="34" charset="0"/>
                <a:ea typeface="Calibri" pitchFamily="34" charset="-122"/>
                <a:cs typeface="Calibri" pitchFamily="34" charset="-120"/>
              </a:rPr>
              <a:t>lý</a:t>
            </a:r>
            <a:r>
              <a:rPr lang="en-US" sz="950" dirty="0">
                <a:solidFill>
                  <a:srgbClr val="2A3442"/>
                </a:solidFill>
                <a:latin typeface="Calibri" pitchFamily="34" charset="0"/>
                <a:ea typeface="Calibri" pitchFamily="34" charset="-122"/>
                <a:cs typeface="Calibri" pitchFamily="34" charset="-120"/>
              </a:rPr>
              <a:t> </a:t>
            </a:r>
            <a:r>
              <a:rPr lang="en-US" sz="950" dirty="0" err="1">
                <a:solidFill>
                  <a:srgbClr val="2A3442"/>
                </a:solidFill>
                <a:latin typeface="Calibri" pitchFamily="34" charset="0"/>
                <a:ea typeface="Calibri" pitchFamily="34" charset="-122"/>
                <a:cs typeface="Calibri" pitchFamily="34" charset="-120"/>
              </a:rPr>
              <a:t>trực</a:t>
            </a:r>
            <a:r>
              <a:rPr lang="en-US" sz="950" dirty="0">
                <a:solidFill>
                  <a:srgbClr val="2A3442"/>
                </a:solidFill>
                <a:latin typeface="Calibri" pitchFamily="34" charset="0"/>
                <a:ea typeface="Calibri" pitchFamily="34" charset="-122"/>
                <a:cs typeface="Calibri" pitchFamily="34" charset="-120"/>
              </a:rPr>
              <a:t> </a:t>
            </a:r>
            <a:r>
              <a:rPr lang="en-US" sz="950" dirty="0" err="1">
                <a:solidFill>
                  <a:srgbClr val="2A3442"/>
                </a:solidFill>
                <a:latin typeface="Calibri" pitchFamily="34" charset="0"/>
                <a:ea typeface="Calibri" pitchFamily="34" charset="-122"/>
                <a:cs typeface="Calibri" pitchFamily="34" charset="-120"/>
              </a:rPr>
              <a:t>tiếp</a:t>
            </a:r>
            <a:r>
              <a:rPr lang="en-US" sz="950" dirty="0">
                <a:solidFill>
                  <a:srgbClr val="2A3442"/>
                </a:solidFill>
                <a:latin typeface="Calibri" pitchFamily="34" charset="0"/>
                <a:ea typeface="Calibri" pitchFamily="34" charset="-122"/>
                <a:cs typeface="Calibri" pitchFamily="34" charset="-120"/>
              </a:rPr>
              <a:t>: 0.7*2.3 = 1.61</a:t>
            </a:r>
          </a:p>
          <a:p>
            <a:pPr marL="0" indent="0">
              <a:buNone/>
            </a:pPr>
            <a:r>
              <a:rPr lang="en-US" sz="950" dirty="0">
                <a:solidFill>
                  <a:srgbClr val="2A3442"/>
                </a:solidFill>
                <a:latin typeface="Calibri" pitchFamily="34" charset="0"/>
                <a:ea typeface="Calibri" pitchFamily="34" charset="-122"/>
                <a:cs typeface="Calibri" pitchFamily="34" charset="-120"/>
              </a:rPr>
              <a:t>L2 </a:t>
            </a:r>
            <a:r>
              <a:rPr lang="en-US" sz="950" dirty="0" err="1">
                <a:solidFill>
                  <a:srgbClr val="2A3442"/>
                </a:solidFill>
                <a:latin typeface="Calibri" pitchFamily="34" charset="0"/>
                <a:ea typeface="Calibri" pitchFamily="34" charset="-122"/>
                <a:cs typeface="Calibri" pitchFamily="34" charset="-120"/>
              </a:rPr>
              <a:t>xử</a:t>
            </a:r>
            <a:r>
              <a:rPr lang="en-US" sz="950" dirty="0">
                <a:solidFill>
                  <a:srgbClr val="2A3442"/>
                </a:solidFill>
                <a:latin typeface="Calibri" pitchFamily="34" charset="0"/>
                <a:ea typeface="Calibri" pitchFamily="34" charset="-122"/>
                <a:cs typeface="Calibri" pitchFamily="34" charset="-120"/>
              </a:rPr>
              <a:t> </a:t>
            </a:r>
            <a:r>
              <a:rPr lang="en-US" sz="950" dirty="0" err="1">
                <a:solidFill>
                  <a:srgbClr val="2A3442"/>
                </a:solidFill>
                <a:latin typeface="Calibri" pitchFamily="34" charset="0"/>
                <a:ea typeface="Calibri" pitchFamily="34" charset="-122"/>
                <a:cs typeface="Calibri" pitchFamily="34" charset="-120"/>
              </a:rPr>
              <a:t>lý</a:t>
            </a:r>
            <a:r>
              <a:rPr lang="en-US" sz="950" dirty="0">
                <a:solidFill>
                  <a:srgbClr val="2A3442"/>
                </a:solidFill>
                <a:latin typeface="Calibri" pitchFamily="34" charset="0"/>
                <a:ea typeface="Calibri" pitchFamily="34" charset="-122"/>
                <a:cs typeface="Calibri" pitchFamily="34" charset="-120"/>
              </a:rPr>
              <a:t>: 0.3*14.66 = 4.4</a:t>
            </a:r>
            <a:endParaRPr lang="en-US" sz="950" dirty="0"/>
          </a:p>
        </p:txBody>
      </p:sp>
      <p:sp>
        <p:nvSpPr>
          <p:cNvPr id="25" name="Text 23"/>
          <p:cNvSpPr txBox="1"/>
          <p:nvPr/>
        </p:nvSpPr>
        <p:spPr>
          <a:xfrm>
            <a:off x="7269480" y="3419856"/>
            <a:ext cx="1737360" cy="365760"/>
          </a:xfrm>
          <a:prstGeom prst="rect">
            <a:avLst/>
          </a:prstGeom>
          <a:noFill/>
          <a:ln/>
        </p:spPr>
        <p:txBody>
          <a:bodyPr wrap="square" lIns="0" tIns="0" rIns="0" bIns="0" rtlCol="0" anchor="t"/>
          <a:lstStyle/>
          <a:p>
            <a:pPr marL="0" indent="0" algn="r">
              <a:buNone/>
            </a:pPr>
            <a:r>
              <a:rPr lang="en-US" sz="1000" b="1" dirty="0">
                <a:solidFill>
                  <a:srgbClr val="0B3B75"/>
                </a:solidFill>
                <a:latin typeface="Calibri" pitchFamily="34" charset="0"/>
                <a:ea typeface="Calibri" pitchFamily="34" charset="-122"/>
                <a:cs typeface="Calibri" pitchFamily="34" charset="-120"/>
              </a:rPr>
              <a:t>T₃ = 1.6 + 4.4 = 6 giờ</a:t>
            </a:r>
            <a:endParaRPr lang="en-US" sz="1000" dirty="0"/>
          </a:p>
        </p:txBody>
      </p:sp>
      <p:sp>
        <p:nvSpPr>
          <p:cNvPr id="26" name="Shape 24"/>
          <p:cNvSpPr/>
          <p:nvPr/>
        </p:nvSpPr>
        <p:spPr>
          <a:xfrm>
            <a:off x="548640" y="4096512"/>
            <a:ext cx="8595360" cy="731520"/>
          </a:xfrm>
          <a:prstGeom prst="roundRect">
            <a:avLst>
              <a:gd name="adj" fmla="val 7500"/>
            </a:avLst>
          </a:prstGeom>
          <a:solidFill>
            <a:srgbClr val="FFFFFF"/>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27" name="Text 25"/>
          <p:cNvSpPr txBox="1"/>
          <p:nvPr/>
        </p:nvSpPr>
        <p:spPr>
          <a:xfrm>
            <a:off x="731520" y="4169664"/>
            <a:ext cx="786384" cy="237744"/>
          </a:xfrm>
          <a:prstGeom prst="rect">
            <a:avLst/>
          </a:prstGeom>
          <a:noFill/>
          <a:ln/>
        </p:spPr>
        <p:txBody>
          <a:bodyPr wrap="square" lIns="0" tIns="0" rIns="0" bIns="0" rtlCol="0" anchor="t"/>
          <a:lstStyle/>
          <a:p>
            <a:pPr marL="0" indent="0">
              <a:buNone/>
            </a:pPr>
            <a:r>
              <a:rPr lang="en-US" sz="1100" b="1" dirty="0">
                <a:solidFill>
                  <a:srgbClr val="1660BF"/>
                </a:solidFill>
                <a:latin typeface="Calibri" pitchFamily="34" charset="0"/>
                <a:ea typeface="Calibri" pitchFamily="34" charset="-122"/>
                <a:cs typeface="Calibri" pitchFamily="34" charset="-120"/>
              </a:rPr>
              <a:t>KHỐI 4</a:t>
            </a:r>
            <a:endParaRPr lang="en-US" sz="1100" dirty="0"/>
          </a:p>
        </p:txBody>
      </p:sp>
      <p:sp>
        <p:nvSpPr>
          <p:cNvPr id="28" name="Text 26"/>
          <p:cNvSpPr txBox="1"/>
          <p:nvPr/>
        </p:nvSpPr>
        <p:spPr>
          <a:xfrm>
            <a:off x="1554480" y="4151376"/>
            <a:ext cx="2743200" cy="274320"/>
          </a:xfrm>
          <a:prstGeom prst="rect">
            <a:avLst/>
          </a:prstGeom>
          <a:noFill/>
          <a:ln/>
        </p:spPr>
        <p:txBody>
          <a:bodyPr wrap="square" lIns="0" tIns="0" rIns="0" bIns="0" rtlCol="0" anchor="t"/>
          <a:lstStyle/>
          <a:p>
            <a:pPr marL="0" indent="0">
              <a:buNone/>
            </a:pPr>
            <a:r>
              <a:rPr lang="en-US" sz="1200" b="1" dirty="0">
                <a:solidFill>
                  <a:srgbClr val="0B3B75"/>
                </a:solidFill>
                <a:latin typeface="Calibri" pitchFamily="34" charset="0"/>
                <a:ea typeface="Calibri" pitchFamily="34" charset="-122"/>
                <a:cs typeface="Calibri" pitchFamily="34" charset="-120"/>
              </a:rPr>
              <a:t>Hoàn tất &amp; Đóng phiếu</a:t>
            </a:r>
            <a:endParaRPr lang="en-US" sz="1200" dirty="0"/>
          </a:p>
        </p:txBody>
      </p:sp>
      <p:sp>
        <p:nvSpPr>
          <p:cNvPr id="29" name="Text 27"/>
          <p:cNvSpPr txBox="1"/>
          <p:nvPr/>
        </p:nvSpPr>
        <p:spPr>
          <a:xfrm>
            <a:off x="1554480" y="4443984"/>
            <a:ext cx="2743200" cy="256032"/>
          </a:xfrm>
          <a:prstGeom prst="rect">
            <a:avLst/>
          </a:prstGeom>
          <a:noFill/>
          <a:ln/>
        </p:spPr>
        <p:txBody>
          <a:bodyPr wrap="square" lIns="0" tIns="0" rIns="0" bIns="0" rtlCol="0" anchor="t"/>
          <a:lstStyle/>
          <a:p>
            <a:pPr marL="0" indent="0">
              <a:buNone/>
            </a:pPr>
            <a:endParaRPr lang="en-US" sz="900" dirty="0"/>
          </a:p>
        </p:txBody>
      </p:sp>
      <p:sp>
        <p:nvSpPr>
          <p:cNvPr id="30" name="Text 28"/>
          <p:cNvSpPr txBox="1"/>
          <p:nvPr/>
        </p:nvSpPr>
        <p:spPr>
          <a:xfrm>
            <a:off x="4434840" y="4187952"/>
            <a:ext cx="2743200" cy="548640"/>
          </a:xfrm>
          <a:prstGeom prst="rect">
            <a:avLst/>
          </a:prstGeom>
          <a:noFill/>
          <a:ln/>
        </p:spPr>
        <p:txBody>
          <a:bodyPr wrap="square" lIns="0" tIns="0" rIns="0" bIns="0" rtlCol="0" anchor="t"/>
          <a:lstStyle/>
          <a:p>
            <a:pPr marL="0" indent="0">
              <a:buNone/>
            </a:pPr>
            <a:r>
              <a:rPr lang="en-US" sz="950" dirty="0" err="1">
                <a:solidFill>
                  <a:srgbClr val="2A3442"/>
                </a:solidFill>
                <a:latin typeface="Calibri" pitchFamily="34" charset="0"/>
                <a:ea typeface="Calibri" pitchFamily="34" charset="-122"/>
                <a:cs typeface="Calibri" pitchFamily="34" charset="-120"/>
              </a:rPr>
              <a:t>Cập</a:t>
            </a:r>
            <a:r>
              <a:rPr lang="en-US" sz="950" dirty="0">
                <a:solidFill>
                  <a:srgbClr val="2A3442"/>
                </a:solidFill>
                <a:latin typeface="Calibri" pitchFamily="34" charset="0"/>
                <a:ea typeface="Calibri" pitchFamily="34" charset="-122"/>
                <a:cs typeface="Calibri" pitchFamily="34" charset="-120"/>
              </a:rPr>
              <a:t> </a:t>
            </a:r>
            <a:r>
              <a:rPr lang="en-US" sz="950" dirty="0" err="1">
                <a:solidFill>
                  <a:srgbClr val="2A3442"/>
                </a:solidFill>
                <a:latin typeface="Calibri" pitchFamily="34" charset="0"/>
                <a:ea typeface="Calibri" pitchFamily="34" charset="-122"/>
                <a:cs typeface="Calibri" pitchFamily="34" charset="-120"/>
              </a:rPr>
              <a:t>nhật</a:t>
            </a:r>
            <a:r>
              <a:rPr lang="en-US" sz="950" dirty="0">
                <a:solidFill>
                  <a:srgbClr val="2A3442"/>
                </a:solidFill>
                <a:latin typeface="Calibri" pitchFamily="34" charset="0"/>
                <a:ea typeface="Calibri" pitchFamily="34" charset="-122"/>
                <a:cs typeface="Calibri" pitchFamily="34" charset="-120"/>
              </a:rPr>
              <a:t> </a:t>
            </a:r>
            <a:r>
              <a:rPr lang="en-US" sz="950" dirty="0" err="1">
                <a:solidFill>
                  <a:srgbClr val="2A3442"/>
                </a:solidFill>
                <a:latin typeface="Calibri" pitchFamily="34" charset="0"/>
                <a:ea typeface="Calibri" pitchFamily="34" charset="-122"/>
                <a:cs typeface="Calibri" pitchFamily="34" charset="-120"/>
              </a:rPr>
              <a:t>trạng</a:t>
            </a:r>
            <a:r>
              <a:rPr lang="en-US" sz="950" dirty="0">
                <a:solidFill>
                  <a:srgbClr val="2A3442"/>
                </a:solidFill>
                <a:latin typeface="Calibri" pitchFamily="34" charset="0"/>
                <a:ea typeface="Calibri" pitchFamily="34" charset="-122"/>
                <a:cs typeface="Calibri" pitchFamily="34" charset="-120"/>
              </a:rPr>
              <a:t> </a:t>
            </a:r>
            <a:r>
              <a:rPr lang="en-US" sz="950" dirty="0" err="1">
                <a:solidFill>
                  <a:srgbClr val="2A3442"/>
                </a:solidFill>
                <a:latin typeface="Calibri" pitchFamily="34" charset="0"/>
                <a:ea typeface="Calibri" pitchFamily="34" charset="-122"/>
                <a:cs typeface="Calibri" pitchFamily="34" charset="-120"/>
              </a:rPr>
              <a:t>thái</a:t>
            </a:r>
            <a:r>
              <a:rPr lang="en-US" sz="950" dirty="0">
                <a:solidFill>
                  <a:srgbClr val="2A3442"/>
                </a:solidFill>
                <a:latin typeface="Calibri" pitchFamily="34" charset="0"/>
                <a:ea typeface="Calibri" pitchFamily="34" charset="-122"/>
                <a:cs typeface="Calibri" pitchFamily="34" charset="-120"/>
              </a:rPr>
              <a:t>, </a:t>
            </a:r>
            <a:r>
              <a:rPr lang="en-US" sz="950" dirty="0" err="1">
                <a:solidFill>
                  <a:srgbClr val="2A3442"/>
                </a:solidFill>
                <a:latin typeface="Calibri" pitchFamily="34" charset="0"/>
                <a:ea typeface="Calibri" pitchFamily="34" charset="-122"/>
                <a:cs typeface="Calibri" pitchFamily="34" charset="-120"/>
              </a:rPr>
              <a:t>kiểm</a:t>
            </a:r>
            <a:r>
              <a:rPr lang="en-US" sz="950" dirty="0">
                <a:solidFill>
                  <a:srgbClr val="2A3442"/>
                </a:solidFill>
                <a:latin typeface="Calibri" pitchFamily="34" charset="0"/>
                <a:ea typeface="Calibri" pitchFamily="34" charset="-122"/>
                <a:cs typeface="Calibri" pitchFamily="34" charset="-120"/>
              </a:rPr>
              <a:t> </a:t>
            </a:r>
            <a:r>
              <a:rPr lang="en-US" sz="950" dirty="0" err="1">
                <a:solidFill>
                  <a:srgbClr val="2A3442"/>
                </a:solidFill>
                <a:latin typeface="Calibri" pitchFamily="34" charset="0"/>
                <a:ea typeface="Calibri" pitchFamily="34" charset="-122"/>
                <a:cs typeface="Calibri" pitchFamily="34" charset="-120"/>
              </a:rPr>
              <a:t>tra</a:t>
            </a:r>
            <a:r>
              <a:rPr lang="en-US" sz="950" dirty="0">
                <a:solidFill>
                  <a:srgbClr val="2A3442"/>
                </a:solidFill>
                <a:latin typeface="Calibri" pitchFamily="34" charset="0"/>
                <a:ea typeface="Calibri" pitchFamily="34" charset="-122"/>
                <a:cs typeface="Calibri" pitchFamily="34" charset="-120"/>
              </a:rPr>
              <a:t> </a:t>
            </a:r>
            <a:r>
              <a:rPr lang="en-US" sz="950" dirty="0" err="1">
                <a:solidFill>
                  <a:srgbClr val="2A3442"/>
                </a:solidFill>
                <a:latin typeface="Calibri" pitchFamily="34" charset="0"/>
                <a:ea typeface="Calibri" pitchFamily="34" charset="-122"/>
                <a:cs typeface="Calibri" pitchFamily="34" charset="-120"/>
              </a:rPr>
              <a:t>và</a:t>
            </a:r>
            <a:r>
              <a:rPr lang="en-US" sz="950" dirty="0">
                <a:solidFill>
                  <a:srgbClr val="2A3442"/>
                </a:solidFill>
                <a:latin typeface="Calibri" pitchFamily="34" charset="0"/>
                <a:ea typeface="Calibri" pitchFamily="34" charset="-122"/>
                <a:cs typeface="Calibri" pitchFamily="34" charset="-120"/>
              </a:rPr>
              <a:t> </a:t>
            </a:r>
            <a:r>
              <a:rPr lang="en-US" sz="950" dirty="0" err="1">
                <a:solidFill>
                  <a:srgbClr val="2A3442"/>
                </a:solidFill>
                <a:latin typeface="Calibri" pitchFamily="34" charset="0"/>
                <a:ea typeface="Calibri" pitchFamily="34" charset="-122"/>
                <a:cs typeface="Calibri" pitchFamily="34" charset="-120"/>
              </a:rPr>
              <a:t>đóng</a:t>
            </a:r>
            <a:r>
              <a:rPr lang="en-US" sz="950" dirty="0">
                <a:solidFill>
                  <a:srgbClr val="2A3442"/>
                </a:solidFill>
                <a:latin typeface="Calibri" pitchFamily="34" charset="0"/>
                <a:ea typeface="Calibri" pitchFamily="34" charset="-122"/>
                <a:cs typeface="Calibri" pitchFamily="34" charset="-120"/>
              </a:rPr>
              <a:t> ticket: 1.08</a:t>
            </a:r>
          </a:p>
          <a:p>
            <a:pPr marL="0" indent="0">
              <a:buNone/>
            </a:pPr>
            <a:r>
              <a:rPr lang="en-US" sz="950" dirty="0">
                <a:solidFill>
                  <a:srgbClr val="2A3442"/>
                </a:solidFill>
                <a:latin typeface="Calibri" pitchFamily="34" charset="0"/>
                <a:ea typeface="Calibri" pitchFamily="34" charset="-122"/>
                <a:cs typeface="Calibri" pitchFamily="34" charset="-120"/>
              </a:rPr>
              <a:t>KH confirm: 0.75*0.08 = 0.06</a:t>
            </a:r>
          </a:p>
          <a:p>
            <a:pPr marL="0" indent="0">
              <a:buNone/>
            </a:pPr>
            <a:r>
              <a:rPr lang="en-US" sz="950" dirty="0" err="1">
                <a:solidFill>
                  <a:srgbClr val="2A3442"/>
                </a:solidFill>
                <a:latin typeface="Calibri" pitchFamily="34" charset="0"/>
                <a:ea typeface="Calibri" pitchFamily="34" charset="-122"/>
                <a:cs typeface="Calibri" pitchFamily="34" charset="-120"/>
              </a:rPr>
              <a:t>Hết</a:t>
            </a:r>
            <a:r>
              <a:rPr lang="en-US" sz="950" dirty="0">
                <a:solidFill>
                  <a:srgbClr val="2A3442"/>
                </a:solidFill>
                <a:latin typeface="Calibri" pitchFamily="34" charset="0"/>
                <a:ea typeface="Calibri" pitchFamily="34" charset="-122"/>
                <a:cs typeface="Calibri" pitchFamily="34" charset="-120"/>
              </a:rPr>
              <a:t> </a:t>
            </a:r>
            <a:r>
              <a:rPr lang="en-US" sz="950" dirty="0" err="1">
                <a:solidFill>
                  <a:srgbClr val="2A3442"/>
                </a:solidFill>
                <a:latin typeface="Calibri" pitchFamily="34" charset="0"/>
                <a:ea typeface="Calibri" pitchFamily="34" charset="-122"/>
                <a:cs typeface="Calibri" pitchFamily="34" charset="-120"/>
              </a:rPr>
              <a:t>thời</a:t>
            </a:r>
            <a:r>
              <a:rPr lang="en-US" sz="950" dirty="0">
                <a:solidFill>
                  <a:srgbClr val="2A3442"/>
                </a:solidFill>
                <a:latin typeface="Calibri" pitchFamily="34" charset="0"/>
                <a:ea typeface="Calibri" pitchFamily="34" charset="-122"/>
                <a:cs typeface="Calibri" pitchFamily="34" charset="-120"/>
              </a:rPr>
              <a:t> </a:t>
            </a:r>
            <a:r>
              <a:rPr lang="en-US" sz="950" dirty="0" err="1">
                <a:solidFill>
                  <a:srgbClr val="2A3442"/>
                </a:solidFill>
                <a:latin typeface="Calibri" pitchFamily="34" charset="0"/>
                <a:ea typeface="Calibri" pitchFamily="34" charset="-122"/>
                <a:cs typeface="Calibri" pitchFamily="34" charset="-120"/>
              </a:rPr>
              <a:t>gian</a:t>
            </a:r>
            <a:r>
              <a:rPr lang="en-US" sz="950" dirty="0">
                <a:solidFill>
                  <a:srgbClr val="2A3442"/>
                </a:solidFill>
                <a:latin typeface="Calibri" pitchFamily="34" charset="0"/>
                <a:ea typeface="Calibri" pitchFamily="34" charset="-122"/>
                <a:cs typeface="Calibri" pitchFamily="34" charset="-120"/>
              </a:rPr>
              <a:t> </a:t>
            </a:r>
            <a:r>
              <a:rPr lang="en-US" sz="950" dirty="0" err="1">
                <a:solidFill>
                  <a:srgbClr val="2A3442"/>
                </a:solidFill>
                <a:latin typeface="Calibri" pitchFamily="34" charset="0"/>
                <a:ea typeface="Calibri" pitchFamily="34" charset="-122"/>
                <a:cs typeface="Calibri" pitchFamily="34" charset="-120"/>
              </a:rPr>
              <a:t>đợi</a:t>
            </a:r>
            <a:r>
              <a:rPr lang="en-US" sz="950" dirty="0">
                <a:solidFill>
                  <a:srgbClr val="2A3442"/>
                </a:solidFill>
                <a:latin typeface="Calibri" pitchFamily="34" charset="0"/>
                <a:ea typeface="Calibri" pitchFamily="34" charset="-122"/>
                <a:cs typeface="Calibri" pitchFamily="34" charset="-120"/>
              </a:rPr>
              <a:t>: 0.25*8 = 2</a:t>
            </a:r>
          </a:p>
          <a:p>
            <a:pPr marL="0" indent="0">
              <a:buNone/>
            </a:pPr>
            <a:endParaRPr lang="en-US" sz="950" dirty="0"/>
          </a:p>
        </p:txBody>
      </p:sp>
      <p:sp>
        <p:nvSpPr>
          <p:cNvPr id="31" name="Text 29"/>
          <p:cNvSpPr txBox="1"/>
          <p:nvPr/>
        </p:nvSpPr>
        <p:spPr>
          <a:xfrm>
            <a:off x="7269480" y="4279392"/>
            <a:ext cx="1737360" cy="365760"/>
          </a:xfrm>
          <a:prstGeom prst="rect">
            <a:avLst/>
          </a:prstGeom>
          <a:noFill/>
          <a:ln/>
        </p:spPr>
        <p:txBody>
          <a:bodyPr wrap="square" lIns="0" tIns="0" rIns="0" bIns="0" rtlCol="0" anchor="t"/>
          <a:lstStyle/>
          <a:p>
            <a:pPr marL="0" indent="0" algn="r">
              <a:buNone/>
            </a:pPr>
            <a:r>
              <a:rPr lang="en-US" sz="1000" b="1" dirty="0">
                <a:solidFill>
                  <a:srgbClr val="0B3B75"/>
                </a:solidFill>
                <a:latin typeface="Calibri" pitchFamily="34" charset="0"/>
                <a:ea typeface="Calibri" pitchFamily="34" charset="-122"/>
                <a:cs typeface="Calibri" pitchFamily="34" charset="-120"/>
              </a:rPr>
              <a:t>T₄ = 1.08 + 0.06 + 6 = 3.14 giờ</a:t>
            </a:r>
            <a:endParaRPr lang="en-US" sz="1000" dirty="0"/>
          </a:p>
        </p:txBody>
      </p:sp>
      <p:sp>
        <p:nvSpPr>
          <p:cNvPr id="32" name="Shape 30"/>
          <p:cNvSpPr/>
          <p:nvPr/>
        </p:nvSpPr>
        <p:spPr>
          <a:xfrm>
            <a:off x="9372600" y="1517904"/>
            <a:ext cx="2270455" cy="3127248"/>
          </a:xfrm>
          <a:prstGeom prst="roundRect">
            <a:avLst>
              <a:gd name="adj" fmla="val 2416"/>
            </a:avLst>
          </a:prstGeom>
          <a:solidFill>
            <a:srgbClr val="0B3B75"/>
          </a:solidFill>
          <a:ln w="9525">
            <a:solidFill>
              <a:srgbClr val="0B3B75"/>
            </a:solidFill>
            <a:prstDash val="solid"/>
          </a:ln>
          <a:effectLst>
            <a:outerShdw blurRad="101600" dist="19050" dir="5400000" algn="bl" rotWithShape="0">
              <a:srgbClr val="9AAFC6">
                <a:alpha val="16000"/>
              </a:srgbClr>
            </a:outerShdw>
          </a:effectLst>
        </p:spPr>
        <p:txBody>
          <a:bodyPr/>
          <a:lstStyle/>
          <a:p>
            <a:endParaRPr lang="en-US"/>
          </a:p>
        </p:txBody>
      </p:sp>
      <p:sp>
        <p:nvSpPr>
          <p:cNvPr id="33" name="Text 31"/>
          <p:cNvSpPr txBox="1"/>
          <p:nvPr/>
        </p:nvSpPr>
        <p:spPr>
          <a:xfrm>
            <a:off x="9555480" y="1920240"/>
            <a:ext cx="1904695" cy="603504"/>
          </a:xfrm>
          <a:prstGeom prst="rect">
            <a:avLst/>
          </a:prstGeom>
          <a:noFill/>
          <a:ln/>
        </p:spPr>
        <p:txBody>
          <a:bodyPr wrap="square" lIns="0" tIns="0" rIns="0" bIns="0" rtlCol="0" anchor="t"/>
          <a:lstStyle/>
          <a:p>
            <a:pPr marL="0" indent="0" algn="ctr">
              <a:buNone/>
            </a:pPr>
            <a:r>
              <a:rPr lang="en-US" sz="1100" b="1" dirty="0">
                <a:solidFill>
                  <a:srgbClr val="AFC6E4"/>
                </a:solidFill>
                <a:latin typeface="Calibri" pitchFamily="34" charset="0"/>
                <a:ea typeface="Calibri" pitchFamily="34" charset="-122"/>
                <a:cs typeface="Calibri" pitchFamily="34" charset="-120"/>
              </a:rPr>
              <a:t>TỔNG THỜI GIAN</a:t>
            </a:r>
            <a:endParaRPr lang="en-US" sz="1100" dirty="0"/>
          </a:p>
          <a:p>
            <a:pPr marL="0" indent="0" algn="ctr">
              <a:buNone/>
            </a:pPr>
            <a:r>
              <a:rPr lang="en-US" sz="1100" b="1" dirty="0">
                <a:solidFill>
                  <a:srgbClr val="AFC6E4"/>
                </a:solidFill>
                <a:latin typeface="Calibri" pitchFamily="34" charset="0"/>
                <a:ea typeface="Calibri" pitchFamily="34" charset="-122"/>
                <a:cs typeface="Calibri" pitchFamily="34" charset="-120"/>
              </a:rPr>
              <a:t>XỬ LÝ KỲ VỌNG</a:t>
            </a:r>
            <a:endParaRPr lang="en-US" sz="1100" dirty="0"/>
          </a:p>
        </p:txBody>
      </p:sp>
      <p:sp>
        <p:nvSpPr>
          <p:cNvPr id="34" name="Text 32"/>
          <p:cNvSpPr txBox="1"/>
          <p:nvPr/>
        </p:nvSpPr>
        <p:spPr>
          <a:xfrm>
            <a:off x="9555480" y="2578608"/>
            <a:ext cx="1904695" cy="731520"/>
          </a:xfrm>
          <a:prstGeom prst="rect">
            <a:avLst/>
          </a:prstGeom>
          <a:noFill/>
          <a:ln/>
        </p:spPr>
        <p:txBody>
          <a:bodyPr wrap="square" lIns="0" tIns="0" rIns="0" bIns="0" rtlCol="0" anchor="t"/>
          <a:lstStyle/>
          <a:p>
            <a:pPr marL="0" indent="0" algn="ctr">
              <a:buNone/>
            </a:pPr>
            <a:r>
              <a:rPr lang="en-US" sz="4400" b="1" dirty="0">
                <a:solidFill>
                  <a:srgbClr val="FFFFFF"/>
                </a:solidFill>
                <a:latin typeface="Calibri" pitchFamily="34" charset="0"/>
                <a:ea typeface="Calibri" pitchFamily="34" charset="-122"/>
                <a:cs typeface="Calibri" pitchFamily="34" charset="-120"/>
              </a:rPr>
              <a:t>18.3</a:t>
            </a:r>
            <a:endParaRPr lang="en-US" sz="4400" dirty="0"/>
          </a:p>
        </p:txBody>
      </p:sp>
      <p:sp>
        <p:nvSpPr>
          <p:cNvPr id="35" name="Text 33"/>
          <p:cNvSpPr txBox="1"/>
          <p:nvPr/>
        </p:nvSpPr>
        <p:spPr>
          <a:xfrm>
            <a:off x="9555480" y="3291840"/>
            <a:ext cx="1904695" cy="274320"/>
          </a:xfrm>
          <a:prstGeom prst="rect">
            <a:avLst/>
          </a:prstGeom>
          <a:noFill/>
          <a:ln/>
        </p:spPr>
        <p:txBody>
          <a:bodyPr wrap="square" lIns="0" tIns="0" rIns="0" bIns="0" rtlCol="0" anchor="t"/>
          <a:lstStyle/>
          <a:p>
            <a:pPr marL="0" indent="0" algn="ctr">
              <a:buNone/>
            </a:pPr>
            <a:r>
              <a:rPr lang="en-US" sz="1300" b="1" dirty="0">
                <a:solidFill>
                  <a:srgbClr val="D9A227"/>
                </a:solidFill>
                <a:latin typeface="Calibri" pitchFamily="34" charset="0"/>
                <a:ea typeface="Calibri" pitchFamily="34" charset="-122"/>
                <a:cs typeface="Calibri" pitchFamily="34" charset="-120"/>
              </a:rPr>
              <a:t>GIỜ</a:t>
            </a:r>
            <a:endParaRPr lang="en-US" sz="1300" dirty="0"/>
          </a:p>
        </p:txBody>
      </p:sp>
      <p:sp>
        <p:nvSpPr>
          <p:cNvPr id="36" name="Text 34"/>
          <p:cNvSpPr txBox="1"/>
          <p:nvPr/>
        </p:nvSpPr>
        <p:spPr>
          <a:xfrm>
            <a:off x="9555480" y="3657600"/>
            <a:ext cx="1904695" cy="640080"/>
          </a:xfrm>
          <a:prstGeom prst="rect">
            <a:avLst/>
          </a:prstGeom>
          <a:noFill/>
          <a:ln/>
        </p:spPr>
        <p:txBody>
          <a:bodyPr wrap="square" lIns="0" tIns="0" rIns="0" bIns="0" rtlCol="0" anchor="t"/>
          <a:lstStyle/>
          <a:p>
            <a:pPr marL="0" indent="0" algn="ctr">
              <a:buNone/>
            </a:pPr>
            <a:r>
              <a:rPr lang="en-US" sz="1000" dirty="0">
                <a:solidFill>
                  <a:srgbClr val="9BB2D2"/>
                </a:solidFill>
                <a:latin typeface="Calibri" pitchFamily="34" charset="0"/>
                <a:ea typeface="Calibri" pitchFamily="34" charset="-122"/>
                <a:cs typeface="Calibri" pitchFamily="34" charset="-120"/>
              </a:rPr>
              <a:t>T₁ + T₂ + T₃ + T₄</a:t>
            </a:r>
            <a:endParaRPr lang="en-US" sz="1000" dirty="0"/>
          </a:p>
          <a:p>
            <a:pPr marL="0" indent="0" algn="ctr">
              <a:buNone/>
            </a:pPr>
            <a:r>
              <a:rPr lang="en-US" sz="1000" dirty="0">
                <a:solidFill>
                  <a:srgbClr val="9BB2D2"/>
                </a:solidFill>
                <a:latin typeface="Calibri" pitchFamily="34" charset="0"/>
                <a:ea typeface="Calibri" pitchFamily="34" charset="-122"/>
                <a:cs typeface="Calibri" pitchFamily="34" charset="-120"/>
              </a:rPr>
              <a:t>= 8 + 1.16 + 6 + 3.14</a:t>
            </a:r>
            <a:endParaRPr lang="en-US" sz="10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65760"/>
            <a:ext cx="123444" cy="123444"/>
          </a:xfrm>
          <a:prstGeom prst="ellipse">
            <a:avLst/>
          </a:prstGeom>
          <a:solidFill>
            <a:srgbClr val="D9A227"/>
          </a:solidFill>
          <a:ln w="12700">
            <a:solidFill>
              <a:srgbClr val="D9A227"/>
            </a:solidFill>
            <a:prstDash val="solid"/>
          </a:ln>
        </p:spPr>
        <p:txBody>
          <a:bodyPr/>
          <a:lstStyle/>
          <a:p>
            <a:endParaRPr lang="en-US"/>
          </a:p>
        </p:txBody>
      </p:sp>
      <p:sp>
        <p:nvSpPr>
          <p:cNvPr id="3" name="Text 1"/>
          <p:cNvSpPr txBox="1"/>
          <p:nvPr/>
        </p:nvSpPr>
        <p:spPr>
          <a:xfrm>
            <a:off x="804672" y="292608"/>
            <a:ext cx="10838383" cy="237744"/>
          </a:xfrm>
          <a:prstGeom prst="rect">
            <a:avLst/>
          </a:prstGeom>
          <a:noFill/>
          <a:ln/>
        </p:spPr>
        <p:txBody>
          <a:bodyPr wrap="square" lIns="0" tIns="0" rIns="0" bIns="0" rtlCol="0" anchor="t"/>
          <a:lstStyle/>
          <a:p>
            <a:pPr marL="0" indent="0">
              <a:buNone/>
            </a:pPr>
            <a:r>
              <a:rPr lang="en-US" sz="1050" b="1" kern="0" spc="120" dirty="0">
                <a:solidFill>
                  <a:srgbClr val="A5741A"/>
                </a:solidFill>
                <a:latin typeface="Calibri" pitchFamily="34" charset="0"/>
                <a:ea typeface="Calibri" pitchFamily="34" charset="-122"/>
                <a:cs typeface="Calibri" pitchFamily="34" charset="-120"/>
              </a:rPr>
              <a:t>CHƯƠNG 4 · 4.3 PHÂN TÍCH ĐỊNH LƯỢNG</a:t>
            </a:r>
            <a:endParaRPr lang="en-US" sz="1050" dirty="0"/>
          </a:p>
        </p:txBody>
      </p:sp>
      <p:sp>
        <p:nvSpPr>
          <p:cNvPr id="4" name="Text 2"/>
          <p:cNvSpPr txBox="1"/>
          <p:nvPr/>
        </p:nvSpPr>
        <p:spPr>
          <a:xfrm>
            <a:off x="548640" y="566928"/>
            <a:ext cx="11094415" cy="457200"/>
          </a:xfrm>
          <a:prstGeom prst="rect">
            <a:avLst/>
          </a:prstGeom>
          <a:noFill/>
          <a:ln/>
        </p:spPr>
        <p:txBody>
          <a:bodyPr wrap="square" lIns="0" tIns="0" rIns="0" bIns="0" rtlCol="0" anchor="t"/>
          <a:lstStyle/>
          <a:p>
            <a:pPr marL="0" indent="0">
              <a:buNone/>
            </a:pPr>
            <a:r>
              <a:rPr lang="en-US" sz="2500" b="1" dirty="0">
                <a:solidFill>
                  <a:srgbClr val="0B3B75"/>
                </a:solidFill>
                <a:latin typeface="Calibri" pitchFamily="34" charset="0"/>
                <a:ea typeface="Calibri" pitchFamily="34" charset="-122"/>
                <a:cs typeface="Calibri" pitchFamily="34" charset="-120"/>
              </a:rPr>
              <a:t>CYCLE TIME, HIỆU SUẤT THỜI GIAN VÀ CHI PHÍ NGUỒN LỰC</a:t>
            </a:r>
            <a:endParaRPr lang="en-US" sz="2500" dirty="0"/>
          </a:p>
        </p:txBody>
      </p:sp>
      <p:sp>
        <p:nvSpPr>
          <p:cNvPr id="5" name="Text 3"/>
          <p:cNvSpPr txBox="1"/>
          <p:nvPr/>
        </p:nvSpPr>
        <p:spPr>
          <a:xfrm>
            <a:off x="548640" y="1024128"/>
            <a:ext cx="11094415" cy="274320"/>
          </a:xfrm>
          <a:prstGeom prst="rect">
            <a:avLst/>
          </a:prstGeom>
          <a:noFill/>
          <a:ln/>
        </p:spPr>
        <p:txBody>
          <a:bodyPr wrap="square" lIns="0" tIns="0" rIns="0" bIns="0" rtlCol="0" anchor="t"/>
          <a:lstStyle/>
          <a:p>
            <a:pPr marL="0" indent="0">
              <a:buNone/>
            </a:pPr>
            <a:r>
              <a:rPr lang="en-US" sz="1100" i="1" dirty="0">
                <a:solidFill>
                  <a:srgbClr val="6E7A88"/>
                </a:solidFill>
                <a:latin typeface="Calibri" pitchFamily="34" charset="0"/>
                <a:ea typeface="Calibri" pitchFamily="34" charset="-122"/>
                <a:cs typeface="Calibri" pitchFamily="34" charset="-120"/>
              </a:rPr>
              <a:t>Bảng 4.5 — Bộ chỉ số định lượng của quy trình PYC (AS-IS)  ·  01 ngày làm việc = 08 giờ</a:t>
            </a:r>
            <a:endParaRPr lang="en-US" sz="1100" dirty="0"/>
          </a:p>
        </p:txBody>
      </p:sp>
      <p:sp>
        <p:nvSpPr>
          <p:cNvPr id="6" name="Text 4"/>
          <p:cNvSpPr txBox="1"/>
          <p:nvPr/>
        </p:nvSpPr>
        <p:spPr>
          <a:xfrm>
            <a:off x="548640" y="6419088"/>
            <a:ext cx="8778240" cy="237744"/>
          </a:xfrm>
          <a:prstGeom prst="rect">
            <a:avLst/>
          </a:prstGeom>
          <a:noFill/>
          <a:ln/>
        </p:spPr>
        <p:txBody>
          <a:bodyPr wrap="square" lIns="0" tIns="0" rIns="0" bIns="0" rtlCol="0" anchor="t"/>
          <a:lstStyle/>
          <a:p>
            <a:pPr marL="0" indent="0">
              <a:buNone/>
            </a:pPr>
            <a:r>
              <a:rPr lang="en-US" sz="850" dirty="0">
                <a:solidFill>
                  <a:srgbClr val="6E7A88"/>
                </a:solidFill>
                <a:latin typeface="Calibri" pitchFamily="34" charset="0"/>
                <a:ea typeface="Calibri" pitchFamily="34" charset="-122"/>
                <a:cs typeface="Calibri" pitchFamily="34" charset="-120"/>
              </a:rPr>
              <a:t>HỆ THỐNG QUẢN TRỊ QUY TRÌNH NGHIỆP VỤ  ·  SACOMBANK — QUY TRÌNH PYC</a:t>
            </a:r>
            <a:endParaRPr lang="en-US" sz="850" dirty="0"/>
          </a:p>
        </p:txBody>
      </p:sp>
      <p:sp>
        <p:nvSpPr>
          <p:cNvPr id="7" name="Text 5"/>
          <p:cNvSpPr txBox="1"/>
          <p:nvPr/>
        </p:nvSpPr>
        <p:spPr>
          <a:xfrm>
            <a:off x="11155680" y="6382512"/>
            <a:ext cx="484632" cy="274320"/>
          </a:xfrm>
          <a:prstGeom prst="rect">
            <a:avLst/>
          </a:prstGeom>
          <a:noFill/>
          <a:ln/>
        </p:spPr>
        <p:txBody>
          <a:bodyPr wrap="square" lIns="0" tIns="0" rIns="0" bIns="0" rtlCol="0" anchor="t"/>
          <a:lstStyle/>
          <a:p>
            <a:pPr marL="0" indent="0" algn="r">
              <a:buNone/>
            </a:pPr>
            <a:r>
              <a:rPr lang="en-US" sz="1100" b="1" dirty="0">
                <a:solidFill>
                  <a:srgbClr val="A5741A"/>
                </a:solidFill>
                <a:latin typeface="Calibri" pitchFamily="34" charset="0"/>
                <a:ea typeface="Calibri" pitchFamily="34" charset="-122"/>
                <a:cs typeface="Calibri" pitchFamily="34" charset="-120"/>
              </a:rPr>
              <a:t>44</a:t>
            </a:r>
            <a:endParaRPr lang="en-US" sz="1100" dirty="0"/>
          </a:p>
        </p:txBody>
      </p:sp>
      <p:graphicFrame>
        <p:nvGraphicFramePr>
          <p:cNvPr id="34" name="Table 0"/>
          <p:cNvGraphicFramePr>
            <a:graphicFrameLocks noGrp="1"/>
          </p:cNvGraphicFramePr>
          <p:nvPr>
            <p:extLst>
              <p:ext uri="{D42A27DB-BD31-4B8C-83A1-F6EECF244321}">
                <p14:modId xmlns:p14="http://schemas.microsoft.com/office/powerpoint/2010/main" val="2259916302"/>
              </p:ext>
            </p:extLst>
          </p:nvPr>
        </p:nvGraphicFramePr>
        <p:xfrm>
          <a:off x="548640" y="1517904"/>
          <a:ext cx="11091672" cy="3072384"/>
        </p:xfrm>
        <a:graphic>
          <a:graphicData uri="http://schemas.openxmlformats.org/drawingml/2006/table">
            <a:tbl>
              <a:tblPr/>
              <a:tblGrid>
                <a:gridCol w="2743200">
                  <a:extLst>
                    <a:ext uri="{9D8B030D-6E8A-4147-A177-3AD203B41FA5}">
                      <a16:colId xmlns:a16="http://schemas.microsoft.com/office/drawing/2014/main" val="20000"/>
                    </a:ext>
                  </a:extLst>
                </a:gridCol>
                <a:gridCol w="2926080">
                  <a:extLst>
                    <a:ext uri="{9D8B030D-6E8A-4147-A177-3AD203B41FA5}">
                      <a16:colId xmlns:a16="http://schemas.microsoft.com/office/drawing/2014/main" val="20001"/>
                    </a:ext>
                  </a:extLst>
                </a:gridCol>
                <a:gridCol w="2011680">
                  <a:extLst>
                    <a:ext uri="{9D8B030D-6E8A-4147-A177-3AD203B41FA5}">
                      <a16:colId xmlns:a16="http://schemas.microsoft.com/office/drawing/2014/main" val="20002"/>
                    </a:ext>
                  </a:extLst>
                </a:gridCol>
                <a:gridCol w="3410712">
                  <a:extLst>
                    <a:ext uri="{9D8B030D-6E8A-4147-A177-3AD203B41FA5}">
                      <a16:colId xmlns:a16="http://schemas.microsoft.com/office/drawing/2014/main" val="20003"/>
                    </a:ext>
                  </a:extLst>
                </a:gridCol>
              </a:tblGrid>
              <a:tr h="384048">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CHỈ SỐ</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0B3B75"/>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CÔNG THỨC</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0B3B75"/>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GIÁ TRỊ AS-IS</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0B3B75"/>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Ý NGHĨA</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0B3B75"/>
                    </a:solidFill>
                  </a:tcPr>
                </a:tc>
                <a:extLst>
                  <a:ext uri="{0D108BD9-81ED-4DB2-BD59-A6C34878D82A}">
                    <a16:rowId xmlns:a16="http://schemas.microsoft.com/office/drawing/2014/main" val="10000"/>
                  </a:ext>
                </a:extLst>
              </a:tr>
              <a:tr h="384048">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Processing Time (PT)</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T₁ + T₂ + T₃ + T₄</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lgn="ctr">
                        <a:buNone/>
                      </a:pPr>
                      <a:r>
                        <a:rPr lang="en-US" sz="850" b="1" dirty="0">
                          <a:solidFill>
                            <a:srgbClr val="2A3442"/>
                          </a:solidFill>
                          <a:latin typeface="Calibri" pitchFamily="34" charset="0"/>
                          <a:ea typeface="Calibri" pitchFamily="34" charset="-122"/>
                          <a:cs typeface="Calibri" pitchFamily="34" charset="-120"/>
                        </a:rPr>
                        <a:t>18.3 giờ</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Thời gian thực sự có người làm việc trên phiếu.</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extLst>
                  <a:ext uri="{0D108BD9-81ED-4DB2-BD59-A6C34878D82A}">
                    <a16:rowId xmlns:a16="http://schemas.microsoft.com/office/drawing/2014/main" val="10001"/>
                  </a:ext>
                </a:extLst>
              </a:tr>
              <a:tr h="384048">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Waiting Time (WT)</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WT₁  + WT₂ + WT₃ + WT₄  = 10 + 0.5 + 15 + 8</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lgn="ctr">
                        <a:buNone/>
                      </a:pPr>
                      <a:r>
                        <a:rPr lang="en-US" sz="850" b="1" dirty="0">
                          <a:solidFill>
                            <a:srgbClr val="2A3442"/>
                          </a:solidFill>
                          <a:latin typeface="Calibri" pitchFamily="34" charset="0"/>
                          <a:ea typeface="Calibri" pitchFamily="34" charset="-122"/>
                          <a:cs typeface="Calibri" pitchFamily="34" charset="-120"/>
                        </a:rPr>
                        <a:t>33.5 giờ</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Thời gian phiếu nằm chờ, không ai xử lý.</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extLst>
                  <a:ext uri="{0D108BD9-81ED-4DB2-BD59-A6C34878D82A}">
                    <a16:rowId xmlns:a16="http://schemas.microsoft.com/office/drawing/2014/main" val="10002"/>
                  </a:ext>
                </a:extLst>
              </a:tr>
              <a:tr h="384048">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Cycle Time (CT)</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PT + WT</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lgn="ctr">
                        <a:buNone/>
                      </a:pPr>
                      <a:r>
                        <a:rPr lang="en-US" sz="850" b="1" dirty="0">
                          <a:solidFill>
                            <a:srgbClr val="2A3442"/>
                          </a:solidFill>
                          <a:latin typeface="Calibri" pitchFamily="34" charset="0"/>
                          <a:ea typeface="Calibri" pitchFamily="34" charset="-122"/>
                          <a:cs typeface="Calibri" pitchFamily="34" charset="-120"/>
                        </a:rPr>
                        <a:t>39.1 giờ</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Tương </a:t>
                      </a:r>
                      <a:r>
                        <a:rPr lang="en-US" sz="850" dirty="0" err="1">
                          <a:solidFill>
                            <a:srgbClr val="2A3442"/>
                          </a:solidFill>
                          <a:latin typeface="Calibri" pitchFamily="34" charset="0"/>
                          <a:ea typeface="Calibri" pitchFamily="34" charset="-122"/>
                          <a:cs typeface="Calibri" pitchFamily="34" charset="-120"/>
                        </a:rPr>
                        <a:t>đương</a:t>
                      </a:r>
                      <a:r>
                        <a:rPr lang="en-US" sz="850" dirty="0">
                          <a:solidFill>
                            <a:srgbClr val="2A3442"/>
                          </a:solidFill>
                          <a:latin typeface="Calibri" pitchFamily="34" charset="0"/>
                          <a:ea typeface="Calibri" pitchFamily="34" charset="-122"/>
                          <a:cs typeface="Calibri" pitchFamily="34" charset="-120"/>
                        </a:rPr>
                        <a:t> 4.9 ngày làm việc (8 giờ/ngày).</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extLst>
                  <a:ext uri="{0D108BD9-81ED-4DB2-BD59-A6C34878D82A}">
                    <a16:rowId xmlns:a16="http://schemas.microsoft.com/office/drawing/2014/main" val="10003"/>
                  </a:ext>
                </a:extLst>
              </a:tr>
              <a:tr h="384048">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Cycle Time Efficiency</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PT ÷ CT × 100%</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lgn="ctr">
                        <a:buNone/>
                      </a:pPr>
                      <a:r>
                        <a:rPr lang="en-US" sz="850" b="1" dirty="0">
                          <a:solidFill>
                            <a:srgbClr val="2A3442"/>
                          </a:solidFill>
                          <a:latin typeface="Calibri" pitchFamily="34" charset="0"/>
                          <a:ea typeface="Calibri" pitchFamily="34" charset="-122"/>
                          <a:cs typeface="Calibri" pitchFamily="34" charset="-120"/>
                        </a:rPr>
                        <a:t>54.6%</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Chưa </a:t>
                      </a:r>
                      <a:r>
                        <a:rPr lang="en-US" sz="850" dirty="0" err="1">
                          <a:solidFill>
                            <a:srgbClr val="2A3442"/>
                          </a:solidFill>
                          <a:latin typeface="Calibri" pitchFamily="34" charset="0"/>
                          <a:ea typeface="Calibri" pitchFamily="34" charset="-122"/>
                          <a:cs typeface="Calibri" pitchFamily="34" charset="-120"/>
                        </a:rPr>
                        <a:t>tới</a:t>
                      </a:r>
                      <a:r>
                        <a:rPr lang="en-US" sz="850" dirty="0">
                          <a:solidFill>
                            <a:srgbClr val="2A3442"/>
                          </a:solidFill>
                          <a:latin typeface="Calibri" pitchFamily="34" charset="0"/>
                          <a:ea typeface="Calibri" pitchFamily="34" charset="-122"/>
                          <a:cs typeface="Calibri" pitchFamily="34" charset="-120"/>
                        </a:rPr>
                        <a:t> 60% thời gian chu kỳ là làm việc thật.</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extLst>
                  <a:ext uri="{0D108BD9-81ED-4DB2-BD59-A6C34878D82A}">
                    <a16:rowId xmlns:a16="http://schemas.microsoft.com/office/drawing/2014/main" val="10004"/>
                  </a:ext>
                </a:extLst>
              </a:tr>
              <a:tr h="384048">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Tỷ trọng chờ phê duyệt</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WT₁ ÷ CT × 100%</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lgn="ctr">
                        <a:buNone/>
                      </a:pPr>
                      <a:r>
                        <a:rPr lang="en-US" sz="850" b="1" dirty="0">
                          <a:solidFill>
                            <a:srgbClr val="2A3442"/>
                          </a:solidFill>
                          <a:latin typeface="Calibri" pitchFamily="34" charset="0"/>
                          <a:ea typeface="Calibri" pitchFamily="34" charset="-122"/>
                          <a:cs typeface="Calibri" pitchFamily="34" charset="-120"/>
                        </a:rPr>
                        <a:t>25.58%</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850" dirty="0" err="1">
                          <a:solidFill>
                            <a:srgbClr val="2A3442"/>
                          </a:solidFill>
                          <a:latin typeface="Calibri" pitchFamily="34" charset="0"/>
                          <a:ea typeface="Calibri" pitchFamily="34" charset="-122"/>
                          <a:cs typeface="Calibri" pitchFamily="34" charset="-120"/>
                        </a:rPr>
                        <a:t>Thấp</a:t>
                      </a:r>
                      <a:r>
                        <a:rPr lang="en-US" sz="850" dirty="0">
                          <a:solidFill>
                            <a:srgbClr val="2A3442"/>
                          </a:solidFill>
                          <a:latin typeface="Calibri" pitchFamily="34" charset="0"/>
                          <a:ea typeface="Calibri" pitchFamily="34" charset="-122"/>
                          <a:cs typeface="Calibri" pitchFamily="34" charset="-120"/>
                        </a:rPr>
                        <a:t> </a:t>
                      </a:r>
                      <a:r>
                        <a:rPr lang="en-US" sz="850" dirty="0" err="1">
                          <a:solidFill>
                            <a:srgbClr val="2A3442"/>
                          </a:solidFill>
                          <a:latin typeface="Calibri" pitchFamily="34" charset="0"/>
                          <a:ea typeface="Calibri" pitchFamily="34" charset="-122"/>
                          <a:cs typeface="Calibri" pitchFamily="34" charset="-120"/>
                        </a:rPr>
                        <a:t>hơn</a:t>
                      </a:r>
                      <a:r>
                        <a:rPr lang="en-US" sz="850" dirty="0">
                          <a:solidFill>
                            <a:srgbClr val="2A3442"/>
                          </a:solidFill>
                          <a:latin typeface="Calibri" pitchFamily="34" charset="0"/>
                          <a:ea typeface="Calibri" pitchFamily="34" charset="-122"/>
                          <a:cs typeface="Calibri" pitchFamily="34" charset="-120"/>
                        </a:rPr>
                        <a:t> kết quả khảo sát: chờ duyệt chiếm </a:t>
                      </a:r>
                      <a:r>
                        <a:rPr lang="en-US" sz="850" dirty="0" err="1">
                          <a:solidFill>
                            <a:srgbClr val="2A3442"/>
                          </a:solidFill>
                          <a:latin typeface="Calibri" pitchFamily="34" charset="0"/>
                          <a:ea typeface="Calibri" pitchFamily="34" charset="-122"/>
                          <a:cs typeface="Calibri" pitchFamily="34" charset="-120"/>
                        </a:rPr>
                        <a:t>khoảng</a:t>
                      </a:r>
                      <a:r>
                        <a:rPr lang="en-US" sz="850" dirty="0">
                          <a:solidFill>
                            <a:srgbClr val="2A3442"/>
                          </a:solidFill>
                          <a:latin typeface="Calibri" pitchFamily="34" charset="0"/>
                          <a:ea typeface="Calibri" pitchFamily="34" charset="-122"/>
                          <a:cs typeface="Calibri" pitchFamily="34" charset="-120"/>
                        </a:rPr>
                        <a:t> 30% Lead Time.</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extLst>
                  <a:ext uri="{0D108BD9-81ED-4DB2-BD59-A6C34878D82A}">
                    <a16:rowId xmlns:a16="http://schemas.microsoft.com/office/drawing/2014/main" val="10005"/>
                  </a:ext>
                </a:extLst>
              </a:tr>
              <a:tr h="384048">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Chi phí nguồn lực một phiếu</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PT × 150.000 đồng/giờ</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lgn="ctr">
                        <a:buNone/>
                      </a:pPr>
                      <a:r>
                        <a:rPr lang="en-US" sz="850" b="1" dirty="0">
                          <a:solidFill>
                            <a:srgbClr val="2A3442"/>
                          </a:solidFill>
                          <a:latin typeface="Calibri" pitchFamily="34" charset="0"/>
                          <a:ea typeface="Calibri" pitchFamily="34" charset="-122"/>
                          <a:cs typeface="Calibri" pitchFamily="34" charset="-120"/>
                        </a:rPr>
                        <a:t>2.7 </a:t>
                      </a:r>
                      <a:r>
                        <a:rPr lang="en-US" sz="850" b="1" dirty="0" err="1">
                          <a:solidFill>
                            <a:srgbClr val="2A3442"/>
                          </a:solidFill>
                          <a:latin typeface="Calibri" pitchFamily="34" charset="0"/>
                          <a:ea typeface="Calibri" pitchFamily="34" charset="-122"/>
                          <a:cs typeface="Calibri" pitchFamily="34" charset="-120"/>
                        </a:rPr>
                        <a:t>triệu</a:t>
                      </a:r>
                      <a:r>
                        <a:rPr lang="en-US" sz="850" b="1" dirty="0">
                          <a:solidFill>
                            <a:srgbClr val="2A3442"/>
                          </a:solidFill>
                          <a:latin typeface="Calibri" pitchFamily="34" charset="0"/>
                          <a:ea typeface="Calibri" pitchFamily="34" charset="-122"/>
                          <a:cs typeface="Calibri" pitchFamily="34" charset="-120"/>
                        </a:rPr>
                        <a:t> đồng</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Đơn giá giả định, chỉ dùng minh họa phương pháp tính.</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extLst>
                  <a:ext uri="{0D108BD9-81ED-4DB2-BD59-A6C34878D82A}">
                    <a16:rowId xmlns:a16="http://schemas.microsoft.com/office/drawing/2014/main" val="10006"/>
                  </a:ext>
                </a:extLst>
              </a:tr>
              <a:tr h="384048">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Chi phí do hoạt động NVA</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(5 + 0,08) × 150.000 đồng</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lgn="ctr">
                        <a:buNone/>
                      </a:pPr>
                      <a:r>
                        <a:rPr lang="en-US" sz="850" b="1" dirty="0">
                          <a:solidFill>
                            <a:srgbClr val="2A3442"/>
                          </a:solidFill>
                          <a:latin typeface="Calibri" pitchFamily="34" charset="0"/>
                          <a:ea typeface="Calibri" pitchFamily="34" charset="-122"/>
                          <a:cs typeface="Calibri" pitchFamily="34" charset="-120"/>
                        </a:rPr>
                        <a:t>762,000 đồng</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850" dirty="0" err="1">
                          <a:solidFill>
                            <a:srgbClr val="2A3442"/>
                          </a:solidFill>
                          <a:latin typeface="Calibri" pitchFamily="34" charset="0"/>
                          <a:ea typeface="Calibri" pitchFamily="34" charset="-122"/>
                          <a:cs typeface="Calibri" pitchFamily="34" charset="-120"/>
                        </a:rPr>
                        <a:t>Chiếm</a:t>
                      </a:r>
                      <a:r>
                        <a:rPr lang="en-US" sz="850" dirty="0">
                          <a:solidFill>
                            <a:srgbClr val="2A3442"/>
                          </a:solidFill>
                          <a:latin typeface="Calibri" pitchFamily="34" charset="0"/>
                          <a:ea typeface="Calibri" pitchFamily="34" charset="-122"/>
                          <a:cs typeface="Calibri" pitchFamily="34" charset="-120"/>
                        </a:rPr>
                        <a:t> 28,2% chi phí.</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9" name="Shape 6"/>
          <p:cNvSpPr/>
          <p:nvPr/>
        </p:nvSpPr>
        <p:spPr>
          <a:xfrm>
            <a:off x="548640" y="4754880"/>
            <a:ext cx="11094415" cy="274320"/>
          </a:xfrm>
          <a:prstGeom prst="roundRect">
            <a:avLst>
              <a:gd name="adj" fmla="val 10000"/>
            </a:avLst>
          </a:prstGeom>
          <a:solidFill>
            <a:srgbClr val="FFF3E0"/>
          </a:solidFill>
          <a:ln w="9525">
            <a:solidFill>
              <a:srgbClr val="B5730A"/>
            </a:solidFill>
            <a:prstDash val="solid"/>
          </a:ln>
        </p:spPr>
        <p:txBody>
          <a:bodyPr/>
          <a:lstStyle/>
          <a:p>
            <a:endParaRPr lang="en-US"/>
          </a:p>
        </p:txBody>
      </p:sp>
      <p:sp>
        <p:nvSpPr>
          <p:cNvPr id="10" name="Text 7"/>
          <p:cNvSpPr txBox="1"/>
          <p:nvPr/>
        </p:nvSpPr>
        <p:spPr>
          <a:xfrm>
            <a:off x="676656" y="4809744"/>
            <a:ext cx="10838383" cy="512064"/>
          </a:xfrm>
          <a:prstGeom prst="rect">
            <a:avLst/>
          </a:prstGeom>
          <a:noFill/>
          <a:ln/>
        </p:spPr>
        <p:txBody>
          <a:bodyPr wrap="square" lIns="0" tIns="0" rIns="0" bIns="0" rtlCol="0" anchor="t"/>
          <a:lstStyle/>
          <a:p>
            <a:pPr marL="0" indent="0">
              <a:buNone/>
            </a:pPr>
            <a:r>
              <a:rPr lang="en-US" sz="950" b="1" dirty="0">
                <a:solidFill>
                  <a:srgbClr val="B5730A"/>
                </a:solidFill>
                <a:latin typeface="Calibri" pitchFamily="34" charset="0"/>
                <a:ea typeface="Calibri" pitchFamily="34" charset="-122"/>
                <a:cs typeface="Calibri" pitchFamily="34" charset="-120"/>
              </a:rPr>
              <a:t>LƯU Ý  </a:t>
            </a:r>
            <a:r>
              <a:rPr lang="en-US" sz="950" dirty="0">
                <a:solidFill>
                  <a:srgbClr val="2A3442"/>
                </a:solidFill>
                <a:latin typeface="Calibri" pitchFamily="34" charset="0"/>
                <a:ea typeface="Calibri" pitchFamily="34" charset="-122"/>
                <a:cs typeface="Calibri" pitchFamily="34" charset="-120"/>
              </a:rPr>
              <a:t>Đơn giá 150.000 đồng/giờ chỉ dùng để minh họa phương pháp tính, không phải số liệu nhân sự thật của Sacombank. </a:t>
            </a:r>
            <a:endParaRPr lang="en-US" sz="9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65760"/>
            <a:ext cx="123444" cy="123444"/>
          </a:xfrm>
          <a:prstGeom prst="ellipse">
            <a:avLst/>
          </a:prstGeom>
          <a:solidFill>
            <a:srgbClr val="D9A227"/>
          </a:solidFill>
          <a:ln w="12700">
            <a:solidFill>
              <a:srgbClr val="D9A227"/>
            </a:solidFill>
            <a:prstDash val="solid"/>
          </a:ln>
        </p:spPr>
        <p:txBody>
          <a:bodyPr/>
          <a:lstStyle/>
          <a:p>
            <a:endParaRPr lang="en-US"/>
          </a:p>
        </p:txBody>
      </p:sp>
      <p:sp>
        <p:nvSpPr>
          <p:cNvPr id="3" name="Text 1"/>
          <p:cNvSpPr txBox="1"/>
          <p:nvPr/>
        </p:nvSpPr>
        <p:spPr>
          <a:xfrm>
            <a:off x="804672" y="292608"/>
            <a:ext cx="10838383" cy="237744"/>
          </a:xfrm>
          <a:prstGeom prst="rect">
            <a:avLst/>
          </a:prstGeom>
          <a:noFill/>
          <a:ln/>
        </p:spPr>
        <p:txBody>
          <a:bodyPr wrap="square" lIns="0" tIns="0" rIns="0" bIns="0" rtlCol="0" anchor="t"/>
          <a:lstStyle/>
          <a:p>
            <a:pPr marL="0" indent="0">
              <a:buNone/>
            </a:pPr>
            <a:r>
              <a:rPr lang="en-US" sz="1050" b="1" kern="0" spc="120" dirty="0">
                <a:solidFill>
                  <a:srgbClr val="A5741A"/>
                </a:solidFill>
                <a:latin typeface="Calibri" pitchFamily="34" charset="0"/>
                <a:ea typeface="Calibri" pitchFamily="34" charset="-122"/>
                <a:cs typeface="Calibri" pitchFamily="34" charset="-120"/>
              </a:rPr>
              <a:t>CHƯƠNG 4 · 4.2 QUY TRÌNH THỨ HAI</a:t>
            </a:r>
            <a:endParaRPr lang="en-US" sz="1050" dirty="0"/>
          </a:p>
        </p:txBody>
      </p:sp>
      <p:sp>
        <p:nvSpPr>
          <p:cNvPr id="4" name="Text 2"/>
          <p:cNvSpPr txBox="1"/>
          <p:nvPr/>
        </p:nvSpPr>
        <p:spPr>
          <a:xfrm>
            <a:off x="548640" y="566928"/>
            <a:ext cx="11094415" cy="457200"/>
          </a:xfrm>
          <a:prstGeom prst="rect">
            <a:avLst/>
          </a:prstGeom>
          <a:noFill/>
          <a:ln/>
        </p:spPr>
        <p:txBody>
          <a:bodyPr wrap="square" lIns="0" tIns="0" rIns="0" bIns="0" rtlCol="0" anchor="t"/>
          <a:lstStyle/>
          <a:p>
            <a:pPr marL="0" indent="0">
              <a:buNone/>
            </a:pPr>
            <a:r>
              <a:rPr lang="en-US" sz="2500" b="1" dirty="0">
                <a:solidFill>
                  <a:srgbClr val="0B3B75"/>
                </a:solidFill>
                <a:latin typeface="Calibri" pitchFamily="34" charset="0"/>
                <a:ea typeface="Calibri" pitchFamily="34" charset="-122"/>
                <a:cs typeface="Calibri" pitchFamily="34" charset="-120"/>
              </a:rPr>
              <a:t>PHÂN TÍCH QUY TRÌNH QUẢN LÝ SỰ CỐ (INCIDENT MANAGEMENT)</a:t>
            </a:r>
            <a:endParaRPr lang="en-US" sz="2500" dirty="0"/>
          </a:p>
        </p:txBody>
      </p:sp>
      <p:sp>
        <p:nvSpPr>
          <p:cNvPr id="5" name="Text 3"/>
          <p:cNvSpPr txBox="1"/>
          <p:nvPr/>
        </p:nvSpPr>
        <p:spPr>
          <a:xfrm>
            <a:off x="548640" y="6419088"/>
            <a:ext cx="8778240" cy="237744"/>
          </a:xfrm>
          <a:prstGeom prst="rect">
            <a:avLst/>
          </a:prstGeom>
          <a:noFill/>
          <a:ln/>
        </p:spPr>
        <p:txBody>
          <a:bodyPr wrap="square" lIns="0" tIns="0" rIns="0" bIns="0" rtlCol="0" anchor="t"/>
          <a:lstStyle/>
          <a:p>
            <a:pPr marL="0" indent="0">
              <a:buNone/>
            </a:pPr>
            <a:r>
              <a:rPr lang="en-US" sz="850" dirty="0">
                <a:solidFill>
                  <a:srgbClr val="6E7A88"/>
                </a:solidFill>
                <a:latin typeface="Calibri" pitchFamily="34" charset="0"/>
                <a:ea typeface="Calibri" pitchFamily="34" charset="-122"/>
                <a:cs typeface="Calibri" pitchFamily="34" charset="-120"/>
              </a:rPr>
              <a:t>HỆ THỐNG QUẢN TRỊ QUY TRÌNH NGHIỆP VỤ  ·  SACOMBANK — QUY TRÌNH PYC</a:t>
            </a:r>
            <a:endParaRPr lang="en-US" sz="850" dirty="0"/>
          </a:p>
        </p:txBody>
      </p:sp>
      <p:sp>
        <p:nvSpPr>
          <p:cNvPr id="6" name="Text 4"/>
          <p:cNvSpPr txBox="1"/>
          <p:nvPr/>
        </p:nvSpPr>
        <p:spPr>
          <a:xfrm>
            <a:off x="11155680" y="6382512"/>
            <a:ext cx="484632" cy="274320"/>
          </a:xfrm>
          <a:prstGeom prst="rect">
            <a:avLst/>
          </a:prstGeom>
          <a:noFill/>
          <a:ln/>
        </p:spPr>
        <p:txBody>
          <a:bodyPr wrap="square" lIns="0" tIns="0" rIns="0" bIns="0" rtlCol="0" anchor="t"/>
          <a:lstStyle/>
          <a:p>
            <a:pPr marL="0" indent="0" algn="r">
              <a:buNone/>
            </a:pPr>
            <a:r>
              <a:rPr lang="en-US" sz="1100" b="1" dirty="0">
                <a:solidFill>
                  <a:srgbClr val="A5741A"/>
                </a:solidFill>
                <a:latin typeface="Calibri" pitchFamily="34" charset="0"/>
                <a:ea typeface="Calibri" pitchFamily="34" charset="-122"/>
                <a:cs typeface="Calibri" pitchFamily="34" charset="-120"/>
              </a:rPr>
              <a:t>45</a:t>
            </a:r>
            <a:endParaRPr lang="en-US" sz="1100" dirty="0"/>
          </a:p>
        </p:txBody>
      </p:sp>
      <p:graphicFrame>
        <p:nvGraphicFramePr>
          <p:cNvPr id="40" name="Table 0"/>
          <p:cNvGraphicFramePr>
            <a:graphicFrameLocks noGrp="1"/>
          </p:cNvGraphicFramePr>
          <p:nvPr>
            <p:extLst>
              <p:ext uri="{D42A27DB-BD31-4B8C-83A1-F6EECF244321}">
                <p14:modId xmlns:p14="http://schemas.microsoft.com/office/powerpoint/2010/main" val="1579011935"/>
              </p:ext>
            </p:extLst>
          </p:nvPr>
        </p:nvGraphicFramePr>
        <p:xfrm>
          <a:off x="548640" y="1481328"/>
          <a:ext cx="6400800" cy="2688336"/>
        </p:xfrm>
        <a:graphic>
          <a:graphicData uri="http://schemas.openxmlformats.org/drawingml/2006/table">
            <a:tbl>
              <a:tblPr/>
              <a:tblGrid>
                <a:gridCol w="548640">
                  <a:extLst>
                    <a:ext uri="{9D8B030D-6E8A-4147-A177-3AD203B41FA5}">
                      <a16:colId xmlns:a16="http://schemas.microsoft.com/office/drawing/2014/main" val="20000"/>
                    </a:ext>
                  </a:extLst>
                </a:gridCol>
                <a:gridCol w="310896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tblGrid>
              <a:tr h="384048">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STT</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0B3B75"/>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TÁC VỤ</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0B3B75"/>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NGƯỜI THỰC HIỆN</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0B3B75"/>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PHÂN LOẠI</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0B3B75"/>
                    </a:solidFill>
                  </a:tcPr>
                </a:tc>
                <a:extLst>
                  <a:ext uri="{0D108BD9-81ED-4DB2-BD59-A6C34878D82A}">
                    <a16:rowId xmlns:a16="http://schemas.microsoft.com/office/drawing/2014/main" val="10000"/>
                  </a:ext>
                </a:extLst>
              </a:tr>
              <a:tr h="384048">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Tạo Incident (DWP / Smart Recorder)</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Người dùng</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lgn="ctr">
                        <a:buNone/>
                      </a:pPr>
                      <a:r>
                        <a:rPr lang="en-US" sz="1000" b="1" dirty="0">
                          <a:solidFill>
                            <a:srgbClr val="0E7A5F"/>
                          </a:solidFill>
                          <a:latin typeface="Calibri" pitchFamily="34" charset="0"/>
                          <a:ea typeface="Calibri" pitchFamily="34" charset="-122"/>
                          <a:cs typeface="Calibri" pitchFamily="34" charset="-120"/>
                        </a:rPr>
                        <a:t>VA</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extLst>
                  <a:ext uri="{0D108BD9-81ED-4DB2-BD59-A6C34878D82A}">
                    <a16:rowId xmlns:a16="http://schemas.microsoft.com/office/drawing/2014/main" val="10001"/>
                  </a:ext>
                </a:extLst>
              </a:tr>
              <a:tr h="384048">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2</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Real-time incident correlation (AI/ML)</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Hệ thống SmartIT</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lgn="ctr">
                        <a:buNone/>
                      </a:pPr>
                      <a:r>
                        <a:rPr lang="en-US" sz="1000" b="1" dirty="0">
                          <a:solidFill>
                            <a:srgbClr val="A5741A"/>
                          </a:solidFill>
                          <a:latin typeface="Calibri" pitchFamily="34" charset="0"/>
                          <a:ea typeface="Calibri" pitchFamily="34" charset="-122"/>
                          <a:cs typeface="Calibri" pitchFamily="34" charset="-120"/>
                        </a:rPr>
                        <a:t>VBA</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extLst>
                  <a:ext uri="{0D108BD9-81ED-4DB2-BD59-A6C34878D82A}">
                    <a16:rowId xmlns:a16="http://schemas.microsoft.com/office/drawing/2014/main" val="10002"/>
                  </a:ext>
                </a:extLst>
              </a:tr>
              <a:tr h="384048">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3</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Tiếp nhận &amp; Đổi mức ưu tiên</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Service Desk L1</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lgn="ctr">
                        <a:buNone/>
                      </a:pPr>
                      <a:r>
                        <a:rPr lang="en-US" sz="1000" b="1" dirty="0">
                          <a:solidFill>
                            <a:srgbClr val="A5741A"/>
                          </a:solidFill>
                          <a:latin typeface="Calibri" pitchFamily="34" charset="0"/>
                          <a:ea typeface="Calibri" pitchFamily="34" charset="-122"/>
                          <a:cs typeface="Calibri" pitchFamily="34" charset="-120"/>
                        </a:rPr>
                        <a:t>VBA</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extLst>
                  <a:ext uri="{0D108BD9-81ED-4DB2-BD59-A6C34878D82A}">
                    <a16:rowId xmlns:a16="http://schemas.microsoft.com/office/drawing/2014/main" val="10003"/>
                  </a:ext>
                </a:extLst>
              </a:tr>
              <a:tr h="384048">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4</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Thay đổi người xử lý phiếu</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Service Desk L1</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lgn="ctr">
                        <a:buNone/>
                      </a:pPr>
                      <a:r>
                        <a:rPr lang="en-US" sz="1000" b="1" dirty="0">
                          <a:solidFill>
                            <a:srgbClr val="A5741A"/>
                          </a:solidFill>
                          <a:latin typeface="Calibri" pitchFamily="34" charset="0"/>
                          <a:ea typeface="Calibri" pitchFamily="34" charset="-122"/>
                          <a:cs typeface="Calibri" pitchFamily="34" charset="-120"/>
                        </a:rPr>
                        <a:t>VBA</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extLst>
                  <a:ext uri="{0D108BD9-81ED-4DB2-BD59-A6C34878D82A}">
                    <a16:rowId xmlns:a16="http://schemas.microsoft.com/office/drawing/2014/main" val="10004"/>
                  </a:ext>
                </a:extLst>
              </a:tr>
              <a:tr h="384048">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5</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Xử lý Task / Major Incident</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Service Desk L1 / L2</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lgn="ctr">
                        <a:buNone/>
                      </a:pPr>
                      <a:r>
                        <a:rPr lang="en-US" sz="1000" b="1" dirty="0">
                          <a:solidFill>
                            <a:srgbClr val="0E7A5F"/>
                          </a:solidFill>
                          <a:latin typeface="Calibri" pitchFamily="34" charset="0"/>
                          <a:ea typeface="Calibri" pitchFamily="34" charset="-122"/>
                          <a:cs typeface="Calibri" pitchFamily="34" charset="-120"/>
                        </a:rPr>
                        <a:t>VA</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extLst>
                  <a:ext uri="{0D108BD9-81ED-4DB2-BD59-A6C34878D82A}">
                    <a16:rowId xmlns:a16="http://schemas.microsoft.com/office/drawing/2014/main" val="10005"/>
                  </a:ext>
                </a:extLst>
              </a:tr>
              <a:tr h="384048">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6</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Liên kết phiếu (Related Items)</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1000" dirty="0">
                          <a:solidFill>
                            <a:srgbClr val="2A3442"/>
                          </a:solidFill>
                          <a:latin typeface="Calibri" pitchFamily="34" charset="0"/>
                          <a:ea typeface="Calibri" pitchFamily="34" charset="-122"/>
                          <a:cs typeface="Calibri" pitchFamily="34" charset="-120"/>
                        </a:rPr>
                        <a:t>Service Desk L1</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lgn="ctr">
                        <a:buNone/>
                      </a:pPr>
                      <a:r>
                        <a:rPr lang="en-US" sz="1000" b="1" dirty="0">
                          <a:solidFill>
                            <a:srgbClr val="A5741A"/>
                          </a:solidFill>
                          <a:latin typeface="Calibri" pitchFamily="34" charset="0"/>
                          <a:ea typeface="Calibri" pitchFamily="34" charset="-122"/>
                          <a:cs typeface="Calibri" pitchFamily="34" charset="-120"/>
                        </a:rPr>
                        <a:t>VBA</a:t>
                      </a:r>
                      <a:endParaRPr lang="en-US" sz="100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extLst>
                  <a:ext uri="{0D108BD9-81ED-4DB2-BD59-A6C34878D82A}">
                    <a16:rowId xmlns:a16="http://schemas.microsoft.com/office/drawing/2014/main" val="10006"/>
                  </a:ext>
                </a:extLst>
              </a:tr>
            </a:tbl>
          </a:graphicData>
        </a:graphic>
      </p:graphicFrame>
      <p:sp>
        <p:nvSpPr>
          <p:cNvPr id="8" name="Text 5"/>
          <p:cNvSpPr txBox="1"/>
          <p:nvPr/>
        </p:nvSpPr>
        <p:spPr>
          <a:xfrm>
            <a:off x="548640" y="4224528"/>
            <a:ext cx="6400800" cy="237744"/>
          </a:xfrm>
          <a:prstGeom prst="rect">
            <a:avLst/>
          </a:prstGeom>
          <a:noFill/>
          <a:ln/>
        </p:spPr>
        <p:txBody>
          <a:bodyPr wrap="square" lIns="0" tIns="0" rIns="0" bIns="0" rtlCol="0" anchor="t"/>
          <a:lstStyle/>
          <a:p>
            <a:pPr marL="0" indent="0">
              <a:buNone/>
            </a:pPr>
            <a:r>
              <a:rPr lang="en-US" sz="950" i="1" dirty="0">
                <a:solidFill>
                  <a:srgbClr val="6E7A88"/>
                </a:solidFill>
                <a:latin typeface="Calibri" pitchFamily="34" charset="0"/>
                <a:ea typeface="Calibri" pitchFamily="34" charset="-122"/>
                <a:cs typeface="Calibri" pitchFamily="34" charset="-120"/>
              </a:rPr>
              <a:t>Bảng 16 — Phân tích giá trị gia tăng quy trình Quản lý Sự cố</a:t>
            </a:r>
            <a:endParaRPr lang="en-US" sz="950" dirty="0"/>
          </a:p>
        </p:txBody>
      </p:sp>
      <p:sp>
        <p:nvSpPr>
          <p:cNvPr id="9" name="Text 6"/>
          <p:cNvSpPr txBox="1"/>
          <p:nvPr/>
        </p:nvSpPr>
        <p:spPr>
          <a:xfrm>
            <a:off x="7223760" y="1481328"/>
            <a:ext cx="4419295" cy="256032"/>
          </a:xfrm>
          <a:prstGeom prst="rect">
            <a:avLst/>
          </a:prstGeom>
          <a:noFill/>
          <a:ln/>
        </p:spPr>
        <p:txBody>
          <a:bodyPr wrap="square" lIns="0" tIns="0" rIns="0" bIns="0" rtlCol="0" anchor="t"/>
          <a:lstStyle/>
          <a:p>
            <a:pPr marL="0" indent="0">
              <a:buNone/>
            </a:pPr>
            <a:r>
              <a:rPr lang="en-US" sz="1100" b="1" kern="0" spc="80" dirty="0">
                <a:solidFill>
                  <a:srgbClr val="1660BF"/>
                </a:solidFill>
                <a:latin typeface="Calibri" pitchFamily="34" charset="0"/>
                <a:ea typeface="Calibri" pitchFamily="34" charset="-122"/>
                <a:cs typeface="Calibri" pitchFamily="34" charset="-120"/>
              </a:rPr>
              <a:t>THỜI GIAN XỬ LÝ KỲ VỌNG (AS-IS)</a:t>
            </a:r>
            <a:endParaRPr lang="en-US" sz="1100" dirty="0"/>
          </a:p>
        </p:txBody>
      </p:sp>
      <p:sp>
        <p:nvSpPr>
          <p:cNvPr id="10" name="Shape 7"/>
          <p:cNvSpPr/>
          <p:nvPr/>
        </p:nvSpPr>
        <p:spPr>
          <a:xfrm>
            <a:off x="7223760" y="1810512"/>
            <a:ext cx="4419295" cy="676656"/>
          </a:xfrm>
          <a:prstGeom prst="roundRect">
            <a:avLst>
              <a:gd name="adj" fmla="val 8108"/>
            </a:avLst>
          </a:prstGeom>
          <a:solidFill>
            <a:srgbClr val="EFF4FB"/>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11" name="Text 8"/>
          <p:cNvSpPr txBox="1"/>
          <p:nvPr/>
        </p:nvSpPr>
        <p:spPr>
          <a:xfrm>
            <a:off x="7388352" y="1865376"/>
            <a:ext cx="4090111" cy="219456"/>
          </a:xfrm>
          <a:prstGeom prst="rect">
            <a:avLst/>
          </a:prstGeom>
          <a:noFill/>
          <a:ln/>
        </p:spPr>
        <p:txBody>
          <a:bodyPr wrap="square" lIns="0" tIns="0" rIns="0" bIns="0" rtlCol="0" anchor="t"/>
          <a:lstStyle/>
          <a:p>
            <a:pPr marL="0" indent="0">
              <a:buNone/>
            </a:pPr>
            <a:r>
              <a:rPr lang="en-US" sz="1050" b="1" dirty="0">
                <a:solidFill>
                  <a:srgbClr val="0B3B75"/>
                </a:solidFill>
                <a:latin typeface="Calibri" pitchFamily="34" charset="0"/>
                <a:ea typeface="Calibri" pitchFamily="34" charset="-122"/>
                <a:cs typeface="Calibri" pitchFamily="34" charset="-120"/>
              </a:rPr>
              <a:t>Khối 1 — Tiếp nhận và đánh giá mức độ</a:t>
            </a:r>
            <a:endParaRPr lang="en-US" sz="1050" dirty="0"/>
          </a:p>
        </p:txBody>
      </p:sp>
      <p:sp>
        <p:nvSpPr>
          <p:cNvPr id="12" name="Text 9"/>
          <p:cNvSpPr txBox="1"/>
          <p:nvPr/>
        </p:nvSpPr>
        <p:spPr>
          <a:xfrm>
            <a:off x="7388352" y="2084832"/>
            <a:ext cx="4090111" cy="201168"/>
          </a:xfrm>
          <a:prstGeom prst="rect">
            <a:avLst/>
          </a:prstGeom>
          <a:noFill/>
          <a:ln/>
        </p:spPr>
        <p:txBody>
          <a:bodyPr wrap="square" lIns="0" tIns="0" rIns="0" bIns="0" rtlCol="0" anchor="t"/>
          <a:lstStyle/>
          <a:p>
            <a:pPr marL="0" indent="0">
              <a:buNone/>
            </a:pPr>
            <a:r>
              <a:rPr lang="en-US" sz="900" dirty="0">
                <a:solidFill>
                  <a:srgbClr val="6E7A88"/>
                </a:solidFill>
                <a:latin typeface="Calibri" pitchFamily="34" charset="0"/>
                <a:ea typeface="Calibri" pitchFamily="34" charset="-122"/>
                <a:cs typeface="Calibri" pitchFamily="34" charset="-120"/>
              </a:rPr>
              <a:t>Luồng tuần tự do Helpdesk thực hiện</a:t>
            </a:r>
            <a:endParaRPr lang="en-US" sz="900" dirty="0"/>
          </a:p>
        </p:txBody>
      </p:sp>
      <p:sp>
        <p:nvSpPr>
          <p:cNvPr id="13" name="Text 10"/>
          <p:cNvSpPr txBox="1"/>
          <p:nvPr/>
        </p:nvSpPr>
        <p:spPr>
          <a:xfrm>
            <a:off x="7388352" y="2267712"/>
            <a:ext cx="4090111" cy="201168"/>
          </a:xfrm>
          <a:prstGeom prst="rect">
            <a:avLst/>
          </a:prstGeom>
          <a:noFill/>
          <a:ln/>
        </p:spPr>
        <p:txBody>
          <a:bodyPr wrap="square" lIns="0" tIns="0" rIns="0" bIns="0" rtlCol="0" anchor="t"/>
          <a:lstStyle/>
          <a:p>
            <a:pPr marL="0" indent="0">
              <a:buNone/>
            </a:pPr>
            <a:r>
              <a:rPr lang="en-US" sz="950" b="1" dirty="0">
                <a:solidFill>
                  <a:srgbClr val="1660BF"/>
                </a:solidFill>
                <a:latin typeface="Calibri" pitchFamily="34" charset="0"/>
                <a:ea typeface="Calibri" pitchFamily="34" charset="-122"/>
                <a:cs typeface="Calibri" pitchFamily="34" charset="-120"/>
              </a:rPr>
              <a:t>T₁ = 0,5 giờ</a:t>
            </a:r>
            <a:endParaRPr lang="en-US" sz="950" dirty="0"/>
          </a:p>
        </p:txBody>
      </p:sp>
      <p:sp>
        <p:nvSpPr>
          <p:cNvPr id="14" name="Shape 11"/>
          <p:cNvSpPr/>
          <p:nvPr/>
        </p:nvSpPr>
        <p:spPr>
          <a:xfrm>
            <a:off x="7223760" y="2596896"/>
            <a:ext cx="4419295" cy="676656"/>
          </a:xfrm>
          <a:prstGeom prst="roundRect">
            <a:avLst>
              <a:gd name="adj" fmla="val 8108"/>
            </a:avLst>
          </a:prstGeom>
          <a:solidFill>
            <a:srgbClr val="EFF4FB"/>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15" name="Text 12"/>
          <p:cNvSpPr txBox="1"/>
          <p:nvPr/>
        </p:nvSpPr>
        <p:spPr>
          <a:xfrm>
            <a:off x="7388352" y="2651760"/>
            <a:ext cx="4090111" cy="219456"/>
          </a:xfrm>
          <a:prstGeom prst="rect">
            <a:avLst/>
          </a:prstGeom>
          <a:noFill/>
          <a:ln/>
        </p:spPr>
        <p:txBody>
          <a:bodyPr wrap="square" lIns="0" tIns="0" rIns="0" bIns="0" rtlCol="0" anchor="t"/>
          <a:lstStyle/>
          <a:p>
            <a:pPr marL="0" indent="0">
              <a:buNone/>
            </a:pPr>
            <a:r>
              <a:rPr lang="en-US" sz="1050" b="1" dirty="0">
                <a:solidFill>
                  <a:srgbClr val="0B3B75"/>
                </a:solidFill>
                <a:latin typeface="Calibri" pitchFamily="34" charset="0"/>
                <a:ea typeface="Calibri" pitchFamily="34" charset="-122"/>
                <a:cs typeface="Calibri" pitchFamily="34" charset="-120"/>
              </a:rPr>
              <a:t>Khối 2 — Rẽ nhánh theo cấp độ (XOR)</a:t>
            </a:r>
            <a:endParaRPr lang="en-US" sz="1050" dirty="0"/>
          </a:p>
        </p:txBody>
      </p:sp>
      <p:sp>
        <p:nvSpPr>
          <p:cNvPr id="16" name="Text 13"/>
          <p:cNvSpPr txBox="1"/>
          <p:nvPr/>
        </p:nvSpPr>
        <p:spPr>
          <a:xfrm>
            <a:off x="7388352" y="2871216"/>
            <a:ext cx="4090111" cy="201168"/>
          </a:xfrm>
          <a:prstGeom prst="rect">
            <a:avLst/>
          </a:prstGeom>
          <a:noFill/>
          <a:ln/>
        </p:spPr>
        <p:txBody>
          <a:bodyPr wrap="square" lIns="0" tIns="0" rIns="0" bIns="0" rtlCol="0" anchor="t"/>
          <a:lstStyle/>
          <a:p>
            <a:pPr marL="0" indent="0">
              <a:buNone/>
            </a:pPr>
            <a:r>
              <a:rPr lang="en-US" sz="900" dirty="0">
                <a:solidFill>
                  <a:srgbClr val="6E7A88"/>
                </a:solidFill>
                <a:latin typeface="Calibri" pitchFamily="34" charset="0"/>
                <a:ea typeface="Calibri" pitchFamily="34" charset="-122"/>
                <a:cs typeface="Calibri" pitchFamily="34" charset="-120"/>
              </a:rPr>
              <a:t>L1 tự fix 70% (1 giờ)  ·  leo thang L2 30% (4 giờ)</a:t>
            </a:r>
            <a:endParaRPr lang="en-US" sz="900" dirty="0"/>
          </a:p>
        </p:txBody>
      </p:sp>
      <p:sp>
        <p:nvSpPr>
          <p:cNvPr id="17" name="Text 14"/>
          <p:cNvSpPr txBox="1"/>
          <p:nvPr/>
        </p:nvSpPr>
        <p:spPr>
          <a:xfrm>
            <a:off x="7388352" y="3054096"/>
            <a:ext cx="4090111" cy="201168"/>
          </a:xfrm>
          <a:prstGeom prst="rect">
            <a:avLst/>
          </a:prstGeom>
          <a:noFill/>
          <a:ln/>
        </p:spPr>
        <p:txBody>
          <a:bodyPr wrap="square" lIns="0" tIns="0" rIns="0" bIns="0" rtlCol="0" anchor="t"/>
          <a:lstStyle/>
          <a:p>
            <a:pPr marL="0" indent="0">
              <a:buNone/>
            </a:pPr>
            <a:r>
              <a:rPr lang="en-US" sz="950" b="1" dirty="0">
                <a:solidFill>
                  <a:srgbClr val="1660BF"/>
                </a:solidFill>
                <a:latin typeface="Calibri" pitchFamily="34" charset="0"/>
                <a:ea typeface="Calibri" pitchFamily="34" charset="-122"/>
                <a:cs typeface="Calibri" pitchFamily="34" charset="-120"/>
              </a:rPr>
              <a:t>T₂ = 0,7×1 + 0,3×4 = 1,9 giờ</a:t>
            </a:r>
            <a:endParaRPr lang="en-US" sz="950" dirty="0"/>
          </a:p>
        </p:txBody>
      </p:sp>
      <p:sp>
        <p:nvSpPr>
          <p:cNvPr id="18" name="Shape 15"/>
          <p:cNvSpPr/>
          <p:nvPr/>
        </p:nvSpPr>
        <p:spPr>
          <a:xfrm>
            <a:off x="7223760" y="3383280"/>
            <a:ext cx="4419295" cy="676656"/>
          </a:xfrm>
          <a:prstGeom prst="roundRect">
            <a:avLst>
              <a:gd name="adj" fmla="val 8108"/>
            </a:avLst>
          </a:prstGeom>
          <a:solidFill>
            <a:srgbClr val="EFF4FB"/>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19" name="Text 16"/>
          <p:cNvSpPr txBox="1"/>
          <p:nvPr/>
        </p:nvSpPr>
        <p:spPr>
          <a:xfrm>
            <a:off x="7388352" y="3438144"/>
            <a:ext cx="4090111" cy="219456"/>
          </a:xfrm>
          <a:prstGeom prst="rect">
            <a:avLst/>
          </a:prstGeom>
          <a:noFill/>
          <a:ln/>
        </p:spPr>
        <p:txBody>
          <a:bodyPr wrap="square" lIns="0" tIns="0" rIns="0" bIns="0" rtlCol="0" anchor="t"/>
          <a:lstStyle/>
          <a:p>
            <a:pPr marL="0" indent="0">
              <a:buNone/>
            </a:pPr>
            <a:r>
              <a:rPr lang="en-US" sz="1050" b="1" dirty="0">
                <a:solidFill>
                  <a:srgbClr val="0B3B75"/>
                </a:solidFill>
                <a:latin typeface="Calibri" pitchFamily="34" charset="0"/>
                <a:ea typeface="Calibri" pitchFamily="34" charset="-122"/>
                <a:cs typeface="Calibri" pitchFamily="34" charset="-120"/>
              </a:rPr>
              <a:t>Khối 3 — Kiểm tra và đóng sự cố</a:t>
            </a:r>
            <a:endParaRPr lang="en-US" sz="1050" dirty="0"/>
          </a:p>
        </p:txBody>
      </p:sp>
      <p:sp>
        <p:nvSpPr>
          <p:cNvPr id="20" name="Text 17"/>
          <p:cNvSpPr txBox="1"/>
          <p:nvPr/>
        </p:nvSpPr>
        <p:spPr>
          <a:xfrm>
            <a:off x="7388352" y="3657600"/>
            <a:ext cx="4090111" cy="201168"/>
          </a:xfrm>
          <a:prstGeom prst="rect">
            <a:avLst/>
          </a:prstGeom>
          <a:noFill/>
          <a:ln/>
        </p:spPr>
        <p:txBody>
          <a:bodyPr wrap="square" lIns="0" tIns="0" rIns="0" bIns="0" rtlCol="0" anchor="t"/>
          <a:lstStyle/>
          <a:p>
            <a:pPr marL="0" indent="0">
              <a:buNone/>
            </a:pPr>
            <a:r>
              <a:rPr lang="en-US" sz="900" dirty="0">
                <a:solidFill>
                  <a:srgbClr val="6E7A88"/>
                </a:solidFill>
                <a:latin typeface="Calibri" pitchFamily="34" charset="0"/>
                <a:ea typeface="Calibri" pitchFamily="34" charset="-122"/>
                <a:cs typeface="Calibri" pitchFamily="34" charset="-120"/>
              </a:rPr>
              <a:t>User test lại 0,5 giờ  ·  fix thành công 90%, rework 10%</a:t>
            </a:r>
            <a:endParaRPr lang="en-US" sz="900" dirty="0"/>
          </a:p>
        </p:txBody>
      </p:sp>
      <p:sp>
        <p:nvSpPr>
          <p:cNvPr id="21" name="Text 18"/>
          <p:cNvSpPr txBox="1"/>
          <p:nvPr/>
        </p:nvSpPr>
        <p:spPr>
          <a:xfrm>
            <a:off x="7388352" y="3840480"/>
            <a:ext cx="4090111" cy="201168"/>
          </a:xfrm>
          <a:prstGeom prst="rect">
            <a:avLst/>
          </a:prstGeom>
          <a:noFill/>
          <a:ln/>
        </p:spPr>
        <p:txBody>
          <a:bodyPr wrap="square" lIns="0" tIns="0" rIns="0" bIns="0" rtlCol="0" anchor="t"/>
          <a:lstStyle/>
          <a:p>
            <a:pPr marL="0" indent="0">
              <a:buNone/>
            </a:pPr>
            <a:r>
              <a:rPr lang="en-US" sz="950" b="1" dirty="0">
                <a:solidFill>
                  <a:srgbClr val="1660BF"/>
                </a:solidFill>
                <a:latin typeface="Calibri" pitchFamily="34" charset="0"/>
                <a:ea typeface="Calibri" pitchFamily="34" charset="-122"/>
                <a:cs typeface="Calibri" pitchFamily="34" charset="-120"/>
              </a:rPr>
              <a:t>T₃ = 0,5 / 0,9 ≈ 0,56 giờ</a:t>
            </a:r>
            <a:endParaRPr lang="en-US" sz="950" dirty="0"/>
          </a:p>
        </p:txBody>
      </p:sp>
      <p:sp>
        <p:nvSpPr>
          <p:cNvPr id="22" name="Shape 19"/>
          <p:cNvSpPr/>
          <p:nvPr/>
        </p:nvSpPr>
        <p:spPr>
          <a:xfrm>
            <a:off x="7223760" y="4206240"/>
            <a:ext cx="4419295" cy="658368"/>
          </a:xfrm>
          <a:prstGeom prst="roundRect">
            <a:avLst>
              <a:gd name="adj" fmla="val 8333"/>
            </a:avLst>
          </a:prstGeom>
          <a:solidFill>
            <a:srgbClr val="0B3B75"/>
          </a:solidFill>
          <a:ln w="9525">
            <a:solidFill>
              <a:srgbClr val="0B3B75"/>
            </a:solidFill>
            <a:prstDash val="solid"/>
          </a:ln>
          <a:effectLst>
            <a:outerShdw blurRad="101600" dist="19050" dir="5400000" algn="bl" rotWithShape="0">
              <a:srgbClr val="9AAFC6">
                <a:alpha val="16000"/>
              </a:srgbClr>
            </a:outerShdw>
          </a:effectLst>
        </p:spPr>
        <p:txBody>
          <a:bodyPr/>
          <a:lstStyle/>
          <a:p>
            <a:endParaRPr lang="en-US"/>
          </a:p>
        </p:txBody>
      </p:sp>
      <p:sp>
        <p:nvSpPr>
          <p:cNvPr id="23" name="Text 20"/>
          <p:cNvSpPr txBox="1"/>
          <p:nvPr/>
        </p:nvSpPr>
        <p:spPr>
          <a:xfrm>
            <a:off x="7388352" y="4279392"/>
            <a:ext cx="2926080" cy="457200"/>
          </a:xfrm>
          <a:prstGeom prst="rect">
            <a:avLst/>
          </a:prstGeom>
          <a:noFill/>
          <a:ln/>
        </p:spPr>
        <p:txBody>
          <a:bodyPr wrap="square" lIns="0" tIns="0" rIns="0" bIns="0" rtlCol="0" anchor="ctr"/>
          <a:lstStyle/>
          <a:p>
            <a:pPr marL="0" indent="0">
              <a:buNone/>
            </a:pPr>
            <a:r>
              <a:rPr lang="en-US" sz="1000" b="1" dirty="0">
                <a:solidFill>
                  <a:srgbClr val="AFC6E4"/>
                </a:solidFill>
                <a:latin typeface="Calibri" pitchFamily="34" charset="0"/>
                <a:ea typeface="Calibri" pitchFamily="34" charset="-122"/>
                <a:cs typeface="Calibri" pitchFamily="34" charset="-120"/>
              </a:rPr>
              <a:t>TỔNG THỜI GIAN KỲ VỌNG (INCIDENT AS-IS)</a:t>
            </a:r>
            <a:endParaRPr lang="en-US" sz="1000" dirty="0"/>
          </a:p>
        </p:txBody>
      </p:sp>
      <p:sp>
        <p:nvSpPr>
          <p:cNvPr id="24" name="Text 21"/>
          <p:cNvSpPr txBox="1"/>
          <p:nvPr/>
        </p:nvSpPr>
        <p:spPr>
          <a:xfrm>
            <a:off x="10241280" y="4279392"/>
            <a:ext cx="1237183" cy="457200"/>
          </a:xfrm>
          <a:prstGeom prst="rect">
            <a:avLst/>
          </a:prstGeom>
          <a:noFill/>
          <a:ln/>
        </p:spPr>
        <p:txBody>
          <a:bodyPr wrap="square" lIns="0" tIns="0" rIns="0" bIns="0" rtlCol="0" anchor="ctr"/>
          <a:lstStyle/>
          <a:p>
            <a:pPr marL="0" indent="0" algn="r">
              <a:buNone/>
            </a:pPr>
            <a:r>
              <a:rPr lang="en-US" sz="2000" b="1" dirty="0">
                <a:solidFill>
                  <a:srgbClr val="FFFFFF"/>
                </a:solidFill>
                <a:latin typeface="Calibri" pitchFamily="34" charset="0"/>
                <a:ea typeface="Calibri" pitchFamily="34" charset="-122"/>
                <a:cs typeface="Calibri" pitchFamily="34" charset="-120"/>
              </a:rPr>
              <a:t>2,96 giờ</a:t>
            </a:r>
            <a:endParaRPr lang="en-US" sz="2000" dirty="0"/>
          </a:p>
        </p:txBody>
      </p:sp>
      <p:sp>
        <p:nvSpPr>
          <p:cNvPr id="25" name="Shape 22"/>
          <p:cNvSpPr/>
          <p:nvPr/>
        </p:nvSpPr>
        <p:spPr>
          <a:xfrm>
            <a:off x="548640" y="5029200"/>
            <a:ext cx="11094415" cy="969264"/>
          </a:xfrm>
          <a:prstGeom prst="roundRect">
            <a:avLst>
              <a:gd name="adj" fmla="val 5660"/>
            </a:avLst>
          </a:prstGeom>
          <a:solidFill>
            <a:srgbClr val="FFFFFF"/>
          </a:solidFill>
          <a:ln w="9525">
            <a:solidFill>
              <a:srgbClr val="1660BF"/>
            </a:solidFill>
            <a:prstDash val="solid"/>
          </a:ln>
          <a:effectLst>
            <a:outerShdw blurRad="101600" dist="19050" dir="5400000" algn="bl" rotWithShape="0">
              <a:srgbClr val="9AAFC6">
                <a:alpha val="16000"/>
              </a:srgbClr>
            </a:outerShdw>
          </a:effectLst>
        </p:spPr>
        <p:txBody>
          <a:bodyPr/>
          <a:lstStyle/>
          <a:p>
            <a:endParaRPr lang="en-US"/>
          </a:p>
        </p:txBody>
      </p:sp>
      <p:sp>
        <p:nvSpPr>
          <p:cNvPr id="26" name="Text 23"/>
          <p:cNvSpPr txBox="1"/>
          <p:nvPr/>
        </p:nvSpPr>
        <p:spPr>
          <a:xfrm>
            <a:off x="768096" y="5175504"/>
            <a:ext cx="10655503" cy="694944"/>
          </a:xfrm>
          <a:prstGeom prst="rect">
            <a:avLst/>
          </a:prstGeom>
          <a:noFill/>
          <a:ln/>
        </p:spPr>
        <p:txBody>
          <a:bodyPr wrap="square" lIns="0" tIns="0" rIns="0" bIns="0" rtlCol="0" anchor="t"/>
          <a:lstStyle/>
          <a:p>
            <a:pPr marL="0" indent="0">
              <a:buNone/>
            </a:pPr>
            <a:r>
              <a:rPr lang="en-US" sz="1050" b="1" dirty="0">
                <a:solidFill>
                  <a:srgbClr val="1660BF"/>
                </a:solidFill>
                <a:latin typeface="Calibri" pitchFamily="34" charset="0"/>
                <a:ea typeface="Calibri" pitchFamily="34" charset="-122"/>
                <a:cs typeface="Calibri" pitchFamily="34" charset="-120"/>
              </a:rPr>
              <a:t>ĐIỂM TƯƠNG ĐỒNG VỚI PYC   </a:t>
            </a:r>
            <a:r>
              <a:rPr lang="en-US" sz="1050" dirty="0">
                <a:solidFill>
                  <a:srgbClr val="2A3442"/>
                </a:solidFill>
                <a:latin typeface="Calibri" pitchFamily="34" charset="0"/>
                <a:ea typeface="Calibri" pitchFamily="34" charset="-122"/>
                <a:cs typeface="Calibri" pitchFamily="34" charset="-120"/>
              </a:rPr>
              <a:t>Cùng nguy cơ lãng phí Move khi sự cố phải escalate qua nhiều cấp (L1 → L2/L3) và lãng phí Hold nếu chuyên viên phụ trách không kịp tiếp nhận. Vì vậy các giải pháp chuẩn hóa dữ liệu đầu vào và tự động hóa phân luồng đề xuất cho PYC ở Chương 5 có tiềm năng mở rộng sang quy trình này.</a:t>
            </a:r>
            <a:endParaRPr lang="en-US" sz="10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0">
    <p:bg>
      <p:bgPr>
        <a:solidFill>
          <a:srgbClr val="0B3B75"/>
        </a:solidFill>
        <a:effectLst/>
      </p:bgPr>
    </p:bg>
    <p:spTree>
      <p:nvGrpSpPr>
        <p:cNvPr id="1" name=""/>
        <p:cNvGrpSpPr/>
        <p:nvPr/>
      </p:nvGrpSpPr>
      <p:grpSpPr>
        <a:xfrm>
          <a:off x="0" y="0"/>
          <a:ext cx="0" cy="0"/>
          <a:chOff x="0" y="0"/>
          <a:chExt cx="0" cy="0"/>
        </a:xfrm>
      </p:grpSpPr>
      <p:sp>
        <p:nvSpPr>
          <p:cNvPr id="2" name="Text 0"/>
          <p:cNvSpPr txBox="1"/>
          <p:nvPr/>
        </p:nvSpPr>
        <p:spPr>
          <a:xfrm>
            <a:off x="548640" y="1920240"/>
            <a:ext cx="1828800" cy="1097280"/>
          </a:xfrm>
          <a:prstGeom prst="rect">
            <a:avLst/>
          </a:prstGeom>
          <a:noFill/>
          <a:ln/>
        </p:spPr>
        <p:txBody>
          <a:bodyPr wrap="square" lIns="0" tIns="0" rIns="0" bIns="0" rtlCol="0" anchor="t"/>
          <a:lstStyle/>
          <a:p>
            <a:pPr marL="0" indent="0">
              <a:buNone/>
            </a:pPr>
            <a:r>
              <a:rPr lang="en-US" sz="6600" b="1" dirty="0">
                <a:solidFill>
                  <a:srgbClr val="D9A227"/>
                </a:solidFill>
                <a:latin typeface="Calibri" pitchFamily="34" charset="0"/>
                <a:ea typeface="Calibri" pitchFamily="34" charset="-122"/>
                <a:cs typeface="Calibri" pitchFamily="34" charset="-120"/>
              </a:rPr>
              <a:t>05</a:t>
            </a:r>
            <a:endParaRPr lang="en-US" sz="6600" dirty="0"/>
          </a:p>
        </p:txBody>
      </p:sp>
      <p:sp>
        <p:nvSpPr>
          <p:cNvPr id="3" name="Text 1"/>
          <p:cNvSpPr txBox="1"/>
          <p:nvPr/>
        </p:nvSpPr>
        <p:spPr>
          <a:xfrm>
            <a:off x="548640" y="3072384"/>
            <a:ext cx="11094415" cy="274320"/>
          </a:xfrm>
          <a:prstGeom prst="rect">
            <a:avLst/>
          </a:prstGeom>
          <a:noFill/>
          <a:ln/>
        </p:spPr>
        <p:txBody>
          <a:bodyPr wrap="square" lIns="0" tIns="0" rIns="0" bIns="0" rtlCol="0" anchor="t"/>
          <a:lstStyle/>
          <a:p>
            <a:pPr marL="0" indent="0">
              <a:buNone/>
            </a:pPr>
            <a:r>
              <a:rPr lang="en-US" sz="1100" b="1" kern="0" spc="140" dirty="0">
                <a:solidFill>
                  <a:srgbClr val="AFC6E4"/>
                </a:solidFill>
                <a:latin typeface="Calibri" pitchFamily="34" charset="0"/>
                <a:ea typeface="Calibri" pitchFamily="34" charset="-122"/>
                <a:cs typeface="Calibri" pitchFamily="34" charset="-120"/>
              </a:rPr>
              <a:t>PHẦN 5 · IMPROVEMENT &amp; TO-BE</a:t>
            </a:r>
            <a:endParaRPr lang="en-US" sz="1100" dirty="0"/>
          </a:p>
        </p:txBody>
      </p:sp>
      <p:sp>
        <p:nvSpPr>
          <p:cNvPr id="4" name="Text 2"/>
          <p:cNvSpPr txBox="1"/>
          <p:nvPr/>
        </p:nvSpPr>
        <p:spPr>
          <a:xfrm>
            <a:off x="548640" y="3383280"/>
            <a:ext cx="11094415" cy="640080"/>
          </a:xfrm>
          <a:prstGeom prst="rect">
            <a:avLst/>
          </a:prstGeom>
          <a:noFill/>
          <a:ln/>
        </p:spPr>
        <p:txBody>
          <a:bodyPr wrap="square" lIns="0" tIns="0" rIns="0" bIns="0" rtlCol="0" anchor="t"/>
          <a:lstStyle/>
          <a:p>
            <a:pPr marL="0" indent="0">
              <a:buNone/>
            </a:pPr>
            <a:r>
              <a:rPr lang="en-US" sz="3200" b="1" dirty="0">
                <a:solidFill>
                  <a:srgbClr val="FFFFFF"/>
                </a:solidFill>
                <a:latin typeface="Calibri" pitchFamily="34" charset="0"/>
                <a:ea typeface="Calibri" pitchFamily="34" charset="-122"/>
                <a:cs typeface="Calibri" pitchFamily="34" charset="-120"/>
              </a:rPr>
              <a:t>Đề xuất giải pháp cải tiến và mô hình TO-BE</a:t>
            </a:r>
            <a:endParaRPr lang="en-US" sz="3200" dirty="0"/>
          </a:p>
        </p:txBody>
      </p:sp>
      <p:sp>
        <p:nvSpPr>
          <p:cNvPr id="5" name="Text 3"/>
          <p:cNvSpPr txBox="1"/>
          <p:nvPr/>
        </p:nvSpPr>
        <p:spPr>
          <a:xfrm>
            <a:off x="548640" y="4114800"/>
            <a:ext cx="9722815" cy="365760"/>
          </a:xfrm>
          <a:prstGeom prst="rect">
            <a:avLst/>
          </a:prstGeom>
          <a:noFill/>
          <a:ln/>
        </p:spPr>
        <p:txBody>
          <a:bodyPr wrap="square" lIns="0" tIns="0" rIns="0" bIns="0" rtlCol="0" anchor="t"/>
          <a:lstStyle/>
          <a:p>
            <a:pPr marL="0" indent="0">
              <a:buNone/>
            </a:pPr>
            <a:r>
              <a:rPr lang="en-US" sz="1200" dirty="0">
                <a:solidFill>
                  <a:srgbClr val="9BB2D2"/>
                </a:solidFill>
                <a:latin typeface="Calibri" pitchFamily="34" charset="0"/>
                <a:ea typeface="Calibri" pitchFamily="34" charset="-122"/>
                <a:cs typeface="Calibri" pitchFamily="34" charset="-120"/>
              </a:rPr>
              <a:t>Ba giải pháp bám sát ba loại lãng phí  ·  Sơ đồ BPMN TO-BE  ·  So sánh chỉ số vận hành AS-IS – TO-BE</a:t>
            </a:r>
            <a:endParaRPr lang="en-US" sz="1200" dirty="0"/>
          </a:p>
        </p:txBody>
      </p:sp>
      <p:sp>
        <p:nvSpPr>
          <p:cNvPr id="6" name="Text 4"/>
          <p:cNvSpPr txBox="1"/>
          <p:nvPr/>
        </p:nvSpPr>
        <p:spPr>
          <a:xfrm>
            <a:off x="548640" y="6419088"/>
            <a:ext cx="8778240" cy="237744"/>
          </a:xfrm>
          <a:prstGeom prst="rect">
            <a:avLst/>
          </a:prstGeom>
          <a:noFill/>
          <a:ln/>
        </p:spPr>
        <p:txBody>
          <a:bodyPr wrap="square" lIns="0" tIns="0" rIns="0" bIns="0" rtlCol="0" anchor="t"/>
          <a:lstStyle/>
          <a:p>
            <a:pPr marL="0" indent="0">
              <a:buNone/>
            </a:pPr>
            <a:r>
              <a:rPr lang="en-US" sz="850" dirty="0">
                <a:solidFill>
                  <a:srgbClr val="7089AE"/>
                </a:solidFill>
                <a:latin typeface="Calibri" pitchFamily="34" charset="0"/>
                <a:ea typeface="Calibri" pitchFamily="34" charset="-122"/>
                <a:cs typeface="Calibri" pitchFamily="34" charset="-120"/>
              </a:rPr>
              <a:t>HỆ THỐNG QUẢN TRỊ QUY TRÌNH NGHIỆP VỤ  ·  SACOMBANK — QUY TRÌNH PYC</a:t>
            </a:r>
            <a:endParaRPr lang="en-US" sz="850" dirty="0"/>
          </a:p>
        </p:txBody>
      </p:sp>
      <p:sp>
        <p:nvSpPr>
          <p:cNvPr id="7" name="Text 5"/>
          <p:cNvSpPr txBox="1"/>
          <p:nvPr/>
        </p:nvSpPr>
        <p:spPr>
          <a:xfrm>
            <a:off x="11155680" y="6382512"/>
            <a:ext cx="484632" cy="274320"/>
          </a:xfrm>
          <a:prstGeom prst="rect">
            <a:avLst/>
          </a:prstGeom>
          <a:noFill/>
          <a:ln/>
        </p:spPr>
        <p:txBody>
          <a:bodyPr wrap="square" lIns="0" tIns="0" rIns="0" bIns="0" rtlCol="0" anchor="t"/>
          <a:lstStyle/>
          <a:p>
            <a:pPr marL="0" indent="0" algn="r">
              <a:buNone/>
            </a:pPr>
            <a:r>
              <a:rPr lang="en-US" sz="1100" b="1" dirty="0">
                <a:solidFill>
                  <a:srgbClr val="D9A227"/>
                </a:solidFill>
                <a:latin typeface="Calibri" pitchFamily="34" charset="0"/>
                <a:ea typeface="Calibri" pitchFamily="34" charset="-122"/>
                <a:cs typeface="Calibri" pitchFamily="34" charset="-120"/>
              </a:rPr>
              <a:t>46</a:t>
            </a:r>
            <a:endParaRPr lang="en-US" sz="11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65760"/>
            <a:ext cx="123444" cy="123444"/>
          </a:xfrm>
          <a:prstGeom prst="ellipse">
            <a:avLst/>
          </a:prstGeom>
          <a:solidFill>
            <a:srgbClr val="D9A227"/>
          </a:solidFill>
          <a:ln w="12700">
            <a:solidFill>
              <a:srgbClr val="D9A227"/>
            </a:solidFill>
            <a:prstDash val="solid"/>
          </a:ln>
        </p:spPr>
        <p:txBody>
          <a:bodyPr/>
          <a:lstStyle/>
          <a:p>
            <a:endParaRPr lang="en-US"/>
          </a:p>
        </p:txBody>
      </p:sp>
      <p:sp>
        <p:nvSpPr>
          <p:cNvPr id="3" name="Text 1"/>
          <p:cNvSpPr txBox="1"/>
          <p:nvPr/>
        </p:nvSpPr>
        <p:spPr>
          <a:xfrm>
            <a:off x="804672" y="292608"/>
            <a:ext cx="10838383" cy="237744"/>
          </a:xfrm>
          <a:prstGeom prst="rect">
            <a:avLst/>
          </a:prstGeom>
          <a:noFill/>
          <a:ln/>
        </p:spPr>
        <p:txBody>
          <a:bodyPr wrap="square" lIns="0" tIns="0" rIns="0" bIns="0" rtlCol="0" anchor="t"/>
          <a:lstStyle/>
          <a:p>
            <a:pPr marL="0" indent="0">
              <a:buNone/>
            </a:pPr>
            <a:r>
              <a:rPr lang="en-US" sz="1050" b="1" kern="0" spc="120" dirty="0">
                <a:solidFill>
                  <a:srgbClr val="A5741A"/>
                </a:solidFill>
                <a:latin typeface="Calibri" pitchFamily="34" charset="0"/>
                <a:ea typeface="Calibri" pitchFamily="34" charset="-122"/>
                <a:cs typeface="Calibri" pitchFamily="34" charset="-120"/>
              </a:rPr>
              <a:t>CHƯƠNG 5 · 5.1 ĐỀ XUẤT GIẢI PHÁP</a:t>
            </a:r>
            <a:endParaRPr lang="en-US" sz="1050" dirty="0"/>
          </a:p>
        </p:txBody>
      </p:sp>
      <p:sp>
        <p:nvSpPr>
          <p:cNvPr id="4" name="Text 2"/>
          <p:cNvSpPr txBox="1"/>
          <p:nvPr/>
        </p:nvSpPr>
        <p:spPr>
          <a:xfrm>
            <a:off x="548640" y="566928"/>
            <a:ext cx="11094415" cy="457200"/>
          </a:xfrm>
          <a:prstGeom prst="rect">
            <a:avLst/>
          </a:prstGeom>
          <a:noFill/>
          <a:ln/>
        </p:spPr>
        <p:txBody>
          <a:bodyPr wrap="square" lIns="0" tIns="0" rIns="0" bIns="0" rtlCol="0" anchor="t"/>
          <a:lstStyle/>
          <a:p>
            <a:pPr marL="0" indent="0">
              <a:buNone/>
            </a:pPr>
            <a:r>
              <a:rPr lang="en-US" sz="2500" b="1" dirty="0">
                <a:solidFill>
                  <a:srgbClr val="0B3B75"/>
                </a:solidFill>
                <a:latin typeface="Calibri" pitchFamily="34" charset="0"/>
                <a:ea typeface="Calibri" pitchFamily="34" charset="-122"/>
                <a:cs typeface="Calibri" pitchFamily="34" charset="-120"/>
              </a:rPr>
              <a:t>BA GIẢI PHÁP CẢI TIẾN QUY TRÌNH PYC</a:t>
            </a:r>
            <a:endParaRPr lang="en-US" sz="2500" dirty="0"/>
          </a:p>
        </p:txBody>
      </p:sp>
      <p:sp>
        <p:nvSpPr>
          <p:cNvPr id="5" name="Text 3"/>
          <p:cNvSpPr txBox="1"/>
          <p:nvPr/>
        </p:nvSpPr>
        <p:spPr>
          <a:xfrm>
            <a:off x="548640" y="1024128"/>
            <a:ext cx="11094415" cy="274320"/>
          </a:xfrm>
          <a:prstGeom prst="rect">
            <a:avLst/>
          </a:prstGeom>
          <a:noFill/>
          <a:ln/>
        </p:spPr>
        <p:txBody>
          <a:bodyPr wrap="square" lIns="0" tIns="0" rIns="0" bIns="0" rtlCol="0" anchor="t"/>
          <a:lstStyle/>
          <a:p>
            <a:pPr marL="0" indent="0">
              <a:buNone/>
            </a:pPr>
            <a:r>
              <a:rPr lang="en-US" sz="1100" i="1" dirty="0">
                <a:solidFill>
                  <a:srgbClr val="6E7A88"/>
                </a:solidFill>
                <a:latin typeface="Calibri" pitchFamily="34" charset="0"/>
                <a:ea typeface="Calibri" pitchFamily="34" charset="-122"/>
                <a:cs typeface="Calibri" pitchFamily="34" charset="-120"/>
              </a:rPr>
              <a:t>Mỗi giải pháp nhắm trực tiếp vào một loại lãng phí đã nhận diện ở Chương 4</a:t>
            </a:r>
            <a:endParaRPr lang="en-US" sz="1100" dirty="0"/>
          </a:p>
        </p:txBody>
      </p:sp>
      <p:sp>
        <p:nvSpPr>
          <p:cNvPr id="6" name="Text 4"/>
          <p:cNvSpPr txBox="1"/>
          <p:nvPr/>
        </p:nvSpPr>
        <p:spPr>
          <a:xfrm>
            <a:off x="548640" y="6419088"/>
            <a:ext cx="8778240" cy="237744"/>
          </a:xfrm>
          <a:prstGeom prst="rect">
            <a:avLst/>
          </a:prstGeom>
          <a:noFill/>
          <a:ln/>
        </p:spPr>
        <p:txBody>
          <a:bodyPr wrap="square" lIns="0" tIns="0" rIns="0" bIns="0" rtlCol="0" anchor="t"/>
          <a:lstStyle/>
          <a:p>
            <a:pPr marL="0" indent="0">
              <a:buNone/>
            </a:pPr>
            <a:r>
              <a:rPr lang="en-US" sz="850" dirty="0">
                <a:solidFill>
                  <a:srgbClr val="6E7A88"/>
                </a:solidFill>
                <a:latin typeface="Calibri" pitchFamily="34" charset="0"/>
                <a:ea typeface="Calibri" pitchFamily="34" charset="-122"/>
                <a:cs typeface="Calibri" pitchFamily="34" charset="-120"/>
              </a:rPr>
              <a:t>HỆ THỐNG QUẢN TRỊ QUY TRÌNH NGHIỆP VỤ  ·  SACOMBANK — QUY TRÌNH PYC</a:t>
            </a:r>
            <a:endParaRPr lang="en-US" sz="850" dirty="0"/>
          </a:p>
        </p:txBody>
      </p:sp>
      <p:sp>
        <p:nvSpPr>
          <p:cNvPr id="7" name="Text 5"/>
          <p:cNvSpPr txBox="1"/>
          <p:nvPr/>
        </p:nvSpPr>
        <p:spPr>
          <a:xfrm>
            <a:off x="11155680" y="6382512"/>
            <a:ext cx="484632" cy="274320"/>
          </a:xfrm>
          <a:prstGeom prst="rect">
            <a:avLst/>
          </a:prstGeom>
          <a:noFill/>
          <a:ln/>
        </p:spPr>
        <p:txBody>
          <a:bodyPr wrap="square" lIns="0" tIns="0" rIns="0" bIns="0" rtlCol="0" anchor="t"/>
          <a:lstStyle/>
          <a:p>
            <a:pPr marL="0" indent="0" algn="r">
              <a:buNone/>
            </a:pPr>
            <a:r>
              <a:rPr lang="en-US" sz="1100" b="1" dirty="0">
                <a:solidFill>
                  <a:srgbClr val="A5741A"/>
                </a:solidFill>
                <a:latin typeface="Calibri" pitchFamily="34" charset="0"/>
                <a:ea typeface="Calibri" pitchFamily="34" charset="-122"/>
                <a:cs typeface="Calibri" pitchFamily="34" charset="-120"/>
              </a:rPr>
              <a:t>47</a:t>
            </a:r>
            <a:endParaRPr lang="en-US" sz="1100" dirty="0"/>
          </a:p>
        </p:txBody>
      </p:sp>
      <p:sp>
        <p:nvSpPr>
          <p:cNvPr id="8" name="Shape 6"/>
          <p:cNvSpPr/>
          <p:nvPr/>
        </p:nvSpPr>
        <p:spPr>
          <a:xfrm>
            <a:off x="548640" y="1463040"/>
            <a:ext cx="3515258" cy="4389120"/>
          </a:xfrm>
          <a:prstGeom prst="roundRect">
            <a:avLst>
              <a:gd name="adj" fmla="val 1561"/>
            </a:avLst>
          </a:prstGeom>
          <a:solidFill>
            <a:srgbClr val="FFFFFF"/>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9" name="Shape 7"/>
          <p:cNvSpPr/>
          <p:nvPr/>
        </p:nvSpPr>
        <p:spPr>
          <a:xfrm>
            <a:off x="548640" y="1463040"/>
            <a:ext cx="3515258" cy="914400"/>
          </a:xfrm>
          <a:prstGeom prst="rect">
            <a:avLst/>
          </a:prstGeom>
          <a:solidFill>
            <a:srgbClr val="1660BF"/>
          </a:solidFill>
          <a:ln w="12700">
            <a:solidFill>
              <a:srgbClr val="1660BF"/>
            </a:solidFill>
            <a:prstDash val="solid"/>
          </a:ln>
        </p:spPr>
        <p:txBody>
          <a:bodyPr/>
          <a:lstStyle/>
          <a:p>
            <a:endParaRPr lang="en-US"/>
          </a:p>
        </p:txBody>
      </p:sp>
      <p:sp>
        <p:nvSpPr>
          <p:cNvPr id="10" name="Text 8"/>
          <p:cNvSpPr txBox="1"/>
          <p:nvPr/>
        </p:nvSpPr>
        <p:spPr>
          <a:xfrm>
            <a:off x="731520" y="1536192"/>
            <a:ext cx="731520" cy="292608"/>
          </a:xfrm>
          <a:prstGeom prst="rect">
            <a:avLst/>
          </a:prstGeom>
          <a:noFill/>
          <a:ln/>
        </p:spPr>
        <p:txBody>
          <a:bodyPr wrap="square" lIns="0" tIns="0" rIns="0" bIns="0" rtlCol="0" anchor="t"/>
          <a:lstStyle/>
          <a:p>
            <a:pPr marL="0" indent="0">
              <a:buNone/>
            </a:pPr>
            <a:r>
              <a:rPr lang="en-US" sz="1600" b="1" dirty="0">
                <a:solidFill>
                  <a:srgbClr val="FFFFFF"/>
                </a:solidFill>
                <a:latin typeface="Calibri" pitchFamily="34" charset="0"/>
                <a:ea typeface="Calibri" pitchFamily="34" charset="-122"/>
                <a:cs typeface="Calibri" pitchFamily="34" charset="-120"/>
              </a:rPr>
              <a:t>01</a:t>
            </a:r>
            <a:endParaRPr lang="en-US" sz="1600" dirty="0"/>
          </a:p>
        </p:txBody>
      </p:sp>
      <p:sp>
        <p:nvSpPr>
          <p:cNvPr id="11" name="Text 9"/>
          <p:cNvSpPr txBox="1"/>
          <p:nvPr/>
        </p:nvSpPr>
        <p:spPr>
          <a:xfrm>
            <a:off x="731520" y="1828800"/>
            <a:ext cx="3149498" cy="274320"/>
          </a:xfrm>
          <a:prstGeom prst="rect">
            <a:avLst/>
          </a:prstGeom>
          <a:noFill/>
          <a:ln/>
        </p:spPr>
        <p:txBody>
          <a:bodyPr wrap="square" lIns="0" tIns="0" rIns="0" bIns="0" rtlCol="0" anchor="t"/>
          <a:lstStyle/>
          <a:p>
            <a:pPr marL="0" indent="0">
              <a:buNone/>
            </a:pPr>
            <a:r>
              <a:rPr lang="en-US" sz="1150" b="1" dirty="0">
                <a:solidFill>
                  <a:srgbClr val="FFFFFF"/>
                </a:solidFill>
                <a:latin typeface="Calibri" pitchFamily="34" charset="0"/>
                <a:ea typeface="Calibri" pitchFamily="34" charset="-122"/>
                <a:cs typeface="Calibri" pitchFamily="34" charset="-120"/>
              </a:rPr>
              <a:t>CHUẨN HÓA BIỂU MẪU SMART-FORM</a:t>
            </a:r>
            <a:endParaRPr lang="en-US" sz="1150" dirty="0"/>
          </a:p>
        </p:txBody>
      </p:sp>
      <p:sp>
        <p:nvSpPr>
          <p:cNvPr id="12" name="Text 10"/>
          <p:cNvSpPr txBox="1"/>
          <p:nvPr/>
        </p:nvSpPr>
        <p:spPr>
          <a:xfrm>
            <a:off x="731520" y="2103120"/>
            <a:ext cx="3149498" cy="219456"/>
          </a:xfrm>
          <a:prstGeom prst="rect">
            <a:avLst/>
          </a:prstGeom>
          <a:noFill/>
          <a:ln/>
        </p:spPr>
        <p:txBody>
          <a:bodyPr wrap="square" lIns="0" tIns="0" rIns="0" bIns="0" rtlCol="0" anchor="t"/>
          <a:lstStyle/>
          <a:p>
            <a:pPr marL="0" indent="0">
              <a:buNone/>
            </a:pPr>
            <a:r>
              <a:rPr lang="en-US" sz="900" i="1" dirty="0">
                <a:solidFill>
                  <a:srgbClr val="FFFFFF"/>
                </a:solidFill>
                <a:latin typeface="Calibri" pitchFamily="34" charset="0"/>
                <a:ea typeface="Calibri" pitchFamily="34" charset="-122"/>
                <a:cs typeface="Calibri" pitchFamily="34" charset="-120"/>
              </a:rPr>
              <a:t>Giải quyết lãng phí Move &amp; NVA</a:t>
            </a:r>
            <a:endParaRPr lang="en-US" sz="900" dirty="0"/>
          </a:p>
        </p:txBody>
      </p:sp>
      <p:sp>
        <p:nvSpPr>
          <p:cNvPr id="13" name="Text 11"/>
          <p:cNvSpPr txBox="1"/>
          <p:nvPr/>
        </p:nvSpPr>
        <p:spPr>
          <a:xfrm>
            <a:off x="731520" y="2542032"/>
            <a:ext cx="3149498" cy="201168"/>
          </a:xfrm>
          <a:prstGeom prst="rect">
            <a:avLst/>
          </a:prstGeom>
          <a:noFill/>
          <a:ln/>
        </p:spPr>
        <p:txBody>
          <a:bodyPr wrap="square" lIns="0" tIns="0" rIns="0" bIns="0" rtlCol="0" anchor="t"/>
          <a:lstStyle/>
          <a:p>
            <a:pPr marL="0" indent="0">
              <a:buNone/>
            </a:pPr>
            <a:r>
              <a:rPr lang="en-US" sz="900" b="1" kern="0" spc="80" dirty="0">
                <a:solidFill>
                  <a:srgbClr val="1660BF"/>
                </a:solidFill>
                <a:latin typeface="Calibri" pitchFamily="34" charset="0"/>
                <a:ea typeface="Calibri" pitchFamily="34" charset="-122"/>
                <a:cs typeface="Calibri" pitchFamily="34" charset="-120"/>
              </a:rPr>
              <a:t>VẤN ĐỀ</a:t>
            </a:r>
            <a:endParaRPr lang="en-US" sz="900" dirty="0"/>
          </a:p>
        </p:txBody>
      </p:sp>
      <p:sp>
        <p:nvSpPr>
          <p:cNvPr id="14" name="Text 12"/>
          <p:cNvSpPr txBox="1"/>
          <p:nvPr/>
        </p:nvSpPr>
        <p:spPr>
          <a:xfrm>
            <a:off x="731520" y="2761488"/>
            <a:ext cx="3149498" cy="841248"/>
          </a:xfrm>
          <a:prstGeom prst="rect">
            <a:avLst/>
          </a:prstGeom>
          <a:noFill/>
          <a:ln/>
        </p:spPr>
        <p:txBody>
          <a:bodyPr wrap="square" lIns="0" tIns="0" rIns="0" bIns="0" rtlCol="0" anchor="t"/>
          <a:lstStyle/>
          <a:p>
            <a:pPr marL="0" indent="0">
              <a:buNone/>
            </a:pPr>
            <a:r>
              <a:rPr lang="en-US" sz="950" dirty="0">
                <a:solidFill>
                  <a:srgbClr val="2A3442"/>
                </a:solidFill>
                <a:latin typeface="Calibri" pitchFamily="34" charset="0"/>
                <a:ea typeface="Calibri" pitchFamily="34" charset="-122"/>
                <a:cs typeface="Calibri" pitchFamily="34" charset="-120"/>
              </a:rPr>
              <a:t>Người dùng nhập thiếu thông tin, dẫn đến vòng lặp “Bổ sung thông tin” (NVA) gây lãng phí thời gian luân chuyển (Move).</a:t>
            </a:r>
            <a:endParaRPr lang="en-US" sz="950" dirty="0"/>
          </a:p>
        </p:txBody>
      </p:sp>
      <p:sp>
        <p:nvSpPr>
          <p:cNvPr id="15" name="Text 13"/>
          <p:cNvSpPr txBox="1"/>
          <p:nvPr/>
        </p:nvSpPr>
        <p:spPr>
          <a:xfrm>
            <a:off x="731520" y="3657600"/>
            <a:ext cx="3149498" cy="201168"/>
          </a:xfrm>
          <a:prstGeom prst="rect">
            <a:avLst/>
          </a:prstGeom>
          <a:noFill/>
          <a:ln/>
        </p:spPr>
        <p:txBody>
          <a:bodyPr wrap="square" lIns="0" tIns="0" rIns="0" bIns="0" rtlCol="0" anchor="t"/>
          <a:lstStyle/>
          <a:p>
            <a:pPr marL="0" indent="0">
              <a:buNone/>
            </a:pPr>
            <a:r>
              <a:rPr lang="en-US" sz="900" b="1" kern="0" spc="80" dirty="0">
                <a:solidFill>
                  <a:srgbClr val="1660BF"/>
                </a:solidFill>
                <a:latin typeface="Calibri" pitchFamily="34" charset="0"/>
                <a:ea typeface="Calibri" pitchFamily="34" charset="-122"/>
                <a:cs typeface="Calibri" pitchFamily="34" charset="-120"/>
              </a:rPr>
              <a:t>GIẢI PHÁP</a:t>
            </a:r>
            <a:endParaRPr lang="en-US" sz="900" dirty="0"/>
          </a:p>
        </p:txBody>
      </p:sp>
      <p:sp>
        <p:nvSpPr>
          <p:cNvPr id="16" name="Text 14"/>
          <p:cNvSpPr txBox="1"/>
          <p:nvPr/>
        </p:nvSpPr>
        <p:spPr>
          <a:xfrm>
            <a:off x="731520" y="3877056"/>
            <a:ext cx="3149498" cy="841248"/>
          </a:xfrm>
          <a:prstGeom prst="rect">
            <a:avLst/>
          </a:prstGeom>
          <a:noFill/>
          <a:ln/>
        </p:spPr>
        <p:txBody>
          <a:bodyPr wrap="square" lIns="0" tIns="0" rIns="0" bIns="0" rtlCol="0" anchor="t"/>
          <a:lstStyle/>
          <a:p>
            <a:pPr marL="0" indent="0">
              <a:buNone/>
            </a:pPr>
            <a:r>
              <a:rPr lang="en-US" sz="950" dirty="0">
                <a:solidFill>
                  <a:srgbClr val="2A3442"/>
                </a:solidFill>
                <a:latin typeface="Calibri" pitchFamily="34" charset="0"/>
                <a:ea typeface="Calibri" pitchFamily="34" charset="-122"/>
                <a:cs typeface="Calibri" pitchFamily="34" charset="-120"/>
              </a:rPr>
              <a:t>Áp dụng Smart-Form trên Cổng ITSM: bắt buộc (mandatory) với các trường thông tin quan trọng, dùng dropdown list có sẵn thay vì free-text.</a:t>
            </a:r>
            <a:endParaRPr lang="en-US" sz="950" dirty="0"/>
          </a:p>
        </p:txBody>
      </p:sp>
      <p:sp>
        <p:nvSpPr>
          <p:cNvPr id="17" name="Text 15"/>
          <p:cNvSpPr txBox="1"/>
          <p:nvPr/>
        </p:nvSpPr>
        <p:spPr>
          <a:xfrm>
            <a:off x="731520" y="4773168"/>
            <a:ext cx="3149498" cy="201168"/>
          </a:xfrm>
          <a:prstGeom prst="rect">
            <a:avLst/>
          </a:prstGeom>
          <a:noFill/>
          <a:ln/>
        </p:spPr>
        <p:txBody>
          <a:bodyPr wrap="square" lIns="0" tIns="0" rIns="0" bIns="0" rtlCol="0" anchor="t"/>
          <a:lstStyle/>
          <a:p>
            <a:pPr marL="0" indent="0">
              <a:buNone/>
            </a:pPr>
            <a:r>
              <a:rPr lang="en-US" sz="900" b="1" kern="0" spc="80" dirty="0">
                <a:solidFill>
                  <a:srgbClr val="1660BF"/>
                </a:solidFill>
                <a:latin typeface="Calibri" pitchFamily="34" charset="0"/>
                <a:ea typeface="Calibri" pitchFamily="34" charset="-122"/>
                <a:cs typeface="Calibri" pitchFamily="34" charset="-120"/>
              </a:rPr>
              <a:t>LỢI ÍCH</a:t>
            </a:r>
            <a:endParaRPr lang="en-US" sz="900" dirty="0"/>
          </a:p>
        </p:txBody>
      </p:sp>
      <p:sp>
        <p:nvSpPr>
          <p:cNvPr id="18" name="Text 16"/>
          <p:cNvSpPr txBox="1"/>
          <p:nvPr/>
        </p:nvSpPr>
        <p:spPr>
          <a:xfrm>
            <a:off x="731520" y="4992624"/>
            <a:ext cx="3149498" cy="841248"/>
          </a:xfrm>
          <a:prstGeom prst="rect">
            <a:avLst/>
          </a:prstGeom>
          <a:noFill/>
          <a:ln/>
        </p:spPr>
        <p:txBody>
          <a:bodyPr wrap="square" lIns="0" tIns="0" rIns="0" bIns="0" rtlCol="0" anchor="t"/>
          <a:lstStyle/>
          <a:p>
            <a:pPr marL="0" indent="0">
              <a:buNone/>
            </a:pPr>
            <a:r>
              <a:rPr lang="en-US" sz="950" dirty="0">
                <a:solidFill>
                  <a:srgbClr val="2A3442"/>
                </a:solidFill>
                <a:latin typeface="Calibri" pitchFamily="34" charset="0"/>
                <a:ea typeface="Calibri" pitchFamily="34" charset="-122"/>
                <a:cs typeface="Calibri" pitchFamily="34" charset="-120"/>
              </a:rPr>
              <a:t>Đảm bảo nguyên tắc “Right First Time”, triệt tiêu vòng lặp trả hồ sơ về người dùng, giảm Lead Time.</a:t>
            </a:r>
            <a:endParaRPr lang="en-US" sz="950" dirty="0"/>
          </a:p>
        </p:txBody>
      </p:sp>
      <p:sp>
        <p:nvSpPr>
          <p:cNvPr id="19" name="Shape 17"/>
          <p:cNvSpPr/>
          <p:nvPr/>
        </p:nvSpPr>
        <p:spPr>
          <a:xfrm>
            <a:off x="4338218" y="1463040"/>
            <a:ext cx="3515258" cy="4389120"/>
          </a:xfrm>
          <a:prstGeom prst="roundRect">
            <a:avLst>
              <a:gd name="adj" fmla="val 1561"/>
            </a:avLst>
          </a:prstGeom>
          <a:solidFill>
            <a:srgbClr val="FFFFFF"/>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20" name="Shape 18"/>
          <p:cNvSpPr/>
          <p:nvPr/>
        </p:nvSpPr>
        <p:spPr>
          <a:xfrm>
            <a:off x="4338218" y="1463040"/>
            <a:ext cx="3515258" cy="914400"/>
          </a:xfrm>
          <a:prstGeom prst="rect">
            <a:avLst/>
          </a:prstGeom>
          <a:solidFill>
            <a:srgbClr val="C0392B"/>
          </a:solidFill>
          <a:ln w="12700">
            <a:solidFill>
              <a:srgbClr val="C0392B"/>
            </a:solidFill>
            <a:prstDash val="solid"/>
          </a:ln>
        </p:spPr>
        <p:txBody>
          <a:bodyPr/>
          <a:lstStyle/>
          <a:p>
            <a:endParaRPr lang="en-US"/>
          </a:p>
        </p:txBody>
      </p:sp>
      <p:sp>
        <p:nvSpPr>
          <p:cNvPr id="21" name="Text 19"/>
          <p:cNvSpPr txBox="1"/>
          <p:nvPr/>
        </p:nvSpPr>
        <p:spPr>
          <a:xfrm>
            <a:off x="4521098" y="1536192"/>
            <a:ext cx="731520" cy="292608"/>
          </a:xfrm>
          <a:prstGeom prst="rect">
            <a:avLst/>
          </a:prstGeom>
          <a:noFill/>
          <a:ln/>
        </p:spPr>
        <p:txBody>
          <a:bodyPr wrap="square" lIns="0" tIns="0" rIns="0" bIns="0" rtlCol="0" anchor="t"/>
          <a:lstStyle/>
          <a:p>
            <a:pPr marL="0" indent="0">
              <a:buNone/>
            </a:pPr>
            <a:r>
              <a:rPr lang="en-US" sz="1600" b="1" dirty="0">
                <a:solidFill>
                  <a:srgbClr val="FFFFFF"/>
                </a:solidFill>
                <a:latin typeface="Calibri" pitchFamily="34" charset="0"/>
                <a:ea typeface="Calibri" pitchFamily="34" charset="-122"/>
                <a:cs typeface="Calibri" pitchFamily="34" charset="-120"/>
              </a:rPr>
              <a:t>02</a:t>
            </a:r>
            <a:endParaRPr lang="en-US" sz="1600" dirty="0"/>
          </a:p>
        </p:txBody>
      </p:sp>
      <p:sp>
        <p:nvSpPr>
          <p:cNvPr id="22" name="Text 20"/>
          <p:cNvSpPr txBox="1"/>
          <p:nvPr/>
        </p:nvSpPr>
        <p:spPr>
          <a:xfrm>
            <a:off x="4521098" y="1828800"/>
            <a:ext cx="3149498" cy="274320"/>
          </a:xfrm>
          <a:prstGeom prst="rect">
            <a:avLst/>
          </a:prstGeom>
          <a:noFill/>
          <a:ln/>
        </p:spPr>
        <p:txBody>
          <a:bodyPr wrap="square" lIns="0" tIns="0" rIns="0" bIns="0" rtlCol="0" anchor="t"/>
          <a:lstStyle/>
          <a:p>
            <a:pPr marL="0" indent="0">
              <a:buNone/>
            </a:pPr>
            <a:r>
              <a:rPr lang="en-US" sz="1150" b="1" dirty="0">
                <a:solidFill>
                  <a:srgbClr val="FFFFFF"/>
                </a:solidFill>
                <a:latin typeface="Calibri" pitchFamily="34" charset="0"/>
                <a:ea typeface="Calibri" pitchFamily="34" charset="-122"/>
                <a:cs typeface="Calibri" pitchFamily="34" charset="-120"/>
              </a:rPr>
              <a:t>MA TRẬN PHÊ DUYỆT TỰ ĐỘNG</a:t>
            </a:r>
            <a:endParaRPr lang="en-US" sz="1150" dirty="0"/>
          </a:p>
        </p:txBody>
      </p:sp>
      <p:sp>
        <p:nvSpPr>
          <p:cNvPr id="23" name="Text 21"/>
          <p:cNvSpPr txBox="1"/>
          <p:nvPr/>
        </p:nvSpPr>
        <p:spPr>
          <a:xfrm>
            <a:off x="4521098" y="2103120"/>
            <a:ext cx="3149498" cy="219456"/>
          </a:xfrm>
          <a:prstGeom prst="rect">
            <a:avLst/>
          </a:prstGeom>
          <a:noFill/>
          <a:ln/>
        </p:spPr>
        <p:txBody>
          <a:bodyPr wrap="square" lIns="0" tIns="0" rIns="0" bIns="0" rtlCol="0" anchor="t"/>
          <a:lstStyle/>
          <a:p>
            <a:pPr marL="0" indent="0">
              <a:buNone/>
            </a:pPr>
            <a:r>
              <a:rPr lang="en-US" sz="900" i="1" dirty="0">
                <a:solidFill>
                  <a:srgbClr val="FFFFFF"/>
                </a:solidFill>
                <a:latin typeface="Calibri" pitchFamily="34" charset="0"/>
                <a:ea typeface="Calibri" pitchFamily="34" charset="-122"/>
                <a:cs typeface="Calibri" pitchFamily="34" charset="-120"/>
              </a:rPr>
              <a:t>Giải quyết lãng phí Hold &amp; Overdo</a:t>
            </a:r>
            <a:endParaRPr lang="en-US" sz="900" dirty="0"/>
          </a:p>
        </p:txBody>
      </p:sp>
      <p:sp>
        <p:nvSpPr>
          <p:cNvPr id="24" name="Text 22"/>
          <p:cNvSpPr txBox="1"/>
          <p:nvPr/>
        </p:nvSpPr>
        <p:spPr>
          <a:xfrm>
            <a:off x="4521098" y="2542032"/>
            <a:ext cx="3149498" cy="201168"/>
          </a:xfrm>
          <a:prstGeom prst="rect">
            <a:avLst/>
          </a:prstGeom>
          <a:noFill/>
          <a:ln/>
        </p:spPr>
        <p:txBody>
          <a:bodyPr wrap="square" lIns="0" tIns="0" rIns="0" bIns="0" rtlCol="0" anchor="t"/>
          <a:lstStyle/>
          <a:p>
            <a:pPr marL="0" indent="0">
              <a:buNone/>
            </a:pPr>
            <a:r>
              <a:rPr lang="en-US" sz="900" b="1" kern="0" spc="80" dirty="0">
                <a:solidFill>
                  <a:srgbClr val="C0392B"/>
                </a:solidFill>
                <a:latin typeface="Calibri" pitchFamily="34" charset="0"/>
                <a:ea typeface="Calibri" pitchFamily="34" charset="-122"/>
                <a:cs typeface="Calibri" pitchFamily="34" charset="-120"/>
              </a:rPr>
              <a:t>VẤN ĐỀ</a:t>
            </a:r>
            <a:endParaRPr lang="en-US" sz="900" dirty="0"/>
          </a:p>
        </p:txBody>
      </p:sp>
      <p:sp>
        <p:nvSpPr>
          <p:cNvPr id="25" name="Text 23"/>
          <p:cNvSpPr txBox="1"/>
          <p:nvPr/>
        </p:nvSpPr>
        <p:spPr>
          <a:xfrm>
            <a:off x="4521098" y="2761488"/>
            <a:ext cx="3149498" cy="841248"/>
          </a:xfrm>
          <a:prstGeom prst="rect">
            <a:avLst/>
          </a:prstGeom>
          <a:noFill/>
          <a:ln/>
        </p:spPr>
        <p:txBody>
          <a:bodyPr wrap="square" lIns="0" tIns="0" rIns="0" bIns="0" rtlCol="0" anchor="t"/>
          <a:lstStyle/>
          <a:p>
            <a:pPr marL="0" indent="0">
              <a:buNone/>
            </a:pPr>
            <a:r>
              <a:rPr lang="en-US" sz="950" dirty="0">
                <a:solidFill>
                  <a:srgbClr val="2A3442"/>
                </a:solidFill>
                <a:latin typeface="Calibri" pitchFamily="34" charset="0"/>
                <a:ea typeface="Calibri" pitchFamily="34" charset="-122"/>
                <a:cs typeface="Calibri" pitchFamily="34" charset="-120"/>
              </a:rPr>
              <a:t>Mọi PYC đều đi qua cổng “Cần duyệt?”, gây chờ đợi (Hold) và làm thừa (Overdo) với các quyền cơ bản.</a:t>
            </a:r>
            <a:endParaRPr lang="en-US" sz="950" dirty="0"/>
          </a:p>
        </p:txBody>
      </p:sp>
      <p:sp>
        <p:nvSpPr>
          <p:cNvPr id="26" name="Text 24"/>
          <p:cNvSpPr txBox="1"/>
          <p:nvPr/>
        </p:nvSpPr>
        <p:spPr>
          <a:xfrm>
            <a:off x="4521098" y="3657600"/>
            <a:ext cx="3149498" cy="201168"/>
          </a:xfrm>
          <a:prstGeom prst="rect">
            <a:avLst/>
          </a:prstGeom>
          <a:noFill/>
          <a:ln/>
        </p:spPr>
        <p:txBody>
          <a:bodyPr wrap="square" lIns="0" tIns="0" rIns="0" bIns="0" rtlCol="0" anchor="t"/>
          <a:lstStyle/>
          <a:p>
            <a:pPr marL="0" indent="0">
              <a:buNone/>
            </a:pPr>
            <a:r>
              <a:rPr lang="en-US" sz="900" b="1" kern="0" spc="80" dirty="0">
                <a:solidFill>
                  <a:srgbClr val="C0392B"/>
                </a:solidFill>
                <a:latin typeface="Calibri" pitchFamily="34" charset="0"/>
                <a:ea typeface="Calibri" pitchFamily="34" charset="-122"/>
                <a:cs typeface="Calibri" pitchFamily="34" charset="-120"/>
              </a:rPr>
              <a:t>GIẢI PHÁP</a:t>
            </a:r>
            <a:endParaRPr lang="en-US" sz="900" dirty="0"/>
          </a:p>
        </p:txBody>
      </p:sp>
      <p:sp>
        <p:nvSpPr>
          <p:cNvPr id="27" name="Text 25"/>
          <p:cNvSpPr txBox="1"/>
          <p:nvPr/>
        </p:nvSpPr>
        <p:spPr>
          <a:xfrm>
            <a:off x="4521098" y="3877056"/>
            <a:ext cx="3149498" cy="841248"/>
          </a:xfrm>
          <a:prstGeom prst="rect">
            <a:avLst/>
          </a:prstGeom>
          <a:noFill/>
          <a:ln/>
        </p:spPr>
        <p:txBody>
          <a:bodyPr wrap="square" lIns="0" tIns="0" rIns="0" bIns="0" rtlCol="0" anchor="t"/>
          <a:lstStyle/>
          <a:p>
            <a:pPr marL="0" indent="0">
              <a:buNone/>
            </a:pPr>
            <a:r>
              <a:rPr lang="en-US" sz="950" dirty="0">
                <a:solidFill>
                  <a:srgbClr val="2A3442"/>
                </a:solidFill>
                <a:latin typeface="Calibri" pitchFamily="34" charset="0"/>
                <a:ea typeface="Calibri" pitchFamily="34" charset="-122"/>
                <a:cs typeface="Calibri" pitchFamily="34" charset="-120"/>
              </a:rPr>
              <a:t>Tái cấu trúc cổng điều kiện, chia danh mục dịch vụ thành Rủi ro thấp (Wifi, Folder chung, Reset Password) và Rủi ro cao (T24, Database). Nhóm rủi ro thấp được tự động bypass bước duyệt.</a:t>
            </a:r>
            <a:endParaRPr lang="en-US" sz="950" dirty="0"/>
          </a:p>
        </p:txBody>
      </p:sp>
      <p:sp>
        <p:nvSpPr>
          <p:cNvPr id="28" name="Text 26"/>
          <p:cNvSpPr txBox="1"/>
          <p:nvPr/>
        </p:nvSpPr>
        <p:spPr>
          <a:xfrm>
            <a:off x="4521098" y="4773168"/>
            <a:ext cx="3149498" cy="201168"/>
          </a:xfrm>
          <a:prstGeom prst="rect">
            <a:avLst/>
          </a:prstGeom>
          <a:noFill/>
          <a:ln/>
        </p:spPr>
        <p:txBody>
          <a:bodyPr wrap="square" lIns="0" tIns="0" rIns="0" bIns="0" rtlCol="0" anchor="t"/>
          <a:lstStyle/>
          <a:p>
            <a:pPr marL="0" indent="0">
              <a:buNone/>
            </a:pPr>
            <a:r>
              <a:rPr lang="en-US" sz="900" b="1" kern="0" spc="80" dirty="0">
                <a:solidFill>
                  <a:srgbClr val="C0392B"/>
                </a:solidFill>
                <a:latin typeface="Calibri" pitchFamily="34" charset="0"/>
                <a:ea typeface="Calibri" pitchFamily="34" charset="-122"/>
                <a:cs typeface="Calibri" pitchFamily="34" charset="-120"/>
              </a:rPr>
              <a:t>LỢI ÍCH</a:t>
            </a:r>
            <a:endParaRPr lang="en-US" sz="900" dirty="0"/>
          </a:p>
        </p:txBody>
      </p:sp>
      <p:sp>
        <p:nvSpPr>
          <p:cNvPr id="29" name="Text 27"/>
          <p:cNvSpPr txBox="1"/>
          <p:nvPr/>
        </p:nvSpPr>
        <p:spPr>
          <a:xfrm>
            <a:off x="4521098" y="4992624"/>
            <a:ext cx="3149498" cy="841248"/>
          </a:xfrm>
          <a:prstGeom prst="rect">
            <a:avLst/>
          </a:prstGeom>
          <a:noFill/>
          <a:ln/>
        </p:spPr>
        <p:txBody>
          <a:bodyPr wrap="square" lIns="0" tIns="0" rIns="0" bIns="0" rtlCol="0" anchor="t"/>
          <a:lstStyle/>
          <a:p>
            <a:pPr marL="0" indent="0">
              <a:buNone/>
            </a:pPr>
            <a:r>
              <a:rPr lang="en-US" sz="950" dirty="0">
                <a:solidFill>
                  <a:srgbClr val="2A3442"/>
                </a:solidFill>
                <a:latin typeface="Calibri" pitchFamily="34" charset="0"/>
                <a:ea typeface="Calibri" pitchFamily="34" charset="-122"/>
                <a:cs typeface="Calibri" pitchFamily="34" charset="-120"/>
              </a:rPr>
              <a:t>Giải phóng thời gian (VBA) của cấp quản lý, xóa bỏ nút thắt cổ chai tại bước chờ duyệt.</a:t>
            </a:r>
            <a:endParaRPr lang="en-US" sz="950" dirty="0"/>
          </a:p>
        </p:txBody>
      </p:sp>
      <p:sp>
        <p:nvSpPr>
          <p:cNvPr id="30" name="Shape 28"/>
          <p:cNvSpPr/>
          <p:nvPr/>
        </p:nvSpPr>
        <p:spPr>
          <a:xfrm>
            <a:off x="8127797" y="1463040"/>
            <a:ext cx="3515258" cy="4389120"/>
          </a:xfrm>
          <a:prstGeom prst="roundRect">
            <a:avLst>
              <a:gd name="adj" fmla="val 1561"/>
            </a:avLst>
          </a:prstGeom>
          <a:solidFill>
            <a:srgbClr val="FFFFFF"/>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31" name="Shape 29"/>
          <p:cNvSpPr/>
          <p:nvPr/>
        </p:nvSpPr>
        <p:spPr>
          <a:xfrm>
            <a:off x="8127797" y="1463040"/>
            <a:ext cx="3515258" cy="914400"/>
          </a:xfrm>
          <a:prstGeom prst="rect">
            <a:avLst/>
          </a:prstGeom>
          <a:solidFill>
            <a:srgbClr val="A5741A"/>
          </a:solidFill>
          <a:ln w="12700">
            <a:solidFill>
              <a:srgbClr val="A5741A"/>
            </a:solidFill>
            <a:prstDash val="solid"/>
          </a:ln>
        </p:spPr>
        <p:txBody>
          <a:bodyPr/>
          <a:lstStyle/>
          <a:p>
            <a:endParaRPr lang="en-US"/>
          </a:p>
        </p:txBody>
      </p:sp>
      <p:sp>
        <p:nvSpPr>
          <p:cNvPr id="32" name="Text 30"/>
          <p:cNvSpPr txBox="1"/>
          <p:nvPr/>
        </p:nvSpPr>
        <p:spPr>
          <a:xfrm>
            <a:off x="8310677" y="1536192"/>
            <a:ext cx="731520" cy="292608"/>
          </a:xfrm>
          <a:prstGeom prst="rect">
            <a:avLst/>
          </a:prstGeom>
          <a:noFill/>
          <a:ln/>
        </p:spPr>
        <p:txBody>
          <a:bodyPr wrap="square" lIns="0" tIns="0" rIns="0" bIns="0" rtlCol="0" anchor="t"/>
          <a:lstStyle/>
          <a:p>
            <a:pPr marL="0" indent="0">
              <a:buNone/>
            </a:pPr>
            <a:r>
              <a:rPr lang="en-US" sz="1600" b="1" dirty="0">
                <a:solidFill>
                  <a:srgbClr val="FFFFFF"/>
                </a:solidFill>
                <a:latin typeface="Calibri" pitchFamily="34" charset="0"/>
                <a:ea typeface="Calibri" pitchFamily="34" charset="-122"/>
                <a:cs typeface="Calibri" pitchFamily="34" charset="-120"/>
              </a:rPr>
              <a:t>03</a:t>
            </a:r>
            <a:endParaRPr lang="en-US" sz="1600" dirty="0"/>
          </a:p>
        </p:txBody>
      </p:sp>
      <p:sp>
        <p:nvSpPr>
          <p:cNvPr id="33" name="Text 31"/>
          <p:cNvSpPr txBox="1"/>
          <p:nvPr/>
        </p:nvSpPr>
        <p:spPr>
          <a:xfrm>
            <a:off x="8310677" y="1828800"/>
            <a:ext cx="3149498" cy="274320"/>
          </a:xfrm>
          <a:prstGeom prst="rect">
            <a:avLst/>
          </a:prstGeom>
          <a:noFill/>
          <a:ln/>
        </p:spPr>
        <p:txBody>
          <a:bodyPr wrap="square" lIns="0" tIns="0" rIns="0" bIns="0" rtlCol="0" anchor="t"/>
          <a:lstStyle/>
          <a:p>
            <a:pPr marL="0" indent="0">
              <a:buNone/>
            </a:pPr>
            <a:r>
              <a:rPr lang="en-US" sz="1150" b="1" dirty="0">
                <a:solidFill>
                  <a:srgbClr val="FFFFFF"/>
                </a:solidFill>
                <a:latin typeface="Calibri" pitchFamily="34" charset="0"/>
                <a:ea typeface="Calibri" pitchFamily="34" charset="-122"/>
                <a:cs typeface="Calibri" pitchFamily="34" charset="-120"/>
              </a:rPr>
              <a:t>TỰ ĐỘNG HÓA GHI LOG BẰNG API</a:t>
            </a:r>
            <a:endParaRPr lang="en-US" sz="1150" dirty="0"/>
          </a:p>
        </p:txBody>
      </p:sp>
      <p:sp>
        <p:nvSpPr>
          <p:cNvPr id="34" name="Text 32"/>
          <p:cNvSpPr txBox="1"/>
          <p:nvPr/>
        </p:nvSpPr>
        <p:spPr>
          <a:xfrm>
            <a:off x="8310677" y="2103120"/>
            <a:ext cx="3149498" cy="219456"/>
          </a:xfrm>
          <a:prstGeom prst="rect">
            <a:avLst/>
          </a:prstGeom>
          <a:noFill/>
          <a:ln/>
        </p:spPr>
        <p:txBody>
          <a:bodyPr wrap="square" lIns="0" tIns="0" rIns="0" bIns="0" rtlCol="0" anchor="t"/>
          <a:lstStyle/>
          <a:p>
            <a:pPr marL="0" indent="0">
              <a:buNone/>
            </a:pPr>
            <a:r>
              <a:rPr lang="en-US" sz="900" i="1" dirty="0">
                <a:solidFill>
                  <a:srgbClr val="FFFFFF"/>
                </a:solidFill>
                <a:latin typeface="Calibri" pitchFamily="34" charset="0"/>
                <a:ea typeface="Calibri" pitchFamily="34" charset="-122"/>
                <a:cs typeface="Calibri" pitchFamily="34" charset="-120"/>
              </a:rPr>
              <a:t>Giải quyết lãng phí Hold tại cổng gom luồng</a:t>
            </a:r>
            <a:endParaRPr lang="en-US" sz="900" dirty="0"/>
          </a:p>
        </p:txBody>
      </p:sp>
      <p:sp>
        <p:nvSpPr>
          <p:cNvPr id="35" name="Text 33"/>
          <p:cNvSpPr txBox="1"/>
          <p:nvPr/>
        </p:nvSpPr>
        <p:spPr>
          <a:xfrm>
            <a:off x="8310677" y="2542032"/>
            <a:ext cx="3149498" cy="201168"/>
          </a:xfrm>
          <a:prstGeom prst="rect">
            <a:avLst/>
          </a:prstGeom>
          <a:noFill/>
          <a:ln/>
        </p:spPr>
        <p:txBody>
          <a:bodyPr wrap="square" lIns="0" tIns="0" rIns="0" bIns="0" rtlCol="0" anchor="t"/>
          <a:lstStyle/>
          <a:p>
            <a:pPr marL="0" indent="0">
              <a:buNone/>
            </a:pPr>
            <a:r>
              <a:rPr lang="en-US" sz="900" b="1" kern="0" spc="80" dirty="0">
                <a:solidFill>
                  <a:srgbClr val="A5741A"/>
                </a:solidFill>
                <a:latin typeface="Calibri" pitchFamily="34" charset="0"/>
                <a:ea typeface="Calibri" pitchFamily="34" charset="-122"/>
                <a:cs typeface="Calibri" pitchFamily="34" charset="-120"/>
              </a:rPr>
              <a:t>VẤN ĐỀ</a:t>
            </a:r>
            <a:endParaRPr lang="en-US" sz="900" dirty="0"/>
          </a:p>
        </p:txBody>
      </p:sp>
      <p:sp>
        <p:nvSpPr>
          <p:cNvPr id="36" name="Text 34"/>
          <p:cNvSpPr txBox="1"/>
          <p:nvPr/>
        </p:nvSpPr>
        <p:spPr>
          <a:xfrm>
            <a:off x="8310677" y="2761488"/>
            <a:ext cx="3149498" cy="841248"/>
          </a:xfrm>
          <a:prstGeom prst="rect">
            <a:avLst/>
          </a:prstGeom>
          <a:noFill/>
          <a:ln/>
        </p:spPr>
        <p:txBody>
          <a:bodyPr wrap="square" lIns="0" tIns="0" rIns="0" bIns="0" rtlCol="0" anchor="t"/>
          <a:lstStyle/>
          <a:p>
            <a:pPr marL="0" indent="0">
              <a:buNone/>
            </a:pPr>
            <a:r>
              <a:rPr lang="en-US" sz="950" dirty="0">
                <a:solidFill>
                  <a:srgbClr val="2A3442"/>
                </a:solidFill>
                <a:latin typeface="Calibri" pitchFamily="34" charset="0"/>
                <a:ea typeface="Calibri" pitchFamily="34" charset="-122"/>
                <a:cs typeface="Calibri" pitchFamily="34" charset="-120"/>
              </a:rPr>
              <a:t>Tại làn Service Desk L1, quy trình bị kẹt ở cổng Join Gateway vì phải chờ thao tác “Ghi log bảo mật” thủ công.</a:t>
            </a:r>
            <a:endParaRPr lang="en-US" sz="950" dirty="0"/>
          </a:p>
        </p:txBody>
      </p:sp>
      <p:sp>
        <p:nvSpPr>
          <p:cNvPr id="37" name="Text 35"/>
          <p:cNvSpPr txBox="1"/>
          <p:nvPr/>
        </p:nvSpPr>
        <p:spPr>
          <a:xfrm>
            <a:off x="8310677" y="3657600"/>
            <a:ext cx="3149498" cy="201168"/>
          </a:xfrm>
          <a:prstGeom prst="rect">
            <a:avLst/>
          </a:prstGeom>
          <a:noFill/>
          <a:ln/>
        </p:spPr>
        <p:txBody>
          <a:bodyPr wrap="square" lIns="0" tIns="0" rIns="0" bIns="0" rtlCol="0" anchor="t"/>
          <a:lstStyle/>
          <a:p>
            <a:pPr marL="0" indent="0">
              <a:buNone/>
            </a:pPr>
            <a:r>
              <a:rPr lang="en-US" sz="900" b="1" kern="0" spc="80" dirty="0">
                <a:solidFill>
                  <a:srgbClr val="A5741A"/>
                </a:solidFill>
                <a:latin typeface="Calibri" pitchFamily="34" charset="0"/>
                <a:ea typeface="Calibri" pitchFamily="34" charset="-122"/>
                <a:cs typeface="Calibri" pitchFamily="34" charset="-120"/>
              </a:rPr>
              <a:t>GIẢI PHÁP</a:t>
            </a:r>
            <a:endParaRPr lang="en-US" sz="900" dirty="0"/>
          </a:p>
        </p:txBody>
      </p:sp>
      <p:sp>
        <p:nvSpPr>
          <p:cNvPr id="38" name="Text 36"/>
          <p:cNvSpPr txBox="1"/>
          <p:nvPr/>
        </p:nvSpPr>
        <p:spPr>
          <a:xfrm>
            <a:off x="8310677" y="3877056"/>
            <a:ext cx="3149498" cy="841248"/>
          </a:xfrm>
          <a:prstGeom prst="rect">
            <a:avLst/>
          </a:prstGeom>
          <a:noFill/>
          <a:ln/>
        </p:spPr>
        <p:txBody>
          <a:bodyPr wrap="square" lIns="0" tIns="0" rIns="0" bIns="0" rtlCol="0" anchor="t"/>
          <a:lstStyle/>
          <a:p>
            <a:pPr marL="0" indent="0">
              <a:buNone/>
            </a:pPr>
            <a:r>
              <a:rPr lang="en-US" sz="950" dirty="0">
                <a:solidFill>
                  <a:srgbClr val="2A3442"/>
                </a:solidFill>
                <a:latin typeface="Calibri" pitchFamily="34" charset="0"/>
                <a:ea typeface="Calibri" pitchFamily="34" charset="-122"/>
                <a:cs typeface="Calibri" pitchFamily="34" charset="-120"/>
              </a:rPr>
              <a:t>Tích hợp API giữa hệ thống cấp quyền và hệ thống quản lý log tập trung (SIEM). Hoàn tất “Cấu hình cấp quyền” sẽ tự động trigger việc ghi log.</a:t>
            </a:r>
            <a:endParaRPr lang="en-US" sz="950" dirty="0"/>
          </a:p>
        </p:txBody>
      </p:sp>
      <p:sp>
        <p:nvSpPr>
          <p:cNvPr id="39" name="Text 37"/>
          <p:cNvSpPr txBox="1"/>
          <p:nvPr/>
        </p:nvSpPr>
        <p:spPr>
          <a:xfrm>
            <a:off x="8310677" y="4773168"/>
            <a:ext cx="3149498" cy="201168"/>
          </a:xfrm>
          <a:prstGeom prst="rect">
            <a:avLst/>
          </a:prstGeom>
          <a:noFill/>
          <a:ln/>
        </p:spPr>
        <p:txBody>
          <a:bodyPr wrap="square" lIns="0" tIns="0" rIns="0" bIns="0" rtlCol="0" anchor="t"/>
          <a:lstStyle/>
          <a:p>
            <a:pPr marL="0" indent="0">
              <a:buNone/>
            </a:pPr>
            <a:r>
              <a:rPr lang="en-US" sz="900" b="1" kern="0" spc="80" dirty="0">
                <a:solidFill>
                  <a:srgbClr val="A5741A"/>
                </a:solidFill>
                <a:latin typeface="Calibri" pitchFamily="34" charset="0"/>
                <a:ea typeface="Calibri" pitchFamily="34" charset="-122"/>
                <a:cs typeface="Calibri" pitchFamily="34" charset="-120"/>
              </a:rPr>
              <a:t>LỢI ÍCH</a:t>
            </a:r>
            <a:endParaRPr lang="en-US" sz="900" dirty="0"/>
          </a:p>
        </p:txBody>
      </p:sp>
      <p:sp>
        <p:nvSpPr>
          <p:cNvPr id="40" name="Text 38"/>
          <p:cNvSpPr txBox="1"/>
          <p:nvPr/>
        </p:nvSpPr>
        <p:spPr>
          <a:xfrm>
            <a:off x="8310677" y="4992624"/>
            <a:ext cx="3149498" cy="841248"/>
          </a:xfrm>
          <a:prstGeom prst="rect">
            <a:avLst/>
          </a:prstGeom>
          <a:noFill/>
          <a:ln/>
        </p:spPr>
        <p:txBody>
          <a:bodyPr wrap="square" lIns="0" tIns="0" rIns="0" bIns="0" rtlCol="0" anchor="t"/>
          <a:lstStyle/>
          <a:p>
            <a:pPr marL="0" indent="0">
              <a:buNone/>
            </a:pPr>
            <a:r>
              <a:rPr lang="en-US" sz="950" dirty="0">
                <a:solidFill>
                  <a:srgbClr val="2A3442"/>
                </a:solidFill>
                <a:latin typeface="Calibri" pitchFamily="34" charset="0"/>
                <a:ea typeface="Calibri" pitchFamily="34" charset="-122"/>
                <a:cs typeface="Calibri" pitchFamily="34" charset="-120"/>
              </a:rPr>
              <a:t>Chuyển “Ghi log bảo mật” từ User Task sang Service Task; xóa bỏ hoàn toàn thời gian chờ đồng bộ giữa hai luồng song song.</a:t>
            </a:r>
            <a:endParaRPr lang="en-US" sz="95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a:effectLst/>
      </p:bgPr>
    </p:bg>
    <p:spTree>
      <p:nvGrpSpPr>
        <p:cNvPr id="1" name=""/>
        <p:cNvGrpSpPr/>
        <p:nvPr/>
      </p:nvGrpSpPr>
      <p:grpSpPr>
        <a:xfrm>
          <a:off x="0" y="0"/>
          <a:ext cx="0" cy="0"/>
          <a:chOff x="0" y="0"/>
          <a:chExt cx="0" cy="0"/>
        </a:xfrm>
      </p:grpSpPr>
      <p:sp>
        <p:nvSpPr>
          <p:cNvPr id="59" name="Shape 0">
            <a:extLst>
              <a:ext uri="{FF2B5EF4-FFF2-40B4-BE49-F238E27FC236}">
                <a16:creationId xmlns:a16="http://schemas.microsoft.com/office/drawing/2014/main" id="{1A580EEE-632F-3CE9-CF27-FAA7B4246CA4}"/>
              </a:ext>
            </a:extLst>
          </p:cNvPr>
          <p:cNvSpPr/>
          <p:nvPr/>
        </p:nvSpPr>
        <p:spPr>
          <a:xfrm>
            <a:off x="548640" y="365760"/>
            <a:ext cx="123444" cy="123444"/>
          </a:xfrm>
          <a:prstGeom prst="ellipse">
            <a:avLst/>
          </a:prstGeom>
          <a:solidFill>
            <a:srgbClr val="D9A227"/>
          </a:solidFill>
          <a:ln w="12700">
            <a:solidFill>
              <a:srgbClr val="D9A227"/>
            </a:solidFill>
            <a:prstDash val="solid"/>
          </a:ln>
        </p:spPr>
        <p:txBody>
          <a:bodyPr/>
          <a:lstStyle/>
          <a:p>
            <a:endParaRPr lang="en-US"/>
          </a:p>
        </p:txBody>
      </p:sp>
      <p:sp>
        <p:nvSpPr>
          <p:cNvPr id="61" name="Text 1">
            <a:extLst>
              <a:ext uri="{FF2B5EF4-FFF2-40B4-BE49-F238E27FC236}">
                <a16:creationId xmlns:a16="http://schemas.microsoft.com/office/drawing/2014/main" id="{6E1B03B4-9E28-0B58-11AA-ECF04CD5D4D9}"/>
              </a:ext>
            </a:extLst>
          </p:cNvPr>
          <p:cNvSpPr txBox="1"/>
          <p:nvPr/>
        </p:nvSpPr>
        <p:spPr>
          <a:xfrm>
            <a:off x="804672" y="292608"/>
            <a:ext cx="10838383" cy="237744"/>
          </a:xfrm>
          <a:prstGeom prst="rect">
            <a:avLst/>
          </a:prstGeom>
          <a:noFill/>
          <a:ln/>
        </p:spPr>
        <p:txBody>
          <a:bodyPr wrap="square" lIns="0" tIns="0" rIns="0" bIns="0" rtlCol="0" anchor="t"/>
          <a:lstStyle/>
          <a:p>
            <a:pPr marL="0" indent="0">
              <a:buNone/>
            </a:pPr>
            <a:r>
              <a:rPr lang="en-US" sz="1050" b="1" kern="0" spc="120" dirty="0">
                <a:solidFill>
                  <a:srgbClr val="A5741A"/>
                </a:solidFill>
                <a:latin typeface="Calibri" pitchFamily="34" charset="0"/>
                <a:ea typeface="Calibri" pitchFamily="34" charset="-122"/>
                <a:cs typeface="Calibri" pitchFamily="34" charset="-120"/>
              </a:rPr>
              <a:t>CHƯƠNG 5 · 5.2 MÔ HÌNH TO-BE</a:t>
            </a:r>
            <a:endParaRPr lang="en-US" sz="1050" dirty="0"/>
          </a:p>
        </p:txBody>
      </p:sp>
      <p:sp>
        <p:nvSpPr>
          <p:cNvPr id="63" name="Text 2">
            <a:extLst>
              <a:ext uri="{FF2B5EF4-FFF2-40B4-BE49-F238E27FC236}">
                <a16:creationId xmlns:a16="http://schemas.microsoft.com/office/drawing/2014/main" id="{121C66D2-4716-7183-D8CA-250E34F988DE}"/>
              </a:ext>
            </a:extLst>
          </p:cNvPr>
          <p:cNvSpPr txBox="1"/>
          <p:nvPr/>
        </p:nvSpPr>
        <p:spPr>
          <a:xfrm>
            <a:off x="548640" y="566928"/>
            <a:ext cx="11094415" cy="457200"/>
          </a:xfrm>
          <a:prstGeom prst="rect">
            <a:avLst/>
          </a:prstGeom>
          <a:noFill/>
          <a:ln/>
        </p:spPr>
        <p:txBody>
          <a:bodyPr wrap="square" lIns="0" tIns="0" rIns="0" bIns="0" rtlCol="0" anchor="t"/>
          <a:lstStyle/>
          <a:p>
            <a:pPr marL="0" indent="0">
              <a:buNone/>
            </a:pPr>
            <a:r>
              <a:rPr lang="en-US" sz="2500" b="1" dirty="0">
                <a:solidFill>
                  <a:srgbClr val="0B3B75"/>
                </a:solidFill>
                <a:latin typeface="Calibri" pitchFamily="34" charset="0"/>
                <a:ea typeface="Calibri" pitchFamily="34" charset="-122"/>
                <a:cs typeface="Calibri" pitchFamily="34" charset="-120"/>
              </a:rPr>
              <a:t>BA ĐIỂM KHÁC BIỆT CỐT LÕI CỦA MÔ HÌNH TO-BE SO VỚI AS-IS</a:t>
            </a:r>
            <a:endParaRPr lang="en-US" sz="2500" dirty="0"/>
          </a:p>
        </p:txBody>
      </p:sp>
      <p:sp>
        <p:nvSpPr>
          <p:cNvPr id="65" name="Text 3">
            <a:extLst>
              <a:ext uri="{FF2B5EF4-FFF2-40B4-BE49-F238E27FC236}">
                <a16:creationId xmlns:a16="http://schemas.microsoft.com/office/drawing/2014/main" id="{62D42B72-FE95-E9BD-6CD0-9D87895F1E8A}"/>
              </a:ext>
            </a:extLst>
          </p:cNvPr>
          <p:cNvSpPr txBox="1"/>
          <p:nvPr/>
        </p:nvSpPr>
        <p:spPr>
          <a:xfrm>
            <a:off x="548640" y="6419088"/>
            <a:ext cx="8778240" cy="237744"/>
          </a:xfrm>
          <a:prstGeom prst="rect">
            <a:avLst/>
          </a:prstGeom>
          <a:noFill/>
          <a:ln/>
        </p:spPr>
        <p:txBody>
          <a:bodyPr wrap="square" lIns="0" tIns="0" rIns="0" bIns="0" rtlCol="0" anchor="t"/>
          <a:lstStyle/>
          <a:p>
            <a:pPr marL="0" indent="0">
              <a:buNone/>
            </a:pPr>
            <a:r>
              <a:rPr lang="en-US" sz="850" dirty="0">
                <a:solidFill>
                  <a:srgbClr val="6E7A88"/>
                </a:solidFill>
                <a:latin typeface="Calibri" pitchFamily="34" charset="0"/>
                <a:ea typeface="Calibri" pitchFamily="34" charset="-122"/>
                <a:cs typeface="Calibri" pitchFamily="34" charset="-120"/>
              </a:rPr>
              <a:t>HỆ THỐNG QUẢN TRỊ QUY TRÌNH NGHIỆP VỤ  ·  SACOMBANK — QUY TRÌNH PYC</a:t>
            </a:r>
            <a:endParaRPr lang="en-US" sz="850" dirty="0"/>
          </a:p>
        </p:txBody>
      </p:sp>
      <p:sp>
        <p:nvSpPr>
          <p:cNvPr id="67" name="Text 4">
            <a:extLst>
              <a:ext uri="{FF2B5EF4-FFF2-40B4-BE49-F238E27FC236}">
                <a16:creationId xmlns:a16="http://schemas.microsoft.com/office/drawing/2014/main" id="{3E91D004-825C-F903-CAF1-5FF17F1497A6}"/>
              </a:ext>
            </a:extLst>
          </p:cNvPr>
          <p:cNvSpPr txBox="1"/>
          <p:nvPr/>
        </p:nvSpPr>
        <p:spPr>
          <a:xfrm>
            <a:off x="11155680" y="6382512"/>
            <a:ext cx="484632" cy="274320"/>
          </a:xfrm>
          <a:prstGeom prst="rect">
            <a:avLst/>
          </a:prstGeom>
          <a:noFill/>
          <a:ln/>
        </p:spPr>
        <p:txBody>
          <a:bodyPr wrap="square" lIns="0" tIns="0" rIns="0" bIns="0" rtlCol="0" anchor="t"/>
          <a:lstStyle/>
          <a:p>
            <a:pPr marL="0" indent="0" algn="r">
              <a:buNone/>
            </a:pPr>
            <a:r>
              <a:rPr lang="en-US" sz="1100" b="1" dirty="0">
                <a:solidFill>
                  <a:srgbClr val="A5741A"/>
                </a:solidFill>
                <a:latin typeface="Calibri" pitchFamily="34" charset="0"/>
                <a:ea typeface="Calibri" pitchFamily="34" charset="-122"/>
                <a:cs typeface="Calibri" pitchFamily="34" charset="-120"/>
              </a:rPr>
              <a:t>48</a:t>
            </a:r>
            <a:endParaRPr lang="en-US" sz="1100" dirty="0"/>
          </a:p>
        </p:txBody>
      </p:sp>
      <p:sp>
        <p:nvSpPr>
          <p:cNvPr id="69" name="Shape 5">
            <a:extLst>
              <a:ext uri="{FF2B5EF4-FFF2-40B4-BE49-F238E27FC236}">
                <a16:creationId xmlns:a16="http://schemas.microsoft.com/office/drawing/2014/main" id="{A87F3794-AC4D-8ADF-D983-77B2207B45E9}"/>
              </a:ext>
            </a:extLst>
          </p:cNvPr>
          <p:cNvSpPr/>
          <p:nvPr/>
        </p:nvSpPr>
        <p:spPr>
          <a:xfrm>
            <a:off x="548640" y="1572768"/>
            <a:ext cx="384048" cy="384048"/>
          </a:xfrm>
          <a:prstGeom prst="ellipse">
            <a:avLst/>
          </a:prstGeom>
          <a:solidFill>
            <a:srgbClr val="D9A227"/>
          </a:solidFill>
          <a:ln w="12700">
            <a:solidFill>
              <a:srgbClr val="D9A227"/>
            </a:solidFill>
            <a:prstDash val="solid"/>
          </a:ln>
        </p:spPr>
        <p:txBody>
          <a:bodyPr/>
          <a:lstStyle/>
          <a:p>
            <a:endParaRPr lang="en-US"/>
          </a:p>
        </p:txBody>
      </p:sp>
      <p:sp>
        <p:nvSpPr>
          <p:cNvPr id="71" name="Text 6">
            <a:extLst>
              <a:ext uri="{FF2B5EF4-FFF2-40B4-BE49-F238E27FC236}">
                <a16:creationId xmlns:a16="http://schemas.microsoft.com/office/drawing/2014/main" id="{058B8FB4-7A50-359F-563D-BE1E5F98278E}"/>
              </a:ext>
            </a:extLst>
          </p:cNvPr>
          <p:cNvSpPr txBox="1"/>
          <p:nvPr/>
        </p:nvSpPr>
        <p:spPr>
          <a:xfrm>
            <a:off x="548640" y="1664208"/>
            <a:ext cx="384048" cy="310896"/>
          </a:xfrm>
          <a:prstGeom prst="rect">
            <a:avLst/>
          </a:prstGeom>
          <a:noFill/>
          <a:ln/>
        </p:spPr>
        <p:txBody>
          <a:bodyPr wrap="square" lIns="0" tIns="0" rIns="0" bIns="0" rtlCol="0" anchor="t"/>
          <a:lstStyle/>
          <a:p>
            <a:pPr marL="0" indent="0" algn="ctr">
              <a:buNone/>
            </a:pPr>
            <a:r>
              <a:rPr lang="en-US" sz="1200" b="1" dirty="0">
                <a:solidFill>
                  <a:srgbClr val="0B3B75"/>
                </a:solidFill>
                <a:latin typeface="Calibri" pitchFamily="34" charset="0"/>
                <a:ea typeface="Calibri" pitchFamily="34" charset="-122"/>
                <a:cs typeface="Calibri" pitchFamily="34" charset="-120"/>
              </a:rPr>
              <a:t>1</a:t>
            </a:r>
            <a:endParaRPr lang="en-US" sz="1200" dirty="0"/>
          </a:p>
        </p:txBody>
      </p:sp>
      <p:sp>
        <p:nvSpPr>
          <p:cNvPr id="73" name="Text 7">
            <a:extLst>
              <a:ext uri="{FF2B5EF4-FFF2-40B4-BE49-F238E27FC236}">
                <a16:creationId xmlns:a16="http://schemas.microsoft.com/office/drawing/2014/main" id="{04568AD4-8485-17B1-F130-5BFBB97DFFE5}"/>
              </a:ext>
            </a:extLst>
          </p:cNvPr>
          <p:cNvSpPr txBox="1"/>
          <p:nvPr/>
        </p:nvSpPr>
        <p:spPr>
          <a:xfrm>
            <a:off x="1078992" y="1554480"/>
            <a:ext cx="4590288" cy="256032"/>
          </a:xfrm>
          <a:prstGeom prst="rect">
            <a:avLst/>
          </a:prstGeom>
          <a:noFill/>
          <a:ln/>
        </p:spPr>
        <p:txBody>
          <a:bodyPr wrap="square" lIns="0" tIns="0" rIns="0" bIns="0" rtlCol="0" anchor="t"/>
          <a:lstStyle/>
          <a:p>
            <a:pPr marL="0" indent="0">
              <a:buNone/>
            </a:pPr>
            <a:r>
              <a:rPr lang="en-US" sz="1250" b="1" dirty="0">
                <a:solidFill>
                  <a:srgbClr val="0B3B75"/>
                </a:solidFill>
                <a:latin typeface="Calibri" pitchFamily="34" charset="0"/>
                <a:ea typeface="Calibri" pitchFamily="34" charset="-122"/>
                <a:cs typeface="Calibri" pitchFamily="34" charset="-120"/>
              </a:rPr>
              <a:t>Gateway phân loại rủi ro đưa lên trước</a:t>
            </a:r>
            <a:endParaRPr lang="en-US" sz="1250" dirty="0"/>
          </a:p>
        </p:txBody>
      </p:sp>
      <p:sp>
        <p:nvSpPr>
          <p:cNvPr id="75" name="Text 8">
            <a:extLst>
              <a:ext uri="{FF2B5EF4-FFF2-40B4-BE49-F238E27FC236}">
                <a16:creationId xmlns:a16="http://schemas.microsoft.com/office/drawing/2014/main" id="{FC40B4A8-8CCA-B968-F4E1-9F6B272CDBC3}"/>
              </a:ext>
            </a:extLst>
          </p:cNvPr>
          <p:cNvSpPr txBox="1"/>
          <p:nvPr/>
        </p:nvSpPr>
        <p:spPr>
          <a:xfrm>
            <a:off x="1078992" y="1810512"/>
            <a:ext cx="4590288" cy="457200"/>
          </a:xfrm>
          <a:prstGeom prst="rect">
            <a:avLst/>
          </a:prstGeom>
          <a:noFill/>
          <a:ln/>
        </p:spPr>
        <p:txBody>
          <a:bodyPr wrap="square" lIns="0" tIns="0" rIns="0" bIns="0" rtlCol="0" anchor="t"/>
          <a:lstStyle/>
          <a:p>
            <a:pPr marL="0" indent="0">
              <a:buNone/>
            </a:pPr>
            <a:r>
              <a:rPr lang="en-US" sz="1000" dirty="0">
                <a:solidFill>
                  <a:srgbClr val="6E7A88"/>
                </a:solidFill>
                <a:latin typeface="Calibri" pitchFamily="34" charset="0"/>
                <a:ea typeface="Calibri" pitchFamily="34" charset="-122"/>
                <a:cs typeface="Calibri" pitchFamily="34" charset="-120"/>
              </a:rPr>
              <a:t>Cổng phân loại rủi ro được đặt ngay sau bước tạo PYC, cho phép yêu cầu “Quyền cơ bản” tự động bypass bước phê duyệt để đi thẳng vào hệ thống ITSM.</a:t>
            </a:r>
            <a:endParaRPr lang="en-US" sz="1000" dirty="0"/>
          </a:p>
        </p:txBody>
      </p:sp>
      <p:sp>
        <p:nvSpPr>
          <p:cNvPr id="77" name="Shape 9">
            <a:extLst>
              <a:ext uri="{FF2B5EF4-FFF2-40B4-BE49-F238E27FC236}">
                <a16:creationId xmlns:a16="http://schemas.microsoft.com/office/drawing/2014/main" id="{B11C1810-D32A-26EB-A915-4016F0B03210}"/>
              </a:ext>
            </a:extLst>
          </p:cNvPr>
          <p:cNvSpPr/>
          <p:nvPr/>
        </p:nvSpPr>
        <p:spPr>
          <a:xfrm>
            <a:off x="548640" y="2688336"/>
            <a:ext cx="384048" cy="384048"/>
          </a:xfrm>
          <a:prstGeom prst="ellipse">
            <a:avLst/>
          </a:prstGeom>
          <a:solidFill>
            <a:srgbClr val="D9A227"/>
          </a:solidFill>
          <a:ln w="12700">
            <a:solidFill>
              <a:srgbClr val="D9A227"/>
            </a:solidFill>
            <a:prstDash val="solid"/>
          </a:ln>
        </p:spPr>
        <p:txBody>
          <a:bodyPr/>
          <a:lstStyle/>
          <a:p>
            <a:endParaRPr lang="en-US"/>
          </a:p>
        </p:txBody>
      </p:sp>
      <p:sp>
        <p:nvSpPr>
          <p:cNvPr id="79" name="Text 10">
            <a:extLst>
              <a:ext uri="{FF2B5EF4-FFF2-40B4-BE49-F238E27FC236}">
                <a16:creationId xmlns:a16="http://schemas.microsoft.com/office/drawing/2014/main" id="{A40B152C-6770-443A-A5D0-D19BF0B65E69}"/>
              </a:ext>
            </a:extLst>
          </p:cNvPr>
          <p:cNvSpPr txBox="1"/>
          <p:nvPr/>
        </p:nvSpPr>
        <p:spPr>
          <a:xfrm>
            <a:off x="548640" y="2798064"/>
            <a:ext cx="384048" cy="310896"/>
          </a:xfrm>
          <a:prstGeom prst="rect">
            <a:avLst/>
          </a:prstGeom>
          <a:noFill/>
          <a:ln/>
        </p:spPr>
        <p:txBody>
          <a:bodyPr wrap="square" lIns="0" tIns="0" rIns="0" bIns="0" rtlCol="0" anchor="t"/>
          <a:lstStyle/>
          <a:p>
            <a:pPr marL="0" indent="0" algn="ctr">
              <a:buNone/>
            </a:pPr>
            <a:r>
              <a:rPr lang="en-US" sz="1200" b="1" dirty="0">
                <a:solidFill>
                  <a:srgbClr val="0B3B75"/>
                </a:solidFill>
                <a:latin typeface="Calibri" pitchFamily="34" charset="0"/>
                <a:ea typeface="Calibri" pitchFamily="34" charset="-122"/>
                <a:cs typeface="Calibri" pitchFamily="34" charset="-120"/>
              </a:rPr>
              <a:t>2</a:t>
            </a:r>
            <a:endParaRPr lang="en-US" sz="1200" dirty="0"/>
          </a:p>
        </p:txBody>
      </p:sp>
      <p:sp>
        <p:nvSpPr>
          <p:cNvPr id="81" name="Text 11">
            <a:extLst>
              <a:ext uri="{FF2B5EF4-FFF2-40B4-BE49-F238E27FC236}">
                <a16:creationId xmlns:a16="http://schemas.microsoft.com/office/drawing/2014/main" id="{56FAA675-D9B0-2025-61C2-843625398C11}"/>
              </a:ext>
            </a:extLst>
          </p:cNvPr>
          <p:cNvSpPr txBox="1"/>
          <p:nvPr/>
        </p:nvSpPr>
        <p:spPr>
          <a:xfrm>
            <a:off x="1078992" y="2670048"/>
            <a:ext cx="4590288" cy="256032"/>
          </a:xfrm>
          <a:prstGeom prst="rect">
            <a:avLst/>
          </a:prstGeom>
          <a:noFill/>
          <a:ln/>
        </p:spPr>
        <p:txBody>
          <a:bodyPr wrap="square" lIns="0" tIns="0" rIns="0" bIns="0" rtlCol="0" anchor="t"/>
          <a:lstStyle/>
          <a:p>
            <a:pPr marL="0" indent="0">
              <a:buNone/>
            </a:pPr>
            <a:r>
              <a:rPr lang="en-US" sz="1250" b="1" dirty="0">
                <a:solidFill>
                  <a:srgbClr val="0B3B75"/>
                </a:solidFill>
                <a:latin typeface="Calibri" pitchFamily="34" charset="0"/>
                <a:ea typeface="Calibri" pitchFamily="34" charset="-122"/>
                <a:cs typeface="Calibri" pitchFamily="34" charset="-120"/>
              </a:rPr>
              <a:t>Chỉ quyền rủi ro cao qua làn Quản lý</a:t>
            </a:r>
            <a:endParaRPr lang="en-US" sz="1250" dirty="0"/>
          </a:p>
        </p:txBody>
      </p:sp>
      <p:sp>
        <p:nvSpPr>
          <p:cNvPr id="83" name="Text 12">
            <a:extLst>
              <a:ext uri="{FF2B5EF4-FFF2-40B4-BE49-F238E27FC236}">
                <a16:creationId xmlns:a16="http://schemas.microsoft.com/office/drawing/2014/main" id="{AB6C9913-0EBB-B1B3-13BB-B100AABCFF11}"/>
              </a:ext>
            </a:extLst>
          </p:cNvPr>
          <p:cNvSpPr txBox="1"/>
          <p:nvPr/>
        </p:nvSpPr>
        <p:spPr>
          <a:xfrm>
            <a:off x="1078992" y="2926080"/>
            <a:ext cx="4590288" cy="457200"/>
          </a:xfrm>
          <a:prstGeom prst="rect">
            <a:avLst/>
          </a:prstGeom>
          <a:noFill/>
          <a:ln/>
        </p:spPr>
        <p:txBody>
          <a:bodyPr wrap="square" lIns="0" tIns="0" rIns="0" bIns="0" rtlCol="0" anchor="t"/>
          <a:lstStyle/>
          <a:p>
            <a:pPr marL="0" indent="0">
              <a:buNone/>
            </a:pPr>
            <a:r>
              <a:rPr lang="en-US" sz="1000" dirty="0">
                <a:solidFill>
                  <a:srgbClr val="6E7A88"/>
                </a:solidFill>
                <a:latin typeface="Calibri" pitchFamily="34" charset="0"/>
                <a:ea typeface="Calibri" pitchFamily="34" charset="-122"/>
                <a:cs typeface="Calibri" pitchFamily="34" charset="-120"/>
              </a:rPr>
              <a:t>Chỉ các yêu cầu thuộc nhóm “Quyền rủi ro cao” mới đi qua làn Quản lý để xét duyệt thủ công — cấp quản lý tập trung vào quyết định có giá trị kiểm soát thực sự.</a:t>
            </a:r>
            <a:endParaRPr lang="en-US" sz="1000" dirty="0"/>
          </a:p>
        </p:txBody>
      </p:sp>
      <p:sp>
        <p:nvSpPr>
          <p:cNvPr id="85" name="Shape 13">
            <a:extLst>
              <a:ext uri="{FF2B5EF4-FFF2-40B4-BE49-F238E27FC236}">
                <a16:creationId xmlns:a16="http://schemas.microsoft.com/office/drawing/2014/main" id="{D4F2AF0E-F1F8-E408-9D7C-616BD830B9C0}"/>
              </a:ext>
            </a:extLst>
          </p:cNvPr>
          <p:cNvSpPr/>
          <p:nvPr/>
        </p:nvSpPr>
        <p:spPr>
          <a:xfrm>
            <a:off x="548640" y="3803904"/>
            <a:ext cx="384048" cy="384048"/>
          </a:xfrm>
          <a:prstGeom prst="ellipse">
            <a:avLst/>
          </a:prstGeom>
          <a:solidFill>
            <a:srgbClr val="D9A227"/>
          </a:solidFill>
          <a:ln w="12700">
            <a:solidFill>
              <a:srgbClr val="D9A227"/>
            </a:solidFill>
            <a:prstDash val="solid"/>
          </a:ln>
        </p:spPr>
        <p:txBody>
          <a:bodyPr/>
          <a:lstStyle/>
          <a:p>
            <a:endParaRPr lang="en-US"/>
          </a:p>
        </p:txBody>
      </p:sp>
      <p:sp>
        <p:nvSpPr>
          <p:cNvPr id="87" name="Text 14">
            <a:extLst>
              <a:ext uri="{FF2B5EF4-FFF2-40B4-BE49-F238E27FC236}">
                <a16:creationId xmlns:a16="http://schemas.microsoft.com/office/drawing/2014/main" id="{0BB91124-96E9-6652-85EF-E19174EB4437}"/>
              </a:ext>
            </a:extLst>
          </p:cNvPr>
          <p:cNvSpPr txBox="1"/>
          <p:nvPr/>
        </p:nvSpPr>
        <p:spPr>
          <a:xfrm>
            <a:off x="548640" y="3904488"/>
            <a:ext cx="384048" cy="310896"/>
          </a:xfrm>
          <a:prstGeom prst="rect">
            <a:avLst/>
          </a:prstGeom>
          <a:noFill/>
          <a:ln/>
        </p:spPr>
        <p:txBody>
          <a:bodyPr wrap="square" lIns="0" tIns="0" rIns="0" bIns="0" rtlCol="0" anchor="t"/>
          <a:lstStyle/>
          <a:p>
            <a:pPr marL="0" indent="0" algn="ctr">
              <a:buNone/>
            </a:pPr>
            <a:r>
              <a:rPr lang="en-US" sz="1200" b="1" dirty="0">
                <a:solidFill>
                  <a:srgbClr val="0B3B75"/>
                </a:solidFill>
                <a:latin typeface="Calibri" pitchFamily="34" charset="0"/>
                <a:ea typeface="Calibri" pitchFamily="34" charset="-122"/>
                <a:cs typeface="Calibri" pitchFamily="34" charset="-120"/>
              </a:rPr>
              <a:t>3</a:t>
            </a:r>
            <a:endParaRPr lang="en-US" sz="1200" dirty="0"/>
          </a:p>
        </p:txBody>
      </p:sp>
      <p:sp>
        <p:nvSpPr>
          <p:cNvPr id="89" name="Text 15">
            <a:extLst>
              <a:ext uri="{FF2B5EF4-FFF2-40B4-BE49-F238E27FC236}">
                <a16:creationId xmlns:a16="http://schemas.microsoft.com/office/drawing/2014/main" id="{A141E2B6-9062-3887-9E83-EA4D27449B85}"/>
              </a:ext>
            </a:extLst>
          </p:cNvPr>
          <p:cNvSpPr txBox="1"/>
          <p:nvPr/>
        </p:nvSpPr>
        <p:spPr>
          <a:xfrm>
            <a:off x="1078992" y="3785616"/>
            <a:ext cx="4590288" cy="256032"/>
          </a:xfrm>
          <a:prstGeom prst="rect">
            <a:avLst/>
          </a:prstGeom>
          <a:noFill/>
          <a:ln/>
        </p:spPr>
        <p:txBody>
          <a:bodyPr wrap="square" lIns="0" tIns="0" rIns="0" bIns="0" rtlCol="0" anchor="t"/>
          <a:lstStyle/>
          <a:p>
            <a:pPr marL="0" indent="0">
              <a:buNone/>
            </a:pPr>
            <a:r>
              <a:rPr lang="en-US" sz="1250" b="1" dirty="0">
                <a:solidFill>
                  <a:srgbClr val="0B3B75"/>
                </a:solidFill>
                <a:latin typeface="Calibri" pitchFamily="34" charset="0"/>
                <a:ea typeface="Calibri" pitchFamily="34" charset="-122"/>
                <a:cs typeface="Calibri" pitchFamily="34" charset="-120"/>
              </a:rPr>
              <a:t>Ghi log bảo mật thành Service Task</a:t>
            </a:r>
            <a:endParaRPr lang="en-US" sz="1250" dirty="0"/>
          </a:p>
        </p:txBody>
      </p:sp>
      <p:sp>
        <p:nvSpPr>
          <p:cNvPr id="91" name="Text 16">
            <a:extLst>
              <a:ext uri="{FF2B5EF4-FFF2-40B4-BE49-F238E27FC236}">
                <a16:creationId xmlns:a16="http://schemas.microsoft.com/office/drawing/2014/main" id="{F7ECAC0A-2B72-D724-C0AB-FA46B90C3F3E}"/>
              </a:ext>
            </a:extLst>
          </p:cNvPr>
          <p:cNvSpPr txBox="1"/>
          <p:nvPr/>
        </p:nvSpPr>
        <p:spPr>
          <a:xfrm>
            <a:off x="1078992" y="4041648"/>
            <a:ext cx="4590288" cy="457200"/>
          </a:xfrm>
          <a:prstGeom prst="rect">
            <a:avLst/>
          </a:prstGeom>
          <a:noFill/>
          <a:ln/>
        </p:spPr>
        <p:txBody>
          <a:bodyPr wrap="square" lIns="0" tIns="0" rIns="0" bIns="0" rtlCol="0" anchor="t"/>
          <a:lstStyle/>
          <a:p>
            <a:pPr marL="0" indent="0">
              <a:buNone/>
            </a:pPr>
            <a:r>
              <a:rPr lang="en-US" sz="1000" dirty="0">
                <a:solidFill>
                  <a:srgbClr val="6E7A88"/>
                </a:solidFill>
                <a:latin typeface="Calibri" pitchFamily="34" charset="0"/>
                <a:ea typeface="Calibri" pitchFamily="34" charset="-122"/>
                <a:cs typeface="Calibri" pitchFamily="34" charset="-120"/>
              </a:rPr>
              <a:t>Tác vụ “Ghi log bảo mật” chuyển thành Service Task tự động (API/Automation), thực hiện ngay sau khi “Cấu hình cấp quyền” hoàn tất, không còn là điểm chờ thủ công tại cổng gom luồng.</a:t>
            </a:r>
            <a:endParaRPr lang="en-US" sz="10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B558B93E-02CE-FEBB-E670-D31D93AB1CDD}"/>
            </a:ext>
          </a:extLst>
        </p:cNvPr>
        <p:cNvGrpSpPr/>
        <p:nvPr/>
      </p:nvGrpSpPr>
      <p:grpSpPr>
        <a:xfrm>
          <a:off x="0" y="0"/>
          <a:ext cx="0" cy="0"/>
          <a:chOff x="0" y="0"/>
          <a:chExt cx="0" cy="0"/>
        </a:xfrm>
      </p:grpSpPr>
      <p:sp>
        <p:nvSpPr>
          <p:cNvPr id="10" name="Shape 0">
            <a:extLst>
              <a:ext uri="{FF2B5EF4-FFF2-40B4-BE49-F238E27FC236}">
                <a16:creationId xmlns:a16="http://schemas.microsoft.com/office/drawing/2014/main" id="{ED97E800-4C35-4F9A-A772-E4F5050DBB11}"/>
              </a:ext>
            </a:extLst>
          </p:cNvPr>
          <p:cNvSpPr/>
          <p:nvPr/>
        </p:nvSpPr>
        <p:spPr>
          <a:xfrm>
            <a:off x="548640" y="365760"/>
            <a:ext cx="123444" cy="123444"/>
          </a:xfrm>
          <a:prstGeom prst="ellipse">
            <a:avLst/>
          </a:prstGeom>
          <a:solidFill>
            <a:srgbClr val="D9A227"/>
          </a:solidFill>
          <a:ln w="12700">
            <a:solidFill>
              <a:srgbClr val="D9A227"/>
            </a:solidFill>
            <a:prstDash val="solid"/>
          </a:ln>
        </p:spPr>
        <p:txBody>
          <a:bodyPr/>
          <a:lstStyle/>
          <a:p>
            <a:endParaRPr lang="en-US"/>
          </a:p>
        </p:txBody>
      </p:sp>
      <p:sp>
        <p:nvSpPr>
          <p:cNvPr id="11" name="Text 1">
            <a:extLst>
              <a:ext uri="{FF2B5EF4-FFF2-40B4-BE49-F238E27FC236}">
                <a16:creationId xmlns:a16="http://schemas.microsoft.com/office/drawing/2014/main" id="{51BCD208-596B-056E-11A7-9115749D95F1}"/>
              </a:ext>
            </a:extLst>
          </p:cNvPr>
          <p:cNvSpPr txBox="1"/>
          <p:nvPr/>
        </p:nvSpPr>
        <p:spPr>
          <a:xfrm>
            <a:off x="804672" y="292608"/>
            <a:ext cx="10838383" cy="237744"/>
          </a:xfrm>
          <a:prstGeom prst="rect">
            <a:avLst/>
          </a:prstGeom>
          <a:noFill/>
          <a:ln/>
        </p:spPr>
        <p:txBody>
          <a:bodyPr wrap="square" lIns="0" tIns="0" rIns="0" bIns="0" rtlCol="0" anchor="t"/>
          <a:lstStyle/>
          <a:p>
            <a:pPr marL="0" indent="0">
              <a:buNone/>
            </a:pPr>
            <a:r>
              <a:rPr lang="en-US" sz="1050" b="1" kern="0" spc="120" dirty="0">
                <a:solidFill>
                  <a:srgbClr val="A5741A"/>
                </a:solidFill>
                <a:latin typeface="Calibri" pitchFamily="34" charset="0"/>
                <a:ea typeface="Calibri" pitchFamily="34" charset="-122"/>
                <a:cs typeface="Calibri" pitchFamily="34" charset="-120"/>
              </a:rPr>
              <a:t>CHƯƠNG 5 · 5.2 MÔ HÌNH TO-BE</a:t>
            </a:r>
            <a:endParaRPr lang="en-US" sz="1050" dirty="0"/>
          </a:p>
        </p:txBody>
      </p:sp>
      <p:sp>
        <p:nvSpPr>
          <p:cNvPr id="12" name="Text 2">
            <a:extLst>
              <a:ext uri="{FF2B5EF4-FFF2-40B4-BE49-F238E27FC236}">
                <a16:creationId xmlns:a16="http://schemas.microsoft.com/office/drawing/2014/main" id="{75881DA1-5DE5-AB70-8251-E0737F49E7DF}"/>
              </a:ext>
            </a:extLst>
          </p:cNvPr>
          <p:cNvSpPr txBox="1"/>
          <p:nvPr/>
        </p:nvSpPr>
        <p:spPr>
          <a:xfrm>
            <a:off x="548640" y="566928"/>
            <a:ext cx="11094415" cy="457200"/>
          </a:xfrm>
          <a:prstGeom prst="rect">
            <a:avLst/>
          </a:prstGeom>
          <a:noFill/>
          <a:ln/>
        </p:spPr>
        <p:txBody>
          <a:bodyPr wrap="square" lIns="0" tIns="0" rIns="0" bIns="0" rtlCol="0" anchor="t"/>
          <a:lstStyle/>
          <a:p>
            <a:pPr marL="0" indent="0">
              <a:buNone/>
            </a:pPr>
            <a:r>
              <a:rPr lang="en-US" sz="2500" b="1" dirty="0">
                <a:solidFill>
                  <a:srgbClr val="0B3B75"/>
                </a:solidFill>
                <a:latin typeface="Calibri" pitchFamily="34" charset="0"/>
                <a:ea typeface="Calibri" pitchFamily="34" charset="-122"/>
                <a:cs typeface="Calibri" pitchFamily="34" charset="-120"/>
              </a:rPr>
              <a:t>AS-IS &lt;-&gt; TO-BE</a:t>
            </a:r>
            <a:endParaRPr lang="en-US" sz="2500" dirty="0"/>
          </a:p>
        </p:txBody>
      </p:sp>
      <p:sp>
        <p:nvSpPr>
          <p:cNvPr id="13" name="Text 3">
            <a:extLst>
              <a:ext uri="{FF2B5EF4-FFF2-40B4-BE49-F238E27FC236}">
                <a16:creationId xmlns:a16="http://schemas.microsoft.com/office/drawing/2014/main" id="{BF3385BB-7AD7-9731-7E3D-6D1464935903}"/>
              </a:ext>
            </a:extLst>
          </p:cNvPr>
          <p:cNvSpPr txBox="1"/>
          <p:nvPr/>
        </p:nvSpPr>
        <p:spPr>
          <a:xfrm>
            <a:off x="548640" y="6419088"/>
            <a:ext cx="8778240" cy="237744"/>
          </a:xfrm>
          <a:prstGeom prst="rect">
            <a:avLst/>
          </a:prstGeom>
          <a:noFill/>
          <a:ln/>
        </p:spPr>
        <p:txBody>
          <a:bodyPr wrap="square" lIns="0" tIns="0" rIns="0" bIns="0" rtlCol="0" anchor="t"/>
          <a:lstStyle/>
          <a:p>
            <a:pPr marL="0" indent="0">
              <a:buNone/>
            </a:pPr>
            <a:r>
              <a:rPr lang="en-US" sz="850" dirty="0">
                <a:solidFill>
                  <a:srgbClr val="6E7A88"/>
                </a:solidFill>
                <a:latin typeface="Calibri" pitchFamily="34" charset="0"/>
                <a:ea typeface="Calibri" pitchFamily="34" charset="-122"/>
                <a:cs typeface="Calibri" pitchFamily="34" charset="-120"/>
              </a:rPr>
              <a:t>HỆ THỐNG QUẢN TRỊ QUY TRÌNH NGHIỆP VỤ  ·  SACOMBANK — QUY TRÌNH PYC</a:t>
            </a:r>
            <a:endParaRPr lang="en-US" sz="850" dirty="0"/>
          </a:p>
        </p:txBody>
      </p:sp>
      <p:sp>
        <p:nvSpPr>
          <p:cNvPr id="14" name="Text 4">
            <a:extLst>
              <a:ext uri="{FF2B5EF4-FFF2-40B4-BE49-F238E27FC236}">
                <a16:creationId xmlns:a16="http://schemas.microsoft.com/office/drawing/2014/main" id="{A4480C8A-8CF9-D772-AFC8-BF1376B4F480}"/>
              </a:ext>
            </a:extLst>
          </p:cNvPr>
          <p:cNvSpPr txBox="1"/>
          <p:nvPr/>
        </p:nvSpPr>
        <p:spPr>
          <a:xfrm>
            <a:off x="11155680" y="6382512"/>
            <a:ext cx="484632" cy="274320"/>
          </a:xfrm>
          <a:prstGeom prst="rect">
            <a:avLst/>
          </a:prstGeom>
          <a:noFill/>
          <a:ln/>
        </p:spPr>
        <p:txBody>
          <a:bodyPr wrap="square" lIns="0" tIns="0" rIns="0" bIns="0" rtlCol="0" anchor="t"/>
          <a:lstStyle/>
          <a:p>
            <a:pPr marL="0" indent="0" algn="r">
              <a:buNone/>
            </a:pPr>
            <a:r>
              <a:rPr lang="en-US" sz="1100" b="1" dirty="0">
                <a:solidFill>
                  <a:srgbClr val="A5741A"/>
                </a:solidFill>
                <a:latin typeface="Calibri" pitchFamily="34" charset="0"/>
                <a:ea typeface="Calibri" pitchFamily="34" charset="-122"/>
                <a:cs typeface="Calibri" pitchFamily="34" charset="-120"/>
              </a:rPr>
              <a:t>49</a:t>
            </a:r>
            <a:endParaRPr lang="en-US" sz="1100" dirty="0"/>
          </a:p>
        </p:txBody>
      </p:sp>
      <p:grpSp>
        <p:nvGrpSpPr>
          <p:cNvPr id="15" name="Group 14">
            <a:extLst>
              <a:ext uri="{FF2B5EF4-FFF2-40B4-BE49-F238E27FC236}">
                <a16:creationId xmlns:a16="http://schemas.microsoft.com/office/drawing/2014/main" id="{0F328800-6300-91B4-EC8E-9DDE9EB6B0DD}"/>
              </a:ext>
            </a:extLst>
          </p:cNvPr>
          <p:cNvGrpSpPr/>
          <p:nvPr/>
        </p:nvGrpSpPr>
        <p:grpSpPr>
          <a:xfrm>
            <a:off x="944152" y="1024128"/>
            <a:ext cx="10303389" cy="5261941"/>
            <a:chOff x="928202" y="1029130"/>
            <a:chExt cx="10303389" cy="5261941"/>
          </a:xfrm>
        </p:grpSpPr>
        <p:sp>
          <p:nvSpPr>
            <p:cNvPr id="16" name="Shape 17">
              <a:extLst>
                <a:ext uri="{FF2B5EF4-FFF2-40B4-BE49-F238E27FC236}">
                  <a16:creationId xmlns:a16="http://schemas.microsoft.com/office/drawing/2014/main" id="{3446D747-F6D7-7DC8-0E06-7A928CC062B4}"/>
                </a:ext>
              </a:extLst>
            </p:cNvPr>
            <p:cNvSpPr/>
            <p:nvPr/>
          </p:nvSpPr>
          <p:spPr>
            <a:xfrm>
              <a:off x="928202" y="1029130"/>
              <a:ext cx="10303389" cy="5261941"/>
            </a:xfrm>
            <a:prstGeom prst="roundRect">
              <a:avLst>
                <a:gd name="adj" fmla="val 1500"/>
              </a:avLst>
            </a:prstGeom>
            <a:solidFill>
              <a:srgbClr val="FCF7EA"/>
            </a:solidFill>
            <a:ln w="15875">
              <a:solidFill>
                <a:srgbClr val="D9A227"/>
              </a:solidFill>
              <a:prstDash val="dash"/>
            </a:ln>
          </p:spPr>
          <p:txBody>
            <a:bodyPr/>
            <a:lstStyle/>
            <a:p>
              <a:endParaRPr lang="en-US"/>
            </a:p>
          </p:txBody>
        </p:sp>
        <p:pic>
          <p:nvPicPr>
            <p:cNvPr id="17" name="Picture 16">
              <a:extLst>
                <a:ext uri="{FF2B5EF4-FFF2-40B4-BE49-F238E27FC236}">
                  <a16:creationId xmlns:a16="http://schemas.microsoft.com/office/drawing/2014/main" id="{B09E5CD5-BD07-86BA-4A44-EA119844E984}"/>
                </a:ext>
              </a:extLst>
            </p:cNvPr>
            <p:cNvPicPr>
              <a:picLocks noChangeAspect="1"/>
            </p:cNvPicPr>
            <p:nvPr/>
          </p:nvPicPr>
          <p:blipFill>
            <a:blip r:embed="rId3"/>
            <a:srcRect/>
            <a:stretch>
              <a:fillRect/>
            </a:stretch>
          </p:blipFill>
          <p:spPr bwMode="auto">
            <a:xfrm>
              <a:off x="1023315" y="1101762"/>
              <a:ext cx="10113161" cy="5138605"/>
            </a:xfrm>
            <a:prstGeom prst="rect">
              <a:avLst/>
            </a:prstGeom>
          </p:spPr>
        </p:pic>
      </p:grpSp>
      <p:sp>
        <p:nvSpPr>
          <p:cNvPr id="3" name="TextBox 2">
            <a:extLst>
              <a:ext uri="{FF2B5EF4-FFF2-40B4-BE49-F238E27FC236}">
                <a16:creationId xmlns:a16="http://schemas.microsoft.com/office/drawing/2014/main" id="{2403ECF8-8C4A-CEB6-A189-42594C7896C3}"/>
              </a:ext>
            </a:extLst>
          </p:cNvPr>
          <p:cNvSpPr txBox="1"/>
          <p:nvPr/>
        </p:nvSpPr>
        <p:spPr>
          <a:xfrm>
            <a:off x="2193364" y="1428627"/>
            <a:ext cx="693271" cy="230832"/>
          </a:xfrm>
          <a:prstGeom prst="rect">
            <a:avLst/>
          </a:prstGeom>
          <a:noFill/>
        </p:spPr>
        <p:txBody>
          <a:bodyPr wrap="square" rtlCol="0">
            <a:spAutoFit/>
          </a:bodyPr>
          <a:lstStyle/>
          <a:p>
            <a:r>
              <a:rPr lang="en-US" sz="900" b="1" dirty="0">
                <a:solidFill>
                  <a:srgbClr val="00B050"/>
                </a:solidFill>
              </a:rPr>
              <a:t>PT = 0.08</a:t>
            </a:r>
          </a:p>
        </p:txBody>
      </p:sp>
      <p:sp>
        <p:nvSpPr>
          <p:cNvPr id="7" name="TextBox 6">
            <a:extLst>
              <a:ext uri="{FF2B5EF4-FFF2-40B4-BE49-F238E27FC236}">
                <a16:creationId xmlns:a16="http://schemas.microsoft.com/office/drawing/2014/main" id="{632BCC39-267B-08F0-3B47-47E61E83FBBD}"/>
              </a:ext>
            </a:extLst>
          </p:cNvPr>
          <p:cNvSpPr txBox="1"/>
          <p:nvPr/>
        </p:nvSpPr>
        <p:spPr>
          <a:xfrm>
            <a:off x="4185319" y="2181614"/>
            <a:ext cx="591671" cy="507831"/>
          </a:xfrm>
          <a:prstGeom prst="rect">
            <a:avLst/>
          </a:prstGeom>
          <a:noFill/>
        </p:spPr>
        <p:txBody>
          <a:bodyPr wrap="square" rtlCol="0">
            <a:spAutoFit/>
          </a:bodyPr>
          <a:lstStyle/>
          <a:p>
            <a:r>
              <a:rPr lang="en-US" sz="900" b="1" dirty="0">
                <a:solidFill>
                  <a:srgbClr val="00B050"/>
                </a:solidFill>
              </a:rPr>
              <a:t>PT = 1</a:t>
            </a:r>
          </a:p>
          <a:p>
            <a:r>
              <a:rPr lang="en-US" sz="900" b="1" dirty="0">
                <a:solidFill>
                  <a:srgbClr val="00B050"/>
                </a:solidFill>
              </a:rPr>
              <a:t>WT  = 5</a:t>
            </a:r>
          </a:p>
          <a:p>
            <a:endParaRPr lang="en-US" sz="900" b="1" dirty="0">
              <a:solidFill>
                <a:srgbClr val="00B050"/>
              </a:solidFill>
            </a:endParaRPr>
          </a:p>
        </p:txBody>
      </p:sp>
      <p:sp>
        <p:nvSpPr>
          <p:cNvPr id="9" name="TextBox 8">
            <a:extLst>
              <a:ext uri="{FF2B5EF4-FFF2-40B4-BE49-F238E27FC236}">
                <a16:creationId xmlns:a16="http://schemas.microsoft.com/office/drawing/2014/main" id="{576F730B-1342-14D4-D5E7-83ED1C903245}"/>
              </a:ext>
            </a:extLst>
          </p:cNvPr>
          <p:cNvSpPr txBox="1"/>
          <p:nvPr/>
        </p:nvSpPr>
        <p:spPr>
          <a:xfrm>
            <a:off x="5632192" y="2412446"/>
            <a:ext cx="723784" cy="230832"/>
          </a:xfrm>
          <a:prstGeom prst="rect">
            <a:avLst/>
          </a:prstGeom>
          <a:noFill/>
        </p:spPr>
        <p:txBody>
          <a:bodyPr wrap="square" rtlCol="0">
            <a:spAutoFit/>
          </a:bodyPr>
          <a:lstStyle/>
          <a:p>
            <a:r>
              <a:rPr lang="en-US" sz="900" b="1" dirty="0">
                <a:solidFill>
                  <a:srgbClr val="00B050"/>
                </a:solidFill>
              </a:rPr>
              <a:t>PT = 0.5</a:t>
            </a:r>
          </a:p>
        </p:txBody>
      </p:sp>
      <p:sp>
        <p:nvSpPr>
          <p:cNvPr id="19" name="TextBox 18">
            <a:extLst>
              <a:ext uri="{FF2B5EF4-FFF2-40B4-BE49-F238E27FC236}">
                <a16:creationId xmlns:a16="http://schemas.microsoft.com/office/drawing/2014/main" id="{3AAD0FB8-3BBE-86BC-DF8A-8FCAE6A568AE}"/>
              </a:ext>
            </a:extLst>
          </p:cNvPr>
          <p:cNvSpPr txBox="1"/>
          <p:nvPr/>
        </p:nvSpPr>
        <p:spPr>
          <a:xfrm>
            <a:off x="6029942" y="3131286"/>
            <a:ext cx="723784" cy="230832"/>
          </a:xfrm>
          <a:prstGeom prst="rect">
            <a:avLst/>
          </a:prstGeom>
          <a:noFill/>
        </p:spPr>
        <p:txBody>
          <a:bodyPr wrap="square" rtlCol="0">
            <a:spAutoFit/>
          </a:bodyPr>
          <a:lstStyle/>
          <a:p>
            <a:r>
              <a:rPr lang="en-US" sz="900" b="1" dirty="0">
                <a:solidFill>
                  <a:srgbClr val="00B050"/>
                </a:solidFill>
              </a:rPr>
              <a:t>PT = 0.08</a:t>
            </a:r>
          </a:p>
        </p:txBody>
      </p:sp>
      <p:sp>
        <p:nvSpPr>
          <p:cNvPr id="21" name="TextBox 20">
            <a:extLst>
              <a:ext uri="{FF2B5EF4-FFF2-40B4-BE49-F238E27FC236}">
                <a16:creationId xmlns:a16="http://schemas.microsoft.com/office/drawing/2014/main" id="{FCD1056C-06BC-BF21-DE39-720D94462F01}"/>
              </a:ext>
            </a:extLst>
          </p:cNvPr>
          <p:cNvSpPr txBox="1"/>
          <p:nvPr/>
        </p:nvSpPr>
        <p:spPr>
          <a:xfrm>
            <a:off x="6029942" y="5013875"/>
            <a:ext cx="723784" cy="369332"/>
          </a:xfrm>
          <a:prstGeom prst="rect">
            <a:avLst/>
          </a:prstGeom>
          <a:noFill/>
        </p:spPr>
        <p:txBody>
          <a:bodyPr wrap="square" rtlCol="0">
            <a:spAutoFit/>
          </a:bodyPr>
          <a:lstStyle/>
          <a:p>
            <a:r>
              <a:rPr lang="en-US" sz="900" b="1" dirty="0">
                <a:solidFill>
                  <a:srgbClr val="00B050"/>
                </a:solidFill>
              </a:rPr>
              <a:t>PT = 0.08</a:t>
            </a:r>
          </a:p>
          <a:p>
            <a:r>
              <a:rPr lang="en-US" sz="900" b="1" dirty="0">
                <a:solidFill>
                  <a:srgbClr val="00B050"/>
                </a:solidFill>
              </a:rPr>
              <a:t>WT = 1</a:t>
            </a:r>
          </a:p>
        </p:txBody>
      </p:sp>
      <p:sp>
        <p:nvSpPr>
          <p:cNvPr id="23" name="TextBox 22">
            <a:extLst>
              <a:ext uri="{FF2B5EF4-FFF2-40B4-BE49-F238E27FC236}">
                <a16:creationId xmlns:a16="http://schemas.microsoft.com/office/drawing/2014/main" id="{5AA13285-EB91-336D-9776-9A333DCD6DF7}"/>
              </a:ext>
            </a:extLst>
          </p:cNvPr>
          <p:cNvSpPr txBox="1"/>
          <p:nvPr/>
        </p:nvSpPr>
        <p:spPr>
          <a:xfrm>
            <a:off x="7861738" y="5013875"/>
            <a:ext cx="723784" cy="369332"/>
          </a:xfrm>
          <a:prstGeom prst="rect">
            <a:avLst/>
          </a:prstGeom>
          <a:noFill/>
        </p:spPr>
        <p:txBody>
          <a:bodyPr wrap="square" rtlCol="0">
            <a:spAutoFit/>
          </a:bodyPr>
          <a:lstStyle/>
          <a:p>
            <a:r>
              <a:rPr lang="en-US" sz="900" b="1" dirty="0">
                <a:solidFill>
                  <a:srgbClr val="00B050"/>
                </a:solidFill>
              </a:rPr>
              <a:t>PT = 0.08</a:t>
            </a:r>
          </a:p>
          <a:p>
            <a:r>
              <a:rPr lang="en-US" sz="900" b="1" dirty="0">
                <a:solidFill>
                  <a:srgbClr val="00B050"/>
                </a:solidFill>
              </a:rPr>
              <a:t>WT = 1</a:t>
            </a:r>
          </a:p>
        </p:txBody>
      </p:sp>
    </p:spTree>
    <p:extLst>
      <p:ext uri="{BB962C8B-B14F-4D97-AF65-F5344CB8AC3E}">
        <p14:creationId xmlns:p14="http://schemas.microsoft.com/office/powerpoint/2010/main" val="226000793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65760"/>
            <a:ext cx="123444" cy="123444"/>
          </a:xfrm>
          <a:prstGeom prst="ellipse">
            <a:avLst/>
          </a:prstGeom>
          <a:solidFill>
            <a:srgbClr val="D9A227"/>
          </a:solidFill>
          <a:ln w="12700">
            <a:solidFill>
              <a:srgbClr val="D9A227"/>
            </a:solidFill>
            <a:prstDash val="solid"/>
          </a:ln>
        </p:spPr>
        <p:txBody>
          <a:bodyPr/>
          <a:lstStyle/>
          <a:p>
            <a:endParaRPr lang="en-US"/>
          </a:p>
        </p:txBody>
      </p:sp>
      <p:sp>
        <p:nvSpPr>
          <p:cNvPr id="3" name="Text 1"/>
          <p:cNvSpPr txBox="1"/>
          <p:nvPr/>
        </p:nvSpPr>
        <p:spPr>
          <a:xfrm>
            <a:off x="804672" y="292608"/>
            <a:ext cx="10838383" cy="237744"/>
          </a:xfrm>
          <a:prstGeom prst="rect">
            <a:avLst/>
          </a:prstGeom>
          <a:noFill/>
          <a:ln/>
        </p:spPr>
        <p:txBody>
          <a:bodyPr wrap="square" lIns="0" tIns="0" rIns="0" bIns="0" rtlCol="0" anchor="t"/>
          <a:lstStyle/>
          <a:p>
            <a:pPr marL="0" indent="0">
              <a:buNone/>
            </a:pPr>
            <a:r>
              <a:rPr lang="en-US" sz="1050" b="1" kern="0" spc="120" dirty="0">
                <a:solidFill>
                  <a:srgbClr val="A5741A"/>
                </a:solidFill>
                <a:latin typeface="Calibri" pitchFamily="34" charset="0"/>
                <a:ea typeface="Calibri" pitchFamily="34" charset="-122"/>
                <a:cs typeface="Calibri" pitchFamily="34" charset="-120"/>
              </a:rPr>
              <a:t>CHƯƠNG 5 · 5.2.2 SO SÁNH AS-IS – TO-BE</a:t>
            </a:r>
            <a:endParaRPr lang="en-US" sz="1050" dirty="0"/>
          </a:p>
        </p:txBody>
      </p:sp>
      <p:sp>
        <p:nvSpPr>
          <p:cNvPr id="4" name="Text 2"/>
          <p:cNvSpPr txBox="1"/>
          <p:nvPr/>
        </p:nvSpPr>
        <p:spPr>
          <a:xfrm>
            <a:off x="548640" y="566928"/>
            <a:ext cx="11094415" cy="457200"/>
          </a:xfrm>
          <a:prstGeom prst="rect">
            <a:avLst/>
          </a:prstGeom>
          <a:noFill/>
          <a:ln/>
        </p:spPr>
        <p:txBody>
          <a:bodyPr wrap="square" lIns="0" tIns="0" rIns="0" bIns="0" rtlCol="0" anchor="t"/>
          <a:lstStyle/>
          <a:p>
            <a:pPr marL="0" indent="0">
              <a:buNone/>
            </a:pPr>
            <a:r>
              <a:rPr lang="en-US" sz="2500" b="1" dirty="0">
                <a:solidFill>
                  <a:srgbClr val="0B3B75"/>
                </a:solidFill>
                <a:latin typeface="Calibri" pitchFamily="34" charset="0"/>
                <a:ea typeface="Calibri" pitchFamily="34" charset="-122"/>
                <a:cs typeface="Calibri" pitchFamily="34" charset="-120"/>
              </a:rPr>
              <a:t>LƯỢNG HÓA MỨC CẢI THIỆN CỦA MÔ HÌNH TO-BE</a:t>
            </a:r>
            <a:endParaRPr lang="en-US" sz="2500" dirty="0"/>
          </a:p>
        </p:txBody>
      </p:sp>
      <p:sp>
        <p:nvSpPr>
          <p:cNvPr id="5" name="Text 3"/>
          <p:cNvSpPr txBox="1"/>
          <p:nvPr/>
        </p:nvSpPr>
        <p:spPr>
          <a:xfrm>
            <a:off x="548640" y="1024128"/>
            <a:ext cx="11094415" cy="274320"/>
          </a:xfrm>
          <a:prstGeom prst="rect">
            <a:avLst/>
          </a:prstGeom>
          <a:noFill/>
          <a:ln/>
        </p:spPr>
        <p:txBody>
          <a:bodyPr wrap="square" lIns="0" tIns="0" rIns="0" bIns="0" rtlCol="0" anchor="t"/>
          <a:lstStyle/>
          <a:p>
            <a:pPr marL="0" indent="0">
              <a:buNone/>
            </a:pPr>
            <a:r>
              <a:rPr lang="en-US" sz="1100" i="1" dirty="0">
                <a:solidFill>
                  <a:srgbClr val="6E7A88"/>
                </a:solidFill>
                <a:latin typeface="Calibri" pitchFamily="34" charset="0"/>
                <a:ea typeface="Calibri" pitchFamily="34" charset="-122"/>
                <a:cs typeface="Calibri" pitchFamily="34" charset="-120"/>
              </a:rPr>
              <a:t>Bảng 5.1 — So sánh Cycle Time từng khối giữa AS-IS và TO-BE  ·  giả định 60% PYC thuộc nhóm quyền rủi ro thấp</a:t>
            </a:r>
            <a:endParaRPr lang="en-US" sz="1100" dirty="0"/>
          </a:p>
        </p:txBody>
      </p:sp>
      <p:sp>
        <p:nvSpPr>
          <p:cNvPr id="6" name="Text 4"/>
          <p:cNvSpPr txBox="1"/>
          <p:nvPr/>
        </p:nvSpPr>
        <p:spPr>
          <a:xfrm>
            <a:off x="548640" y="6419088"/>
            <a:ext cx="8778240" cy="237744"/>
          </a:xfrm>
          <a:prstGeom prst="rect">
            <a:avLst/>
          </a:prstGeom>
          <a:noFill/>
          <a:ln/>
        </p:spPr>
        <p:txBody>
          <a:bodyPr wrap="square" lIns="0" tIns="0" rIns="0" bIns="0" rtlCol="0" anchor="t"/>
          <a:lstStyle/>
          <a:p>
            <a:pPr marL="0" indent="0">
              <a:buNone/>
            </a:pPr>
            <a:r>
              <a:rPr lang="en-US" sz="850" dirty="0">
                <a:solidFill>
                  <a:srgbClr val="6E7A88"/>
                </a:solidFill>
                <a:latin typeface="Calibri" pitchFamily="34" charset="0"/>
                <a:ea typeface="Calibri" pitchFamily="34" charset="-122"/>
                <a:cs typeface="Calibri" pitchFamily="34" charset="-120"/>
              </a:rPr>
              <a:t>HỆ THỐNG QUẢN TRỊ QUY TRÌNH NGHIỆP VỤ  ·  SACOMBANK — QUY TRÌNH PYC</a:t>
            </a:r>
            <a:endParaRPr lang="en-US" sz="850" dirty="0"/>
          </a:p>
        </p:txBody>
      </p:sp>
      <p:sp>
        <p:nvSpPr>
          <p:cNvPr id="7" name="Text 5"/>
          <p:cNvSpPr txBox="1"/>
          <p:nvPr/>
        </p:nvSpPr>
        <p:spPr>
          <a:xfrm>
            <a:off x="11155680" y="6382512"/>
            <a:ext cx="484632" cy="274320"/>
          </a:xfrm>
          <a:prstGeom prst="rect">
            <a:avLst/>
          </a:prstGeom>
          <a:noFill/>
          <a:ln/>
        </p:spPr>
        <p:txBody>
          <a:bodyPr wrap="square" lIns="0" tIns="0" rIns="0" bIns="0" rtlCol="0" anchor="t"/>
          <a:lstStyle/>
          <a:p>
            <a:pPr marL="0" indent="0" algn="r">
              <a:buNone/>
            </a:pPr>
            <a:r>
              <a:rPr lang="en-US" sz="1100" b="1" dirty="0">
                <a:solidFill>
                  <a:srgbClr val="A5741A"/>
                </a:solidFill>
                <a:latin typeface="Calibri" pitchFamily="34" charset="0"/>
                <a:ea typeface="Calibri" pitchFamily="34" charset="-122"/>
                <a:cs typeface="Calibri" pitchFamily="34" charset="-120"/>
              </a:rPr>
              <a:t>50</a:t>
            </a:r>
            <a:endParaRPr lang="en-US" sz="1100" dirty="0"/>
          </a:p>
        </p:txBody>
      </p:sp>
      <p:graphicFrame>
        <p:nvGraphicFramePr>
          <p:cNvPr id="34" name="Table 0"/>
          <p:cNvGraphicFramePr>
            <a:graphicFrameLocks noGrp="1"/>
          </p:cNvGraphicFramePr>
          <p:nvPr>
            <p:extLst>
              <p:ext uri="{D42A27DB-BD31-4B8C-83A1-F6EECF244321}">
                <p14:modId xmlns:p14="http://schemas.microsoft.com/office/powerpoint/2010/main" val="1877668826"/>
              </p:ext>
            </p:extLst>
          </p:nvPr>
        </p:nvGraphicFramePr>
        <p:xfrm>
          <a:off x="548640" y="1517904"/>
          <a:ext cx="11091672" cy="2487168"/>
        </p:xfrm>
        <a:graphic>
          <a:graphicData uri="http://schemas.openxmlformats.org/drawingml/2006/table">
            <a:tbl>
              <a:tblPr/>
              <a:tblGrid>
                <a:gridCol w="237744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gridCol w="3959352">
                  <a:extLst>
                    <a:ext uri="{9D8B030D-6E8A-4147-A177-3AD203B41FA5}">
                      <a16:colId xmlns:a16="http://schemas.microsoft.com/office/drawing/2014/main" val="20004"/>
                    </a:ext>
                  </a:extLst>
                </a:gridCol>
              </a:tblGrid>
              <a:tr h="384048">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KHỐI CÔNG VIỆC</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0B3B75"/>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AS-IS (PT + WT)</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0B3B75"/>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TO-BE (PT + WT)</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0B3B75"/>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GIẢM</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0B3B75"/>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THAY ĐỔI CHÍNH</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0B3B75"/>
                    </a:solidFill>
                  </a:tcPr>
                </a:tc>
                <a:extLst>
                  <a:ext uri="{0D108BD9-81ED-4DB2-BD59-A6C34878D82A}">
                    <a16:rowId xmlns:a16="http://schemas.microsoft.com/office/drawing/2014/main" val="10000"/>
                  </a:ext>
                </a:extLst>
              </a:tr>
              <a:tr h="420624">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Khối 1 · Khởi tạo &amp; Phê duyệt</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lgn="ctr">
                        <a:buNone/>
                      </a:pPr>
                      <a:r>
                        <a:rPr lang="en-US" sz="850" b="1" dirty="0">
                          <a:solidFill>
                            <a:srgbClr val="2A3442"/>
                          </a:solidFill>
                          <a:latin typeface="Calibri" pitchFamily="34" charset="0"/>
                          <a:ea typeface="Calibri" pitchFamily="34" charset="-122"/>
                          <a:cs typeface="Calibri" pitchFamily="34" charset="-120"/>
                        </a:rPr>
                        <a:t>8.0 </a:t>
                      </a:r>
                      <a:r>
                        <a:rPr lang="en-US" sz="850" b="1" dirty="0" err="1">
                          <a:solidFill>
                            <a:srgbClr val="2A3442"/>
                          </a:solidFill>
                          <a:latin typeface="Calibri" pitchFamily="34" charset="0"/>
                          <a:ea typeface="Calibri" pitchFamily="34" charset="-122"/>
                          <a:cs typeface="Calibri" pitchFamily="34" charset="-120"/>
                        </a:rPr>
                        <a:t>giờ</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lgn="ctr">
                        <a:buNone/>
                      </a:pPr>
                      <a:r>
                        <a:rPr lang="en-US" sz="850" b="1" dirty="0">
                          <a:solidFill>
                            <a:srgbClr val="2A3442"/>
                          </a:solidFill>
                          <a:latin typeface="Calibri" pitchFamily="34" charset="0"/>
                          <a:ea typeface="Calibri" pitchFamily="34" charset="-122"/>
                          <a:cs typeface="Calibri" pitchFamily="34" charset="-120"/>
                        </a:rPr>
                        <a:t>6.6 giờ</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lgn="ctr">
                        <a:buNone/>
                      </a:pPr>
                      <a:r>
                        <a:rPr lang="en-US" sz="850" b="1" dirty="0">
                          <a:solidFill>
                            <a:srgbClr val="2A3442"/>
                          </a:solidFill>
                          <a:latin typeface="Calibri" pitchFamily="34" charset="0"/>
                          <a:ea typeface="Calibri" pitchFamily="34" charset="-122"/>
                          <a:cs typeface="Calibri" pitchFamily="34" charset="-120"/>
                        </a:rPr>
                        <a:t>−64,8%</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Smart-Form </a:t>
                      </a:r>
                      <a:r>
                        <a:rPr lang="en-US" sz="850" dirty="0" err="1">
                          <a:solidFill>
                            <a:srgbClr val="2A3442"/>
                          </a:solidFill>
                          <a:latin typeface="Calibri" pitchFamily="34" charset="0"/>
                          <a:ea typeface="Calibri" pitchFamily="34" charset="-122"/>
                          <a:cs typeface="Calibri" pitchFamily="34" charset="-120"/>
                        </a:rPr>
                        <a:t>và</a:t>
                      </a:r>
                      <a:r>
                        <a:rPr lang="en-US" sz="850" dirty="0">
                          <a:solidFill>
                            <a:srgbClr val="2A3442"/>
                          </a:solidFill>
                          <a:latin typeface="Calibri" pitchFamily="34" charset="0"/>
                          <a:ea typeface="Calibri" pitchFamily="34" charset="-122"/>
                          <a:cs typeface="Calibri" pitchFamily="34" charset="-120"/>
                        </a:rPr>
                        <a:t> Auto-Approval bỏ bước duyệt cho 60% phiếu rủi ro thấp.</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extLst>
                  <a:ext uri="{0D108BD9-81ED-4DB2-BD59-A6C34878D82A}">
                    <a16:rowId xmlns:a16="http://schemas.microsoft.com/office/drawing/2014/main" val="10001"/>
                  </a:ext>
                </a:extLst>
              </a:tr>
              <a:tr h="420624">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Khối 2 · Sinh WO &amp; phân loại</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lgn="ctr">
                        <a:buNone/>
                      </a:pPr>
                      <a:r>
                        <a:rPr lang="en-US" sz="850" b="1" dirty="0">
                          <a:solidFill>
                            <a:srgbClr val="2A3442"/>
                          </a:solidFill>
                          <a:latin typeface="Calibri" pitchFamily="34" charset="0"/>
                          <a:ea typeface="Calibri" pitchFamily="34" charset="-122"/>
                          <a:cs typeface="Calibri" pitchFamily="34" charset="-120"/>
                        </a:rPr>
                        <a:t>1.2 giờ</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lgn="ctr">
                        <a:buNone/>
                      </a:pPr>
                      <a:r>
                        <a:rPr lang="en-US" sz="850" b="1" dirty="0">
                          <a:solidFill>
                            <a:srgbClr val="2A3442"/>
                          </a:solidFill>
                          <a:latin typeface="Calibri" pitchFamily="34" charset="0"/>
                          <a:ea typeface="Calibri" pitchFamily="34" charset="-122"/>
                          <a:cs typeface="Calibri" pitchFamily="34" charset="-120"/>
                        </a:rPr>
                        <a:t>1.2 giờ</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lgn="ctr">
                        <a:buNone/>
                      </a:pPr>
                      <a:r>
                        <a:rPr lang="en-US" sz="850" b="1" dirty="0">
                          <a:solidFill>
                            <a:srgbClr val="2A3442"/>
                          </a:solidFill>
                          <a:latin typeface="Calibri" pitchFamily="34" charset="0"/>
                          <a:ea typeface="Calibri" pitchFamily="34" charset="-122"/>
                          <a:cs typeface="Calibri" pitchFamily="34" charset="-120"/>
                        </a:rPr>
                        <a:t>0%</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Không thay đổi — đã tự động hoàn toàn.</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extLst>
                  <a:ext uri="{0D108BD9-81ED-4DB2-BD59-A6C34878D82A}">
                    <a16:rowId xmlns:a16="http://schemas.microsoft.com/office/drawing/2014/main" val="10002"/>
                  </a:ext>
                </a:extLst>
              </a:tr>
              <a:tr h="420624">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Khối 3 · </a:t>
                      </a:r>
                      <a:r>
                        <a:rPr lang="en-US" sz="850" dirty="0" err="1">
                          <a:solidFill>
                            <a:srgbClr val="2A3442"/>
                          </a:solidFill>
                          <a:latin typeface="Calibri" pitchFamily="34" charset="0"/>
                          <a:ea typeface="Calibri" pitchFamily="34" charset="-122"/>
                          <a:cs typeface="Calibri" pitchFamily="34" charset="-120"/>
                        </a:rPr>
                        <a:t>Xử</a:t>
                      </a:r>
                      <a:r>
                        <a:rPr lang="en-US" sz="850" dirty="0">
                          <a:solidFill>
                            <a:srgbClr val="2A3442"/>
                          </a:solidFill>
                          <a:latin typeface="Calibri" pitchFamily="34" charset="0"/>
                          <a:ea typeface="Calibri" pitchFamily="34" charset="-122"/>
                          <a:cs typeface="Calibri" pitchFamily="34" charset="-120"/>
                        </a:rPr>
                        <a:t> </a:t>
                      </a:r>
                      <a:r>
                        <a:rPr lang="en-US" sz="850" dirty="0" err="1">
                          <a:solidFill>
                            <a:srgbClr val="2A3442"/>
                          </a:solidFill>
                          <a:latin typeface="Calibri" pitchFamily="34" charset="0"/>
                          <a:ea typeface="Calibri" pitchFamily="34" charset="-122"/>
                          <a:cs typeface="Calibri" pitchFamily="34" charset="-120"/>
                        </a:rPr>
                        <a:t>lý</a:t>
                      </a:r>
                      <a:r>
                        <a:rPr lang="en-US" sz="850" dirty="0">
                          <a:solidFill>
                            <a:srgbClr val="2A3442"/>
                          </a:solidFill>
                          <a:latin typeface="Calibri" pitchFamily="34" charset="0"/>
                          <a:ea typeface="Calibri" pitchFamily="34" charset="-122"/>
                          <a:cs typeface="Calibri" pitchFamily="34" charset="-120"/>
                        </a:rPr>
                        <a:t> ticket</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lgn="ctr">
                        <a:buNone/>
                      </a:pPr>
                      <a:r>
                        <a:rPr lang="en-US" sz="850" b="1" dirty="0">
                          <a:solidFill>
                            <a:srgbClr val="2A3442"/>
                          </a:solidFill>
                          <a:latin typeface="Calibri" pitchFamily="34" charset="0"/>
                          <a:ea typeface="Calibri" pitchFamily="34" charset="-122"/>
                          <a:cs typeface="Calibri" pitchFamily="34" charset="-120"/>
                        </a:rPr>
                        <a:t>6.0 </a:t>
                      </a:r>
                      <a:r>
                        <a:rPr lang="en-US" sz="850" b="1" dirty="0" err="1">
                          <a:solidFill>
                            <a:srgbClr val="2A3442"/>
                          </a:solidFill>
                          <a:latin typeface="Calibri" pitchFamily="34" charset="0"/>
                          <a:ea typeface="Calibri" pitchFamily="34" charset="-122"/>
                          <a:cs typeface="Calibri" pitchFamily="34" charset="-120"/>
                        </a:rPr>
                        <a:t>giờ</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lgn="ctr">
                        <a:buNone/>
                      </a:pPr>
                      <a:r>
                        <a:rPr lang="en-US" sz="850" b="1" dirty="0">
                          <a:solidFill>
                            <a:srgbClr val="2A3442"/>
                          </a:solidFill>
                          <a:latin typeface="Calibri" pitchFamily="34" charset="0"/>
                          <a:ea typeface="Calibri" pitchFamily="34" charset="-122"/>
                          <a:cs typeface="Calibri" pitchFamily="34" charset="-120"/>
                        </a:rPr>
                        <a:t>2.0 giờ</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lgn="ctr">
                        <a:buNone/>
                      </a:pPr>
                      <a:r>
                        <a:rPr lang="en-US" sz="850" b="1" dirty="0">
                          <a:solidFill>
                            <a:srgbClr val="2A3442"/>
                          </a:solidFill>
                          <a:latin typeface="Calibri" pitchFamily="34" charset="0"/>
                          <a:ea typeface="Calibri" pitchFamily="34" charset="-122"/>
                          <a:cs typeface="Calibri" pitchFamily="34" charset="-120"/>
                        </a:rPr>
                        <a:t>−20,0%</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API ghi log xóa điểm chờ đồng bộ tại cổng gom luồng AND.</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extLst>
                  <a:ext uri="{0D108BD9-81ED-4DB2-BD59-A6C34878D82A}">
                    <a16:rowId xmlns:a16="http://schemas.microsoft.com/office/drawing/2014/main" val="10003"/>
                  </a:ext>
                </a:extLst>
              </a:tr>
              <a:tr h="420624">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Khối 4 · Hoàn tất &amp; Đóng phiếu</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lgn="ctr">
                        <a:buNone/>
                      </a:pPr>
                      <a:r>
                        <a:rPr lang="en-US" sz="850" b="1" dirty="0">
                          <a:solidFill>
                            <a:srgbClr val="2A3442"/>
                          </a:solidFill>
                          <a:latin typeface="Calibri" pitchFamily="34" charset="0"/>
                          <a:ea typeface="Calibri" pitchFamily="34" charset="-122"/>
                          <a:cs typeface="Calibri" pitchFamily="34" charset="-120"/>
                        </a:rPr>
                        <a:t>3.1 giờ</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lgn="ctr">
                        <a:buNone/>
                      </a:pPr>
                      <a:r>
                        <a:rPr lang="en-US" sz="850" b="1" dirty="0">
                          <a:solidFill>
                            <a:srgbClr val="2A3442"/>
                          </a:solidFill>
                          <a:latin typeface="Calibri" pitchFamily="34" charset="0"/>
                          <a:ea typeface="Calibri" pitchFamily="34" charset="-122"/>
                          <a:cs typeface="Calibri" pitchFamily="34" charset="-120"/>
                        </a:rPr>
                        <a:t>2.7 giờ</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lgn="ctr">
                        <a:buNone/>
                      </a:pPr>
                      <a:r>
                        <a:rPr lang="en-US" sz="850" b="1" dirty="0">
                          <a:solidFill>
                            <a:srgbClr val="2A3442"/>
                          </a:solidFill>
                          <a:latin typeface="Calibri" pitchFamily="34" charset="0"/>
                          <a:ea typeface="Calibri" pitchFamily="34" charset="-122"/>
                          <a:cs typeface="Calibri" pitchFamily="34" charset="-120"/>
                        </a:rPr>
                        <a:t>0%</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Không thay đổi — phụ thuộc phản hồi của người dùng.</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extLst>
                  <a:ext uri="{0D108BD9-81ED-4DB2-BD59-A6C34878D82A}">
                    <a16:rowId xmlns:a16="http://schemas.microsoft.com/office/drawing/2014/main" val="10004"/>
                  </a:ext>
                </a:extLst>
              </a:tr>
              <a:tr h="420624">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TỔNG CYCLE TIME</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lgn="ctr">
                        <a:buNone/>
                      </a:pPr>
                      <a:r>
                        <a:rPr lang="en-US" sz="850" b="1" dirty="0">
                          <a:solidFill>
                            <a:srgbClr val="2A3442"/>
                          </a:solidFill>
                          <a:latin typeface="Calibri" pitchFamily="34" charset="0"/>
                          <a:ea typeface="Calibri" pitchFamily="34" charset="-122"/>
                          <a:cs typeface="Calibri" pitchFamily="34" charset="-120"/>
                        </a:rPr>
                        <a:t>18.3 </a:t>
                      </a:r>
                      <a:r>
                        <a:rPr lang="en-US" sz="850" b="1" dirty="0" err="1">
                          <a:solidFill>
                            <a:srgbClr val="2A3442"/>
                          </a:solidFill>
                          <a:latin typeface="Calibri" pitchFamily="34" charset="0"/>
                          <a:ea typeface="Calibri" pitchFamily="34" charset="-122"/>
                          <a:cs typeface="Calibri" pitchFamily="34" charset="-120"/>
                        </a:rPr>
                        <a:t>giờ</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lgn="ctr">
                        <a:buNone/>
                      </a:pPr>
                      <a:r>
                        <a:rPr lang="en-US" sz="850" b="1" dirty="0">
                          <a:solidFill>
                            <a:srgbClr val="2A3442"/>
                          </a:solidFill>
                          <a:latin typeface="Calibri" pitchFamily="34" charset="0"/>
                          <a:ea typeface="Calibri" pitchFamily="34" charset="-122"/>
                          <a:cs typeface="Calibri" pitchFamily="34" charset="-120"/>
                        </a:rPr>
                        <a:t>9.0 giờ</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lgn="ctr">
                        <a:buNone/>
                      </a:pPr>
                      <a:r>
                        <a:rPr lang="en-US" sz="850" b="1" dirty="0">
                          <a:solidFill>
                            <a:srgbClr val="2A3442"/>
                          </a:solidFill>
                          <a:latin typeface="Calibri" pitchFamily="34" charset="0"/>
                          <a:ea typeface="Calibri" pitchFamily="34" charset="-122"/>
                          <a:cs typeface="Calibri" pitchFamily="34" charset="-120"/>
                        </a:rPr>
                        <a:t>−42,4%</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850" dirty="0">
                          <a:solidFill>
                            <a:srgbClr val="2A3442"/>
                          </a:solidFill>
                          <a:latin typeface="Calibri" pitchFamily="34" charset="0"/>
                          <a:ea typeface="Calibri" pitchFamily="34" charset="-122"/>
                          <a:cs typeface="Calibri" pitchFamily="34" charset="-120"/>
                        </a:rPr>
                        <a:t>≈ 1,94 ngày làm việc rút còn ≈ 1,12 ngày; CTE tăng từ 37,2% lên 44,1%.</a:t>
                      </a:r>
                      <a:endParaRPr lang="en-US" sz="8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9" name="Shape 6"/>
          <p:cNvSpPr/>
          <p:nvPr/>
        </p:nvSpPr>
        <p:spPr>
          <a:xfrm>
            <a:off x="548640" y="4169664"/>
            <a:ext cx="11094415" cy="621792"/>
          </a:xfrm>
          <a:prstGeom prst="roundRect">
            <a:avLst>
              <a:gd name="adj" fmla="val 10000"/>
            </a:avLst>
          </a:prstGeom>
          <a:solidFill>
            <a:srgbClr val="FFF3E0"/>
          </a:solidFill>
          <a:ln w="9525">
            <a:solidFill>
              <a:srgbClr val="B5730A"/>
            </a:solidFill>
            <a:prstDash val="solid"/>
          </a:ln>
        </p:spPr>
        <p:txBody>
          <a:bodyPr/>
          <a:lstStyle/>
          <a:p>
            <a:endParaRPr lang="en-US"/>
          </a:p>
        </p:txBody>
      </p:sp>
      <p:sp>
        <p:nvSpPr>
          <p:cNvPr id="10" name="Text 7"/>
          <p:cNvSpPr txBox="1"/>
          <p:nvPr/>
        </p:nvSpPr>
        <p:spPr>
          <a:xfrm>
            <a:off x="676656" y="4224528"/>
            <a:ext cx="10838383" cy="512064"/>
          </a:xfrm>
          <a:prstGeom prst="rect">
            <a:avLst/>
          </a:prstGeom>
          <a:noFill/>
          <a:ln/>
        </p:spPr>
        <p:txBody>
          <a:bodyPr wrap="square" lIns="0" tIns="0" rIns="0" bIns="0" rtlCol="0" anchor="t"/>
          <a:lstStyle/>
          <a:p>
            <a:pPr marL="0" indent="0">
              <a:buNone/>
            </a:pPr>
            <a:r>
              <a:rPr lang="en-US" sz="950" b="1" dirty="0">
                <a:solidFill>
                  <a:srgbClr val="B5730A"/>
                </a:solidFill>
                <a:latin typeface="Calibri" pitchFamily="34" charset="0"/>
                <a:ea typeface="Calibri" pitchFamily="34" charset="-122"/>
                <a:cs typeface="Calibri" pitchFamily="34" charset="-120"/>
              </a:rPr>
              <a:t>KẾT QUẢ  </a:t>
            </a:r>
            <a:r>
              <a:rPr lang="en-US" sz="950" dirty="0">
                <a:solidFill>
                  <a:srgbClr val="2A3442"/>
                </a:solidFill>
                <a:latin typeface="Calibri" pitchFamily="34" charset="0"/>
                <a:ea typeface="Calibri" pitchFamily="34" charset="-122"/>
                <a:cs typeface="Calibri" pitchFamily="34" charset="-120"/>
              </a:rPr>
              <a:t>Cycle Time giảm 42,4% (15,525 → 8,950 giờ), CTE tăng từ 37,2% lên 44,1% và chi phí nguồn lực mỗi phiếu giảm từ 866.250 xuống 592.500 đồng. Toàn bộ mức giảm đến từ Khối 1 và Khối 3 — đúng hai nơi ba giải pháp nhắm vào.</a:t>
            </a:r>
            <a:endParaRPr lang="en-US" sz="95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65760"/>
            <a:ext cx="123444" cy="123444"/>
          </a:xfrm>
          <a:prstGeom prst="ellipse">
            <a:avLst/>
          </a:prstGeom>
          <a:solidFill>
            <a:srgbClr val="D9A227"/>
          </a:solidFill>
          <a:ln w="12700">
            <a:solidFill>
              <a:srgbClr val="D9A227"/>
            </a:solidFill>
            <a:prstDash val="solid"/>
          </a:ln>
        </p:spPr>
        <p:txBody>
          <a:bodyPr/>
          <a:lstStyle/>
          <a:p>
            <a:endParaRPr lang="en-US"/>
          </a:p>
        </p:txBody>
      </p:sp>
      <p:sp>
        <p:nvSpPr>
          <p:cNvPr id="3" name="Text 1"/>
          <p:cNvSpPr txBox="1"/>
          <p:nvPr/>
        </p:nvSpPr>
        <p:spPr>
          <a:xfrm>
            <a:off x="804672" y="292608"/>
            <a:ext cx="10838383" cy="237744"/>
          </a:xfrm>
          <a:prstGeom prst="rect">
            <a:avLst/>
          </a:prstGeom>
          <a:noFill/>
          <a:ln/>
        </p:spPr>
        <p:txBody>
          <a:bodyPr wrap="square" lIns="0" tIns="0" rIns="0" bIns="0" rtlCol="0" anchor="t"/>
          <a:lstStyle/>
          <a:p>
            <a:pPr marL="0" indent="0">
              <a:buNone/>
            </a:pPr>
            <a:r>
              <a:rPr lang="en-US" sz="1050" b="1" kern="0" spc="120" dirty="0">
                <a:solidFill>
                  <a:srgbClr val="A5741A"/>
                </a:solidFill>
                <a:latin typeface="Calibri" pitchFamily="34" charset="0"/>
                <a:ea typeface="Calibri" pitchFamily="34" charset="-122"/>
                <a:cs typeface="Calibri" pitchFamily="34" charset="-120"/>
              </a:rPr>
              <a:t>CHƯƠNG 5 · 5.2.2 SO SÁNH AS-IS – TO-BE</a:t>
            </a:r>
            <a:endParaRPr lang="en-US" sz="1050" dirty="0"/>
          </a:p>
        </p:txBody>
      </p:sp>
      <p:sp>
        <p:nvSpPr>
          <p:cNvPr id="4" name="Text 2"/>
          <p:cNvSpPr txBox="1"/>
          <p:nvPr/>
        </p:nvSpPr>
        <p:spPr>
          <a:xfrm>
            <a:off x="548640" y="566928"/>
            <a:ext cx="11094415" cy="457200"/>
          </a:xfrm>
          <a:prstGeom prst="rect">
            <a:avLst/>
          </a:prstGeom>
          <a:noFill/>
          <a:ln/>
        </p:spPr>
        <p:txBody>
          <a:bodyPr wrap="square" lIns="0" tIns="0" rIns="0" bIns="0" rtlCol="0" anchor="t"/>
          <a:lstStyle/>
          <a:p>
            <a:pPr marL="0" indent="0">
              <a:buNone/>
            </a:pPr>
            <a:r>
              <a:rPr lang="en-US" sz="2500" b="1" dirty="0">
                <a:solidFill>
                  <a:srgbClr val="0B3B75"/>
                </a:solidFill>
                <a:latin typeface="Calibri" pitchFamily="34" charset="0"/>
                <a:ea typeface="Calibri" pitchFamily="34" charset="-122"/>
                <a:cs typeface="Calibri" pitchFamily="34" charset="-120"/>
              </a:rPr>
              <a:t>SO SÁNH CHỈ SỐ HIỆU QUẢ VẬN HÀNH GIỮA HAI MÔ HÌNH</a:t>
            </a:r>
            <a:endParaRPr lang="en-US" sz="2500" dirty="0"/>
          </a:p>
        </p:txBody>
      </p:sp>
      <p:sp>
        <p:nvSpPr>
          <p:cNvPr id="5" name="Text 3"/>
          <p:cNvSpPr txBox="1"/>
          <p:nvPr/>
        </p:nvSpPr>
        <p:spPr>
          <a:xfrm>
            <a:off x="548640" y="1024128"/>
            <a:ext cx="11094415" cy="274320"/>
          </a:xfrm>
          <a:prstGeom prst="rect">
            <a:avLst/>
          </a:prstGeom>
          <a:noFill/>
          <a:ln/>
        </p:spPr>
        <p:txBody>
          <a:bodyPr wrap="square" lIns="0" tIns="0" rIns="0" bIns="0" rtlCol="0" anchor="t"/>
          <a:lstStyle/>
          <a:p>
            <a:pPr marL="0" indent="0">
              <a:buNone/>
            </a:pPr>
            <a:r>
              <a:rPr lang="en-US" sz="1100" i="1" dirty="0">
                <a:solidFill>
                  <a:srgbClr val="6E7A88"/>
                </a:solidFill>
                <a:latin typeface="Calibri" pitchFamily="34" charset="0"/>
                <a:ea typeface="Calibri" pitchFamily="34" charset="-122"/>
                <a:cs typeface="Calibri" pitchFamily="34" charset="-120"/>
              </a:rPr>
              <a:t>Bảng 17 — So sánh chỉ số hiệu quả vận hành giữa mô hình AS-IS và TO-BE (kỳ vọng)</a:t>
            </a:r>
            <a:endParaRPr lang="en-US" sz="1100" dirty="0"/>
          </a:p>
        </p:txBody>
      </p:sp>
      <p:sp>
        <p:nvSpPr>
          <p:cNvPr id="6" name="Text 4"/>
          <p:cNvSpPr txBox="1"/>
          <p:nvPr/>
        </p:nvSpPr>
        <p:spPr>
          <a:xfrm>
            <a:off x="548640" y="6419088"/>
            <a:ext cx="8778240" cy="237744"/>
          </a:xfrm>
          <a:prstGeom prst="rect">
            <a:avLst/>
          </a:prstGeom>
          <a:noFill/>
          <a:ln/>
        </p:spPr>
        <p:txBody>
          <a:bodyPr wrap="square" lIns="0" tIns="0" rIns="0" bIns="0" rtlCol="0" anchor="t"/>
          <a:lstStyle/>
          <a:p>
            <a:pPr marL="0" indent="0">
              <a:buNone/>
            </a:pPr>
            <a:r>
              <a:rPr lang="en-US" sz="850" dirty="0">
                <a:solidFill>
                  <a:srgbClr val="6E7A88"/>
                </a:solidFill>
                <a:latin typeface="Calibri" pitchFamily="34" charset="0"/>
                <a:ea typeface="Calibri" pitchFamily="34" charset="-122"/>
                <a:cs typeface="Calibri" pitchFamily="34" charset="-120"/>
              </a:rPr>
              <a:t>HỆ THỐNG QUẢN TRỊ QUY TRÌNH NGHIỆP VỤ  ·  SACOMBANK — QUY TRÌNH PYC</a:t>
            </a:r>
            <a:endParaRPr lang="en-US" sz="850" dirty="0"/>
          </a:p>
        </p:txBody>
      </p:sp>
      <p:sp>
        <p:nvSpPr>
          <p:cNvPr id="7" name="Text 5"/>
          <p:cNvSpPr txBox="1"/>
          <p:nvPr/>
        </p:nvSpPr>
        <p:spPr>
          <a:xfrm>
            <a:off x="11155680" y="6382512"/>
            <a:ext cx="484632" cy="274320"/>
          </a:xfrm>
          <a:prstGeom prst="rect">
            <a:avLst/>
          </a:prstGeom>
          <a:noFill/>
          <a:ln/>
        </p:spPr>
        <p:txBody>
          <a:bodyPr wrap="square" lIns="0" tIns="0" rIns="0" bIns="0" rtlCol="0" anchor="t"/>
          <a:lstStyle/>
          <a:p>
            <a:pPr marL="0" indent="0" algn="r">
              <a:buNone/>
            </a:pPr>
            <a:r>
              <a:rPr lang="en-US" sz="1100" b="1" dirty="0">
                <a:solidFill>
                  <a:srgbClr val="A5741A"/>
                </a:solidFill>
                <a:latin typeface="Calibri" pitchFamily="34" charset="0"/>
                <a:ea typeface="Calibri" pitchFamily="34" charset="-122"/>
                <a:cs typeface="Calibri" pitchFamily="34" charset="-120"/>
              </a:rPr>
              <a:t>51</a:t>
            </a:r>
            <a:endParaRPr lang="en-US" sz="1100" dirty="0"/>
          </a:p>
        </p:txBody>
      </p:sp>
      <p:graphicFrame>
        <p:nvGraphicFramePr>
          <p:cNvPr id="44" name="Table 0"/>
          <p:cNvGraphicFramePr>
            <a:graphicFrameLocks noGrp="1"/>
          </p:cNvGraphicFramePr>
          <p:nvPr>
            <p:extLst>
              <p:ext uri="{D42A27DB-BD31-4B8C-83A1-F6EECF244321}">
                <p14:modId xmlns:p14="http://schemas.microsoft.com/office/powerpoint/2010/main" val="1579011935"/>
              </p:ext>
            </p:extLst>
          </p:nvPr>
        </p:nvGraphicFramePr>
        <p:xfrm>
          <a:off x="548640" y="1517904"/>
          <a:ext cx="11091672" cy="3621024"/>
        </p:xfrm>
        <a:graphic>
          <a:graphicData uri="http://schemas.openxmlformats.org/drawingml/2006/table">
            <a:tbl>
              <a:tblPr/>
              <a:tblGrid>
                <a:gridCol w="2926080">
                  <a:extLst>
                    <a:ext uri="{9D8B030D-6E8A-4147-A177-3AD203B41FA5}">
                      <a16:colId xmlns:a16="http://schemas.microsoft.com/office/drawing/2014/main" val="20000"/>
                    </a:ext>
                  </a:extLst>
                </a:gridCol>
                <a:gridCol w="4023360">
                  <a:extLst>
                    <a:ext uri="{9D8B030D-6E8A-4147-A177-3AD203B41FA5}">
                      <a16:colId xmlns:a16="http://schemas.microsoft.com/office/drawing/2014/main" val="20001"/>
                    </a:ext>
                  </a:extLst>
                </a:gridCol>
                <a:gridCol w="4142232">
                  <a:extLst>
                    <a:ext uri="{9D8B030D-6E8A-4147-A177-3AD203B41FA5}">
                      <a16:colId xmlns:a16="http://schemas.microsoft.com/office/drawing/2014/main" val="20002"/>
                    </a:ext>
                  </a:extLst>
                </a:gridCol>
              </a:tblGrid>
              <a:tr h="603504">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TIÊU CHÍ</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0B3B75"/>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MÔ HÌNH AS-IS</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0B3B75"/>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MÔ HÌNH TO-BE (KỲ VỌNG)</a:t>
                      </a:r>
                      <a:endParaRPr lang="en-US" sz="9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0B3B75"/>
                    </a:solidFill>
                  </a:tcPr>
                </a:tc>
                <a:extLst>
                  <a:ext uri="{0D108BD9-81ED-4DB2-BD59-A6C34878D82A}">
                    <a16:rowId xmlns:a16="http://schemas.microsoft.com/office/drawing/2014/main" val="10000"/>
                  </a:ext>
                </a:extLst>
              </a:tr>
              <a:tr h="603504">
                <a:tc>
                  <a:txBody>
                    <a:bodyPr/>
                    <a:lstStyle/>
                    <a:p>
                      <a:pPr marL="0" indent="0">
                        <a:buNone/>
                      </a:pPr>
                      <a:r>
                        <a:rPr lang="en-US" sz="1050" dirty="0">
                          <a:solidFill>
                            <a:srgbClr val="2A3442"/>
                          </a:solidFill>
                          <a:latin typeface="Calibri" pitchFamily="34" charset="0"/>
                          <a:ea typeface="Calibri" pitchFamily="34" charset="-122"/>
                          <a:cs typeface="Calibri" pitchFamily="34" charset="-120"/>
                        </a:rPr>
                        <a:t>Bước phê duyệt thủ công</a:t>
                      </a:r>
                      <a:endParaRPr lang="en-US" sz="10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1050" dirty="0">
                          <a:solidFill>
                            <a:srgbClr val="2A3442"/>
                          </a:solidFill>
                          <a:latin typeface="Calibri" pitchFamily="34" charset="0"/>
                          <a:ea typeface="Calibri" pitchFamily="34" charset="-122"/>
                          <a:cs typeface="Calibri" pitchFamily="34" charset="-120"/>
                        </a:rPr>
                        <a:t>Áp dụng cho 100% PYC, không phân biệt mức độ rủi ro</a:t>
                      </a:r>
                      <a:endParaRPr lang="en-US" sz="10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1050" dirty="0">
                          <a:solidFill>
                            <a:srgbClr val="2A3442"/>
                          </a:solidFill>
                          <a:latin typeface="Calibri" pitchFamily="34" charset="0"/>
                          <a:ea typeface="Calibri" pitchFamily="34" charset="-122"/>
                          <a:cs typeface="Calibri" pitchFamily="34" charset="-120"/>
                        </a:rPr>
                        <a:t>Chỉ áp dụng cho nhóm “Rủi ro cao”; nhóm “Rủi ro thấp” tự động bypass</a:t>
                      </a:r>
                      <a:endParaRPr lang="en-US" sz="10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extLst>
                  <a:ext uri="{0D108BD9-81ED-4DB2-BD59-A6C34878D82A}">
                    <a16:rowId xmlns:a16="http://schemas.microsoft.com/office/drawing/2014/main" val="10001"/>
                  </a:ext>
                </a:extLst>
              </a:tr>
              <a:tr h="603504">
                <a:tc>
                  <a:txBody>
                    <a:bodyPr/>
                    <a:lstStyle/>
                    <a:p>
                      <a:pPr marL="0" indent="0">
                        <a:buNone/>
                      </a:pPr>
                      <a:r>
                        <a:rPr lang="en-US" sz="1050" dirty="0">
                          <a:solidFill>
                            <a:srgbClr val="2A3442"/>
                          </a:solidFill>
                          <a:latin typeface="Calibri" pitchFamily="34" charset="0"/>
                          <a:ea typeface="Calibri" pitchFamily="34" charset="-122"/>
                          <a:cs typeface="Calibri" pitchFamily="34" charset="-120"/>
                        </a:rPr>
                        <a:t>Lãng phí Hold (chờ duyệt)</a:t>
                      </a:r>
                      <a:endParaRPr lang="en-US" sz="10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1050" dirty="0">
                          <a:solidFill>
                            <a:srgbClr val="2A3442"/>
                          </a:solidFill>
                          <a:latin typeface="Calibri" pitchFamily="34" charset="0"/>
                          <a:ea typeface="Calibri" pitchFamily="34" charset="-122"/>
                          <a:cs typeface="Calibri" pitchFamily="34" charset="-120"/>
                        </a:rPr>
                        <a:t>Chiếm tỷ trọng lớn trong Lead Time do phụ thuộc thời gian phản hồi của quản lý</a:t>
                      </a:r>
                      <a:endParaRPr lang="en-US" sz="10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1050" dirty="0">
                          <a:solidFill>
                            <a:srgbClr val="2A3442"/>
                          </a:solidFill>
                          <a:latin typeface="Calibri" pitchFamily="34" charset="0"/>
                          <a:ea typeface="Calibri" pitchFamily="34" charset="-122"/>
                          <a:cs typeface="Calibri" pitchFamily="34" charset="-120"/>
                        </a:rPr>
                        <a:t>Giảm đáng kể nhờ auto-approval cho các yêu cầu rủi ro thấp</a:t>
                      </a:r>
                      <a:endParaRPr lang="en-US" sz="10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extLst>
                  <a:ext uri="{0D108BD9-81ED-4DB2-BD59-A6C34878D82A}">
                    <a16:rowId xmlns:a16="http://schemas.microsoft.com/office/drawing/2014/main" val="10002"/>
                  </a:ext>
                </a:extLst>
              </a:tr>
              <a:tr h="603504">
                <a:tc>
                  <a:txBody>
                    <a:bodyPr/>
                    <a:lstStyle/>
                    <a:p>
                      <a:pPr marL="0" indent="0">
                        <a:buNone/>
                      </a:pPr>
                      <a:r>
                        <a:rPr lang="en-US" sz="1050" dirty="0">
                          <a:solidFill>
                            <a:srgbClr val="2A3442"/>
                          </a:solidFill>
                          <a:latin typeface="Calibri" pitchFamily="34" charset="0"/>
                          <a:ea typeface="Calibri" pitchFamily="34" charset="-122"/>
                          <a:cs typeface="Calibri" pitchFamily="34" charset="-120"/>
                        </a:rPr>
                        <a:t>Lãng phí Move (rework do sai thông tin)</a:t>
                      </a:r>
                      <a:endParaRPr lang="en-US" sz="10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1050" dirty="0">
                          <a:solidFill>
                            <a:srgbClr val="2A3442"/>
                          </a:solidFill>
                          <a:latin typeface="Calibri" pitchFamily="34" charset="0"/>
                          <a:ea typeface="Calibri" pitchFamily="34" charset="-122"/>
                          <a:cs typeface="Calibri" pitchFamily="34" charset="-120"/>
                        </a:rPr>
                        <a:t>Phát sinh do biểu mẫu free-text, gây vòng lặp “Bổ sung thông tin”</a:t>
                      </a:r>
                      <a:endParaRPr lang="en-US" sz="10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1050" dirty="0">
                          <a:solidFill>
                            <a:srgbClr val="2A3442"/>
                          </a:solidFill>
                          <a:latin typeface="Calibri" pitchFamily="34" charset="0"/>
                          <a:ea typeface="Calibri" pitchFamily="34" charset="-122"/>
                          <a:cs typeface="Calibri" pitchFamily="34" charset="-120"/>
                        </a:rPr>
                        <a:t>Được kiểm soát ngay từ đầu vào nhờ Smart-Form bắt buộc và dropdown</a:t>
                      </a:r>
                      <a:endParaRPr lang="en-US" sz="10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extLst>
                  <a:ext uri="{0D108BD9-81ED-4DB2-BD59-A6C34878D82A}">
                    <a16:rowId xmlns:a16="http://schemas.microsoft.com/office/drawing/2014/main" val="10003"/>
                  </a:ext>
                </a:extLst>
              </a:tr>
              <a:tr h="603504">
                <a:tc>
                  <a:txBody>
                    <a:bodyPr/>
                    <a:lstStyle/>
                    <a:p>
                      <a:pPr marL="0" indent="0">
                        <a:buNone/>
                      </a:pPr>
                      <a:r>
                        <a:rPr lang="en-US" sz="1050" dirty="0">
                          <a:solidFill>
                            <a:srgbClr val="2A3442"/>
                          </a:solidFill>
                          <a:latin typeface="Calibri" pitchFamily="34" charset="0"/>
                          <a:ea typeface="Calibri" pitchFamily="34" charset="-122"/>
                          <a:cs typeface="Calibri" pitchFamily="34" charset="-120"/>
                        </a:rPr>
                        <a:t>Ghi log bảo mật</a:t>
                      </a:r>
                      <a:endParaRPr lang="en-US" sz="10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1050" dirty="0">
                          <a:solidFill>
                            <a:srgbClr val="2A3442"/>
                          </a:solidFill>
                          <a:latin typeface="Calibri" pitchFamily="34" charset="0"/>
                          <a:ea typeface="Calibri" pitchFamily="34" charset="-122"/>
                          <a:cs typeface="Calibri" pitchFamily="34" charset="-120"/>
                        </a:rPr>
                        <a:t>Thao tác thủ công, đồng bộ tại cổng gom luồng (Join Gateway)</a:t>
                      </a:r>
                      <a:endParaRPr lang="en-US" sz="10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tc>
                  <a:txBody>
                    <a:bodyPr/>
                    <a:lstStyle/>
                    <a:p>
                      <a:pPr marL="0" indent="0">
                        <a:buNone/>
                      </a:pPr>
                      <a:r>
                        <a:rPr lang="en-US" sz="1050" dirty="0">
                          <a:solidFill>
                            <a:srgbClr val="2A3442"/>
                          </a:solidFill>
                          <a:latin typeface="Calibri" pitchFamily="34" charset="0"/>
                          <a:ea typeface="Calibri" pitchFamily="34" charset="-122"/>
                          <a:cs typeface="Calibri" pitchFamily="34" charset="-120"/>
                        </a:rPr>
                        <a:t>Tự động qua API (Service Task), không tạo điểm chờ</a:t>
                      </a:r>
                      <a:endParaRPr lang="en-US" sz="10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solidFill>
                      <a:srgbClr val="EFF4FB"/>
                    </a:solidFill>
                  </a:tcPr>
                </a:tc>
                <a:extLst>
                  <a:ext uri="{0D108BD9-81ED-4DB2-BD59-A6C34878D82A}">
                    <a16:rowId xmlns:a16="http://schemas.microsoft.com/office/drawing/2014/main" val="10004"/>
                  </a:ext>
                </a:extLst>
              </a:tr>
              <a:tr h="603504">
                <a:tc>
                  <a:txBody>
                    <a:bodyPr/>
                    <a:lstStyle/>
                    <a:p>
                      <a:pPr marL="0" indent="0">
                        <a:buNone/>
                      </a:pPr>
                      <a:r>
                        <a:rPr lang="en-US" sz="1050" dirty="0">
                          <a:solidFill>
                            <a:srgbClr val="2A3442"/>
                          </a:solidFill>
                          <a:latin typeface="Calibri" pitchFamily="34" charset="0"/>
                          <a:ea typeface="Calibri" pitchFamily="34" charset="-122"/>
                          <a:cs typeface="Calibri" pitchFamily="34" charset="-120"/>
                        </a:rPr>
                        <a:t>Vai trò cấp quản lý</a:t>
                      </a:r>
                      <a:endParaRPr lang="en-US" sz="10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1050" dirty="0">
                          <a:solidFill>
                            <a:srgbClr val="2A3442"/>
                          </a:solidFill>
                          <a:latin typeface="Calibri" pitchFamily="34" charset="0"/>
                          <a:ea typeface="Calibri" pitchFamily="34" charset="-122"/>
                          <a:cs typeface="Calibri" pitchFamily="34" charset="-120"/>
                        </a:rPr>
                        <a:t>Xử lý cả yêu cầu rủi ro thấp lẫn rủi ro cao</a:t>
                      </a:r>
                      <a:endParaRPr lang="en-US" sz="10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tc>
                  <a:txBody>
                    <a:bodyPr/>
                    <a:lstStyle/>
                    <a:p>
                      <a:pPr marL="0" indent="0">
                        <a:buNone/>
                      </a:pPr>
                      <a:r>
                        <a:rPr lang="en-US" sz="1050" dirty="0">
                          <a:solidFill>
                            <a:srgbClr val="2A3442"/>
                          </a:solidFill>
                          <a:latin typeface="Calibri" pitchFamily="34" charset="0"/>
                          <a:ea typeface="Calibri" pitchFamily="34" charset="-122"/>
                          <a:cs typeface="Calibri" pitchFamily="34" charset="-120"/>
                        </a:rPr>
                        <a:t>Tập trung nguồn lực (VBA) vào các quyết định rủi ro cao, có giá trị kiểm soát thực sự</a:t>
                      </a:r>
                      <a:endParaRPr lang="en-US" sz="1050" dirty="0">
                        <a:latin typeface="Calibri" charset="0"/>
                        <a:ea typeface="Calibri" charset="0"/>
                        <a:cs typeface="Calibri" charset="0"/>
                      </a:endParaRPr>
                    </a:p>
                  </a:txBody>
                  <a:tcPr anchor="ctr">
                    <a:lnL w="6350" cap="flat" cmpd="sng" algn="ctr">
                      <a:solidFill>
                        <a:srgbClr val="D8E1EC"/>
                      </a:solidFill>
                      <a:prstDash val="solid"/>
                      <a:round/>
                      <a:headEnd type="none" w="med" len="med"/>
                      <a:tailEnd type="none" w="med" len="med"/>
                    </a:lnL>
                    <a:lnR w="6350" cap="flat" cmpd="sng" algn="ctr">
                      <a:solidFill>
                        <a:srgbClr val="D8E1EC"/>
                      </a:solidFill>
                      <a:prstDash val="solid"/>
                      <a:round/>
                      <a:headEnd type="none" w="med" len="med"/>
                      <a:tailEnd type="none" w="med" len="med"/>
                    </a:lnR>
                    <a:lnT w="6350" cap="flat" cmpd="sng" algn="ctr">
                      <a:solidFill>
                        <a:srgbClr val="D8E1EC"/>
                      </a:solidFill>
                      <a:prstDash val="solid"/>
                      <a:round/>
                      <a:headEnd type="none" w="med" len="med"/>
                      <a:tailEnd type="none" w="med" len="med"/>
                    </a:lnT>
                    <a:lnB w="6350" cap="flat" cmpd="sng" algn="ctr">
                      <a:solidFill>
                        <a:srgbClr val="D8E1EC"/>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44">
    <p:bg>
      <p:bgPr>
        <a:solidFill>
          <a:srgbClr val="0B3B75"/>
        </a:solidFill>
        <a:effectLst/>
      </p:bgPr>
    </p:bg>
    <p:spTree>
      <p:nvGrpSpPr>
        <p:cNvPr id="1" name=""/>
        <p:cNvGrpSpPr/>
        <p:nvPr/>
      </p:nvGrpSpPr>
      <p:grpSpPr>
        <a:xfrm>
          <a:off x="0" y="0"/>
          <a:ext cx="0" cy="0"/>
          <a:chOff x="0" y="0"/>
          <a:chExt cx="0" cy="0"/>
        </a:xfrm>
      </p:grpSpPr>
      <p:sp>
        <p:nvSpPr>
          <p:cNvPr id="2" name="Text 0"/>
          <p:cNvSpPr txBox="1"/>
          <p:nvPr/>
        </p:nvSpPr>
        <p:spPr>
          <a:xfrm>
            <a:off x="548640" y="1920240"/>
            <a:ext cx="1828800" cy="1097280"/>
          </a:xfrm>
          <a:prstGeom prst="rect">
            <a:avLst/>
          </a:prstGeom>
          <a:noFill/>
          <a:ln/>
        </p:spPr>
        <p:txBody>
          <a:bodyPr wrap="square" lIns="0" tIns="0" rIns="0" bIns="0" rtlCol="0" anchor="t"/>
          <a:lstStyle/>
          <a:p>
            <a:pPr marL="0" indent="0">
              <a:buNone/>
            </a:pPr>
            <a:r>
              <a:rPr lang="en-US" sz="6600" b="1" dirty="0">
                <a:solidFill>
                  <a:srgbClr val="D9A227"/>
                </a:solidFill>
                <a:latin typeface="Calibri" pitchFamily="34" charset="0"/>
                <a:ea typeface="Calibri" pitchFamily="34" charset="-122"/>
                <a:cs typeface="Calibri" pitchFamily="34" charset="-120"/>
              </a:rPr>
              <a:t>06</a:t>
            </a:r>
            <a:endParaRPr lang="en-US" sz="6600" dirty="0"/>
          </a:p>
        </p:txBody>
      </p:sp>
      <p:sp>
        <p:nvSpPr>
          <p:cNvPr id="3" name="Text 1"/>
          <p:cNvSpPr txBox="1"/>
          <p:nvPr/>
        </p:nvSpPr>
        <p:spPr>
          <a:xfrm>
            <a:off x="548640" y="3072384"/>
            <a:ext cx="11094415" cy="274320"/>
          </a:xfrm>
          <a:prstGeom prst="rect">
            <a:avLst/>
          </a:prstGeom>
          <a:noFill/>
          <a:ln/>
        </p:spPr>
        <p:txBody>
          <a:bodyPr wrap="square" lIns="0" tIns="0" rIns="0" bIns="0" rtlCol="0" anchor="t"/>
          <a:lstStyle/>
          <a:p>
            <a:pPr marL="0" indent="0">
              <a:buNone/>
            </a:pPr>
            <a:r>
              <a:rPr lang="en-US" sz="1100" b="1" kern="0" spc="140" dirty="0">
                <a:solidFill>
                  <a:srgbClr val="AFC6E4"/>
                </a:solidFill>
                <a:latin typeface="Calibri" pitchFamily="34" charset="0"/>
                <a:ea typeface="Calibri" pitchFamily="34" charset="-122"/>
                <a:cs typeface="Calibri" pitchFamily="34" charset="-120"/>
              </a:rPr>
              <a:t>PHẦN 6 · WRAP-UP</a:t>
            </a:r>
            <a:endParaRPr lang="en-US" sz="1100" dirty="0"/>
          </a:p>
        </p:txBody>
      </p:sp>
      <p:sp>
        <p:nvSpPr>
          <p:cNvPr id="4" name="Text 2"/>
          <p:cNvSpPr txBox="1"/>
          <p:nvPr/>
        </p:nvSpPr>
        <p:spPr>
          <a:xfrm>
            <a:off x="548640" y="3383280"/>
            <a:ext cx="11094415" cy="640080"/>
          </a:xfrm>
          <a:prstGeom prst="rect">
            <a:avLst/>
          </a:prstGeom>
          <a:noFill/>
          <a:ln/>
        </p:spPr>
        <p:txBody>
          <a:bodyPr wrap="square" lIns="0" tIns="0" rIns="0" bIns="0" rtlCol="0" anchor="t"/>
          <a:lstStyle/>
          <a:p>
            <a:pPr marL="0" indent="0">
              <a:buNone/>
            </a:pPr>
            <a:r>
              <a:rPr lang="en-US" sz="3200" b="1" dirty="0">
                <a:solidFill>
                  <a:srgbClr val="FFFFFF"/>
                </a:solidFill>
                <a:latin typeface="Calibri" pitchFamily="34" charset="0"/>
                <a:ea typeface="Calibri" pitchFamily="34" charset="-122"/>
                <a:cs typeface="Calibri" pitchFamily="34" charset="-120"/>
              </a:rPr>
              <a:t>Kết luận và hướng phát triển</a:t>
            </a:r>
            <a:endParaRPr lang="en-US" sz="3200" dirty="0"/>
          </a:p>
        </p:txBody>
      </p:sp>
      <p:sp>
        <p:nvSpPr>
          <p:cNvPr id="5" name="Text 3"/>
          <p:cNvSpPr txBox="1"/>
          <p:nvPr/>
        </p:nvSpPr>
        <p:spPr>
          <a:xfrm>
            <a:off x="548640" y="4114800"/>
            <a:ext cx="9722815" cy="365760"/>
          </a:xfrm>
          <a:prstGeom prst="rect">
            <a:avLst/>
          </a:prstGeom>
          <a:noFill/>
          <a:ln/>
        </p:spPr>
        <p:txBody>
          <a:bodyPr wrap="square" lIns="0" tIns="0" rIns="0" bIns="0" rtlCol="0" anchor="t"/>
          <a:lstStyle/>
          <a:p>
            <a:pPr marL="0" indent="0">
              <a:buNone/>
            </a:pPr>
            <a:r>
              <a:rPr lang="en-US" sz="1200" dirty="0">
                <a:solidFill>
                  <a:srgbClr val="9BB2D2"/>
                </a:solidFill>
                <a:latin typeface="Calibri" pitchFamily="34" charset="0"/>
                <a:ea typeface="Calibri" pitchFamily="34" charset="-122"/>
                <a:cs typeface="Calibri" pitchFamily="34" charset="-120"/>
              </a:rPr>
              <a:t>Kết quả đạt được  ·  Giá trị ứng dụng thực tiễn  ·  Ba hạn chế  ·  Ba hướng phát triển</a:t>
            </a:r>
            <a:endParaRPr lang="en-US" sz="1200" dirty="0"/>
          </a:p>
        </p:txBody>
      </p:sp>
      <p:sp>
        <p:nvSpPr>
          <p:cNvPr id="6" name="Text 4"/>
          <p:cNvSpPr txBox="1"/>
          <p:nvPr/>
        </p:nvSpPr>
        <p:spPr>
          <a:xfrm>
            <a:off x="548640" y="6419088"/>
            <a:ext cx="8778240" cy="237744"/>
          </a:xfrm>
          <a:prstGeom prst="rect">
            <a:avLst/>
          </a:prstGeom>
          <a:noFill/>
          <a:ln/>
        </p:spPr>
        <p:txBody>
          <a:bodyPr wrap="square" lIns="0" tIns="0" rIns="0" bIns="0" rtlCol="0" anchor="t"/>
          <a:lstStyle/>
          <a:p>
            <a:pPr marL="0" indent="0">
              <a:buNone/>
            </a:pPr>
            <a:r>
              <a:rPr lang="en-US" sz="850" dirty="0">
                <a:solidFill>
                  <a:srgbClr val="7089AE"/>
                </a:solidFill>
                <a:latin typeface="Calibri" pitchFamily="34" charset="0"/>
                <a:ea typeface="Calibri" pitchFamily="34" charset="-122"/>
                <a:cs typeface="Calibri" pitchFamily="34" charset="-120"/>
              </a:rPr>
              <a:t>HỆ THỐNG QUẢN TRỊ QUY TRÌNH NGHIỆP VỤ  ·  SACOMBANK — QUY TRÌNH PYC</a:t>
            </a:r>
            <a:endParaRPr lang="en-US" sz="850" dirty="0"/>
          </a:p>
        </p:txBody>
      </p:sp>
      <p:sp>
        <p:nvSpPr>
          <p:cNvPr id="7" name="Text 5"/>
          <p:cNvSpPr txBox="1"/>
          <p:nvPr/>
        </p:nvSpPr>
        <p:spPr>
          <a:xfrm>
            <a:off x="11155680" y="6382512"/>
            <a:ext cx="484632" cy="274320"/>
          </a:xfrm>
          <a:prstGeom prst="rect">
            <a:avLst/>
          </a:prstGeom>
          <a:noFill/>
          <a:ln/>
        </p:spPr>
        <p:txBody>
          <a:bodyPr wrap="square" lIns="0" tIns="0" rIns="0" bIns="0" rtlCol="0" anchor="t"/>
          <a:lstStyle/>
          <a:p>
            <a:pPr marL="0" indent="0" algn="r">
              <a:buNone/>
            </a:pPr>
            <a:r>
              <a:rPr lang="en-US" sz="1100" b="1" dirty="0">
                <a:solidFill>
                  <a:srgbClr val="D9A227"/>
                </a:solidFill>
                <a:latin typeface="Calibri" pitchFamily="34" charset="0"/>
                <a:ea typeface="Calibri" pitchFamily="34" charset="-122"/>
                <a:cs typeface="Calibri" pitchFamily="34" charset="-120"/>
              </a:rPr>
              <a:t>52</a:t>
            </a:r>
            <a:endParaRPr lang="en-US" sz="11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65760"/>
            <a:ext cx="123444" cy="123444"/>
          </a:xfrm>
          <a:prstGeom prst="ellipse">
            <a:avLst/>
          </a:prstGeom>
          <a:solidFill>
            <a:srgbClr val="D9A227"/>
          </a:solidFill>
          <a:ln w="12700">
            <a:solidFill>
              <a:srgbClr val="D9A227"/>
            </a:solidFill>
            <a:prstDash val="solid"/>
          </a:ln>
        </p:spPr>
        <p:txBody>
          <a:bodyPr/>
          <a:lstStyle/>
          <a:p>
            <a:endParaRPr lang="en-US"/>
          </a:p>
        </p:txBody>
      </p:sp>
      <p:sp>
        <p:nvSpPr>
          <p:cNvPr id="3" name="Text 1"/>
          <p:cNvSpPr txBox="1"/>
          <p:nvPr/>
        </p:nvSpPr>
        <p:spPr>
          <a:xfrm>
            <a:off x="804672" y="292608"/>
            <a:ext cx="10838383" cy="237744"/>
          </a:xfrm>
          <a:prstGeom prst="rect">
            <a:avLst/>
          </a:prstGeom>
          <a:noFill/>
          <a:ln/>
        </p:spPr>
        <p:txBody>
          <a:bodyPr wrap="square" lIns="0" tIns="0" rIns="0" bIns="0" rtlCol="0" anchor="t"/>
          <a:lstStyle/>
          <a:p>
            <a:pPr marL="0" indent="0">
              <a:buNone/>
            </a:pPr>
            <a:r>
              <a:rPr lang="en-US" sz="1050" b="1" kern="0" spc="120" dirty="0">
                <a:solidFill>
                  <a:srgbClr val="A5741A"/>
                </a:solidFill>
                <a:latin typeface="Calibri" pitchFamily="34" charset="0"/>
                <a:ea typeface="Calibri" pitchFamily="34" charset="-122"/>
                <a:cs typeface="Calibri" pitchFamily="34" charset="-120"/>
              </a:rPr>
              <a:t>CHƯƠNG 6 · 6.1 – 6.2 KẾT LUẬN</a:t>
            </a:r>
            <a:endParaRPr lang="en-US" sz="1050" dirty="0"/>
          </a:p>
        </p:txBody>
      </p:sp>
      <p:sp>
        <p:nvSpPr>
          <p:cNvPr id="4" name="Text 2"/>
          <p:cNvSpPr txBox="1"/>
          <p:nvPr/>
        </p:nvSpPr>
        <p:spPr>
          <a:xfrm>
            <a:off x="548640" y="566928"/>
            <a:ext cx="11094415" cy="457200"/>
          </a:xfrm>
          <a:prstGeom prst="rect">
            <a:avLst/>
          </a:prstGeom>
          <a:noFill/>
          <a:ln/>
        </p:spPr>
        <p:txBody>
          <a:bodyPr wrap="square" lIns="0" tIns="0" rIns="0" bIns="0" rtlCol="0" anchor="t"/>
          <a:lstStyle/>
          <a:p>
            <a:pPr marL="0" indent="0">
              <a:buNone/>
            </a:pPr>
            <a:r>
              <a:rPr lang="en-US" sz="2500" b="1" dirty="0">
                <a:solidFill>
                  <a:srgbClr val="0B3B75"/>
                </a:solidFill>
                <a:latin typeface="Calibri" pitchFamily="34" charset="0"/>
                <a:ea typeface="Calibri" pitchFamily="34" charset="-122"/>
                <a:cs typeface="Calibri" pitchFamily="34" charset="-120"/>
              </a:rPr>
              <a:t>KẾT QUẢ ĐẠT ĐƯỢC VÀ GIÁ TRỊ ỨNG DỤNG THỰC TIỄN</a:t>
            </a:r>
            <a:endParaRPr lang="en-US" sz="2500" dirty="0"/>
          </a:p>
        </p:txBody>
      </p:sp>
      <p:sp>
        <p:nvSpPr>
          <p:cNvPr id="5" name="Text 3"/>
          <p:cNvSpPr txBox="1"/>
          <p:nvPr/>
        </p:nvSpPr>
        <p:spPr>
          <a:xfrm>
            <a:off x="548640" y="6419088"/>
            <a:ext cx="8778240" cy="237744"/>
          </a:xfrm>
          <a:prstGeom prst="rect">
            <a:avLst/>
          </a:prstGeom>
          <a:noFill/>
          <a:ln/>
        </p:spPr>
        <p:txBody>
          <a:bodyPr wrap="square" lIns="0" tIns="0" rIns="0" bIns="0" rtlCol="0" anchor="t"/>
          <a:lstStyle/>
          <a:p>
            <a:pPr marL="0" indent="0">
              <a:buNone/>
            </a:pPr>
            <a:r>
              <a:rPr lang="en-US" sz="850" dirty="0">
                <a:solidFill>
                  <a:srgbClr val="6E7A88"/>
                </a:solidFill>
                <a:latin typeface="Calibri" pitchFamily="34" charset="0"/>
                <a:ea typeface="Calibri" pitchFamily="34" charset="-122"/>
                <a:cs typeface="Calibri" pitchFamily="34" charset="-120"/>
              </a:rPr>
              <a:t>HỆ THỐNG QUẢN TRỊ QUY TRÌNH NGHIỆP VỤ  ·  SACOMBANK — QUY TRÌNH PYC</a:t>
            </a:r>
            <a:endParaRPr lang="en-US" sz="850" dirty="0"/>
          </a:p>
        </p:txBody>
      </p:sp>
      <p:sp>
        <p:nvSpPr>
          <p:cNvPr id="6" name="Text 4"/>
          <p:cNvSpPr txBox="1"/>
          <p:nvPr/>
        </p:nvSpPr>
        <p:spPr>
          <a:xfrm>
            <a:off x="11155680" y="6382512"/>
            <a:ext cx="484632" cy="274320"/>
          </a:xfrm>
          <a:prstGeom prst="rect">
            <a:avLst/>
          </a:prstGeom>
          <a:noFill/>
          <a:ln/>
        </p:spPr>
        <p:txBody>
          <a:bodyPr wrap="square" lIns="0" tIns="0" rIns="0" bIns="0" rtlCol="0" anchor="t"/>
          <a:lstStyle/>
          <a:p>
            <a:pPr marL="0" indent="0" algn="r">
              <a:buNone/>
            </a:pPr>
            <a:r>
              <a:rPr lang="en-US" sz="1100" b="1" dirty="0">
                <a:solidFill>
                  <a:srgbClr val="A5741A"/>
                </a:solidFill>
                <a:latin typeface="Calibri" pitchFamily="34" charset="0"/>
                <a:ea typeface="Calibri" pitchFamily="34" charset="-122"/>
                <a:cs typeface="Calibri" pitchFamily="34" charset="-120"/>
              </a:rPr>
              <a:t>53</a:t>
            </a:r>
            <a:endParaRPr lang="en-US" sz="1100" dirty="0"/>
          </a:p>
        </p:txBody>
      </p:sp>
      <p:sp>
        <p:nvSpPr>
          <p:cNvPr id="7" name="Shape 5"/>
          <p:cNvSpPr/>
          <p:nvPr/>
        </p:nvSpPr>
        <p:spPr>
          <a:xfrm>
            <a:off x="548640" y="1463040"/>
            <a:ext cx="3515258" cy="1298448"/>
          </a:xfrm>
          <a:prstGeom prst="roundRect">
            <a:avLst>
              <a:gd name="adj" fmla="val 4225"/>
            </a:avLst>
          </a:prstGeom>
          <a:solidFill>
            <a:srgbClr val="EFF4FB"/>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8" name="Text 6"/>
          <p:cNvSpPr txBox="1"/>
          <p:nvPr/>
        </p:nvSpPr>
        <p:spPr>
          <a:xfrm>
            <a:off x="731520" y="1591056"/>
            <a:ext cx="731520" cy="292608"/>
          </a:xfrm>
          <a:prstGeom prst="rect">
            <a:avLst/>
          </a:prstGeom>
          <a:noFill/>
          <a:ln/>
        </p:spPr>
        <p:txBody>
          <a:bodyPr wrap="square" lIns="0" tIns="0" rIns="0" bIns="0" rtlCol="0" anchor="t"/>
          <a:lstStyle/>
          <a:p>
            <a:pPr marL="0" indent="0">
              <a:buNone/>
            </a:pPr>
            <a:r>
              <a:rPr lang="en-US" sz="1600" b="1" dirty="0">
                <a:solidFill>
                  <a:srgbClr val="1660BF"/>
                </a:solidFill>
                <a:latin typeface="Calibri" pitchFamily="34" charset="0"/>
                <a:ea typeface="Calibri" pitchFamily="34" charset="-122"/>
                <a:cs typeface="Calibri" pitchFamily="34" charset="-120"/>
              </a:rPr>
              <a:t>01</a:t>
            </a:r>
            <a:endParaRPr lang="en-US" sz="1600" dirty="0"/>
          </a:p>
        </p:txBody>
      </p:sp>
      <p:sp>
        <p:nvSpPr>
          <p:cNvPr id="9" name="Text 7"/>
          <p:cNvSpPr txBox="1"/>
          <p:nvPr/>
        </p:nvSpPr>
        <p:spPr>
          <a:xfrm>
            <a:off x="731520" y="1920240"/>
            <a:ext cx="3149498" cy="274320"/>
          </a:xfrm>
          <a:prstGeom prst="rect">
            <a:avLst/>
          </a:prstGeom>
          <a:noFill/>
          <a:ln/>
        </p:spPr>
        <p:txBody>
          <a:bodyPr wrap="square" lIns="0" tIns="0" rIns="0" bIns="0" rtlCol="0" anchor="t"/>
          <a:lstStyle/>
          <a:p>
            <a:pPr marL="0" indent="0">
              <a:buNone/>
            </a:pPr>
            <a:r>
              <a:rPr lang="en-US" sz="1150" b="1" dirty="0">
                <a:solidFill>
                  <a:srgbClr val="0B3B75"/>
                </a:solidFill>
                <a:latin typeface="Calibri" pitchFamily="34" charset="0"/>
                <a:ea typeface="Calibri" pitchFamily="34" charset="-122"/>
                <a:cs typeface="Calibri" pitchFamily="34" charset="-120"/>
              </a:rPr>
              <a:t>Hệ thống hóa kiến trúc quy trình</a:t>
            </a:r>
            <a:endParaRPr lang="en-US" sz="1150" dirty="0"/>
          </a:p>
        </p:txBody>
      </p:sp>
      <p:sp>
        <p:nvSpPr>
          <p:cNvPr id="10" name="Text 8"/>
          <p:cNvSpPr txBox="1"/>
          <p:nvPr/>
        </p:nvSpPr>
        <p:spPr>
          <a:xfrm>
            <a:off x="731520" y="2212848"/>
            <a:ext cx="3149498" cy="475488"/>
          </a:xfrm>
          <a:prstGeom prst="rect">
            <a:avLst/>
          </a:prstGeom>
          <a:noFill/>
          <a:ln/>
        </p:spPr>
        <p:txBody>
          <a:bodyPr wrap="square" lIns="0" tIns="0" rIns="0" bIns="0" rtlCol="0" anchor="t"/>
          <a:lstStyle/>
          <a:p>
            <a:pPr marL="0" indent="0">
              <a:buNone/>
            </a:pPr>
            <a:r>
              <a:rPr lang="en-US" sz="950" dirty="0">
                <a:solidFill>
                  <a:srgbClr val="6E7A88"/>
                </a:solidFill>
                <a:latin typeface="Calibri" pitchFamily="34" charset="0"/>
                <a:ea typeface="Calibri" pitchFamily="34" charset="-122"/>
                <a:cs typeface="Calibri" pitchFamily="34" charset="-120"/>
              </a:rPr>
              <a:t>Danh mục 10 quy trình CNTT thuộc ba nhóm Quản lý – Cốt lõi – Hỗ trợ và quan hệ tương hỗ ba tầng.</a:t>
            </a:r>
            <a:endParaRPr lang="en-US" sz="950" dirty="0"/>
          </a:p>
        </p:txBody>
      </p:sp>
      <p:sp>
        <p:nvSpPr>
          <p:cNvPr id="11" name="Shape 9"/>
          <p:cNvSpPr/>
          <p:nvPr/>
        </p:nvSpPr>
        <p:spPr>
          <a:xfrm>
            <a:off x="4338218" y="1463040"/>
            <a:ext cx="3515258" cy="1298448"/>
          </a:xfrm>
          <a:prstGeom prst="roundRect">
            <a:avLst>
              <a:gd name="adj" fmla="val 4225"/>
            </a:avLst>
          </a:prstGeom>
          <a:solidFill>
            <a:srgbClr val="EFF4FB"/>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12" name="Text 10"/>
          <p:cNvSpPr txBox="1"/>
          <p:nvPr/>
        </p:nvSpPr>
        <p:spPr>
          <a:xfrm>
            <a:off x="4521098" y="1591056"/>
            <a:ext cx="731520" cy="292608"/>
          </a:xfrm>
          <a:prstGeom prst="rect">
            <a:avLst/>
          </a:prstGeom>
          <a:noFill/>
          <a:ln/>
        </p:spPr>
        <p:txBody>
          <a:bodyPr wrap="square" lIns="0" tIns="0" rIns="0" bIns="0" rtlCol="0" anchor="t"/>
          <a:lstStyle/>
          <a:p>
            <a:pPr marL="0" indent="0">
              <a:buNone/>
            </a:pPr>
            <a:r>
              <a:rPr lang="en-US" sz="1600" b="1" dirty="0">
                <a:solidFill>
                  <a:srgbClr val="1660BF"/>
                </a:solidFill>
                <a:latin typeface="Calibri" pitchFamily="34" charset="0"/>
                <a:ea typeface="Calibri" pitchFamily="34" charset="-122"/>
                <a:cs typeface="Calibri" pitchFamily="34" charset="-120"/>
              </a:rPr>
              <a:t>02</a:t>
            </a:r>
            <a:endParaRPr lang="en-US" sz="1600" dirty="0"/>
          </a:p>
        </p:txBody>
      </p:sp>
      <p:sp>
        <p:nvSpPr>
          <p:cNvPr id="13" name="Text 11"/>
          <p:cNvSpPr txBox="1"/>
          <p:nvPr/>
        </p:nvSpPr>
        <p:spPr>
          <a:xfrm>
            <a:off x="4521098" y="1920240"/>
            <a:ext cx="3149498" cy="274320"/>
          </a:xfrm>
          <a:prstGeom prst="rect">
            <a:avLst/>
          </a:prstGeom>
          <a:noFill/>
          <a:ln/>
        </p:spPr>
        <p:txBody>
          <a:bodyPr wrap="square" lIns="0" tIns="0" rIns="0" bIns="0" rtlCol="0" anchor="t"/>
          <a:lstStyle/>
          <a:p>
            <a:pPr marL="0" indent="0">
              <a:buNone/>
            </a:pPr>
            <a:r>
              <a:rPr lang="en-US" sz="1150" b="1" dirty="0">
                <a:solidFill>
                  <a:srgbClr val="0B3B75"/>
                </a:solidFill>
                <a:latin typeface="Calibri" pitchFamily="34" charset="0"/>
                <a:ea typeface="Calibri" pitchFamily="34" charset="-122"/>
                <a:cs typeface="Calibri" pitchFamily="34" charset="-120"/>
              </a:rPr>
              <a:t>Mô hình hóa 06 quy trình bằng BPMN 2.0</a:t>
            </a:r>
            <a:endParaRPr lang="en-US" sz="1150" dirty="0"/>
          </a:p>
        </p:txBody>
      </p:sp>
      <p:sp>
        <p:nvSpPr>
          <p:cNvPr id="14" name="Text 12"/>
          <p:cNvSpPr txBox="1"/>
          <p:nvPr/>
        </p:nvSpPr>
        <p:spPr>
          <a:xfrm>
            <a:off x="4521098" y="2212848"/>
            <a:ext cx="3149498" cy="475488"/>
          </a:xfrm>
          <a:prstGeom prst="rect">
            <a:avLst/>
          </a:prstGeom>
          <a:noFill/>
          <a:ln/>
        </p:spPr>
        <p:txBody>
          <a:bodyPr wrap="square" lIns="0" tIns="0" rIns="0" bIns="0" rtlCol="0" anchor="t"/>
          <a:lstStyle/>
          <a:p>
            <a:pPr marL="0" indent="0">
              <a:buNone/>
            </a:pPr>
            <a:r>
              <a:rPr lang="en-US" sz="950" dirty="0">
                <a:solidFill>
                  <a:srgbClr val="6E7A88"/>
                </a:solidFill>
                <a:latin typeface="Calibri" pitchFamily="34" charset="0"/>
                <a:ea typeface="Calibri" pitchFamily="34" charset="-122"/>
                <a:cs typeface="Calibri" pitchFamily="34" charset="-120"/>
              </a:rPr>
              <a:t>Hiện trạng AS-IS với đầy đủ pool, lane, gateway, task, event và message flow liên pool.</a:t>
            </a:r>
            <a:endParaRPr lang="en-US" sz="950" dirty="0"/>
          </a:p>
        </p:txBody>
      </p:sp>
      <p:sp>
        <p:nvSpPr>
          <p:cNvPr id="15" name="Shape 13"/>
          <p:cNvSpPr/>
          <p:nvPr/>
        </p:nvSpPr>
        <p:spPr>
          <a:xfrm>
            <a:off x="8127797" y="1463040"/>
            <a:ext cx="3515258" cy="1298448"/>
          </a:xfrm>
          <a:prstGeom prst="roundRect">
            <a:avLst>
              <a:gd name="adj" fmla="val 4225"/>
            </a:avLst>
          </a:prstGeom>
          <a:solidFill>
            <a:srgbClr val="EFF4FB"/>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16" name="Text 14"/>
          <p:cNvSpPr txBox="1"/>
          <p:nvPr/>
        </p:nvSpPr>
        <p:spPr>
          <a:xfrm>
            <a:off x="8310677" y="1591056"/>
            <a:ext cx="731520" cy="292608"/>
          </a:xfrm>
          <a:prstGeom prst="rect">
            <a:avLst/>
          </a:prstGeom>
          <a:noFill/>
          <a:ln/>
        </p:spPr>
        <p:txBody>
          <a:bodyPr wrap="square" lIns="0" tIns="0" rIns="0" bIns="0" rtlCol="0" anchor="t"/>
          <a:lstStyle/>
          <a:p>
            <a:pPr marL="0" indent="0">
              <a:buNone/>
            </a:pPr>
            <a:r>
              <a:rPr lang="en-US" sz="1600" b="1" dirty="0">
                <a:solidFill>
                  <a:srgbClr val="1660BF"/>
                </a:solidFill>
                <a:latin typeface="Calibri" pitchFamily="34" charset="0"/>
                <a:ea typeface="Calibri" pitchFamily="34" charset="-122"/>
                <a:cs typeface="Calibri" pitchFamily="34" charset="-120"/>
              </a:rPr>
              <a:t>03</a:t>
            </a:r>
            <a:endParaRPr lang="en-US" sz="1600" dirty="0"/>
          </a:p>
        </p:txBody>
      </p:sp>
      <p:sp>
        <p:nvSpPr>
          <p:cNvPr id="17" name="Text 15"/>
          <p:cNvSpPr txBox="1"/>
          <p:nvPr/>
        </p:nvSpPr>
        <p:spPr>
          <a:xfrm>
            <a:off x="8310677" y="1920240"/>
            <a:ext cx="3149498" cy="274320"/>
          </a:xfrm>
          <a:prstGeom prst="rect">
            <a:avLst/>
          </a:prstGeom>
          <a:noFill/>
          <a:ln/>
        </p:spPr>
        <p:txBody>
          <a:bodyPr wrap="square" lIns="0" tIns="0" rIns="0" bIns="0" rtlCol="0" anchor="t"/>
          <a:lstStyle/>
          <a:p>
            <a:pPr marL="0" indent="0">
              <a:buNone/>
            </a:pPr>
            <a:r>
              <a:rPr lang="en-US" sz="1150" b="1" dirty="0">
                <a:solidFill>
                  <a:srgbClr val="0B3B75"/>
                </a:solidFill>
                <a:latin typeface="Calibri" pitchFamily="34" charset="0"/>
                <a:ea typeface="Calibri" pitchFamily="34" charset="-122"/>
                <a:cs typeface="Calibri" pitchFamily="34" charset="-120"/>
              </a:rPr>
              <a:t>Chuẩn hóa Process Discovery</a:t>
            </a:r>
            <a:endParaRPr lang="en-US" sz="1150" dirty="0"/>
          </a:p>
        </p:txBody>
      </p:sp>
      <p:sp>
        <p:nvSpPr>
          <p:cNvPr id="18" name="Text 16"/>
          <p:cNvSpPr txBox="1"/>
          <p:nvPr/>
        </p:nvSpPr>
        <p:spPr>
          <a:xfrm>
            <a:off x="8310677" y="2212848"/>
            <a:ext cx="3149498" cy="475488"/>
          </a:xfrm>
          <a:prstGeom prst="rect">
            <a:avLst/>
          </a:prstGeom>
          <a:noFill/>
          <a:ln/>
        </p:spPr>
        <p:txBody>
          <a:bodyPr wrap="square" lIns="0" tIns="0" rIns="0" bIns="0" rtlCol="0" anchor="t"/>
          <a:lstStyle/>
          <a:p>
            <a:pPr marL="0" indent="0">
              <a:buNone/>
            </a:pPr>
            <a:r>
              <a:rPr lang="en-US" sz="950" dirty="0">
                <a:solidFill>
                  <a:srgbClr val="6E7A88"/>
                </a:solidFill>
                <a:latin typeface="Calibri" pitchFamily="34" charset="0"/>
                <a:ea typeface="Calibri" pitchFamily="34" charset="-122"/>
                <a:cs typeface="Calibri" pitchFamily="34" charset="-120"/>
              </a:rPr>
              <a:t>Kết hợp bằng chứng và phỏng vấn với bộ 20 câu hỏi (10 định tính + 10 định lượng) cho 4 nhóm đối tượng.</a:t>
            </a:r>
            <a:endParaRPr lang="en-US" sz="950" dirty="0"/>
          </a:p>
        </p:txBody>
      </p:sp>
      <p:sp>
        <p:nvSpPr>
          <p:cNvPr id="19" name="Shape 17"/>
          <p:cNvSpPr/>
          <p:nvPr/>
        </p:nvSpPr>
        <p:spPr>
          <a:xfrm>
            <a:off x="548640" y="2926080"/>
            <a:ext cx="3515258" cy="1298448"/>
          </a:xfrm>
          <a:prstGeom prst="roundRect">
            <a:avLst>
              <a:gd name="adj" fmla="val 4225"/>
            </a:avLst>
          </a:prstGeom>
          <a:solidFill>
            <a:srgbClr val="EFF4FB"/>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20" name="Text 18"/>
          <p:cNvSpPr txBox="1"/>
          <p:nvPr/>
        </p:nvSpPr>
        <p:spPr>
          <a:xfrm>
            <a:off x="731520" y="3054096"/>
            <a:ext cx="731520" cy="292608"/>
          </a:xfrm>
          <a:prstGeom prst="rect">
            <a:avLst/>
          </a:prstGeom>
          <a:noFill/>
          <a:ln/>
        </p:spPr>
        <p:txBody>
          <a:bodyPr wrap="square" lIns="0" tIns="0" rIns="0" bIns="0" rtlCol="0" anchor="t"/>
          <a:lstStyle/>
          <a:p>
            <a:pPr marL="0" indent="0">
              <a:buNone/>
            </a:pPr>
            <a:r>
              <a:rPr lang="en-US" sz="1600" b="1" dirty="0">
                <a:solidFill>
                  <a:srgbClr val="1660BF"/>
                </a:solidFill>
                <a:latin typeface="Calibri" pitchFamily="34" charset="0"/>
                <a:ea typeface="Calibri" pitchFamily="34" charset="-122"/>
                <a:cs typeface="Calibri" pitchFamily="34" charset="-120"/>
              </a:rPr>
              <a:t>04</a:t>
            </a:r>
            <a:endParaRPr lang="en-US" sz="1600" dirty="0"/>
          </a:p>
        </p:txBody>
      </p:sp>
      <p:sp>
        <p:nvSpPr>
          <p:cNvPr id="21" name="Text 19"/>
          <p:cNvSpPr txBox="1"/>
          <p:nvPr/>
        </p:nvSpPr>
        <p:spPr>
          <a:xfrm>
            <a:off x="731520" y="3383280"/>
            <a:ext cx="3149498" cy="274320"/>
          </a:xfrm>
          <a:prstGeom prst="rect">
            <a:avLst/>
          </a:prstGeom>
          <a:noFill/>
          <a:ln/>
        </p:spPr>
        <p:txBody>
          <a:bodyPr wrap="square" lIns="0" tIns="0" rIns="0" bIns="0" rtlCol="0" anchor="t"/>
          <a:lstStyle/>
          <a:p>
            <a:pPr marL="0" indent="0">
              <a:buNone/>
            </a:pPr>
            <a:r>
              <a:rPr lang="en-US" sz="1150" b="1" dirty="0">
                <a:solidFill>
                  <a:srgbClr val="0B3B75"/>
                </a:solidFill>
                <a:latin typeface="Calibri" pitchFamily="34" charset="0"/>
                <a:ea typeface="Calibri" pitchFamily="34" charset="-122"/>
                <a:cs typeface="Calibri" pitchFamily="34" charset="-120"/>
              </a:rPr>
              <a:t>Phân tích định tính</a:t>
            </a:r>
            <a:endParaRPr lang="en-US" sz="1150" dirty="0"/>
          </a:p>
        </p:txBody>
      </p:sp>
      <p:sp>
        <p:nvSpPr>
          <p:cNvPr id="22" name="Text 20"/>
          <p:cNvSpPr txBox="1"/>
          <p:nvPr/>
        </p:nvSpPr>
        <p:spPr>
          <a:xfrm>
            <a:off x="731520" y="3675888"/>
            <a:ext cx="3149498" cy="475488"/>
          </a:xfrm>
          <a:prstGeom prst="rect">
            <a:avLst/>
          </a:prstGeom>
          <a:noFill/>
          <a:ln/>
        </p:spPr>
        <p:txBody>
          <a:bodyPr wrap="square" lIns="0" tIns="0" rIns="0" bIns="0" rtlCol="0" anchor="t"/>
          <a:lstStyle/>
          <a:p>
            <a:pPr marL="0" indent="0">
              <a:buNone/>
            </a:pPr>
            <a:r>
              <a:rPr lang="en-US" sz="950" dirty="0">
                <a:solidFill>
                  <a:srgbClr val="6E7A88"/>
                </a:solidFill>
                <a:latin typeface="Calibri" pitchFamily="34" charset="0"/>
                <a:ea typeface="Calibri" pitchFamily="34" charset="-122"/>
                <a:cs typeface="Calibri" pitchFamily="34" charset="-120"/>
              </a:rPr>
              <a:t>Khung VA/NVA/VBA và ba loại lãng phí Move – Hold – Overdo; xác định 4 nhóm nguyên nhân gốc rễ.</a:t>
            </a:r>
            <a:endParaRPr lang="en-US" sz="950" dirty="0"/>
          </a:p>
        </p:txBody>
      </p:sp>
      <p:sp>
        <p:nvSpPr>
          <p:cNvPr id="23" name="Shape 21"/>
          <p:cNvSpPr/>
          <p:nvPr/>
        </p:nvSpPr>
        <p:spPr>
          <a:xfrm>
            <a:off x="4338218" y="2926080"/>
            <a:ext cx="3515258" cy="1298448"/>
          </a:xfrm>
          <a:prstGeom prst="roundRect">
            <a:avLst>
              <a:gd name="adj" fmla="val 4225"/>
            </a:avLst>
          </a:prstGeom>
          <a:solidFill>
            <a:srgbClr val="EFF4FB"/>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24" name="Text 22"/>
          <p:cNvSpPr txBox="1"/>
          <p:nvPr/>
        </p:nvSpPr>
        <p:spPr>
          <a:xfrm>
            <a:off x="4521098" y="3054096"/>
            <a:ext cx="731520" cy="292608"/>
          </a:xfrm>
          <a:prstGeom prst="rect">
            <a:avLst/>
          </a:prstGeom>
          <a:noFill/>
          <a:ln/>
        </p:spPr>
        <p:txBody>
          <a:bodyPr wrap="square" lIns="0" tIns="0" rIns="0" bIns="0" rtlCol="0" anchor="t"/>
          <a:lstStyle/>
          <a:p>
            <a:pPr marL="0" indent="0">
              <a:buNone/>
            </a:pPr>
            <a:r>
              <a:rPr lang="en-US" sz="1600" b="1" dirty="0">
                <a:solidFill>
                  <a:srgbClr val="1660BF"/>
                </a:solidFill>
                <a:latin typeface="Calibri" pitchFamily="34" charset="0"/>
                <a:ea typeface="Calibri" pitchFamily="34" charset="-122"/>
                <a:cs typeface="Calibri" pitchFamily="34" charset="-120"/>
              </a:rPr>
              <a:t>05</a:t>
            </a:r>
            <a:endParaRPr lang="en-US" sz="1600" dirty="0"/>
          </a:p>
        </p:txBody>
      </p:sp>
      <p:sp>
        <p:nvSpPr>
          <p:cNvPr id="25" name="Text 23"/>
          <p:cNvSpPr txBox="1"/>
          <p:nvPr/>
        </p:nvSpPr>
        <p:spPr>
          <a:xfrm>
            <a:off x="4521098" y="3383280"/>
            <a:ext cx="3149498" cy="274320"/>
          </a:xfrm>
          <a:prstGeom prst="rect">
            <a:avLst/>
          </a:prstGeom>
          <a:noFill/>
          <a:ln/>
        </p:spPr>
        <p:txBody>
          <a:bodyPr wrap="square" lIns="0" tIns="0" rIns="0" bIns="0" rtlCol="0" anchor="t"/>
          <a:lstStyle/>
          <a:p>
            <a:pPr marL="0" indent="0">
              <a:buNone/>
            </a:pPr>
            <a:r>
              <a:rPr lang="en-US" sz="1150" b="1" dirty="0">
                <a:solidFill>
                  <a:srgbClr val="0B3B75"/>
                </a:solidFill>
                <a:latin typeface="Calibri" pitchFamily="34" charset="0"/>
                <a:ea typeface="Calibri" pitchFamily="34" charset="-122"/>
                <a:cs typeface="Calibri" pitchFamily="34" charset="-120"/>
              </a:rPr>
              <a:t>Phân tích định lượng</a:t>
            </a:r>
            <a:endParaRPr lang="en-US" sz="1150" dirty="0"/>
          </a:p>
        </p:txBody>
      </p:sp>
      <p:sp>
        <p:nvSpPr>
          <p:cNvPr id="26" name="Text 24"/>
          <p:cNvSpPr txBox="1"/>
          <p:nvPr/>
        </p:nvSpPr>
        <p:spPr>
          <a:xfrm>
            <a:off x="4521098" y="3675888"/>
            <a:ext cx="3149498" cy="475488"/>
          </a:xfrm>
          <a:prstGeom prst="rect">
            <a:avLst/>
          </a:prstGeom>
          <a:noFill/>
          <a:ln/>
        </p:spPr>
        <p:txBody>
          <a:bodyPr wrap="square" lIns="0" tIns="0" rIns="0" bIns="0" rtlCol="0" anchor="t"/>
          <a:lstStyle/>
          <a:p>
            <a:pPr marL="0" indent="0">
              <a:buNone/>
            </a:pPr>
            <a:r>
              <a:rPr lang="en-US" sz="950" dirty="0">
                <a:solidFill>
                  <a:srgbClr val="6E7A88"/>
                </a:solidFill>
                <a:latin typeface="Calibri" pitchFamily="34" charset="0"/>
                <a:ea typeface="Calibri" pitchFamily="34" charset="-122"/>
                <a:cs typeface="Calibri" pitchFamily="34" charset="-120"/>
              </a:rPr>
              <a:t>Thời gian kỳ vọng PYC 5,775 giờ và Incident 2,96 giờ; tỷ lệ vi phạm SLA 5–10%, rework 20–50%.</a:t>
            </a:r>
            <a:endParaRPr lang="en-US" sz="950" dirty="0"/>
          </a:p>
        </p:txBody>
      </p:sp>
      <p:sp>
        <p:nvSpPr>
          <p:cNvPr id="27" name="Shape 25"/>
          <p:cNvSpPr/>
          <p:nvPr/>
        </p:nvSpPr>
        <p:spPr>
          <a:xfrm>
            <a:off x="8127797" y="2926080"/>
            <a:ext cx="3515258" cy="1298448"/>
          </a:xfrm>
          <a:prstGeom prst="roundRect">
            <a:avLst>
              <a:gd name="adj" fmla="val 4225"/>
            </a:avLst>
          </a:prstGeom>
          <a:solidFill>
            <a:srgbClr val="EFF4FB"/>
          </a:solidFill>
          <a:ln w="9525">
            <a:solidFill>
              <a:srgbClr val="D8E1EC"/>
            </a:solidFill>
            <a:prstDash val="solid"/>
          </a:ln>
          <a:effectLst>
            <a:outerShdw blurRad="101600" dist="19050" dir="5400000" algn="bl" rotWithShape="0">
              <a:srgbClr val="9AAFC6">
                <a:alpha val="16000"/>
              </a:srgbClr>
            </a:outerShdw>
          </a:effectLst>
        </p:spPr>
        <p:txBody>
          <a:bodyPr/>
          <a:lstStyle/>
          <a:p>
            <a:endParaRPr lang="en-US"/>
          </a:p>
        </p:txBody>
      </p:sp>
      <p:sp>
        <p:nvSpPr>
          <p:cNvPr id="28" name="Text 26"/>
          <p:cNvSpPr txBox="1"/>
          <p:nvPr/>
        </p:nvSpPr>
        <p:spPr>
          <a:xfrm>
            <a:off x="8310677" y="3054096"/>
            <a:ext cx="731520" cy="292608"/>
          </a:xfrm>
          <a:prstGeom prst="rect">
            <a:avLst/>
          </a:prstGeom>
          <a:noFill/>
          <a:ln/>
        </p:spPr>
        <p:txBody>
          <a:bodyPr wrap="square" lIns="0" tIns="0" rIns="0" bIns="0" rtlCol="0" anchor="t"/>
          <a:lstStyle/>
          <a:p>
            <a:pPr marL="0" indent="0">
              <a:buNone/>
            </a:pPr>
            <a:r>
              <a:rPr lang="en-US" sz="1600" b="1" dirty="0">
                <a:solidFill>
                  <a:srgbClr val="1660BF"/>
                </a:solidFill>
                <a:latin typeface="Calibri" pitchFamily="34" charset="0"/>
                <a:ea typeface="Calibri" pitchFamily="34" charset="-122"/>
                <a:cs typeface="Calibri" pitchFamily="34" charset="-120"/>
              </a:rPr>
              <a:t>06</a:t>
            </a:r>
            <a:endParaRPr lang="en-US" sz="1600" dirty="0"/>
          </a:p>
        </p:txBody>
      </p:sp>
      <p:sp>
        <p:nvSpPr>
          <p:cNvPr id="29" name="Text 27"/>
          <p:cNvSpPr txBox="1"/>
          <p:nvPr/>
        </p:nvSpPr>
        <p:spPr>
          <a:xfrm>
            <a:off x="8310677" y="3383280"/>
            <a:ext cx="3149498" cy="274320"/>
          </a:xfrm>
          <a:prstGeom prst="rect">
            <a:avLst/>
          </a:prstGeom>
          <a:noFill/>
          <a:ln/>
        </p:spPr>
        <p:txBody>
          <a:bodyPr wrap="square" lIns="0" tIns="0" rIns="0" bIns="0" rtlCol="0" anchor="t"/>
          <a:lstStyle/>
          <a:p>
            <a:pPr marL="0" indent="0">
              <a:buNone/>
            </a:pPr>
            <a:r>
              <a:rPr lang="en-US" sz="1150" b="1" dirty="0">
                <a:solidFill>
                  <a:srgbClr val="0B3B75"/>
                </a:solidFill>
                <a:latin typeface="Calibri" pitchFamily="34" charset="0"/>
                <a:ea typeface="Calibri" pitchFamily="34" charset="-122"/>
                <a:cs typeface="Calibri" pitchFamily="34" charset="-120"/>
              </a:rPr>
              <a:t>Xây dựng mô hình TO-BE</a:t>
            </a:r>
            <a:endParaRPr lang="en-US" sz="1150" dirty="0"/>
          </a:p>
        </p:txBody>
      </p:sp>
      <p:sp>
        <p:nvSpPr>
          <p:cNvPr id="30" name="Text 28"/>
          <p:cNvSpPr txBox="1"/>
          <p:nvPr/>
        </p:nvSpPr>
        <p:spPr>
          <a:xfrm>
            <a:off x="8310677" y="3675888"/>
            <a:ext cx="3149498" cy="475488"/>
          </a:xfrm>
          <a:prstGeom prst="rect">
            <a:avLst/>
          </a:prstGeom>
          <a:noFill/>
          <a:ln/>
        </p:spPr>
        <p:txBody>
          <a:bodyPr wrap="square" lIns="0" tIns="0" rIns="0" bIns="0" rtlCol="0" anchor="t"/>
          <a:lstStyle/>
          <a:p>
            <a:pPr marL="0" indent="0">
              <a:buNone/>
            </a:pPr>
            <a:r>
              <a:rPr lang="en-US" sz="950" dirty="0">
                <a:solidFill>
                  <a:srgbClr val="6E7A88"/>
                </a:solidFill>
                <a:latin typeface="Calibri" pitchFamily="34" charset="0"/>
                <a:ea typeface="Calibri" pitchFamily="34" charset="-122"/>
                <a:cs typeface="Calibri" pitchFamily="34" charset="-120"/>
              </a:rPr>
              <a:t>Ba giải pháp: Smart-Form, Ma trận Auto-Approval và tích hợp API ghi log bảo mật.</a:t>
            </a:r>
            <a:endParaRPr lang="en-US" sz="950" dirty="0"/>
          </a:p>
        </p:txBody>
      </p:sp>
      <p:sp>
        <p:nvSpPr>
          <p:cNvPr id="31" name="Shape 29"/>
          <p:cNvSpPr/>
          <p:nvPr/>
        </p:nvSpPr>
        <p:spPr>
          <a:xfrm>
            <a:off x="548640" y="4443984"/>
            <a:ext cx="11094415" cy="1371600"/>
          </a:xfrm>
          <a:prstGeom prst="roundRect">
            <a:avLst>
              <a:gd name="adj" fmla="val 4000"/>
            </a:avLst>
          </a:prstGeom>
          <a:solidFill>
            <a:srgbClr val="0B3B75"/>
          </a:solidFill>
          <a:ln w="9525">
            <a:solidFill>
              <a:srgbClr val="0B3B75"/>
            </a:solidFill>
            <a:prstDash val="solid"/>
          </a:ln>
          <a:effectLst>
            <a:outerShdw blurRad="101600" dist="19050" dir="5400000" algn="bl" rotWithShape="0">
              <a:srgbClr val="9AAFC6">
                <a:alpha val="16000"/>
              </a:srgbClr>
            </a:outerShdw>
          </a:effectLst>
        </p:spPr>
        <p:txBody>
          <a:bodyPr/>
          <a:lstStyle/>
          <a:p>
            <a:endParaRPr lang="en-US"/>
          </a:p>
        </p:txBody>
      </p:sp>
      <p:sp>
        <p:nvSpPr>
          <p:cNvPr id="32" name="Text 30"/>
          <p:cNvSpPr txBox="1"/>
          <p:nvPr/>
        </p:nvSpPr>
        <p:spPr>
          <a:xfrm>
            <a:off x="804672" y="4608576"/>
            <a:ext cx="10582351" cy="274320"/>
          </a:xfrm>
          <a:prstGeom prst="rect">
            <a:avLst/>
          </a:prstGeom>
          <a:noFill/>
          <a:ln/>
        </p:spPr>
        <p:txBody>
          <a:bodyPr wrap="square" lIns="0" tIns="0" rIns="0" bIns="0" rtlCol="0" anchor="t"/>
          <a:lstStyle/>
          <a:p>
            <a:pPr marL="0" indent="0">
              <a:buNone/>
            </a:pPr>
            <a:r>
              <a:rPr lang="en-US" sz="1200" b="1" kern="0" spc="80" dirty="0">
                <a:solidFill>
                  <a:srgbClr val="D9A227"/>
                </a:solidFill>
                <a:latin typeface="Calibri" pitchFamily="34" charset="0"/>
                <a:ea typeface="Calibri" pitchFamily="34" charset="-122"/>
                <a:cs typeface="Calibri" pitchFamily="34" charset="-120"/>
              </a:rPr>
              <a:t>GIÁ TRỊ ỨNG DỤNG THỰC TIỄN CHO KHỐI CNTT SACOMBANK</a:t>
            </a:r>
            <a:endParaRPr lang="en-US" sz="1200" dirty="0"/>
          </a:p>
        </p:txBody>
      </p:sp>
      <p:sp>
        <p:nvSpPr>
          <p:cNvPr id="33" name="Text 31"/>
          <p:cNvSpPr txBox="1"/>
          <p:nvPr/>
        </p:nvSpPr>
        <p:spPr>
          <a:xfrm>
            <a:off x="804672" y="4919472"/>
            <a:ext cx="10582351" cy="786384"/>
          </a:xfrm>
          <a:prstGeom prst="rect">
            <a:avLst/>
          </a:prstGeom>
          <a:noFill/>
          <a:ln/>
        </p:spPr>
        <p:txBody>
          <a:bodyPr wrap="square" lIns="0" tIns="0" rIns="0" bIns="0" rtlCol="0" anchor="t"/>
          <a:lstStyle/>
          <a:p>
            <a:pPr marL="0" indent="0">
              <a:buNone/>
            </a:pPr>
            <a:r>
              <a:rPr lang="en-US" sz="1150" dirty="0">
                <a:solidFill>
                  <a:srgbClr val="FFFFFF"/>
                </a:solidFill>
                <a:latin typeface="Calibri" pitchFamily="34" charset="0"/>
                <a:ea typeface="Calibri" pitchFamily="34" charset="-122"/>
                <a:cs typeface="Calibri" pitchFamily="34" charset="-120"/>
              </a:rPr>
              <a:t>Nếu được triển khai, mô hình TO-BE hứa hẹn rút ngắn đáng kể thời gian chờ đợi (Lead Time), tối ưu hóa nguồn lực (VBA) của cấp quản lý và nâng cao mức độ hài lòng (CSAT) của người dùng nội bộ. Việc chuẩn hóa và tự động hóa quy trình PYC còn là bước đệm đóng góp trực tiếp vào chiến lược Chuyển đổi số toàn diện mà Khối CNTT Sacombank đang hướng tới.</a:t>
            </a:r>
            <a:endParaRPr lang="en-US" sz="115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65760"/>
            <a:ext cx="123444" cy="123444"/>
          </a:xfrm>
          <a:prstGeom prst="ellipse">
            <a:avLst/>
          </a:prstGeom>
          <a:solidFill>
            <a:srgbClr val="D9A227"/>
          </a:solidFill>
          <a:ln w="12700">
            <a:solidFill>
              <a:srgbClr val="D9A227"/>
            </a:solidFill>
            <a:prstDash val="solid"/>
          </a:ln>
        </p:spPr>
        <p:txBody>
          <a:bodyPr/>
          <a:lstStyle/>
          <a:p>
            <a:endParaRPr lang="en-US"/>
          </a:p>
        </p:txBody>
      </p:sp>
      <p:sp>
        <p:nvSpPr>
          <p:cNvPr id="3" name="Text 1"/>
          <p:cNvSpPr txBox="1"/>
          <p:nvPr/>
        </p:nvSpPr>
        <p:spPr>
          <a:xfrm>
            <a:off x="804672" y="292608"/>
            <a:ext cx="10838383" cy="237744"/>
          </a:xfrm>
          <a:prstGeom prst="rect">
            <a:avLst/>
          </a:prstGeom>
          <a:noFill/>
          <a:ln/>
        </p:spPr>
        <p:txBody>
          <a:bodyPr wrap="square" lIns="0" tIns="0" rIns="0" bIns="0" rtlCol="0" anchor="t"/>
          <a:lstStyle/>
          <a:p>
            <a:pPr marL="0" indent="0">
              <a:buNone/>
            </a:pPr>
            <a:r>
              <a:rPr lang="en-US" sz="1050" b="1" kern="0" spc="120" dirty="0">
                <a:solidFill>
                  <a:srgbClr val="A5741A"/>
                </a:solidFill>
                <a:latin typeface="Calibri" pitchFamily="34" charset="0"/>
                <a:ea typeface="Calibri" pitchFamily="34" charset="-122"/>
                <a:cs typeface="Calibri" pitchFamily="34" charset="-120"/>
              </a:rPr>
              <a:t>CHƯƠNG 6 · 6.3 HẠN CHẾ VÀ HƯỚNG PHÁT TRIỂN</a:t>
            </a:r>
            <a:endParaRPr lang="en-US" sz="1050" dirty="0"/>
          </a:p>
        </p:txBody>
      </p:sp>
      <p:sp>
        <p:nvSpPr>
          <p:cNvPr id="4" name="Text 2"/>
          <p:cNvSpPr txBox="1"/>
          <p:nvPr/>
        </p:nvSpPr>
        <p:spPr>
          <a:xfrm>
            <a:off x="548640" y="566928"/>
            <a:ext cx="11094415" cy="457200"/>
          </a:xfrm>
          <a:prstGeom prst="rect">
            <a:avLst/>
          </a:prstGeom>
          <a:noFill/>
          <a:ln/>
        </p:spPr>
        <p:txBody>
          <a:bodyPr wrap="square" lIns="0" tIns="0" rIns="0" bIns="0" rtlCol="0" anchor="t"/>
          <a:lstStyle/>
          <a:p>
            <a:pPr marL="0" indent="0">
              <a:buNone/>
            </a:pPr>
            <a:r>
              <a:rPr lang="en-US" sz="2500" b="1" dirty="0">
                <a:solidFill>
                  <a:srgbClr val="0B3B75"/>
                </a:solidFill>
                <a:latin typeface="Calibri" pitchFamily="34" charset="0"/>
                <a:ea typeface="Calibri" pitchFamily="34" charset="-122"/>
                <a:cs typeface="Calibri" pitchFamily="34" charset="-120"/>
              </a:rPr>
              <a:t>HẠN CHẾ CỦA ĐỀ TÀI VÀ HƯỚNG PHÁT TRIỂN TIẾP THEO</a:t>
            </a:r>
            <a:endParaRPr lang="en-US" sz="2500" dirty="0"/>
          </a:p>
        </p:txBody>
      </p:sp>
      <p:sp>
        <p:nvSpPr>
          <p:cNvPr id="5" name="Text 3"/>
          <p:cNvSpPr txBox="1"/>
          <p:nvPr/>
        </p:nvSpPr>
        <p:spPr>
          <a:xfrm>
            <a:off x="548640" y="6419088"/>
            <a:ext cx="8778240" cy="237744"/>
          </a:xfrm>
          <a:prstGeom prst="rect">
            <a:avLst/>
          </a:prstGeom>
          <a:noFill/>
          <a:ln/>
        </p:spPr>
        <p:txBody>
          <a:bodyPr wrap="square" lIns="0" tIns="0" rIns="0" bIns="0" rtlCol="0" anchor="t"/>
          <a:lstStyle/>
          <a:p>
            <a:pPr marL="0" indent="0">
              <a:buNone/>
            </a:pPr>
            <a:r>
              <a:rPr lang="en-US" sz="850" dirty="0">
                <a:solidFill>
                  <a:srgbClr val="6E7A88"/>
                </a:solidFill>
                <a:latin typeface="Calibri" pitchFamily="34" charset="0"/>
                <a:ea typeface="Calibri" pitchFamily="34" charset="-122"/>
                <a:cs typeface="Calibri" pitchFamily="34" charset="-120"/>
              </a:rPr>
              <a:t>HỆ THỐNG QUẢN TRỊ QUY TRÌNH NGHIỆP VỤ  ·  SACOMBANK — QUY TRÌNH PYC</a:t>
            </a:r>
            <a:endParaRPr lang="en-US" sz="850" dirty="0"/>
          </a:p>
        </p:txBody>
      </p:sp>
      <p:sp>
        <p:nvSpPr>
          <p:cNvPr id="6" name="Text 4"/>
          <p:cNvSpPr txBox="1"/>
          <p:nvPr/>
        </p:nvSpPr>
        <p:spPr>
          <a:xfrm>
            <a:off x="11155680" y="6382512"/>
            <a:ext cx="484632" cy="274320"/>
          </a:xfrm>
          <a:prstGeom prst="rect">
            <a:avLst/>
          </a:prstGeom>
          <a:noFill/>
          <a:ln/>
        </p:spPr>
        <p:txBody>
          <a:bodyPr wrap="square" lIns="0" tIns="0" rIns="0" bIns="0" rtlCol="0" anchor="t"/>
          <a:lstStyle/>
          <a:p>
            <a:pPr marL="0" indent="0" algn="r">
              <a:buNone/>
            </a:pPr>
            <a:r>
              <a:rPr lang="en-US" sz="1100" b="1" dirty="0">
                <a:solidFill>
                  <a:srgbClr val="A5741A"/>
                </a:solidFill>
                <a:latin typeface="Calibri" pitchFamily="34" charset="0"/>
                <a:ea typeface="Calibri" pitchFamily="34" charset="-122"/>
                <a:cs typeface="Calibri" pitchFamily="34" charset="-120"/>
              </a:rPr>
              <a:t>54</a:t>
            </a:r>
            <a:endParaRPr lang="en-US" sz="1100" dirty="0"/>
          </a:p>
        </p:txBody>
      </p:sp>
      <p:sp>
        <p:nvSpPr>
          <p:cNvPr id="7" name="Text 5"/>
          <p:cNvSpPr txBox="1"/>
          <p:nvPr/>
        </p:nvSpPr>
        <p:spPr>
          <a:xfrm>
            <a:off x="548640" y="1371600"/>
            <a:ext cx="5486400" cy="256032"/>
          </a:xfrm>
          <a:prstGeom prst="rect">
            <a:avLst/>
          </a:prstGeom>
          <a:noFill/>
          <a:ln/>
        </p:spPr>
        <p:txBody>
          <a:bodyPr wrap="square" lIns="0" tIns="0" rIns="0" bIns="0" rtlCol="0" anchor="t"/>
          <a:lstStyle/>
          <a:p>
            <a:pPr marL="0" indent="0">
              <a:buNone/>
            </a:pPr>
            <a:r>
              <a:rPr lang="en-US" sz="1100" b="1" kern="0" spc="80" dirty="0">
                <a:solidFill>
                  <a:srgbClr val="C0392B"/>
                </a:solidFill>
                <a:latin typeface="Calibri" pitchFamily="34" charset="0"/>
                <a:ea typeface="Calibri" pitchFamily="34" charset="-122"/>
                <a:cs typeface="Calibri" pitchFamily="34" charset="-120"/>
              </a:rPr>
              <a:t>BA HẠN CHẾ CẦN LƯU Ý KHI DIỄN GIẢI KẾT QUẢ</a:t>
            </a:r>
            <a:endParaRPr lang="en-US" sz="1100" dirty="0"/>
          </a:p>
        </p:txBody>
      </p:sp>
      <p:sp>
        <p:nvSpPr>
          <p:cNvPr id="8" name="Shape 6"/>
          <p:cNvSpPr/>
          <p:nvPr/>
        </p:nvSpPr>
        <p:spPr>
          <a:xfrm>
            <a:off x="548640" y="1700784"/>
            <a:ext cx="5486400" cy="914400"/>
          </a:xfrm>
          <a:prstGeom prst="roundRect">
            <a:avLst>
              <a:gd name="adj" fmla="val 6000"/>
            </a:avLst>
          </a:prstGeom>
          <a:solidFill>
            <a:srgbClr val="FEF3F2"/>
          </a:solidFill>
          <a:ln w="9525">
            <a:solidFill>
              <a:srgbClr val="C0392B"/>
            </a:solidFill>
            <a:prstDash val="solid"/>
          </a:ln>
          <a:effectLst>
            <a:outerShdw blurRad="101600" dist="19050" dir="5400000" algn="bl" rotWithShape="0">
              <a:srgbClr val="9AAFC6">
                <a:alpha val="16000"/>
              </a:srgbClr>
            </a:outerShdw>
          </a:effectLst>
        </p:spPr>
        <p:txBody>
          <a:bodyPr/>
          <a:lstStyle/>
          <a:p>
            <a:endParaRPr lang="en-US"/>
          </a:p>
        </p:txBody>
      </p:sp>
      <p:sp>
        <p:nvSpPr>
          <p:cNvPr id="9" name="Text 7"/>
          <p:cNvSpPr txBox="1"/>
          <p:nvPr/>
        </p:nvSpPr>
        <p:spPr>
          <a:xfrm>
            <a:off x="749808" y="1792224"/>
            <a:ext cx="5120640" cy="256032"/>
          </a:xfrm>
          <a:prstGeom prst="rect">
            <a:avLst/>
          </a:prstGeom>
          <a:noFill/>
          <a:ln/>
        </p:spPr>
        <p:txBody>
          <a:bodyPr wrap="square" lIns="0" tIns="0" rIns="0" bIns="0" rtlCol="0" anchor="t"/>
          <a:lstStyle/>
          <a:p>
            <a:pPr marL="0" indent="0">
              <a:buNone/>
            </a:pPr>
            <a:r>
              <a:rPr lang="en-US" sz="1150" b="1" dirty="0">
                <a:solidFill>
                  <a:srgbClr val="0B3B75"/>
                </a:solidFill>
                <a:latin typeface="Calibri" pitchFamily="34" charset="0"/>
                <a:ea typeface="Calibri" pitchFamily="34" charset="-122"/>
                <a:cs typeface="Calibri" pitchFamily="34" charset="-120"/>
              </a:rPr>
              <a:t>Phạm vi mô hình hóa còn giới hạn</a:t>
            </a:r>
            <a:endParaRPr lang="en-US" sz="1150" dirty="0"/>
          </a:p>
        </p:txBody>
      </p:sp>
      <p:sp>
        <p:nvSpPr>
          <p:cNvPr id="10" name="Text 8"/>
          <p:cNvSpPr txBox="1"/>
          <p:nvPr/>
        </p:nvSpPr>
        <p:spPr>
          <a:xfrm>
            <a:off x="749808" y="2066544"/>
            <a:ext cx="5120640" cy="493776"/>
          </a:xfrm>
          <a:prstGeom prst="rect">
            <a:avLst/>
          </a:prstGeom>
          <a:noFill/>
          <a:ln/>
        </p:spPr>
        <p:txBody>
          <a:bodyPr wrap="square" lIns="0" tIns="0" rIns="0" bIns="0" rtlCol="0" anchor="t"/>
          <a:lstStyle/>
          <a:p>
            <a:pPr marL="0" indent="0">
              <a:buNone/>
            </a:pPr>
            <a:r>
              <a:rPr lang="en-US" sz="950" dirty="0">
                <a:solidFill>
                  <a:srgbClr val="6E7A88"/>
                </a:solidFill>
                <a:latin typeface="Calibri" pitchFamily="34" charset="0"/>
                <a:ea typeface="Calibri" pitchFamily="34" charset="-122"/>
                <a:cs typeface="Calibri" pitchFamily="34" charset="-120"/>
              </a:rPr>
              <a:t>Chỉ mô hình hóa chi tiết 06/10 quy trình; các quy trình còn lại mới dừng ở mức mô tả tổng quan.</a:t>
            </a:r>
            <a:endParaRPr lang="en-US" sz="950" dirty="0"/>
          </a:p>
        </p:txBody>
      </p:sp>
      <p:sp>
        <p:nvSpPr>
          <p:cNvPr id="11" name="Shape 9"/>
          <p:cNvSpPr/>
          <p:nvPr/>
        </p:nvSpPr>
        <p:spPr>
          <a:xfrm>
            <a:off x="548640" y="2761488"/>
            <a:ext cx="5486400" cy="914400"/>
          </a:xfrm>
          <a:prstGeom prst="roundRect">
            <a:avLst>
              <a:gd name="adj" fmla="val 6000"/>
            </a:avLst>
          </a:prstGeom>
          <a:solidFill>
            <a:srgbClr val="FEF3F2"/>
          </a:solidFill>
          <a:ln w="9525">
            <a:solidFill>
              <a:srgbClr val="C0392B"/>
            </a:solidFill>
            <a:prstDash val="solid"/>
          </a:ln>
          <a:effectLst>
            <a:outerShdw blurRad="101600" dist="19050" dir="5400000" algn="bl" rotWithShape="0">
              <a:srgbClr val="9AAFC6">
                <a:alpha val="16000"/>
              </a:srgbClr>
            </a:outerShdw>
          </a:effectLst>
        </p:spPr>
        <p:txBody>
          <a:bodyPr/>
          <a:lstStyle/>
          <a:p>
            <a:endParaRPr lang="en-US"/>
          </a:p>
        </p:txBody>
      </p:sp>
      <p:sp>
        <p:nvSpPr>
          <p:cNvPr id="12" name="Text 10"/>
          <p:cNvSpPr txBox="1"/>
          <p:nvPr/>
        </p:nvSpPr>
        <p:spPr>
          <a:xfrm>
            <a:off x="749808" y="2852928"/>
            <a:ext cx="5120640" cy="256032"/>
          </a:xfrm>
          <a:prstGeom prst="rect">
            <a:avLst/>
          </a:prstGeom>
          <a:noFill/>
          <a:ln/>
        </p:spPr>
        <p:txBody>
          <a:bodyPr wrap="square" lIns="0" tIns="0" rIns="0" bIns="0" rtlCol="0" anchor="t"/>
          <a:lstStyle/>
          <a:p>
            <a:pPr marL="0" indent="0">
              <a:buNone/>
            </a:pPr>
            <a:r>
              <a:rPr lang="en-US" sz="1150" b="1" dirty="0">
                <a:solidFill>
                  <a:srgbClr val="0B3B75"/>
                </a:solidFill>
                <a:latin typeface="Calibri" pitchFamily="34" charset="0"/>
                <a:ea typeface="Calibri" pitchFamily="34" charset="-122"/>
                <a:cs typeface="Calibri" pitchFamily="34" charset="-120"/>
              </a:rPr>
              <a:t>Số liệu định lượng chủ yếu từ khảo sát</a:t>
            </a:r>
            <a:endParaRPr lang="en-US" sz="1150" dirty="0"/>
          </a:p>
        </p:txBody>
      </p:sp>
      <p:sp>
        <p:nvSpPr>
          <p:cNvPr id="13" name="Text 11"/>
          <p:cNvSpPr txBox="1"/>
          <p:nvPr/>
        </p:nvSpPr>
        <p:spPr>
          <a:xfrm>
            <a:off x="749808" y="3127248"/>
            <a:ext cx="5120640" cy="493776"/>
          </a:xfrm>
          <a:prstGeom prst="rect">
            <a:avLst/>
          </a:prstGeom>
          <a:noFill/>
          <a:ln/>
        </p:spPr>
        <p:txBody>
          <a:bodyPr wrap="square" lIns="0" tIns="0" rIns="0" bIns="0" rtlCol="0" anchor="t"/>
          <a:lstStyle/>
          <a:p>
            <a:pPr marL="0" indent="0">
              <a:buNone/>
            </a:pPr>
            <a:r>
              <a:rPr lang="en-US" sz="950" dirty="0">
                <a:solidFill>
                  <a:srgbClr val="6E7A88"/>
                </a:solidFill>
                <a:latin typeface="Calibri" pitchFamily="34" charset="0"/>
                <a:ea typeface="Calibri" pitchFamily="34" charset="-122"/>
                <a:cs typeface="Calibri" pitchFamily="34" charset="-120"/>
              </a:rPr>
              <a:t>Thời gian chờ duyệt, tỷ lệ trễ SLA và tỷ lệ rework tổng hợp qua phỏng vấn, chưa đối chiếu đầy đủ với dữ liệu xuất trực tiếp từ hệ thống ITSM trong thời gian dài.</a:t>
            </a:r>
            <a:endParaRPr lang="en-US" sz="950" dirty="0"/>
          </a:p>
        </p:txBody>
      </p:sp>
      <p:sp>
        <p:nvSpPr>
          <p:cNvPr id="14" name="Shape 12"/>
          <p:cNvSpPr/>
          <p:nvPr/>
        </p:nvSpPr>
        <p:spPr>
          <a:xfrm>
            <a:off x="548640" y="3822192"/>
            <a:ext cx="5486400" cy="914400"/>
          </a:xfrm>
          <a:prstGeom prst="roundRect">
            <a:avLst>
              <a:gd name="adj" fmla="val 6000"/>
            </a:avLst>
          </a:prstGeom>
          <a:solidFill>
            <a:srgbClr val="FEF3F2"/>
          </a:solidFill>
          <a:ln w="9525">
            <a:solidFill>
              <a:srgbClr val="C0392B"/>
            </a:solidFill>
            <a:prstDash val="solid"/>
          </a:ln>
          <a:effectLst>
            <a:outerShdw blurRad="101600" dist="19050" dir="5400000" algn="bl" rotWithShape="0">
              <a:srgbClr val="9AAFC6">
                <a:alpha val="16000"/>
              </a:srgbClr>
            </a:outerShdw>
          </a:effectLst>
        </p:spPr>
        <p:txBody>
          <a:bodyPr/>
          <a:lstStyle/>
          <a:p>
            <a:endParaRPr lang="en-US"/>
          </a:p>
        </p:txBody>
      </p:sp>
      <p:sp>
        <p:nvSpPr>
          <p:cNvPr id="15" name="Text 13"/>
          <p:cNvSpPr txBox="1"/>
          <p:nvPr/>
        </p:nvSpPr>
        <p:spPr>
          <a:xfrm>
            <a:off x="749808" y="3913632"/>
            <a:ext cx="5120640" cy="256032"/>
          </a:xfrm>
          <a:prstGeom prst="rect">
            <a:avLst/>
          </a:prstGeom>
          <a:noFill/>
          <a:ln/>
        </p:spPr>
        <p:txBody>
          <a:bodyPr wrap="square" lIns="0" tIns="0" rIns="0" bIns="0" rtlCol="0" anchor="t"/>
          <a:lstStyle/>
          <a:p>
            <a:pPr marL="0" indent="0">
              <a:buNone/>
            </a:pPr>
            <a:r>
              <a:rPr lang="en-US" sz="1150" b="1" dirty="0">
                <a:solidFill>
                  <a:srgbClr val="0B3B75"/>
                </a:solidFill>
                <a:latin typeface="Calibri" pitchFamily="34" charset="0"/>
                <a:ea typeface="Calibri" pitchFamily="34" charset="-122"/>
                <a:cs typeface="Calibri" pitchFamily="34" charset="-120"/>
              </a:rPr>
              <a:t>TO-BE mới ở mức thiết kế</a:t>
            </a:r>
            <a:endParaRPr lang="en-US" sz="1150" dirty="0"/>
          </a:p>
        </p:txBody>
      </p:sp>
      <p:sp>
        <p:nvSpPr>
          <p:cNvPr id="16" name="Text 14"/>
          <p:cNvSpPr txBox="1"/>
          <p:nvPr/>
        </p:nvSpPr>
        <p:spPr>
          <a:xfrm>
            <a:off x="749808" y="4187952"/>
            <a:ext cx="5120640" cy="493776"/>
          </a:xfrm>
          <a:prstGeom prst="rect">
            <a:avLst/>
          </a:prstGeom>
          <a:noFill/>
          <a:ln/>
        </p:spPr>
        <p:txBody>
          <a:bodyPr wrap="square" lIns="0" tIns="0" rIns="0" bIns="0" rtlCol="0" anchor="t"/>
          <a:lstStyle/>
          <a:p>
            <a:pPr marL="0" indent="0">
              <a:buNone/>
            </a:pPr>
            <a:r>
              <a:rPr lang="en-US" sz="950" dirty="0">
                <a:solidFill>
                  <a:srgbClr val="6E7A88"/>
                </a:solidFill>
                <a:latin typeface="Calibri" pitchFamily="34" charset="0"/>
                <a:ea typeface="Calibri" pitchFamily="34" charset="-122"/>
                <a:cs typeface="Calibri" pitchFamily="34" charset="-120"/>
              </a:rPr>
              <a:t>Mô hình TO-BE chưa được triển khai thí điểm trên môi trường thực tế để đo lường hiệu quả cải thiện bằng số liệu cụ thể.</a:t>
            </a:r>
            <a:endParaRPr lang="en-US" sz="950" dirty="0"/>
          </a:p>
        </p:txBody>
      </p:sp>
      <p:sp>
        <p:nvSpPr>
          <p:cNvPr id="17" name="Text 15"/>
          <p:cNvSpPr txBox="1"/>
          <p:nvPr/>
        </p:nvSpPr>
        <p:spPr>
          <a:xfrm>
            <a:off x="6355080" y="1371600"/>
            <a:ext cx="5486400" cy="256032"/>
          </a:xfrm>
          <a:prstGeom prst="rect">
            <a:avLst/>
          </a:prstGeom>
          <a:noFill/>
          <a:ln/>
        </p:spPr>
        <p:txBody>
          <a:bodyPr wrap="square" lIns="0" tIns="0" rIns="0" bIns="0" rtlCol="0" anchor="t"/>
          <a:lstStyle/>
          <a:p>
            <a:pPr marL="0" indent="0">
              <a:buNone/>
            </a:pPr>
            <a:r>
              <a:rPr lang="en-US" sz="1100" b="1" kern="0" spc="80" dirty="0">
                <a:solidFill>
                  <a:srgbClr val="0E7A5F"/>
                </a:solidFill>
                <a:latin typeface="Calibri" pitchFamily="34" charset="0"/>
                <a:ea typeface="Calibri" pitchFamily="34" charset="-122"/>
                <a:cs typeface="Calibri" pitchFamily="34" charset="-120"/>
              </a:rPr>
              <a:t>BA HƯỚNG PHÁT TRIỂN TIẾP THEO</a:t>
            </a:r>
            <a:endParaRPr lang="en-US" sz="1100" dirty="0"/>
          </a:p>
        </p:txBody>
      </p:sp>
      <p:sp>
        <p:nvSpPr>
          <p:cNvPr id="18" name="Shape 16"/>
          <p:cNvSpPr/>
          <p:nvPr/>
        </p:nvSpPr>
        <p:spPr>
          <a:xfrm>
            <a:off x="6355080" y="1700784"/>
            <a:ext cx="5287975" cy="914400"/>
          </a:xfrm>
          <a:prstGeom prst="roundRect">
            <a:avLst>
              <a:gd name="adj" fmla="val 6000"/>
            </a:avLst>
          </a:prstGeom>
          <a:solidFill>
            <a:srgbClr val="F0F8F4"/>
          </a:solidFill>
          <a:ln w="9525">
            <a:solidFill>
              <a:srgbClr val="0E7A5F"/>
            </a:solidFill>
            <a:prstDash val="solid"/>
          </a:ln>
          <a:effectLst>
            <a:outerShdw blurRad="101600" dist="19050" dir="5400000" algn="bl" rotWithShape="0">
              <a:srgbClr val="9AAFC6">
                <a:alpha val="16000"/>
              </a:srgbClr>
            </a:outerShdw>
          </a:effectLst>
        </p:spPr>
        <p:txBody>
          <a:bodyPr/>
          <a:lstStyle/>
          <a:p>
            <a:endParaRPr lang="en-US"/>
          </a:p>
        </p:txBody>
      </p:sp>
      <p:sp>
        <p:nvSpPr>
          <p:cNvPr id="19" name="Text 17"/>
          <p:cNvSpPr txBox="1"/>
          <p:nvPr/>
        </p:nvSpPr>
        <p:spPr>
          <a:xfrm>
            <a:off x="6556248" y="1792224"/>
            <a:ext cx="640080" cy="256032"/>
          </a:xfrm>
          <a:prstGeom prst="rect">
            <a:avLst/>
          </a:prstGeom>
          <a:noFill/>
          <a:ln/>
        </p:spPr>
        <p:txBody>
          <a:bodyPr wrap="square" lIns="0" tIns="0" rIns="0" bIns="0" rtlCol="0" anchor="t"/>
          <a:lstStyle/>
          <a:p>
            <a:pPr marL="0" indent="0">
              <a:buNone/>
            </a:pPr>
            <a:r>
              <a:rPr lang="en-US" sz="1300" b="1" dirty="0">
                <a:solidFill>
                  <a:srgbClr val="0E7A5F"/>
                </a:solidFill>
                <a:latin typeface="Calibri" pitchFamily="34" charset="0"/>
                <a:ea typeface="Calibri" pitchFamily="34" charset="-122"/>
                <a:cs typeface="Calibri" pitchFamily="34" charset="-120"/>
              </a:rPr>
              <a:t>01</a:t>
            </a:r>
            <a:endParaRPr lang="en-US" sz="1300" dirty="0"/>
          </a:p>
        </p:txBody>
      </p:sp>
      <p:sp>
        <p:nvSpPr>
          <p:cNvPr id="20" name="Text 18"/>
          <p:cNvSpPr txBox="1"/>
          <p:nvPr/>
        </p:nvSpPr>
        <p:spPr>
          <a:xfrm>
            <a:off x="7132320" y="1792224"/>
            <a:ext cx="4327855" cy="256032"/>
          </a:xfrm>
          <a:prstGeom prst="rect">
            <a:avLst/>
          </a:prstGeom>
          <a:noFill/>
          <a:ln/>
        </p:spPr>
        <p:txBody>
          <a:bodyPr wrap="square" lIns="0" tIns="0" rIns="0" bIns="0" rtlCol="0" anchor="t"/>
          <a:lstStyle/>
          <a:p>
            <a:pPr marL="0" indent="0">
              <a:buNone/>
            </a:pPr>
            <a:r>
              <a:rPr lang="en-US" sz="1150" b="1" dirty="0">
                <a:solidFill>
                  <a:srgbClr val="0B3B75"/>
                </a:solidFill>
                <a:latin typeface="Calibri" pitchFamily="34" charset="0"/>
                <a:ea typeface="Calibri" pitchFamily="34" charset="-122"/>
                <a:cs typeface="Calibri" pitchFamily="34" charset="-120"/>
              </a:rPr>
              <a:t>Mở rộng mô hình hóa BPMN 2.0</a:t>
            </a:r>
            <a:endParaRPr lang="en-US" sz="1150" dirty="0"/>
          </a:p>
        </p:txBody>
      </p:sp>
      <p:sp>
        <p:nvSpPr>
          <p:cNvPr id="21" name="Text 19"/>
          <p:cNvSpPr txBox="1"/>
          <p:nvPr/>
        </p:nvSpPr>
        <p:spPr>
          <a:xfrm>
            <a:off x="7132320" y="2066544"/>
            <a:ext cx="4327855" cy="493776"/>
          </a:xfrm>
          <a:prstGeom prst="rect">
            <a:avLst/>
          </a:prstGeom>
          <a:noFill/>
          <a:ln/>
        </p:spPr>
        <p:txBody>
          <a:bodyPr wrap="square" lIns="0" tIns="0" rIns="0" bIns="0" rtlCol="0" anchor="t"/>
          <a:lstStyle/>
          <a:p>
            <a:pPr marL="0" indent="0">
              <a:buNone/>
            </a:pPr>
            <a:r>
              <a:rPr lang="en-US" sz="950" dirty="0">
                <a:solidFill>
                  <a:srgbClr val="6E7A88"/>
                </a:solidFill>
                <a:latin typeface="Calibri" pitchFamily="34" charset="0"/>
                <a:ea typeface="Calibri" pitchFamily="34" charset="-122"/>
                <a:cs typeface="Calibri" pitchFamily="34" charset="-120"/>
              </a:rPr>
              <a:t>Cho toàn bộ các quy trình còn lại trong kiến trúc, ưu tiên các quy trình có mức tương đồng cao với PYC.</a:t>
            </a:r>
            <a:endParaRPr lang="en-US" sz="950" dirty="0"/>
          </a:p>
        </p:txBody>
      </p:sp>
      <p:sp>
        <p:nvSpPr>
          <p:cNvPr id="22" name="Shape 20"/>
          <p:cNvSpPr/>
          <p:nvPr/>
        </p:nvSpPr>
        <p:spPr>
          <a:xfrm>
            <a:off x="6355080" y="2761488"/>
            <a:ext cx="5287975" cy="914400"/>
          </a:xfrm>
          <a:prstGeom prst="roundRect">
            <a:avLst>
              <a:gd name="adj" fmla="val 6000"/>
            </a:avLst>
          </a:prstGeom>
          <a:solidFill>
            <a:srgbClr val="F0F8F4"/>
          </a:solidFill>
          <a:ln w="9525">
            <a:solidFill>
              <a:srgbClr val="0E7A5F"/>
            </a:solidFill>
            <a:prstDash val="solid"/>
          </a:ln>
          <a:effectLst>
            <a:outerShdw blurRad="101600" dist="19050" dir="5400000" algn="bl" rotWithShape="0">
              <a:srgbClr val="9AAFC6">
                <a:alpha val="16000"/>
              </a:srgbClr>
            </a:outerShdw>
          </a:effectLst>
        </p:spPr>
        <p:txBody>
          <a:bodyPr/>
          <a:lstStyle/>
          <a:p>
            <a:endParaRPr lang="en-US"/>
          </a:p>
        </p:txBody>
      </p:sp>
      <p:sp>
        <p:nvSpPr>
          <p:cNvPr id="23" name="Text 21"/>
          <p:cNvSpPr txBox="1"/>
          <p:nvPr/>
        </p:nvSpPr>
        <p:spPr>
          <a:xfrm>
            <a:off x="6556248" y="2852928"/>
            <a:ext cx="640080" cy="256032"/>
          </a:xfrm>
          <a:prstGeom prst="rect">
            <a:avLst/>
          </a:prstGeom>
          <a:noFill/>
          <a:ln/>
        </p:spPr>
        <p:txBody>
          <a:bodyPr wrap="square" lIns="0" tIns="0" rIns="0" bIns="0" rtlCol="0" anchor="t"/>
          <a:lstStyle/>
          <a:p>
            <a:pPr marL="0" indent="0">
              <a:buNone/>
            </a:pPr>
            <a:r>
              <a:rPr lang="en-US" sz="1300" b="1" dirty="0">
                <a:solidFill>
                  <a:srgbClr val="0E7A5F"/>
                </a:solidFill>
                <a:latin typeface="Calibri" pitchFamily="34" charset="0"/>
                <a:ea typeface="Calibri" pitchFamily="34" charset="-122"/>
                <a:cs typeface="Calibri" pitchFamily="34" charset="-120"/>
              </a:rPr>
              <a:t>02</a:t>
            </a:r>
            <a:endParaRPr lang="en-US" sz="1300" dirty="0"/>
          </a:p>
        </p:txBody>
      </p:sp>
      <p:sp>
        <p:nvSpPr>
          <p:cNvPr id="24" name="Text 22"/>
          <p:cNvSpPr txBox="1"/>
          <p:nvPr/>
        </p:nvSpPr>
        <p:spPr>
          <a:xfrm>
            <a:off x="7132320" y="2852928"/>
            <a:ext cx="4327855" cy="256032"/>
          </a:xfrm>
          <a:prstGeom prst="rect">
            <a:avLst/>
          </a:prstGeom>
          <a:noFill/>
          <a:ln/>
        </p:spPr>
        <p:txBody>
          <a:bodyPr wrap="square" lIns="0" tIns="0" rIns="0" bIns="0" rtlCol="0" anchor="t"/>
          <a:lstStyle/>
          <a:p>
            <a:pPr marL="0" indent="0">
              <a:buNone/>
            </a:pPr>
            <a:r>
              <a:rPr lang="en-US" sz="1150" b="1" dirty="0">
                <a:solidFill>
                  <a:srgbClr val="0B3B75"/>
                </a:solidFill>
                <a:latin typeface="Calibri" pitchFamily="34" charset="0"/>
                <a:ea typeface="Calibri" pitchFamily="34" charset="-122"/>
                <a:cs typeface="Calibri" pitchFamily="34" charset="-120"/>
              </a:rPr>
              <a:t>Triển khai thí điểm (pilot)</a:t>
            </a:r>
            <a:endParaRPr lang="en-US" sz="1150" dirty="0"/>
          </a:p>
        </p:txBody>
      </p:sp>
      <p:sp>
        <p:nvSpPr>
          <p:cNvPr id="25" name="Text 23"/>
          <p:cNvSpPr txBox="1"/>
          <p:nvPr/>
        </p:nvSpPr>
        <p:spPr>
          <a:xfrm>
            <a:off x="7132320" y="3127248"/>
            <a:ext cx="4327855" cy="493776"/>
          </a:xfrm>
          <a:prstGeom prst="rect">
            <a:avLst/>
          </a:prstGeom>
          <a:noFill/>
          <a:ln/>
        </p:spPr>
        <p:txBody>
          <a:bodyPr wrap="square" lIns="0" tIns="0" rIns="0" bIns="0" rtlCol="0" anchor="t"/>
          <a:lstStyle/>
          <a:p>
            <a:pPr marL="0" indent="0">
              <a:buNone/>
            </a:pPr>
            <a:r>
              <a:rPr lang="en-US" sz="950" dirty="0">
                <a:solidFill>
                  <a:srgbClr val="6E7A88"/>
                </a:solidFill>
                <a:latin typeface="Calibri" pitchFamily="34" charset="0"/>
                <a:ea typeface="Calibri" pitchFamily="34" charset="-122"/>
                <a:cs typeface="Calibri" pitchFamily="34" charset="-120"/>
              </a:rPr>
              <a:t>Áp dụng Smart-Form và Ma trận Auto-Approval trên phạm vi phòng ban giới hạn, thu thập số liệu thực tế để kiểm chứng và tinh chỉnh TO-BE.</a:t>
            </a:r>
            <a:endParaRPr lang="en-US" sz="950" dirty="0"/>
          </a:p>
        </p:txBody>
      </p:sp>
      <p:sp>
        <p:nvSpPr>
          <p:cNvPr id="26" name="Shape 24"/>
          <p:cNvSpPr/>
          <p:nvPr/>
        </p:nvSpPr>
        <p:spPr>
          <a:xfrm>
            <a:off x="6355080" y="3822192"/>
            <a:ext cx="5287975" cy="914400"/>
          </a:xfrm>
          <a:prstGeom prst="roundRect">
            <a:avLst>
              <a:gd name="adj" fmla="val 6000"/>
            </a:avLst>
          </a:prstGeom>
          <a:solidFill>
            <a:srgbClr val="F0F8F4"/>
          </a:solidFill>
          <a:ln w="9525">
            <a:solidFill>
              <a:srgbClr val="0E7A5F"/>
            </a:solidFill>
            <a:prstDash val="solid"/>
          </a:ln>
          <a:effectLst>
            <a:outerShdw blurRad="101600" dist="19050" dir="5400000" algn="bl" rotWithShape="0">
              <a:srgbClr val="9AAFC6">
                <a:alpha val="16000"/>
              </a:srgbClr>
            </a:outerShdw>
          </a:effectLst>
        </p:spPr>
        <p:txBody>
          <a:bodyPr/>
          <a:lstStyle/>
          <a:p>
            <a:endParaRPr lang="en-US"/>
          </a:p>
        </p:txBody>
      </p:sp>
      <p:sp>
        <p:nvSpPr>
          <p:cNvPr id="27" name="Text 25"/>
          <p:cNvSpPr txBox="1"/>
          <p:nvPr/>
        </p:nvSpPr>
        <p:spPr>
          <a:xfrm>
            <a:off x="6556248" y="3913632"/>
            <a:ext cx="640080" cy="256032"/>
          </a:xfrm>
          <a:prstGeom prst="rect">
            <a:avLst/>
          </a:prstGeom>
          <a:noFill/>
          <a:ln/>
        </p:spPr>
        <p:txBody>
          <a:bodyPr wrap="square" lIns="0" tIns="0" rIns="0" bIns="0" rtlCol="0" anchor="t"/>
          <a:lstStyle/>
          <a:p>
            <a:pPr marL="0" indent="0">
              <a:buNone/>
            </a:pPr>
            <a:r>
              <a:rPr lang="en-US" sz="1300" b="1" dirty="0">
                <a:solidFill>
                  <a:srgbClr val="0E7A5F"/>
                </a:solidFill>
                <a:latin typeface="Calibri" pitchFamily="34" charset="0"/>
                <a:ea typeface="Calibri" pitchFamily="34" charset="-122"/>
                <a:cs typeface="Calibri" pitchFamily="34" charset="-120"/>
              </a:rPr>
              <a:t>03</a:t>
            </a:r>
            <a:endParaRPr lang="en-US" sz="1300" dirty="0"/>
          </a:p>
        </p:txBody>
      </p:sp>
      <p:sp>
        <p:nvSpPr>
          <p:cNvPr id="28" name="Text 26"/>
          <p:cNvSpPr txBox="1"/>
          <p:nvPr/>
        </p:nvSpPr>
        <p:spPr>
          <a:xfrm>
            <a:off x="7132320" y="3913632"/>
            <a:ext cx="4327855" cy="256032"/>
          </a:xfrm>
          <a:prstGeom prst="rect">
            <a:avLst/>
          </a:prstGeom>
          <a:noFill/>
          <a:ln/>
        </p:spPr>
        <p:txBody>
          <a:bodyPr wrap="square" lIns="0" tIns="0" rIns="0" bIns="0" rtlCol="0" anchor="t"/>
          <a:lstStyle/>
          <a:p>
            <a:pPr marL="0" indent="0">
              <a:buNone/>
            </a:pPr>
            <a:r>
              <a:rPr lang="en-US" sz="1150" b="1" dirty="0">
                <a:solidFill>
                  <a:srgbClr val="0B3B75"/>
                </a:solidFill>
                <a:latin typeface="Calibri" pitchFamily="34" charset="0"/>
                <a:ea typeface="Calibri" pitchFamily="34" charset="-122"/>
                <a:cs typeface="Calibri" pitchFamily="34" charset="-120"/>
              </a:rPr>
              <a:t>Dashboard giám sát thời gian thực</a:t>
            </a:r>
            <a:endParaRPr lang="en-US" sz="1150" dirty="0"/>
          </a:p>
        </p:txBody>
      </p:sp>
      <p:sp>
        <p:nvSpPr>
          <p:cNvPr id="29" name="Text 27"/>
          <p:cNvSpPr txBox="1"/>
          <p:nvPr/>
        </p:nvSpPr>
        <p:spPr>
          <a:xfrm>
            <a:off x="7132320" y="4187952"/>
            <a:ext cx="4327855" cy="493776"/>
          </a:xfrm>
          <a:prstGeom prst="rect">
            <a:avLst/>
          </a:prstGeom>
          <a:noFill/>
          <a:ln/>
        </p:spPr>
        <p:txBody>
          <a:bodyPr wrap="square" lIns="0" tIns="0" rIns="0" bIns="0" rtlCol="0" anchor="t"/>
          <a:lstStyle/>
          <a:p>
            <a:pPr marL="0" indent="0">
              <a:buNone/>
            </a:pPr>
            <a:r>
              <a:rPr lang="en-US" sz="950" dirty="0">
                <a:solidFill>
                  <a:srgbClr val="6E7A88"/>
                </a:solidFill>
                <a:latin typeface="Calibri" pitchFamily="34" charset="0"/>
                <a:ea typeface="Calibri" pitchFamily="34" charset="-122"/>
                <a:cs typeface="Calibri" pitchFamily="34" charset="-120"/>
              </a:rPr>
              <a:t>Tích hợp Lead Time, SLA và Rework Rate vào một dashboard, phục vụ trực tiếp quy trình Quản lý Mức Dịch vụ (M01).</a:t>
            </a:r>
            <a:endParaRPr lang="en-US" sz="95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47">
    <p:bg>
      <p:bgPr>
        <a:solidFill>
          <a:srgbClr val="0B3B75"/>
        </a:solidFill>
        <a:effectLst/>
      </p:bgPr>
    </p:bg>
    <p:spTree>
      <p:nvGrpSpPr>
        <p:cNvPr id="1" name=""/>
        <p:cNvGrpSpPr/>
        <p:nvPr/>
      </p:nvGrpSpPr>
      <p:grpSpPr>
        <a:xfrm>
          <a:off x="0" y="0"/>
          <a:ext cx="0" cy="0"/>
          <a:chOff x="0" y="0"/>
          <a:chExt cx="0" cy="0"/>
        </a:xfrm>
      </p:grpSpPr>
      <p:sp>
        <p:nvSpPr>
          <p:cNvPr id="2" name="Text 0"/>
          <p:cNvSpPr txBox="1"/>
          <p:nvPr/>
        </p:nvSpPr>
        <p:spPr>
          <a:xfrm>
            <a:off x="548640" y="2011680"/>
            <a:ext cx="11094415" cy="274320"/>
          </a:xfrm>
          <a:prstGeom prst="rect">
            <a:avLst/>
          </a:prstGeom>
          <a:noFill/>
          <a:ln/>
        </p:spPr>
        <p:txBody>
          <a:bodyPr wrap="square" lIns="0" tIns="0" rIns="0" bIns="0" rtlCol="0" anchor="t"/>
          <a:lstStyle/>
          <a:p>
            <a:pPr marL="0" indent="0">
              <a:buNone/>
            </a:pPr>
            <a:r>
              <a:rPr lang="en-US" sz="1100" b="1" kern="0" spc="140" dirty="0">
                <a:solidFill>
                  <a:srgbClr val="AFC6E4"/>
                </a:solidFill>
                <a:latin typeface="Calibri" pitchFamily="34" charset="0"/>
                <a:ea typeface="Calibri" pitchFamily="34" charset="-122"/>
                <a:cs typeface="Calibri" pitchFamily="34" charset="-120"/>
              </a:rPr>
              <a:t>HỆ THỐNG QUẢN TRỊ QUY TRÌNH NGHIỆP VỤ  ·  ĐỒ ÁN CUỐI KỲ</a:t>
            </a:r>
            <a:endParaRPr lang="en-US" sz="1100" dirty="0"/>
          </a:p>
        </p:txBody>
      </p:sp>
      <p:sp>
        <p:nvSpPr>
          <p:cNvPr id="3" name="Text 1"/>
          <p:cNvSpPr txBox="1"/>
          <p:nvPr/>
        </p:nvSpPr>
        <p:spPr>
          <a:xfrm>
            <a:off x="548640" y="2450592"/>
            <a:ext cx="11094415" cy="731520"/>
          </a:xfrm>
          <a:prstGeom prst="rect">
            <a:avLst/>
          </a:prstGeom>
          <a:noFill/>
          <a:ln/>
        </p:spPr>
        <p:txBody>
          <a:bodyPr wrap="square" lIns="0" tIns="0" rIns="0" bIns="0" rtlCol="0" anchor="t"/>
          <a:lstStyle/>
          <a:p>
            <a:pPr marL="0" indent="0">
              <a:buNone/>
            </a:pPr>
            <a:r>
              <a:rPr lang="en-US" sz="3600" b="1" dirty="0">
                <a:solidFill>
                  <a:srgbClr val="FFFFFF"/>
                </a:solidFill>
                <a:latin typeface="Calibri" pitchFamily="34" charset="0"/>
                <a:ea typeface="Calibri" pitchFamily="34" charset="-122"/>
                <a:cs typeface="Calibri" pitchFamily="34" charset="-120"/>
              </a:rPr>
              <a:t>CẢM ƠN THẦY VÀ CÁC BẠN ĐÃ LẮNG NGHE</a:t>
            </a:r>
            <a:endParaRPr lang="en-US" sz="3600" dirty="0"/>
          </a:p>
        </p:txBody>
      </p:sp>
      <p:sp>
        <p:nvSpPr>
          <p:cNvPr id="4" name="Text 2"/>
          <p:cNvSpPr txBox="1"/>
          <p:nvPr/>
        </p:nvSpPr>
        <p:spPr>
          <a:xfrm>
            <a:off x="548640" y="3255264"/>
            <a:ext cx="11094415" cy="329184"/>
          </a:xfrm>
          <a:prstGeom prst="rect">
            <a:avLst/>
          </a:prstGeom>
          <a:noFill/>
          <a:ln/>
        </p:spPr>
        <p:txBody>
          <a:bodyPr wrap="square" lIns="0" tIns="0" rIns="0" bIns="0" rtlCol="0" anchor="t"/>
          <a:lstStyle/>
          <a:p>
            <a:pPr marL="0" indent="0">
              <a:buNone/>
            </a:pPr>
            <a:r>
              <a:rPr lang="en-US" sz="1400" dirty="0">
                <a:solidFill>
                  <a:srgbClr val="9BB2D2"/>
                </a:solidFill>
                <a:latin typeface="Calibri" pitchFamily="34" charset="0"/>
                <a:ea typeface="Calibri" pitchFamily="34" charset="-122"/>
                <a:cs typeface="Calibri" pitchFamily="34" charset="-120"/>
              </a:rPr>
              <a:t>Rất mong nhận được câu hỏi và góp ý từ Thầy và các bạn</a:t>
            </a:r>
            <a:endParaRPr lang="en-US" sz="1400" dirty="0"/>
          </a:p>
        </p:txBody>
      </p:sp>
      <p:sp>
        <p:nvSpPr>
          <p:cNvPr id="5" name="Text 3"/>
          <p:cNvSpPr txBox="1"/>
          <p:nvPr/>
        </p:nvSpPr>
        <p:spPr>
          <a:xfrm>
            <a:off x="548640" y="4133088"/>
            <a:ext cx="11094415" cy="274320"/>
          </a:xfrm>
          <a:prstGeom prst="rect">
            <a:avLst/>
          </a:prstGeom>
          <a:noFill/>
          <a:ln/>
        </p:spPr>
        <p:txBody>
          <a:bodyPr wrap="square" lIns="0" tIns="0" rIns="0" bIns="0" rtlCol="0" anchor="t"/>
          <a:lstStyle/>
          <a:p>
            <a:pPr marL="0" indent="0">
              <a:buNone/>
            </a:pPr>
            <a:r>
              <a:rPr lang="en-US" sz="1200" dirty="0">
                <a:solidFill>
                  <a:srgbClr val="FFFFFF"/>
                </a:solidFill>
                <a:latin typeface="Calibri" pitchFamily="34" charset="0"/>
                <a:ea typeface="Calibri" pitchFamily="34" charset="-122"/>
                <a:cs typeface="Calibri" pitchFamily="34" charset="-120"/>
              </a:rPr>
              <a:t>Lê Minh Trí · 25210225      |      Mai Thị Anh Đào · 25210078      |      Tăng Vĩ Thái · 25210191      |      Nguyễn Đăng Huy · 25210111</a:t>
            </a:r>
            <a:endParaRPr lang="en-US" sz="1200" dirty="0"/>
          </a:p>
        </p:txBody>
      </p:sp>
      <p:sp>
        <p:nvSpPr>
          <p:cNvPr id="6" name="Text 4"/>
          <p:cNvSpPr txBox="1"/>
          <p:nvPr/>
        </p:nvSpPr>
        <p:spPr>
          <a:xfrm>
            <a:off x="548640" y="4443984"/>
            <a:ext cx="11094415" cy="274320"/>
          </a:xfrm>
          <a:prstGeom prst="rect">
            <a:avLst/>
          </a:prstGeom>
          <a:noFill/>
          <a:ln/>
        </p:spPr>
        <p:txBody>
          <a:bodyPr wrap="square" lIns="0" tIns="0" rIns="0" bIns="0" rtlCol="0" anchor="t"/>
          <a:lstStyle/>
          <a:p>
            <a:pPr marL="0" indent="0">
              <a:buNone/>
            </a:pPr>
            <a:r>
              <a:rPr lang="en-US" sz="1100" dirty="0">
                <a:solidFill>
                  <a:srgbClr val="9BB2D2"/>
                </a:solidFill>
                <a:latin typeface="Calibri" pitchFamily="34" charset="0"/>
                <a:ea typeface="Calibri" pitchFamily="34" charset="-122"/>
                <a:cs typeface="Calibri" pitchFamily="34" charset="-120"/>
              </a:rPr>
              <a:t>GVHD: ThS. Hà Lê Hoài Trung  ·  TP. Hồ Chí Minh, </a:t>
            </a:r>
            <a:r>
              <a:rPr lang="en-US" sz="1100" dirty="0" err="1">
                <a:solidFill>
                  <a:srgbClr val="9BB2D2"/>
                </a:solidFill>
                <a:latin typeface="Calibri" pitchFamily="34" charset="0"/>
                <a:ea typeface="Calibri" pitchFamily="34" charset="-122"/>
                <a:cs typeface="Calibri" pitchFamily="34" charset="-120"/>
              </a:rPr>
              <a:t>tháng</a:t>
            </a:r>
            <a:r>
              <a:rPr lang="en-US" sz="1100" dirty="0">
                <a:solidFill>
                  <a:srgbClr val="9BB2D2"/>
                </a:solidFill>
                <a:latin typeface="Calibri" pitchFamily="34" charset="0"/>
                <a:ea typeface="Calibri" pitchFamily="34" charset="-122"/>
                <a:cs typeface="Calibri" pitchFamily="34" charset="-120"/>
              </a:rPr>
              <a:t> 09/2026</a:t>
            </a:r>
            <a:endParaRPr lang="en-US" sz="1100" dirty="0"/>
          </a:p>
        </p:txBody>
      </p:sp>
      <p:sp>
        <p:nvSpPr>
          <p:cNvPr id="7" name="Text 5"/>
          <p:cNvSpPr txBox="1"/>
          <p:nvPr/>
        </p:nvSpPr>
        <p:spPr>
          <a:xfrm>
            <a:off x="548640" y="6419088"/>
            <a:ext cx="8778240" cy="237744"/>
          </a:xfrm>
          <a:prstGeom prst="rect">
            <a:avLst/>
          </a:prstGeom>
          <a:noFill/>
          <a:ln/>
        </p:spPr>
        <p:txBody>
          <a:bodyPr wrap="square" lIns="0" tIns="0" rIns="0" bIns="0" rtlCol="0" anchor="t"/>
          <a:lstStyle/>
          <a:p>
            <a:pPr marL="0" indent="0">
              <a:buNone/>
            </a:pPr>
            <a:r>
              <a:rPr lang="en-US" sz="850" dirty="0">
                <a:solidFill>
                  <a:srgbClr val="7089AE"/>
                </a:solidFill>
                <a:latin typeface="Calibri" pitchFamily="34" charset="0"/>
                <a:ea typeface="Calibri" pitchFamily="34" charset="-122"/>
                <a:cs typeface="Calibri" pitchFamily="34" charset="-120"/>
              </a:rPr>
              <a:t>HỆ THỐNG QUẢN TRỊ QUY TRÌNH NGHIỆP VỤ  ·  SACOMBANK — QUY TRÌNH PYC</a:t>
            </a:r>
            <a:endParaRPr lang="en-US" sz="850" dirty="0"/>
          </a:p>
        </p:txBody>
      </p:sp>
      <p:sp>
        <p:nvSpPr>
          <p:cNvPr id="8" name="Text 6"/>
          <p:cNvSpPr txBox="1"/>
          <p:nvPr/>
        </p:nvSpPr>
        <p:spPr>
          <a:xfrm>
            <a:off x="11247120" y="6419088"/>
            <a:ext cx="393192" cy="237744"/>
          </a:xfrm>
          <a:prstGeom prst="rect">
            <a:avLst/>
          </a:prstGeom>
          <a:noFill/>
          <a:ln/>
        </p:spPr>
        <p:txBody>
          <a:bodyPr wrap="square" lIns="0" tIns="0" rIns="0" bIns="0" rtlCol="0" anchor="t"/>
          <a:lstStyle/>
          <a:p>
            <a:pPr marL="0" indent="0" algn="r">
              <a:buNone/>
            </a:pPr>
            <a:r>
              <a:rPr lang="en-US" sz="1100" b="1" dirty="0">
                <a:solidFill>
                  <a:srgbClr val="D9A227"/>
                </a:solidFill>
                <a:latin typeface="Calibri" pitchFamily="34" charset="0"/>
                <a:ea typeface="Calibri" pitchFamily="34" charset="-122"/>
                <a:cs typeface="Calibri" pitchFamily="34" charset="-120"/>
              </a:rPr>
              <a:t>55</a:t>
            </a:r>
          </a:p>
          <a:p>
            <a:pPr marL="0" indent="0" algn="r">
              <a:buNone/>
            </a:pP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fd327a7c-b3a6-49c3-a346-638bee828445}" enabled="0" method="" siteId="{fd327a7c-b3a6-49c3-a346-638bee828445}" removed="1"/>
</clbl:labelList>
</file>

<file path=docProps/app.xml><?xml version="1.0" encoding="utf-8"?>
<Properties xmlns="http://schemas.openxmlformats.org/officeDocument/2006/extended-properties" xmlns:vt="http://schemas.openxmlformats.org/officeDocument/2006/docPropsVTypes">
  <TotalTime>354</TotalTime>
  <Words>13181</Words>
  <Application>Microsoft Office PowerPoint</Application>
  <PresentationFormat>Widescreen</PresentationFormat>
  <Paragraphs>1498</Paragraphs>
  <Slides>56</Slides>
  <Notes>46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56</vt:i4>
      </vt:variant>
    </vt:vector>
  </HeadingPairs>
  <TitlesOfParts>
    <vt:vector size="59"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Phan tich va tai thiet ke quy trinh PYC - Sacombank</dc:title>
  <dc:subject/>
  <dc:creator/>
  <cp:lastModifiedBy>Dao Mai Thi Anh</cp:lastModifiedBy>
  <cp:revision>6</cp:revision>
  <dcterms:created xsi:type="dcterms:W3CDTF">2026-09-07T02:09:49Z</dcterms:created>
  <dcterms:modified xsi:type="dcterms:W3CDTF">2026-09-10T06:48:48Z</dcterms:modified>
</cp:coreProperties>
</file>